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7" r:id="rId18"/>
    <p:sldId id="278" r:id="rId19"/>
    <p:sldId id="272" r:id="rId20"/>
    <p:sldId id="273" r:id="rId21"/>
    <p:sldId id="274" r:id="rId22"/>
    <p:sldId id="275" r:id="rId23"/>
    <p:sldId id="276" r:id="rId24"/>
    <p:sldId id="279" r:id="rId25"/>
    <p:sldId id="280" r:id="rId26"/>
    <p:sldId id="281" r:id="rId27"/>
    <p:sldId id="282"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03" autoAdjust="0"/>
    <p:restoredTop sz="94610"/>
  </p:normalViewPr>
  <p:slideViewPr>
    <p:cSldViewPr snapToGrid="0" snapToObjects="1">
      <p:cViewPr varScale="1">
        <p:scale>
          <a:sx n="103" d="100"/>
          <a:sy n="103" d="100"/>
        </p:scale>
        <p:origin x="40" y="7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9885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confidence. "Good evening. My name is Sensei, this is my final project for Data Visualization for Sport. I'll walk you through the whole process, from the brief all the way to the live demo. The application is called PadelLens. It's a data viz tool for amateur padel players, with a real-data pro tour layer underneath."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 rubric has six sections. I'll cover them in order. The brief, data, UX, visualization layer, code, then a live demo. Total time is about 30 minutes. Please save questions for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one. The brief - what am I building, for whom, and why. This is the most important part of the whole project. Everything that follows traces back to a decision made here."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picked padel because the gap is the right size. It's exploding in Italy - over a million federated players - but the analytical tools available stop at the pro tier. Amateurs have gut feelings - 'I always lose in the third set' - but no way to confirm any of them. The whole project is built around closing that gap."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primary user - I call him Marco - is a club player, 22 to 40 years old, plays a couple of times a week, willing to spend 90 seconds logging a match on his phone. Not a pro. Not a coach. The whole app is built around what Marco actually wants to know. The secondary user is the amateur coach - same data, different reading habits. Builds for Marco automatically work for the coach."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Kirk's editorial-thinking framework from the lecture, the angle is reflective self-analysis over time. The framing keeps only what an amateur can actually log on a phone after a match - no sensor data, no biometrics, no opponent scouting. The focus is one number above the fold: your last 10 matches. That's what Marco opens the app to see."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relevance on Kirk's four factors - timeliness, interestingness, pertinence and sufficiency - the project hits maximum on the first three and intentionally trades off on sufficiency. I'd rather show less and have it land, than show everything and have the user bounce. The core message of the whole project boils down to one line: you don't have to feel your game - you can see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Where the data comes from, what shape it's in, and what it told me before I drew a single chart."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data layers, two sources. The pro layer comes from the Padel API - real Premier Padel results, free tier, 50k requests a month. The cached CSV is the offline fallback for the live demo so I'm not at the mercy of the wifi. The personal layer is seed data. No public amateur padel dataset exists - and that gap is exactly why the project is interesting in the first place. The lecture on editorial thinking specifically says: when the data isn't there, make the absence part of the story. That's what I did."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CSVs. Thirty top pros, two hundred and seventy-six pro matches across twelve real tournaments, and forty seed personal matches. The transformations are mostly small - parsing tournament score strings into numeric pairs, computing derived columns like 'won' and net per shot type, and grouping by partner, surface and shot. All cached in Streamlit at load time so the UI stays snappy."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findings drove the entire design. One: on the pro tour, two-thirds of matches end in straight sets - meaning I should not waste screen real estate on third-set analytics for the pro side. Two: on my personal log, the partner effect is enormous - eighty percent win rate with one partner, twenty with another. Three: when matches go to a third set, my win rate drops by forty percentage points. Every chart I'll show you in a minute earned its place by answering one of these three findings."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How the app is laid out, why those choices, and what I changed after a heuristic evaluation."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design process was deliberately short. I sketched on paper, moved to low-fi Figma wireframes, did a mid-fi pass with the actual chart shapes drawn in, then jumped directly to the Streamlit build. I did not do a full click-prototype because the deliverable is a working app - building a click-prototype that nobody will demo is wasted time. The Streamlit build is the high-fi version."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pages. Home is the landing - the last-10 KPI plus the partner-effect and shot-DNA cards. Pro Tour is the rankings explorer with the always-visible filter sidebar. My Stats is the personal deep-dive. Log Match is the data entry form, deliberately frictionless - under 90 seconds to log a match. Compare is the radar overlay of your shot mix against the pro reference. Each page is built around exactly one user task."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principles drove the design. One number above the fold because users open the app in bursts. Recognition over recall - filters are always visible in the sidebar. Default to action - the log-a-match button is the most prominent CTA. Reduce friction in data entry - shot tallies are optional, score plus partner is enough. Honest visual hierarchy - red is reserved for negative signal. And annotate, don't decorate - every chart has an in-canvas callout. That last one ties directly back to the focus principle from the editorial thinking lecture."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Nielsen's ten heuristics against my first paper sketches. Two of them flagged real problems. Number five - error prevention - my original log form let me enter a third-set score even when sets one and two were already decided. I added input gating. Number six - recognition over recall - I'd originally hidden filters behind a button. I moved them to an always-visible sidebar. These two changes are the difference between the paper sketch and the wireframe you just saw."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five, quickly - what's under the hood."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intentionally boring: Python, Streamlit, Pandas, Plotly, Requests. Total app code is about six hundred lines across five files. The architecture is simple - the Padel API or the cached CSV feeds into Pandas, which feeds into Plotly, which renders inside Streamlit. Streamlit's caching means each CSV is read once per session. The whole thing runs on a laptop in under three seconds from cold start."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four. How the data is shown. Chart by chart."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chart types in the app. Each one answers one specific finding from the exploratory analysis. I had a longer list - pie charts, court heatmaps, Sankeys, animated rankings - that I cut. They each lost head-to-head against a simpler alternative on the specific question they were trying to answer."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chart choice as a case study. The shot DNA question is signed - bandeja is net-positive, smash is net-negative. A pie chart shows proportions, not signs. Stacked bars hide the zero line. Two bar charts force eye traversal. A diverging bar puts the zero line dead center, lets winners go right and errors go left, and the sign is readable at a glance. Every chart in the app went through this kind of head-to-head choice."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"Color is doing editorial work, not decoration. Blue is the neutral and positive case. Red is reserved for negative signal that requires action - losing partner, net-negative shot, the third-set fade KPI. Gray is the pro reference frame on the Compare page. No green anywhere - green/red is the worst color-blindness pair. And every red mark is also signed numerically, so even on a black-and-white printout the chart still tells the same story."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"Interactivity follows Kirk's framing layer - filters let the user reframe the data. Hover tooltips give precision on demand without cluttering the chart. The most important annotations are static and in-canvas, like the minus-forty-pp tag on the fatigue chart - those are the headline, not a footnote. Hover tooltips are for the detail-seeking user; static annotations are for the user who's not even reading carefully."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part. I'll switch to the live app now and walk through a real use case, then close with what would come next."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"Five-step demo. Open the home, log a match in thirty seconds, jump into my stats with a sixty-day filter, hit the compare page to see the radar against a pro, then close on the pro tour for the form sparkline column. If anything breaks, I'll switch to the cached CSV - the architecture is built for that fallback."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The Padel API doesn't yet expose per-player shot averages - v2 would scrape that from video annotations. Sensor integration would unlock the spatial layer that I deliberately left out of v1. Multi-user support would let an amateur coach monitor a whole club. A mobile-first wrapper would suit the logging task better than Streamlit's default. And an LLM-generated weekly digest would close the loop - taking the data and converting it into one paragraph of training advice every Monday."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whole project - code, wireframes, data, this deck - is in the project folder.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8" Type="http://schemas.openxmlformats.org/officeDocument/2006/relationships/hyperlink" Target="https://www.figma.com/design/Kyqnt8CnTDmD9yWxxcK4Ec/PadelLens-%E2%80%94-App-UI?node-id=0-1&amp;p=f&amp;t=aBIMEDiJkWQGioIL-0" TargetMode="External"/><Relationship Id="rId3" Type="http://schemas.openxmlformats.org/officeDocument/2006/relationships/image" Target="../media/image2.png"/><Relationship Id="rId7"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4.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463040"/>
            <a:ext cx="548640" cy="54864"/>
          </a:xfrm>
          <a:prstGeom prst="rect">
            <a:avLst/>
          </a:prstGeom>
          <a:solidFill>
            <a:srgbClr val="0EA5E9"/>
          </a:solidFill>
          <a:ln/>
        </p:spPr>
        <p:txBody>
          <a:bodyPr/>
          <a:lstStyle/>
          <a:p>
            <a:endParaRPr lang="en-US"/>
          </a:p>
        </p:txBody>
      </p:sp>
      <p:sp>
        <p:nvSpPr>
          <p:cNvPr id="3" name="Text 1"/>
          <p:cNvSpPr/>
          <p:nvPr/>
        </p:nvSpPr>
        <p:spPr>
          <a:xfrm>
            <a:off x="457200" y="1600200"/>
            <a:ext cx="8229600" cy="1005840"/>
          </a:xfrm>
          <a:prstGeom prst="rect">
            <a:avLst/>
          </a:prstGeom>
          <a:noFill/>
          <a:ln/>
        </p:spPr>
        <p:txBody>
          <a:bodyPr wrap="square" lIns="0" tIns="0" rIns="0" bIns="0" rtlCol="0" anchor="ctr"/>
          <a:lstStyle/>
          <a:p>
            <a:pPr marL="0" indent="0">
              <a:buNone/>
            </a:pPr>
            <a:r>
              <a:rPr lang="en-US" sz="6000" b="1" kern="0" spc="200" dirty="0">
                <a:solidFill>
                  <a:srgbClr val="FFFFFF"/>
                </a:solidFill>
                <a:latin typeface="Calibri" pitchFamily="34" charset="0"/>
                <a:ea typeface="Calibri" pitchFamily="34" charset="-122"/>
                <a:cs typeface="Calibri" pitchFamily="34" charset="-120"/>
              </a:rPr>
              <a:t>PADELLENS</a:t>
            </a:r>
            <a:endParaRPr lang="en-US" sz="6000" dirty="0"/>
          </a:p>
        </p:txBody>
      </p:sp>
      <p:sp>
        <p:nvSpPr>
          <p:cNvPr id="4" name="Text 2"/>
          <p:cNvSpPr/>
          <p:nvPr/>
        </p:nvSpPr>
        <p:spPr>
          <a:xfrm>
            <a:off x="457200" y="2606040"/>
            <a:ext cx="8229600" cy="365760"/>
          </a:xfrm>
          <a:prstGeom prst="rect">
            <a:avLst/>
          </a:prstGeom>
          <a:noFill/>
          <a:ln/>
        </p:spPr>
        <p:txBody>
          <a:bodyPr wrap="square" lIns="0" tIns="0" rIns="0" bIns="0" rtlCol="0" anchor="ctr"/>
          <a:lstStyle/>
          <a:p>
            <a:pPr marL="0" indent="0">
              <a:buNone/>
            </a:pPr>
            <a:r>
              <a:rPr lang="en-US" sz="2000" i="1" dirty="0">
                <a:solidFill>
                  <a:srgbClr val="0EA5E9"/>
                </a:solidFill>
                <a:latin typeface="Calibri" pitchFamily="34" charset="0"/>
                <a:ea typeface="Calibri" pitchFamily="34" charset="-122"/>
                <a:cs typeface="Calibri" pitchFamily="34" charset="-120"/>
              </a:rPr>
              <a:t>Pro Tour Insights + My Match Log</a:t>
            </a:r>
            <a:endParaRPr lang="en-US" sz="2000" dirty="0"/>
          </a:p>
        </p:txBody>
      </p:sp>
      <p:sp>
        <p:nvSpPr>
          <p:cNvPr id="5" name="Text 3"/>
          <p:cNvSpPr/>
          <p:nvPr/>
        </p:nvSpPr>
        <p:spPr>
          <a:xfrm>
            <a:off x="457200" y="3108960"/>
            <a:ext cx="8229600" cy="36576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A data visualization tool for amateur padel players.</a:t>
            </a:r>
            <a:endParaRPr lang="en-US" sz="1400" dirty="0"/>
          </a:p>
        </p:txBody>
      </p:sp>
      <p:sp>
        <p:nvSpPr>
          <p:cNvPr id="6" name="Shape 4"/>
          <p:cNvSpPr/>
          <p:nvPr/>
        </p:nvSpPr>
        <p:spPr>
          <a:xfrm>
            <a:off x="457200" y="4160520"/>
            <a:ext cx="54864" cy="548640"/>
          </a:xfrm>
          <a:prstGeom prst="rect">
            <a:avLst/>
          </a:prstGeom>
          <a:solidFill>
            <a:srgbClr val="0EA5E9"/>
          </a:solidFill>
          <a:ln/>
        </p:spPr>
        <p:txBody>
          <a:bodyPr/>
          <a:lstStyle/>
          <a:p>
            <a:endParaRPr lang="en-US"/>
          </a:p>
        </p:txBody>
      </p:sp>
      <p:sp>
        <p:nvSpPr>
          <p:cNvPr id="7" name="Text 5"/>
          <p:cNvSpPr/>
          <p:nvPr/>
        </p:nvSpPr>
        <p:spPr>
          <a:xfrm>
            <a:off x="640080" y="4160520"/>
            <a:ext cx="7315200" cy="5486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Sensei</a:t>
            </a:r>
            <a:r>
              <a:rPr lang="en-US" sz="1200" dirty="0">
                <a:solidFill>
                  <a:srgbClr val="CBD5E1"/>
                </a:solidFill>
                <a:latin typeface="Calibri" pitchFamily="34" charset="0"/>
                <a:ea typeface="Calibri" pitchFamily="34" charset="-122"/>
                <a:cs typeface="Calibri" pitchFamily="34" charset="-120"/>
              </a:rPr>
              <a:t>  ·  Data Visualization for Sport  ·  Sports Engineering MSc</a:t>
            </a:r>
            <a:endParaRPr lang="en-US" sz="1200" dirty="0"/>
          </a:p>
          <a:p>
            <a:pPr marL="0" indent="0">
              <a:buNone/>
            </a:pPr>
            <a:r>
              <a:rPr lang="en-US" sz="1200" dirty="0">
                <a:solidFill>
                  <a:srgbClr val="94A3B8"/>
                </a:solidFill>
                <a:latin typeface="Calibri" pitchFamily="34" charset="0"/>
                <a:ea typeface="Calibri" pitchFamily="34" charset="-122"/>
                <a:cs typeface="Calibri" pitchFamily="34" charset="-120"/>
              </a:rPr>
              <a:t>Politecnico di Milano  ·  AY 2025/2026</a:t>
            </a:r>
            <a:endParaRPr lang="en-US" sz="1200" dirty="0"/>
          </a:p>
        </p:txBody>
      </p:sp>
      <p:sp>
        <p:nvSpPr>
          <p:cNvPr id="10" name="Text 3">
            <a:extLst>
              <a:ext uri="{FF2B5EF4-FFF2-40B4-BE49-F238E27FC236}">
                <a16:creationId xmlns:a16="http://schemas.microsoft.com/office/drawing/2014/main" id="{23C9E9D4-EDBC-D317-F3B6-9C3C84EED518}"/>
              </a:ext>
            </a:extLst>
          </p:cNvPr>
          <p:cNvSpPr/>
          <p:nvPr/>
        </p:nvSpPr>
        <p:spPr>
          <a:xfrm>
            <a:off x="486076" y="303998"/>
            <a:ext cx="8229600" cy="365760"/>
          </a:xfrm>
          <a:prstGeom prst="rect">
            <a:avLst/>
          </a:prstGeom>
          <a:noFill/>
          <a:ln/>
        </p:spPr>
        <p:txBody>
          <a:bodyPr wrap="square" lIns="0" tIns="0" rIns="0" bIns="0" rtlCol="0" anchor="ctr"/>
          <a:lstStyle/>
          <a:p>
            <a:pPr marL="0" indent="0">
              <a:buNone/>
            </a:pPr>
            <a:r>
              <a:rPr lang="en-US" sz="1400" dirty="0">
                <a:solidFill>
                  <a:srgbClr val="CBD5E1"/>
                </a:solidFill>
                <a:latin typeface="Calibri" pitchFamily="34" charset="0"/>
                <a:ea typeface="Calibri" pitchFamily="34" charset="-122"/>
                <a:cs typeface="Calibri" pitchFamily="34" charset="-120"/>
              </a:rPr>
              <a:t>Abdullah Saeed Aly Elhusseiny</a:t>
            </a:r>
          </a:p>
          <a:p>
            <a:pPr marL="0" indent="0">
              <a:buNone/>
            </a:pPr>
            <a:r>
              <a:rPr lang="en-US" sz="1400" dirty="0">
                <a:solidFill>
                  <a:srgbClr val="CBD5E1"/>
                </a:solidFill>
                <a:latin typeface="Calibri" pitchFamily="34" charset="0"/>
                <a:ea typeface="Calibri" pitchFamily="34" charset="-122"/>
                <a:cs typeface="Calibri" pitchFamily="34" charset="-120"/>
              </a:rPr>
              <a:t>11063448</a:t>
            </a:r>
            <a:endParaRPr lang="en-US" sz="1400" dirty="0"/>
          </a:p>
        </p:txBody>
      </p:sp>
      <p:pic>
        <p:nvPicPr>
          <p:cNvPr id="8" name="Picture 7" descr="Plus de 20 images de Pádel et de Padel - Pixabay">
            <a:extLst>
              <a:ext uri="{FF2B5EF4-FFF2-40B4-BE49-F238E27FC236}">
                <a16:creationId xmlns:a16="http://schemas.microsoft.com/office/drawing/2014/main" id="{3FD50C34-3A5D-C47A-63E1-FFB3DD9AABD4}"/>
              </a:ext>
            </a:extLst>
          </p:cNvPr>
          <p:cNvPicPr>
            <a:picLocks noChangeAspect="1"/>
          </p:cNvPicPr>
          <p:nvPr/>
        </p:nvPicPr>
        <p:blipFill>
          <a:blip r:embed="rId3"/>
          <a:stretch>
            <a:fillRect/>
          </a:stretch>
        </p:blipFill>
        <p:spPr>
          <a:xfrm>
            <a:off x="4478739" y="0"/>
            <a:ext cx="4665262" cy="3108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OVERVIEW</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How this talk is organized</a:t>
            </a:r>
            <a:endParaRPr lang="en-US" sz="2600" dirty="0"/>
          </a:p>
        </p:txBody>
      </p:sp>
      <p:sp>
        <p:nvSpPr>
          <p:cNvPr id="5" name="Shape 3"/>
          <p:cNvSpPr/>
          <p:nvPr/>
        </p:nvSpPr>
        <p:spPr>
          <a:xfrm>
            <a:off x="457200" y="1371600"/>
            <a:ext cx="365760" cy="365760"/>
          </a:xfrm>
          <a:prstGeom prst="ellipse">
            <a:avLst/>
          </a:prstGeom>
          <a:solidFill>
            <a:srgbClr val="0EA5E9"/>
          </a:solidFill>
          <a:ln/>
        </p:spPr>
        <p:txBody>
          <a:bodyPr/>
          <a:lstStyle/>
          <a:p>
            <a:endParaRPr lang="en-US"/>
          </a:p>
        </p:txBody>
      </p:sp>
      <p:sp>
        <p:nvSpPr>
          <p:cNvPr id="6" name="Text 4"/>
          <p:cNvSpPr/>
          <p:nvPr/>
        </p:nvSpPr>
        <p:spPr>
          <a:xfrm>
            <a:off x="457200" y="13716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Text 5"/>
          <p:cNvSpPr/>
          <p:nvPr/>
        </p:nvSpPr>
        <p:spPr>
          <a:xfrm>
            <a:off x="1005840" y="138988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The Brief</a:t>
            </a:r>
            <a:endParaRPr lang="en-US" sz="1500" dirty="0"/>
          </a:p>
        </p:txBody>
      </p:sp>
      <p:sp>
        <p:nvSpPr>
          <p:cNvPr id="8" name="Text 6"/>
          <p:cNvSpPr/>
          <p:nvPr/>
        </p:nvSpPr>
        <p:spPr>
          <a:xfrm>
            <a:off x="3383280" y="138988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Sport domain, audience, editorial angle</a:t>
            </a:r>
            <a:endParaRPr lang="en-US" sz="1200" dirty="0"/>
          </a:p>
        </p:txBody>
      </p:sp>
      <p:sp>
        <p:nvSpPr>
          <p:cNvPr id="9" name="Shape 7"/>
          <p:cNvSpPr/>
          <p:nvPr/>
        </p:nvSpPr>
        <p:spPr>
          <a:xfrm>
            <a:off x="457200" y="1874520"/>
            <a:ext cx="365760" cy="365760"/>
          </a:xfrm>
          <a:prstGeom prst="ellipse">
            <a:avLst/>
          </a:prstGeom>
          <a:solidFill>
            <a:srgbClr val="0EA5E9"/>
          </a:solidFill>
          <a:ln/>
        </p:spPr>
        <p:txBody>
          <a:bodyPr/>
          <a:lstStyle/>
          <a:p>
            <a:endParaRPr lang="en-US"/>
          </a:p>
        </p:txBody>
      </p:sp>
      <p:sp>
        <p:nvSpPr>
          <p:cNvPr id="10" name="Text 8"/>
          <p:cNvSpPr/>
          <p:nvPr/>
        </p:nvSpPr>
        <p:spPr>
          <a:xfrm>
            <a:off x="457200" y="18745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1" name="Text 9"/>
          <p:cNvSpPr/>
          <p:nvPr/>
        </p:nvSpPr>
        <p:spPr>
          <a:xfrm>
            <a:off x="1005840" y="189280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Working with Data</a:t>
            </a:r>
            <a:endParaRPr lang="en-US" sz="1500" dirty="0"/>
          </a:p>
        </p:txBody>
      </p:sp>
      <p:sp>
        <p:nvSpPr>
          <p:cNvPr id="12" name="Text 10"/>
          <p:cNvSpPr/>
          <p:nvPr/>
        </p:nvSpPr>
        <p:spPr>
          <a:xfrm>
            <a:off x="3383280" y="189280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Sources, schema, exploration</a:t>
            </a:r>
            <a:endParaRPr lang="en-US" sz="1200" dirty="0"/>
          </a:p>
        </p:txBody>
      </p:sp>
      <p:sp>
        <p:nvSpPr>
          <p:cNvPr id="13" name="Shape 11"/>
          <p:cNvSpPr/>
          <p:nvPr/>
        </p:nvSpPr>
        <p:spPr>
          <a:xfrm>
            <a:off x="457200" y="2377440"/>
            <a:ext cx="365760" cy="365760"/>
          </a:xfrm>
          <a:prstGeom prst="ellipse">
            <a:avLst/>
          </a:prstGeom>
          <a:solidFill>
            <a:srgbClr val="0EA5E9"/>
          </a:solidFill>
          <a:ln/>
        </p:spPr>
        <p:txBody>
          <a:bodyPr/>
          <a:lstStyle/>
          <a:p>
            <a:endParaRPr lang="en-US"/>
          </a:p>
        </p:txBody>
      </p:sp>
      <p:sp>
        <p:nvSpPr>
          <p:cNvPr id="14" name="Text 12"/>
          <p:cNvSpPr/>
          <p:nvPr/>
        </p:nvSpPr>
        <p:spPr>
          <a:xfrm>
            <a:off x="457200" y="2377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5" name="Text 13"/>
          <p:cNvSpPr/>
          <p:nvPr/>
        </p:nvSpPr>
        <p:spPr>
          <a:xfrm>
            <a:off x="1005840" y="239572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UX Design</a:t>
            </a:r>
            <a:endParaRPr lang="en-US" sz="1500" dirty="0"/>
          </a:p>
        </p:txBody>
      </p:sp>
      <p:sp>
        <p:nvSpPr>
          <p:cNvPr id="16" name="Text 14"/>
          <p:cNvSpPr/>
          <p:nvPr/>
        </p:nvSpPr>
        <p:spPr>
          <a:xfrm>
            <a:off x="3383280" y="239572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Wireframes, principles, heuristic eval</a:t>
            </a:r>
            <a:endParaRPr lang="en-US" sz="1200" dirty="0"/>
          </a:p>
        </p:txBody>
      </p:sp>
      <p:sp>
        <p:nvSpPr>
          <p:cNvPr id="17" name="Shape 15"/>
          <p:cNvSpPr>
            <a:spLocks noGrp="1" noRot="1" noMove="1" noResize="1" noEditPoints="1" noAdjustHandles="1" noChangeArrowheads="1" noChangeShapeType="1"/>
          </p:cNvSpPr>
          <p:nvPr/>
        </p:nvSpPr>
        <p:spPr>
          <a:xfrm>
            <a:off x="457200" y="2880360"/>
            <a:ext cx="365760" cy="365760"/>
          </a:xfrm>
          <a:prstGeom prst="ellipse">
            <a:avLst/>
          </a:prstGeom>
          <a:solidFill>
            <a:srgbClr val="0EA5E9"/>
          </a:solidFill>
          <a:ln/>
        </p:spPr>
        <p:txBody>
          <a:bodyPr/>
          <a:lstStyle/>
          <a:p>
            <a:endParaRPr lang="en-US"/>
          </a:p>
        </p:txBody>
      </p:sp>
      <p:sp>
        <p:nvSpPr>
          <p:cNvPr id="18" name="Text 16"/>
          <p:cNvSpPr>
            <a:spLocks/>
          </p:cNvSpPr>
          <p:nvPr/>
        </p:nvSpPr>
        <p:spPr>
          <a:xfrm>
            <a:off x="457200" y="28803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9" name="Text 17"/>
          <p:cNvSpPr>
            <a:spLocks/>
          </p:cNvSpPr>
          <p:nvPr/>
        </p:nvSpPr>
        <p:spPr>
          <a:xfrm>
            <a:off x="1005840" y="3379911"/>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Data Representation</a:t>
            </a:r>
            <a:endParaRPr lang="en-US" sz="1500" dirty="0"/>
          </a:p>
        </p:txBody>
      </p:sp>
      <p:sp>
        <p:nvSpPr>
          <p:cNvPr id="20" name="Text 18"/>
          <p:cNvSpPr>
            <a:spLocks/>
          </p:cNvSpPr>
          <p:nvPr/>
        </p:nvSpPr>
        <p:spPr>
          <a:xfrm>
            <a:off x="3383280" y="3369564"/>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Chart choices, color, interactivity</a:t>
            </a:r>
            <a:endParaRPr lang="en-US" sz="1200" dirty="0"/>
          </a:p>
        </p:txBody>
      </p:sp>
      <p:sp>
        <p:nvSpPr>
          <p:cNvPr id="21" name="Shape 19"/>
          <p:cNvSpPr/>
          <p:nvPr/>
        </p:nvSpPr>
        <p:spPr>
          <a:xfrm>
            <a:off x="457200" y="3383280"/>
            <a:ext cx="365760" cy="365760"/>
          </a:xfrm>
          <a:prstGeom prst="ellipse">
            <a:avLst/>
          </a:prstGeom>
          <a:solidFill>
            <a:srgbClr val="0EA5E9"/>
          </a:solidFill>
          <a:ln/>
        </p:spPr>
        <p:txBody>
          <a:bodyPr/>
          <a:lstStyle/>
          <a:p>
            <a:endParaRPr lang="en-US"/>
          </a:p>
        </p:txBody>
      </p:sp>
      <p:sp>
        <p:nvSpPr>
          <p:cNvPr id="22" name="Text 20"/>
          <p:cNvSpPr>
            <a:spLocks noGrp="1" noRot="1" noMove="1" noResize="1" noEditPoints="1" noAdjustHandles="1" noChangeArrowheads="1" noChangeShapeType="1"/>
          </p:cNvSpPr>
          <p:nvPr/>
        </p:nvSpPr>
        <p:spPr>
          <a:xfrm>
            <a:off x="457200" y="33832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23" name="Text 21"/>
          <p:cNvSpPr>
            <a:spLocks/>
          </p:cNvSpPr>
          <p:nvPr/>
        </p:nvSpPr>
        <p:spPr>
          <a:xfrm>
            <a:off x="1005840" y="286038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Technical Implementation</a:t>
            </a:r>
            <a:endParaRPr lang="en-US" sz="1500" dirty="0"/>
          </a:p>
        </p:txBody>
      </p:sp>
      <p:sp>
        <p:nvSpPr>
          <p:cNvPr id="24" name="Text 22"/>
          <p:cNvSpPr>
            <a:spLocks/>
          </p:cNvSpPr>
          <p:nvPr/>
        </p:nvSpPr>
        <p:spPr>
          <a:xfrm>
            <a:off x="3383280" y="2904904"/>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Python, Streamlit, architecture</a:t>
            </a:r>
            <a:endParaRPr lang="en-US" sz="1200" dirty="0"/>
          </a:p>
        </p:txBody>
      </p:sp>
      <p:sp>
        <p:nvSpPr>
          <p:cNvPr id="25" name="Shape 23"/>
          <p:cNvSpPr/>
          <p:nvPr/>
        </p:nvSpPr>
        <p:spPr>
          <a:xfrm>
            <a:off x="457200" y="3886200"/>
            <a:ext cx="365760" cy="365760"/>
          </a:xfrm>
          <a:prstGeom prst="ellipse">
            <a:avLst/>
          </a:prstGeom>
          <a:solidFill>
            <a:srgbClr val="0EA5E9"/>
          </a:solidFill>
          <a:ln/>
        </p:spPr>
        <p:txBody>
          <a:bodyPr/>
          <a:lstStyle/>
          <a:p>
            <a:endParaRPr lang="en-US"/>
          </a:p>
        </p:txBody>
      </p:sp>
      <p:sp>
        <p:nvSpPr>
          <p:cNvPr id="26" name="Text 24"/>
          <p:cNvSpPr/>
          <p:nvPr/>
        </p:nvSpPr>
        <p:spPr>
          <a:xfrm>
            <a:off x="457200" y="38862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7" name="Text 25"/>
          <p:cNvSpPr/>
          <p:nvPr/>
        </p:nvSpPr>
        <p:spPr>
          <a:xfrm>
            <a:off x="1005840" y="3904488"/>
            <a:ext cx="2377440" cy="365760"/>
          </a:xfrm>
          <a:prstGeom prst="rect">
            <a:avLst/>
          </a:prstGeom>
          <a:noFill/>
          <a:ln/>
        </p:spPr>
        <p:txBody>
          <a:bodyPr wrap="square" lIns="0" tIns="0" rIns="0" bIns="0" rtlCol="0" anchor="ctr"/>
          <a:lstStyle/>
          <a:p>
            <a:pPr marL="0" indent="0">
              <a:buNone/>
            </a:pPr>
            <a:r>
              <a:rPr lang="en-US" sz="1500" b="1" dirty="0">
                <a:solidFill>
                  <a:srgbClr val="1F2937"/>
                </a:solidFill>
                <a:latin typeface="Calibri" pitchFamily="34" charset="0"/>
                <a:ea typeface="Calibri" pitchFamily="34" charset="-122"/>
                <a:cs typeface="Calibri" pitchFamily="34" charset="-120"/>
              </a:rPr>
              <a:t>Demo &amp; Conclusions</a:t>
            </a:r>
            <a:endParaRPr lang="en-US" sz="1500" dirty="0"/>
          </a:p>
        </p:txBody>
      </p:sp>
      <p:sp>
        <p:nvSpPr>
          <p:cNvPr id="28" name="Text 26"/>
          <p:cNvSpPr/>
          <p:nvPr/>
        </p:nvSpPr>
        <p:spPr>
          <a:xfrm>
            <a:off x="3383280" y="3904488"/>
            <a:ext cx="5303520" cy="36576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Live walkthrough, future work</a:t>
            </a:r>
            <a:endParaRPr lang="en-US" sz="1200" dirty="0"/>
          </a:p>
        </p:txBody>
      </p:sp>
      <p:sp>
        <p:nvSpPr>
          <p:cNvPr id="29" name="Text 2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0" name="Text 2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1</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The Brief</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Context &amp; Vision · Stage 1 of Kirk's data visualization process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1.1 SPORT DOMAIN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padel?</a:t>
            </a:r>
            <a:endParaRPr lang="en-US" sz="2600" dirty="0"/>
          </a:p>
        </p:txBody>
      </p:sp>
      <p:sp>
        <p:nvSpPr>
          <p:cNvPr id="5" name="Shape 3"/>
          <p:cNvSpPr/>
          <p:nvPr/>
        </p:nvSpPr>
        <p:spPr>
          <a:xfrm>
            <a:off x="457200" y="1371600"/>
            <a:ext cx="4114800" cy="310896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749040" cy="457200"/>
          </a:xfrm>
          <a:prstGeom prst="rect">
            <a:avLst/>
          </a:prstGeom>
          <a:noFill/>
          <a:ln/>
        </p:spPr>
        <p:txBody>
          <a:bodyPr wrap="square" lIns="0" tIns="0" rIns="0" bIns="0" rtlCol="0" anchor="ctr"/>
          <a:lstStyle/>
          <a:p>
            <a:pPr marL="0" indent="0">
              <a:buNone/>
            </a:pPr>
            <a:r>
              <a:rPr lang="en-US" sz="1800" b="1" dirty="0">
                <a:solidFill>
                  <a:srgbClr val="1F2937"/>
                </a:solidFill>
              </a:rPr>
              <a:t>Padel is exploding.</a:t>
            </a:r>
            <a:endParaRPr lang="en-US" sz="1800" dirty="0"/>
          </a:p>
        </p:txBody>
      </p:sp>
      <p:sp>
        <p:nvSpPr>
          <p:cNvPr id="7" name="Text 5"/>
          <p:cNvSpPr/>
          <p:nvPr/>
        </p:nvSpPr>
        <p:spPr>
          <a:xfrm>
            <a:off x="640080" y="2011680"/>
            <a:ext cx="3749040" cy="640080"/>
          </a:xfrm>
          <a:prstGeom prst="rect">
            <a:avLst/>
          </a:prstGeom>
          <a:noFill/>
          <a:ln/>
        </p:spPr>
        <p:txBody>
          <a:bodyPr wrap="square" lIns="0" tIns="0" rIns="0" bIns="0" rtlCol="0" anchor="ctr"/>
          <a:lstStyle/>
          <a:p>
            <a:pPr marL="0" indent="0">
              <a:buNone/>
            </a:pPr>
            <a:r>
              <a:rPr lang="en-US" sz="3600" b="1" dirty="0">
                <a:solidFill>
                  <a:srgbClr val="0EA5E9"/>
                </a:solidFill>
              </a:rPr>
              <a:t>1.1M+</a:t>
            </a:r>
            <a:r>
              <a:rPr lang="en-US" sz="1300" dirty="0">
                <a:solidFill>
                  <a:srgbClr val="64748B"/>
                </a:solidFill>
              </a:rPr>
              <a:t>  federated players in Italy (2024)</a:t>
            </a:r>
            <a:endParaRPr lang="en-US" sz="3600" dirty="0"/>
          </a:p>
        </p:txBody>
      </p:sp>
      <p:sp>
        <p:nvSpPr>
          <p:cNvPr id="8" name="Text 6"/>
          <p:cNvSpPr/>
          <p:nvPr/>
        </p:nvSpPr>
        <p:spPr>
          <a:xfrm>
            <a:off x="640080" y="2606040"/>
            <a:ext cx="3749040" cy="274320"/>
          </a:xfrm>
          <a:prstGeom prst="rect">
            <a:avLst/>
          </a:prstGeom>
          <a:noFill/>
          <a:ln/>
        </p:spPr>
        <p:txBody>
          <a:bodyPr wrap="square" lIns="0" tIns="0" rIns="0" bIns="0" rtlCol="0" anchor="ctr"/>
          <a:lstStyle/>
          <a:p>
            <a:pPr marL="0" indent="0">
              <a:buNone/>
            </a:pPr>
            <a:r>
              <a:rPr lang="en-US" sz="1100" i="1" dirty="0">
                <a:solidFill>
                  <a:srgbClr val="64748B"/>
                </a:solidFill>
              </a:rPr>
              <a:t>Up from ~30,000 in 2019 (FIP data).</a:t>
            </a:r>
            <a:endParaRPr lang="en-US" sz="1100" dirty="0"/>
          </a:p>
        </p:txBody>
      </p:sp>
      <p:sp>
        <p:nvSpPr>
          <p:cNvPr id="9" name="Text 7"/>
          <p:cNvSpPr/>
          <p:nvPr/>
        </p:nvSpPr>
        <p:spPr>
          <a:xfrm>
            <a:off x="640080" y="3017520"/>
            <a:ext cx="3749040" cy="640080"/>
          </a:xfrm>
          <a:prstGeom prst="rect">
            <a:avLst/>
          </a:prstGeom>
          <a:noFill/>
          <a:ln/>
        </p:spPr>
        <p:txBody>
          <a:bodyPr wrap="square" lIns="0" tIns="0" rIns="0" bIns="0" rtlCol="0" anchor="ctr"/>
          <a:lstStyle/>
          <a:p>
            <a:pPr marL="0" indent="0">
              <a:buNone/>
            </a:pPr>
            <a:r>
              <a:rPr lang="en-US" sz="1300" b="1" dirty="0">
                <a:solidFill>
                  <a:srgbClr val="1F2937"/>
                </a:solidFill>
              </a:rPr>
              <a:t>Pros have analytics. </a:t>
            </a:r>
            <a:endParaRPr lang="en-US" sz="1300" dirty="0"/>
          </a:p>
          <a:p>
            <a:pPr marL="0" indent="0">
              <a:buNone/>
            </a:pPr>
            <a:r>
              <a:rPr lang="en-US" sz="1300" dirty="0">
                <a:solidFill>
                  <a:srgbClr val="64748B"/>
                </a:solidFill>
              </a:rPr>
              <a:t>Amateurs have a group chat.</a:t>
            </a:r>
            <a:endParaRPr lang="en-US" sz="1300" dirty="0"/>
          </a:p>
        </p:txBody>
      </p:sp>
      <p:sp>
        <p:nvSpPr>
          <p:cNvPr id="10" name="Text 8"/>
          <p:cNvSpPr/>
          <p:nvPr/>
        </p:nvSpPr>
        <p:spPr>
          <a:xfrm>
            <a:off x="640080" y="3703320"/>
            <a:ext cx="3749040" cy="640080"/>
          </a:xfrm>
          <a:prstGeom prst="rect">
            <a:avLst/>
          </a:prstGeom>
          <a:noFill/>
          <a:ln/>
        </p:spPr>
        <p:txBody>
          <a:bodyPr wrap="square" lIns="0" tIns="0" rIns="0" bIns="0" rtlCol="0" anchor="ctr"/>
          <a:lstStyle/>
          <a:p>
            <a:pPr marL="0" indent="0">
              <a:buNone/>
            </a:pPr>
            <a:r>
              <a:rPr lang="en-US" sz="1200" dirty="0">
                <a:solidFill>
                  <a:srgbClr val="64748B"/>
                </a:solidFill>
              </a:rPr>
              <a:t>Premier Padel rankings, ball-tracking, broadcast overlays - none of that reaches the club player.</a:t>
            </a:r>
            <a:endParaRPr lang="en-US" sz="1200" dirty="0"/>
          </a:p>
        </p:txBody>
      </p:sp>
      <p:sp>
        <p:nvSpPr>
          <p:cNvPr id="11" name="Shape 9"/>
          <p:cNvSpPr/>
          <p:nvPr/>
        </p:nvSpPr>
        <p:spPr>
          <a:xfrm>
            <a:off x="4846320" y="1371600"/>
            <a:ext cx="3840480" cy="310896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5029200" y="1508760"/>
            <a:ext cx="3474720" cy="274320"/>
          </a:xfrm>
          <a:prstGeom prst="rect">
            <a:avLst/>
          </a:prstGeom>
          <a:noFill/>
          <a:ln/>
        </p:spPr>
        <p:txBody>
          <a:bodyPr wrap="square" lIns="0" tIns="0" rIns="0" bIns="0" rtlCol="0" anchor="ctr"/>
          <a:lstStyle/>
          <a:p>
            <a:pPr marL="0" indent="0">
              <a:buNone/>
            </a:pPr>
            <a:r>
              <a:rPr lang="en-US" sz="1000" b="1" kern="0" spc="400" dirty="0">
                <a:solidFill>
                  <a:srgbClr val="64748B"/>
                </a:solidFill>
              </a:rPr>
              <a:t>THE GAP</a:t>
            </a:r>
            <a:endParaRPr lang="en-US" sz="1000" dirty="0"/>
          </a:p>
        </p:txBody>
      </p:sp>
      <p:sp>
        <p:nvSpPr>
          <p:cNvPr id="13" name="Text 11"/>
          <p:cNvSpPr/>
          <p:nvPr/>
        </p:nvSpPr>
        <p:spPr>
          <a:xfrm>
            <a:off x="5029200" y="1783080"/>
            <a:ext cx="3474720" cy="365760"/>
          </a:xfrm>
          <a:prstGeom prst="rect">
            <a:avLst/>
          </a:prstGeom>
          <a:noFill/>
          <a:ln/>
        </p:spPr>
        <p:txBody>
          <a:bodyPr wrap="square" lIns="0" tIns="0" rIns="0" bIns="0" rtlCol="0" anchor="ctr"/>
          <a:lstStyle/>
          <a:p>
            <a:pPr marL="0" indent="0">
              <a:buNone/>
            </a:pPr>
            <a:r>
              <a:rPr lang="en-US" sz="1400" b="1" dirty="0">
                <a:solidFill>
                  <a:srgbClr val="1F2937"/>
                </a:solidFill>
              </a:rPr>
              <a:t>What amateurs feel</a:t>
            </a:r>
            <a:endParaRPr lang="en-US" sz="1400" dirty="0"/>
          </a:p>
        </p:txBody>
      </p:sp>
      <p:sp>
        <p:nvSpPr>
          <p:cNvPr id="14" name="Text 12"/>
          <p:cNvSpPr/>
          <p:nvPr/>
        </p:nvSpPr>
        <p:spPr>
          <a:xfrm>
            <a:off x="5029200" y="2148840"/>
            <a:ext cx="3474720" cy="914400"/>
          </a:xfrm>
          <a:prstGeom prst="rect">
            <a:avLst/>
          </a:prstGeom>
          <a:noFill/>
          <a:ln/>
        </p:spPr>
        <p:txBody>
          <a:bodyPr wrap="square" lIns="0" tIns="0" rIns="0" bIns="0" rtlCol="0" anchor="ctr"/>
          <a:lstStyle/>
          <a:p>
            <a:pPr marL="0" indent="0">
              <a:spcAft>
                <a:spcPts val="400"/>
              </a:spcAft>
              <a:buNone/>
            </a:pPr>
            <a:r>
              <a:rPr lang="en-US" sz="1200" i="1" dirty="0">
                <a:solidFill>
                  <a:srgbClr val="64748B"/>
                </a:solidFill>
              </a:rPr>
              <a:t>"I always lose in the third set."</a:t>
            </a:r>
            <a:endParaRPr lang="en-US" sz="1200" dirty="0"/>
          </a:p>
          <a:p>
            <a:pPr marL="0" indent="0">
              <a:spcAft>
                <a:spcPts val="400"/>
              </a:spcAft>
              <a:buNone/>
            </a:pPr>
            <a:r>
              <a:rPr lang="en-US" sz="1200" i="1" dirty="0">
                <a:solidFill>
                  <a:srgbClr val="64748B"/>
                </a:solidFill>
              </a:rPr>
              <a:t>"I play better with Luca."</a:t>
            </a:r>
            <a:endParaRPr lang="en-US" sz="1200" dirty="0"/>
          </a:p>
          <a:p>
            <a:pPr marL="0" indent="0">
              <a:spcAft>
                <a:spcPts val="400"/>
              </a:spcAft>
              <a:buNone/>
            </a:pPr>
            <a:r>
              <a:rPr lang="en-US" sz="1200" i="1" dirty="0">
                <a:solidFill>
                  <a:srgbClr val="64748B"/>
                </a:solidFill>
              </a:rPr>
              <a:t>"My bandeja is OK, my smash isn't."</a:t>
            </a:r>
            <a:endParaRPr lang="en-US" sz="1200" dirty="0"/>
          </a:p>
        </p:txBody>
      </p:sp>
      <p:sp>
        <p:nvSpPr>
          <p:cNvPr id="15" name="Text 13"/>
          <p:cNvSpPr/>
          <p:nvPr/>
        </p:nvSpPr>
        <p:spPr>
          <a:xfrm>
            <a:off x="5029200" y="3200400"/>
            <a:ext cx="3474720" cy="365760"/>
          </a:xfrm>
          <a:prstGeom prst="rect">
            <a:avLst/>
          </a:prstGeom>
          <a:noFill/>
          <a:ln/>
        </p:spPr>
        <p:txBody>
          <a:bodyPr wrap="square" lIns="0" tIns="0" rIns="0" bIns="0" rtlCol="0" anchor="ctr"/>
          <a:lstStyle/>
          <a:p>
            <a:pPr marL="0" indent="0">
              <a:buNone/>
            </a:pPr>
            <a:r>
              <a:rPr lang="en-US" sz="1400" b="1" dirty="0">
                <a:solidFill>
                  <a:srgbClr val="1F2937"/>
                </a:solidFill>
              </a:rPr>
              <a:t>What they can confirm</a:t>
            </a:r>
            <a:endParaRPr lang="en-US" sz="1400" dirty="0"/>
          </a:p>
        </p:txBody>
      </p:sp>
      <p:sp>
        <p:nvSpPr>
          <p:cNvPr id="16" name="Text 14"/>
          <p:cNvSpPr/>
          <p:nvPr/>
        </p:nvSpPr>
        <p:spPr>
          <a:xfrm>
            <a:off x="5029200" y="3566160"/>
            <a:ext cx="3474720" cy="365760"/>
          </a:xfrm>
          <a:prstGeom prst="rect">
            <a:avLst/>
          </a:prstGeom>
          <a:noFill/>
          <a:ln/>
        </p:spPr>
        <p:txBody>
          <a:bodyPr wrap="square" lIns="0" tIns="0" rIns="0" bIns="0" rtlCol="0" anchor="ctr"/>
          <a:lstStyle/>
          <a:p>
            <a:pPr marL="0" indent="0">
              <a:buNone/>
            </a:pPr>
            <a:r>
              <a:rPr lang="en-US" sz="2200" b="1" dirty="0">
                <a:solidFill>
                  <a:srgbClr val="EF4444"/>
                </a:solidFill>
              </a:rPr>
              <a:t>Nothing.</a:t>
            </a:r>
            <a:endParaRPr lang="en-US" sz="2200" dirty="0"/>
          </a:p>
        </p:txBody>
      </p:sp>
      <p:sp>
        <p:nvSpPr>
          <p:cNvPr id="17" name="Text 15"/>
          <p:cNvSpPr/>
          <p:nvPr/>
        </p:nvSpPr>
        <p:spPr>
          <a:xfrm>
            <a:off x="5029200" y="4023360"/>
            <a:ext cx="3474720" cy="365760"/>
          </a:xfrm>
          <a:prstGeom prst="rect">
            <a:avLst/>
          </a:prstGeom>
          <a:noFill/>
          <a:ln/>
        </p:spPr>
        <p:txBody>
          <a:bodyPr wrap="square" lIns="0" tIns="0" rIns="0" bIns="0" rtlCol="0" anchor="ctr"/>
          <a:lstStyle/>
          <a:p>
            <a:pPr marL="0" indent="0">
              <a:buNone/>
            </a:pPr>
            <a:r>
              <a:rPr lang="en-US" sz="1200" i="1" dirty="0">
                <a:solidFill>
                  <a:srgbClr val="64748B"/>
                </a:solidFill>
              </a:rPr>
              <a:t>That gap is the project.</a:t>
            </a:r>
            <a:endParaRPr lang="en-US" sz="1200" dirty="0"/>
          </a:p>
        </p:txBody>
      </p:sp>
      <p:sp>
        <p:nvSpPr>
          <p:cNvPr id="18" name="Text 1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9" name="Text 1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1.2 PROBLEM &amp; USER</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Who's at the other end of the screen?</a:t>
            </a:r>
            <a:endParaRPr lang="en-US" sz="2600" dirty="0"/>
          </a:p>
        </p:txBody>
      </p:sp>
      <p:sp>
        <p:nvSpPr>
          <p:cNvPr id="5" name="Shape 3"/>
          <p:cNvSpPr/>
          <p:nvPr/>
        </p:nvSpPr>
        <p:spPr>
          <a:xfrm>
            <a:off x="457200" y="1371600"/>
            <a:ext cx="8229600" cy="822960"/>
          </a:xfrm>
          <a:prstGeom prst="rect">
            <a:avLst/>
          </a:prstGeom>
          <a:solidFill>
            <a:srgbClr val="1E293B"/>
          </a:solidFill>
          <a:ln/>
        </p:spPr>
        <p:txBody>
          <a:bodyPr/>
          <a:lstStyle/>
          <a:p>
            <a:endParaRPr lang="en-US"/>
          </a:p>
        </p:txBody>
      </p:sp>
      <p:sp>
        <p:nvSpPr>
          <p:cNvPr id="6" name="Text 4"/>
          <p:cNvSpPr/>
          <p:nvPr/>
        </p:nvSpPr>
        <p:spPr>
          <a:xfrm>
            <a:off x="731520" y="1463040"/>
            <a:ext cx="7680960" cy="640080"/>
          </a:xfrm>
          <a:prstGeom prst="rect">
            <a:avLst/>
          </a:prstGeom>
          <a:noFill/>
          <a:ln/>
        </p:spPr>
        <p:txBody>
          <a:bodyPr wrap="square" lIns="0" tIns="0" rIns="0" bIns="0" rtlCol="0" anchor="ctr"/>
          <a:lstStyle/>
          <a:p>
            <a:pPr marL="0" indent="0">
              <a:spcAft>
                <a:spcPts val="400"/>
              </a:spcAft>
              <a:buNone/>
            </a:pPr>
            <a:r>
              <a:rPr lang="en-US" sz="900" b="1" kern="0" spc="400" dirty="0">
                <a:solidFill>
                  <a:srgbClr val="0EA5E9"/>
                </a:solidFill>
              </a:rPr>
              <a:t>PROBLEM STATEMENT</a:t>
            </a:r>
            <a:endParaRPr lang="en-US" sz="900" dirty="0"/>
          </a:p>
          <a:p>
            <a:pPr marL="0" indent="0">
              <a:spcAft>
                <a:spcPts val="400"/>
              </a:spcAft>
              <a:buNone/>
            </a:pPr>
            <a:r>
              <a:rPr lang="en-US" sz="1300" dirty="0">
                <a:solidFill>
                  <a:srgbClr val="FFFFFF"/>
                </a:solidFill>
              </a:rPr>
              <a:t>Amateur padel players want to see patterns in their own game that they can't feel - but no simple tool turns a player's match log into honest visual feedback.</a:t>
            </a:r>
            <a:endParaRPr lang="en-US" sz="900" dirty="0"/>
          </a:p>
        </p:txBody>
      </p:sp>
      <p:sp>
        <p:nvSpPr>
          <p:cNvPr id="7" name="Shape 5"/>
          <p:cNvSpPr/>
          <p:nvPr/>
        </p:nvSpPr>
        <p:spPr>
          <a:xfrm>
            <a:off x="457200" y="2423160"/>
            <a:ext cx="4023360" cy="2194560"/>
          </a:xfrm>
          <a:prstGeom prst="rect">
            <a:avLst/>
          </a:prstGeom>
          <a:solidFill>
            <a:srgbClr val="FFFFFF"/>
          </a:solidFill>
          <a:ln w="9525">
            <a:solidFill>
              <a:srgbClr val="CFD6DD"/>
            </a:solidFill>
            <a:prstDash val="solid"/>
          </a:ln>
        </p:spPr>
        <p:txBody>
          <a:bodyPr/>
          <a:lstStyle/>
          <a:p>
            <a:endParaRPr lang="en-US"/>
          </a:p>
        </p:txBody>
      </p:sp>
      <p:sp>
        <p:nvSpPr>
          <p:cNvPr id="8" name="Text 6"/>
          <p:cNvSpPr/>
          <p:nvPr/>
        </p:nvSpPr>
        <p:spPr>
          <a:xfrm>
            <a:off x="640080" y="2542032"/>
            <a:ext cx="3657600" cy="274320"/>
          </a:xfrm>
          <a:prstGeom prst="rect">
            <a:avLst/>
          </a:prstGeom>
          <a:noFill/>
          <a:ln/>
        </p:spPr>
        <p:txBody>
          <a:bodyPr wrap="square" lIns="0" tIns="0" rIns="0" bIns="0" rtlCol="0" anchor="ctr"/>
          <a:lstStyle/>
          <a:p>
            <a:pPr marL="0" indent="0">
              <a:buNone/>
            </a:pPr>
            <a:r>
              <a:rPr lang="en-US" sz="900" b="1" kern="0" spc="400" dirty="0">
                <a:solidFill>
                  <a:srgbClr val="0EA5E9"/>
                </a:solidFill>
              </a:rPr>
              <a:t>PRIMARY USER</a:t>
            </a:r>
            <a:endParaRPr lang="en-US" sz="900" dirty="0"/>
          </a:p>
        </p:txBody>
      </p:sp>
      <p:sp>
        <p:nvSpPr>
          <p:cNvPr id="9" name="Text 7"/>
          <p:cNvSpPr/>
          <p:nvPr/>
        </p:nvSpPr>
        <p:spPr>
          <a:xfrm>
            <a:off x="640080" y="2788920"/>
            <a:ext cx="3657600" cy="365760"/>
          </a:xfrm>
          <a:prstGeom prst="rect">
            <a:avLst/>
          </a:prstGeom>
          <a:noFill/>
          <a:ln/>
        </p:spPr>
        <p:txBody>
          <a:bodyPr wrap="square" lIns="0" tIns="0" rIns="0" bIns="0" rtlCol="0" anchor="ctr"/>
          <a:lstStyle/>
          <a:p>
            <a:pPr marL="0" indent="0">
              <a:buNone/>
            </a:pPr>
            <a:r>
              <a:rPr lang="en-US" sz="1600" b="1" dirty="0">
                <a:solidFill>
                  <a:srgbClr val="1F2937"/>
                </a:solidFill>
              </a:rPr>
              <a:t>Marco · the club player</a:t>
            </a:r>
            <a:endParaRPr lang="en-US" sz="1600" dirty="0"/>
          </a:p>
        </p:txBody>
      </p:sp>
      <p:sp>
        <p:nvSpPr>
          <p:cNvPr id="10" name="Text 8"/>
          <p:cNvSpPr/>
          <p:nvPr/>
        </p:nvSpPr>
        <p:spPr>
          <a:xfrm>
            <a:off x="640080" y="3154680"/>
            <a:ext cx="3657600" cy="1417320"/>
          </a:xfrm>
          <a:prstGeom prst="rect">
            <a:avLst/>
          </a:prstGeom>
          <a:noFill/>
          <a:ln/>
        </p:spPr>
        <p:txBody>
          <a:bodyPr wrap="square" lIns="0" tIns="0" rIns="0" bIns="0" rtlCol="0" anchor="ctr"/>
          <a:lstStyle/>
          <a:p>
            <a:pPr marL="342900" indent="-342900">
              <a:spcAft>
                <a:spcPts val="200"/>
              </a:spcAft>
              <a:buSzPct val="100000"/>
              <a:buChar char="●"/>
            </a:pPr>
            <a:r>
              <a:rPr lang="en-US" sz="1150" dirty="0">
                <a:solidFill>
                  <a:srgbClr val="64748B"/>
                </a:solidFill>
              </a:rPr>
              <a:t>22-40 years old</a:t>
            </a:r>
            <a:endParaRPr lang="en-US" sz="1150" dirty="0"/>
          </a:p>
          <a:p>
            <a:pPr marL="342900" indent="-342900">
              <a:spcAft>
                <a:spcPts val="200"/>
              </a:spcAft>
              <a:buSzPct val="100000"/>
              <a:buChar char="●"/>
            </a:pPr>
            <a:r>
              <a:rPr lang="en-US" sz="1150" dirty="0">
                <a:solidFill>
                  <a:srgbClr val="64748B"/>
                </a:solidFill>
              </a:rPr>
              <a:t>Plays 1-3 times per week at his local club</a:t>
            </a:r>
            <a:endParaRPr lang="en-US" sz="1150" dirty="0"/>
          </a:p>
          <a:p>
            <a:pPr marL="342900" indent="-342900">
              <a:spcAft>
                <a:spcPts val="200"/>
              </a:spcAft>
              <a:buSzPct val="100000"/>
              <a:buChar char="●"/>
            </a:pPr>
            <a:r>
              <a:rPr lang="en-US" sz="1150" dirty="0">
                <a:solidFill>
                  <a:srgbClr val="64748B"/>
                </a:solidFill>
              </a:rPr>
              <a:t>6 months to 5 years of experience</a:t>
            </a:r>
            <a:endParaRPr lang="en-US" sz="1150" dirty="0"/>
          </a:p>
          <a:p>
            <a:pPr marL="342900" indent="-342900">
              <a:spcAft>
                <a:spcPts val="200"/>
              </a:spcAft>
              <a:buSzPct val="100000"/>
              <a:buChar char="●"/>
            </a:pPr>
            <a:r>
              <a:rPr lang="en-US" sz="1150" dirty="0">
                <a:solidFill>
                  <a:srgbClr val="64748B"/>
                </a:solidFill>
              </a:rPr>
              <a:t>Will spend 90 seconds logging on his phone</a:t>
            </a:r>
            <a:endParaRPr lang="en-US" sz="1150" dirty="0"/>
          </a:p>
          <a:p>
            <a:pPr marL="342900" indent="-342900">
              <a:spcAft>
                <a:spcPts val="200"/>
              </a:spcAft>
              <a:buSzPct val="100000"/>
              <a:buChar char="●"/>
            </a:pPr>
            <a:r>
              <a:rPr lang="en-US" sz="1150" dirty="0">
                <a:solidFill>
                  <a:srgbClr val="64748B"/>
                </a:solidFill>
              </a:rPr>
              <a:t>Wants to improve · is not a pro · has no coach</a:t>
            </a:r>
            <a:endParaRPr lang="en-US" sz="1150" dirty="0"/>
          </a:p>
        </p:txBody>
      </p:sp>
      <p:sp>
        <p:nvSpPr>
          <p:cNvPr id="11" name="Shape 9"/>
          <p:cNvSpPr/>
          <p:nvPr/>
        </p:nvSpPr>
        <p:spPr>
          <a:xfrm>
            <a:off x="4663440" y="2423160"/>
            <a:ext cx="4023360" cy="219456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4846320" y="2542032"/>
            <a:ext cx="3657600" cy="274320"/>
          </a:xfrm>
          <a:prstGeom prst="rect">
            <a:avLst/>
          </a:prstGeom>
          <a:noFill/>
          <a:ln/>
        </p:spPr>
        <p:txBody>
          <a:bodyPr wrap="square" lIns="0" tIns="0" rIns="0" bIns="0" rtlCol="0" anchor="ctr"/>
          <a:lstStyle/>
          <a:p>
            <a:pPr marL="0" indent="0">
              <a:buNone/>
            </a:pPr>
            <a:r>
              <a:rPr lang="en-US" sz="900" b="1" kern="0" spc="400" dirty="0">
                <a:solidFill>
                  <a:srgbClr val="0EA5E9"/>
                </a:solidFill>
              </a:rPr>
              <a:t>SECONDARY USER</a:t>
            </a:r>
            <a:endParaRPr lang="en-US" sz="900" dirty="0"/>
          </a:p>
        </p:txBody>
      </p:sp>
      <p:sp>
        <p:nvSpPr>
          <p:cNvPr id="13" name="Text 11"/>
          <p:cNvSpPr/>
          <p:nvPr/>
        </p:nvSpPr>
        <p:spPr>
          <a:xfrm>
            <a:off x="4846320" y="2788920"/>
            <a:ext cx="3657600" cy="365760"/>
          </a:xfrm>
          <a:prstGeom prst="rect">
            <a:avLst/>
          </a:prstGeom>
          <a:noFill/>
          <a:ln/>
        </p:spPr>
        <p:txBody>
          <a:bodyPr wrap="square" lIns="0" tIns="0" rIns="0" bIns="0" rtlCol="0" anchor="ctr"/>
          <a:lstStyle/>
          <a:p>
            <a:pPr marL="0" indent="0">
              <a:buNone/>
            </a:pPr>
            <a:r>
              <a:rPr lang="en-US" sz="1600" b="1" dirty="0">
                <a:solidFill>
                  <a:srgbClr val="1F2937"/>
                </a:solidFill>
              </a:rPr>
              <a:t>Luca · the amateur coach</a:t>
            </a:r>
            <a:endParaRPr lang="en-US" sz="1600" dirty="0"/>
          </a:p>
        </p:txBody>
      </p:sp>
      <p:sp>
        <p:nvSpPr>
          <p:cNvPr id="14" name="Text 12"/>
          <p:cNvSpPr/>
          <p:nvPr/>
        </p:nvSpPr>
        <p:spPr>
          <a:xfrm>
            <a:off x="4846320" y="3154680"/>
            <a:ext cx="3657600" cy="1417320"/>
          </a:xfrm>
          <a:prstGeom prst="rect">
            <a:avLst/>
          </a:prstGeom>
          <a:noFill/>
          <a:ln/>
        </p:spPr>
        <p:txBody>
          <a:bodyPr wrap="square" lIns="0" tIns="0" rIns="0" bIns="0" rtlCol="0" anchor="ctr"/>
          <a:lstStyle/>
          <a:p>
            <a:pPr marL="342900" indent="-342900">
              <a:spcAft>
                <a:spcPts val="200"/>
              </a:spcAft>
              <a:buSzPct val="100000"/>
              <a:buChar char="●"/>
            </a:pPr>
            <a:r>
              <a:rPr lang="en-US" sz="1150" dirty="0">
                <a:solidFill>
                  <a:srgbClr val="64748B"/>
                </a:solidFill>
              </a:rPr>
              <a:t>Gives weekly 1-hour lessons</a:t>
            </a:r>
            <a:endParaRPr lang="en-US" sz="1150" dirty="0"/>
          </a:p>
          <a:p>
            <a:pPr marL="342900" indent="-342900">
              <a:spcAft>
                <a:spcPts val="200"/>
              </a:spcAft>
              <a:buSzPct val="100000"/>
              <a:buChar char="●"/>
            </a:pPr>
            <a:r>
              <a:rPr lang="en-US" sz="1150" dirty="0">
                <a:solidFill>
                  <a:srgbClr val="64748B"/>
                </a:solidFill>
              </a:rPr>
              <a:t>Needs a 2-min summary of each student before training</a:t>
            </a:r>
            <a:endParaRPr lang="en-US" sz="1150" dirty="0"/>
          </a:p>
          <a:p>
            <a:pPr marL="342900" indent="-342900">
              <a:spcAft>
                <a:spcPts val="200"/>
              </a:spcAft>
              <a:buSzPct val="100000"/>
              <a:buChar char="●"/>
            </a:pPr>
            <a:r>
              <a:rPr lang="en-US" sz="1150" dirty="0">
                <a:solidFill>
                  <a:srgbClr val="64748B"/>
                </a:solidFill>
              </a:rPr>
              <a:t>Cares about shot balance, error trends, partner effect</a:t>
            </a:r>
            <a:endParaRPr lang="en-US" sz="1150" dirty="0"/>
          </a:p>
          <a:p>
            <a:pPr marL="342900" indent="-342900">
              <a:spcAft>
                <a:spcPts val="200"/>
              </a:spcAft>
              <a:buSzPct val="100000"/>
              <a:buChar char="●"/>
            </a:pPr>
            <a:r>
              <a:rPr lang="en-US" sz="1150" dirty="0">
                <a:solidFill>
                  <a:srgbClr val="64748B"/>
                </a:solidFill>
              </a:rPr>
              <a:t>Reads on a laptop, not a phone</a:t>
            </a:r>
            <a:endParaRPr lang="en-US" sz="1150" dirty="0"/>
          </a:p>
        </p:txBody>
      </p:sp>
      <p:sp>
        <p:nvSpPr>
          <p:cNvPr id="15" name="Text 13"/>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6" name="Text 14"/>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1.3 EDITORIAL THINKING</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Angle · Framing · Focus (Kirk)</a:t>
            </a:r>
            <a:endParaRPr lang="en-US" sz="2600" dirty="0"/>
          </a:p>
        </p:txBody>
      </p:sp>
      <p:sp>
        <p:nvSpPr>
          <p:cNvPr id="5" name="Shape 3"/>
          <p:cNvSpPr/>
          <p:nvPr/>
        </p:nvSpPr>
        <p:spPr>
          <a:xfrm>
            <a:off x="45720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640080" y="1508760"/>
            <a:ext cx="1097280" cy="256032"/>
          </a:xfrm>
          <a:prstGeom prst="rect">
            <a:avLst/>
          </a:prstGeom>
          <a:solidFill>
            <a:srgbClr val="EF4444"/>
          </a:solidFill>
          <a:ln/>
        </p:spPr>
        <p:txBody>
          <a:bodyPr/>
          <a:lstStyle/>
          <a:p>
            <a:endParaRPr lang="en-US"/>
          </a:p>
        </p:txBody>
      </p:sp>
      <p:sp>
        <p:nvSpPr>
          <p:cNvPr id="7" name="Text 5"/>
          <p:cNvSpPr/>
          <p:nvPr/>
        </p:nvSpPr>
        <p:spPr>
          <a:xfrm>
            <a:off x="64008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ANGLE</a:t>
            </a:r>
            <a:endParaRPr lang="en-US" sz="1000" dirty="0"/>
          </a:p>
        </p:txBody>
      </p:sp>
      <p:sp>
        <p:nvSpPr>
          <p:cNvPr id="8" name="Text 6"/>
          <p:cNvSpPr/>
          <p:nvPr/>
        </p:nvSpPr>
        <p:spPr>
          <a:xfrm>
            <a:off x="64008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Reflective self-analysis over time</a:t>
            </a:r>
            <a:endParaRPr lang="en-US" sz="1600" dirty="0"/>
          </a:p>
        </p:txBody>
      </p:sp>
      <p:sp>
        <p:nvSpPr>
          <p:cNvPr id="9" name="Text 7"/>
          <p:cNvSpPr/>
          <p:nvPr/>
        </p:nvSpPr>
        <p:spPr>
          <a:xfrm>
            <a:off x="64008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Temporal · Categorical · Comparative.</a:t>
            </a:r>
            <a:endParaRPr lang="en-US" sz="1200" dirty="0"/>
          </a:p>
        </p:txBody>
      </p:sp>
      <p:sp>
        <p:nvSpPr>
          <p:cNvPr id="10" name="Text 8"/>
          <p:cNvSpPr/>
          <p:nvPr/>
        </p:nvSpPr>
        <p:spPr>
          <a:xfrm>
            <a:off x="64008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Spatial overlays (court heatmaps) deliberately excluded - we don't have sensor data.</a:t>
            </a:r>
            <a:endParaRPr lang="en-US" sz="1100" dirty="0"/>
          </a:p>
        </p:txBody>
      </p:sp>
      <p:sp>
        <p:nvSpPr>
          <p:cNvPr id="11" name="Shape 9"/>
          <p:cNvSpPr/>
          <p:nvPr/>
        </p:nvSpPr>
        <p:spPr>
          <a:xfrm>
            <a:off x="324612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3429000" y="1508760"/>
            <a:ext cx="1097280" cy="256032"/>
          </a:xfrm>
          <a:prstGeom prst="rect">
            <a:avLst/>
          </a:prstGeom>
          <a:solidFill>
            <a:srgbClr val="10B981"/>
          </a:solidFill>
          <a:ln/>
        </p:spPr>
        <p:txBody>
          <a:bodyPr/>
          <a:lstStyle/>
          <a:p>
            <a:endParaRPr lang="en-US"/>
          </a:p>
        </p:txBody>
      </p:sp>
      <p:sp>
        <p:nvSpPr>
          <p:cNvPr id="13" name="Text 11"/>
          <p:cNvSpPr/>
          <p:nvPr/>
        </p:nvSpPr>
        <p:spPr>
          <a:xfrm>
            <a:off x="342900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FRAMING</a:t>
            </a:r>
            <a:endParaRPr lang="en-US" sz="1000" dirty="0"/>
          </a:p>
        </p:txBody>
      </p:sp>
      <p:sp>
        <p:nvSpPr>
          <p:cNvPr id="14" name="Text 12"/>
          <p:cNvSpPr/>
          <p:nvPr/>
        </p:nvSpPr>
        <p:spPr>
          <a:xfrm>
            <a:off x="342900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What an amateur can log on a phone</a:t>
            </a:r>
            <a:endParaRPr lang="en-US" sz="1600" dirty="0"/>
          </a:p>
        </p:txBody>
      </p:sp>
      <p:sp>
        <p:nvSpPr>
          <p:cNvPr id="15" name="Text 13"/>
          <p:cNvSpPr/>
          <p:nvPr/>
        </p:nvSpPr>
        <p:spPr>
          <a:xfrm>
            <a:off x="342900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Inside: matches, sets, shot tallies, partners, surface.</a:t>
            </a:r>
            <a:endParaRPr lang="en-US" sz="1200" dirty="0"/>
          </a:p>
        </p:txBody>
      </p:sp>
      <p:sp>
        <p:nvSpPr>
          <p:cNvPr id="16" name="Text 14"/>
          <p:cNvSpPr/>
          <p:nvPr/>
        </p:nvSpPr>
        <p:spPr>
          <a:xfrm>
            <a:off x="342900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Outside: ball-trajectory, biometrics, opponent scouting.</a:t>
            </a:r>
            <a:endParaRPr lang="en-US" sz="1100" dirty="0"/>
          </a:p>
        </p:txBody>
      </p:sp>
      <p:sp>
        <p:nvSpPr>
          <p:cNvPr id="17" name="Shape 15"/>
          <p:cNvSpPr/>
          <p:nvPr/>
        </p:nvSpPr>
        <p:spPr>
          <a:xfrm>
            <a:off x="6035040" y="1371600"/>
            <a:ext cx="2697480" cy="320040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6217920" y="1508760"/>
            <a:ext cx="1097280" cy="256032"/>
          </a:xfrm>
          <a:prstGeom prst="rect">
            <a:avLst/>
          </a:prstGeom>
          <a:solidFill>
            <a:srgbClr val="0EA5E9"/>
          </a:solidFill>
          <a:ln/>
        </p:spPr>
        <p:txBody>
          <a:bodyPr/>
          <a:lstStyle/>
          <a:p>
            <a:endParaRPr lang="en-US"/>
          </a:p>
        </p:txBody>
      </p:sp>
      <p:sp>
        <p:nvSpPr>
          <p:cNvPr id="19" name="Text 17"/>
          <p:cNvSpPr/>
          <p:nvPr/>
        </p:nvSpPr>
        <p:spPr>
          <a:xfrm>
            <a:off x="6217920" y="1508760"/>
            <a:ext cx="1097280" cy="256032"/>
          </a:xfrm>
          <a:prstGeom prst="rect">
            <a:avLst/>
          </a:prstGeom>
          <a:noFill/>
          <a:ln/>
        </p:spPr>
        <p:txBody>
          <a:bodyPr wrap="square" lIns="0" tIns="0" rIns="0" bIns="0" rtlCol="0" anchor="ctr"/>
          <a:lstStyle/>
          <a:p>
            <a:pPr marL="0" indent="0" algn="ctr">
              <a:buNone/>
            </a:pPr>
            <a:r>
              <a:rPr lang="en-US" sz="1000" b="1" kern="0" spc="300" dirty="0">
                <a:solidFill>
                  <a:srgbClr val="FFFFFF"/>
                </a:solidFill>
              </a:rPr>
              <a:t>FOCUS</a:t>
            </a:r>
            <a:endParaRPr lang="en-US" sz="1000" dirty="0"/>
          </a:p>
        </p:txBody>
      </p:sp>
      <p:sp>
        <p:nvSpPr>
          <p:cNvPr id="20" name="Text 18"/>
          <p:cNvSpPr/>
          <p:nvPr/>
        </p:nvSpPr>
        <p:spPr>
          <a:xfrm>
            <a:off x="6217920" y="1920240"/>
            <a:ext cx="2331720" cy="731520"/>
          </a:xfrm>
          <a:prstGeom prst="rect">
            <a:avLst/>
          </a:prstGeom>
          <a:noFill/>
          <a:ln/>
        </p:spPr>
        <p:txBody>
          <a:bodyPr wrap="square" lIns="0" tIns="0" rIns="0" bIns="0" rtlCol="0" anchor="ctr"/>
          <a:lstStyle/>
          <a:p>
            <a:pPr marL="0" indent="0">
              <a:buNone/>
            </a:pPr>
            <a:r>
              <a:rPr lang="en-US" sz="1600" b="1" dirty="0">
                <a:solidFill>
                  <a:srgbClr val="1F2937"/>
                </a:solidFill>
              </a:rPr>
              <a:t>One number above the fold</a:t>
            </a:r>
            <a:endParaRPr lang="en-US" sz="1600" dirty="0"/>
          </a:p>
        </p:txBody>
      </p:sp>
      <p:sp>
        <p:nvSpPr>
          <p:cNvPr id="21" name="Text 19"/>
          <p:cNvSpPr/>
          <p:nvPr/>
        </p:nvSpPr>
        <p:spPr>
          <a:xfrm>
            <a:off x="6217920" y="2743200"/>
            <a:ext cx="2331720" cy="640080"/>
          </a:xfrm>
          <a:prstGeom prst="rect">
            <a:avLst/>
          </a:prstGeom>
          <a:noFill/>
          <a:ln/>
        </p:spPr>
        <p:txBody>
          <a:bodyPr wrap="square" lIns="0" tIns="0" rIns="0" bIns="0" rtlCol="0" anchor="ctr"/>
          <a:lstStyle/>
          <a:p>
            <a:pPr marL="0" indent="0">
              <a:buNone/>
            </a:pPr>
            <a:r>
              <a:rPr lang="en-US" sz="1200" i="1" dirty="0">
                <a:solidFill>
                  <a:srgbClr val="64748B"/>
                </a:solidFill>
              </a:rPr>
              <a:t>Last-10-matches win rate.</a:t>
            </a:r>
            <a:endParaRPr lang="en-US" sz="1200" dirty="0"/>
          </a:p>
        </p:txBody>
      </p:sp>
      <p:sp>
        <p:nvSpPr>
          <p:cNvPr id="22" name="Text 20"/>
          <p:cNvSpPr/>
          <p:nvPr/>
        </p:nvSpPr>
        <p:spPr>
          <a:xfrm>
            <a:off x="6217920" y="3520440"/>
            <a:ext cx="2331720" cy="914400"/>
          </a:xfrm>
          <a:prstGeom prst="rect">
            <a:avLst/>
          </a:prstGeom>
          <a:noFill/>
          <a:ln/>
        </p:spPr>
        <p:txBody>
          <a:bodyPr wrap="square" lIns="0" tIns="0" rIns="0" bIns="0" rtlCol="0" anchor="ctr"/>
          <a:lstStyle/>
          <a:p>
            <a:pPr marL="0" indent="0">
              <a:buNone/>
            </a:pPr>
            <a:r>
              <a:rPr lang="en-US" sz="1100" dirty="0">
                <a:solidFill>
                  <a:srgbClr val="64748B"/>
                </a:solidFill>
              </a:rPr>
              <a:t>Plus: net shot balance, plain-language insight ("You win 80% with Luca").</a:t>
            </a:r>
            <a:endParaRPr lang="en-US" sz="110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1.4 RELEVANCE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Scored on Kirk's four factors</a:t>
            </a:r>
            <a:endParaRPr lang="en-US" sz="2600" dirty="0"/>
          </a:p>
        </p:txBody>
      </p:sp>
      <p:sp>
        <p:nvSpPr>
          <p:cNvPr id="5" name="Shape 3"/>
          <p:cNvSpPr/>
          <p:nvPr/>
        </p:nvSpPr>
        <p:spPr>
          <a:xfrm>
            <a:off x="457200" y="1371600"/>
            <a:ext cx="8229600" cy="50292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37160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Timeliness</a:t>
            </a:r>
            <a:endParaRPr lang="en-US" sz="1300" dirty="0"/>
          </a:p>
        </p:txBody>
      </p:sp>
      <p:sp>
        <p:nvSpPr>
          <p:cNvPr id="7" name="Shape 5"/>
          <p:cNvSpPr/>
          <p:nvPr/>
        </p:nvSpPr>
        <p:spPr>
          <a:xfrm>
            <a:off x="2286000" y="1490472"/>
            <a:ext cx="274320" cy="274320"/>
          </a:xfrm>
          <a:prstGeom prst="ellipse">
            <a:avLst/>
          </a:prstGeom>
          <a:solidFill>
            <a:srgbClr val="10B981"/>
          </a:solidFill>
          <a:ln/>
        </p:spPr>
        <p:txBody>
          <a:bodyPr/>
          <a:lstStyle/>
          <a:p>
            <a:endParaRPr lang="en-US"/>
          </a:p>
        </p:txBody>
      </p:sp>
      <p:sp>
        <p:nvSpPr>
          <p:cNvPr id="8" name="Text 6"/>
          <p:cNvSpPr/>
          <p:nvPr/>
        </p:nvSpPr>
        <p:spPr>
          <a:xfrm>
            <a:off x="2286000" y="149047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9" name="Text 7"/>
          <p:cNvSpPr/>
          <p:nvPr/>
        </p:nvSpPr>
        <p:spPr>
          <a:xfrm>
            <a:off x="2743200" y="1371600"/>
            <a:ext cx="5852160" cy="502920"/>
          </a:xfrm>
          <a:prstGeom prst="rect">
            <a:avLst/>
          </a:prstGeom>
          <a:noFill/>
          <a:ln/>
        </p:spPr>
        <p:txBody>
          <a:bodyPr wrap="square" lIns="0" tIns="0" rIns="0" bIns="0" rtlCol="0" anchor="ctr"/>
          <a:lstStyle/>
          <a:p>
            <a:pPr marL="0" indent="0">
              <a:buNone/>
            </a:pPr>
            <a:r>
              <a:rPr lang="en-US" sz="1100" dirty="0">
                <a:solidFill>
                  <a:srgbClr val="64748B"/>
                </a:solidFill>
              </a:rPr>
              <a:t>Opens after a match or before the next one - actionable now.</a:t>
            </a:r>
            <a:endParaRPr lang="en-US" sz="1100" dirty="0"/>
          </a:p>
        </p:txBody>
      </p:sp>
      <p:sp>
        <p:nvSpPr>
          <p:cNvPr id="10" name="Shape 8"/>
          <p:cNvSpPr/>
          <p:nvPr/>
        </p:nvSpPr>
        <p:spPr>
          <a:xfrm>
            <a:off x="457200" y="1965960"/>
            <a:ext cx="8229600" cy="502920"/>
          </a:xfrm>
          <a:prstGeom prst="rect">
            <a:avLst/>
          </a:prstGeom>
          <a:solidFill>
            <a:srgbClr val="FFFFFF"/>
          </a:solidFill>
          <a:ln w="9525">
            <a:solidFill>
              <a:srgbClr val="CFD6DD"/>
            </a:solidFill>
            <a:prstDash val="solid"/>
          </a:ln>
        </p:spPr>
        <p:txBody>
          <a:bodyPr/>
          <a:lstStyle/>
          <a:p>
            <a:endParaRPr lang="en-US"/>
          </a:p>
        </p:txBody>
      </p:sp>
      <p:sp>
        <p:nvSpPr>
          <p:cNvPr id="11" name="Text 9"/>
          <p:cNvSpPr/>
          <p:nvPr/>
        </p:nvSpPr>
        <p:spPr>
          <a:xfrm>
            <a:off x="640080" y="196596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Interestingness</a:t>
            </a:r>
            <a:endParaRPr lang="en-US" sz="1300" dirty="0"/>
          </a:p>
        </p:txBody>
      </p:sp>
      <p:sp>
        <p:nvSpPr>
          <p:cNvPr id="12" name="Shape 10"/>
          <p:cNvSpPr/>
          <p:nvPr/>
        </p:nvSpPr>
        <p:spPr>
          <a:xfrm>
            <a:off x="2286000" y="2084832"/>
            <a:ext cx="274320" cy="274320"/>
          </a:xfrm>
          <a:prstGeom prst="ellipse">
            <a:avLst/>
          </a:prstGeom>
          <a:solidFill>
            <a:srgbClr val="10B981"/>
          </a:solidFill>
          <a:ln/>
        </p:spPr>
        <p:txBody>
          <a:bodyPr/>
          <a:lstStyle/>
          <a:p>
            <a:endParaRPr lang="en-US"/>
          </a:p>
        </p:txBody>
      </p:sp>
      <p:sp>
        <p:nvSpPr>
          <p:cNvPr id="13" name="Text 11"/>
          <p:cNvSpPr/>
          <p:nvPr/>
        </p:nvSpPr>
        <p:spPr>
          <a:xfrm>
            <a:off x="2286000" y="208483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14" name="Text 12"/>
          <p:cNvSpPr/>
          <p:nvPr/>
        </p:nvSpPr>
        <p:spPr>
          <a:xfrm>
            <a:off x="2743200" y="1965960"/>
            <a:ext cx="5852160" cy="502920"/>
          </a:xfrm>
          <a:prstGeom prst="rect">
            <a:avLst/>
          </a:prstGeom>
          <a:noFill/>
          <a:ln/>
        </p:spPr>
        <p:txBody>
          <a:bodyPr wrap="square" lIns="0" tIns="0" rIns="0" bIns="0" rtlCol="0" anchor="ctr"/>
          <a:lstStyle/>
          <a:p>
            <a:pPr marL="0" indent="0">
              <a:buNone/>
            </a:pPr>
            <a:r>
              <a:rPr lang="en-US" sz="1100" dirty="0">
                <a:solidFill>
                  <a:srgbClr val="64748B"/>
                </a:solidFill>
              </a:rPr>
              <a:t>Confirms or contradicts gut feelings - both outcomes are interesting.</a:t>
            </a:r>
            <a:endParaRPr lang="en-US" sz="1100" dirty="0"/>
          </a:p>
        </p:txBody>
      </p:sp>
      <p:sp>
        <p:nvSpPr>
          <p:cNvPr id="15" name="Shape 13"/>
          <p:cNvSpPr/>
          <p:nvPr/>
        </p:nvSpPr>
        <p:spPr>
          <a:xfrm>
            <a:off x="457200" y="2560320"/>
            <a:ext cx="8229600" cy="502920"/>
          </a:xfrm>
          <a:prstGeom prst="rect">
            <a:avLst/>
          </a:prstGeom>
          <a:solidFill>
            <a:srgbClr val="FFFFFF"/>
          </a:solidFill>
          <a:ln w="9525">
            <a:solidFill>
              <a:srgbClr val="CFD6DD"/>
            </a:solidFill>
            <a:prstDash val="solid"/>
          </a:ln>
        </p:spPr>
        <p:txBody>
          <a:bodyPr/>
          <a:lstStyle/>
          <a:p>
            <a:endParaRPr lang="en-US"/>
          </a:p>
        </p:txBody>
      </p:sp>
      <p:sp>
        <p:nvSpPr>
          <p:cNvPr id="16" name="Text 14"/>
          <p:cNvSpPr/>
          <p:nvPr/>
        </p:nvSpPr>
        <p:spPr>
          <a:xfrm>
            <a:off x="640080" y="256032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Pertinence</a:t>
            </a:r>
            <a:endParaRPr lang="en-US" sz="1300" dirty="0"/>
          </a:p>
        </p:txBody>
      </p:sp>
      <p:sp>
        <p:nvSpPr>
          <p:cNvPr id="17" name="Shape 15"/>
          <p:cNvSpPr/>
          <p:nvPr/>
        </p:nvSpPr>
        <p:spPr>
          <a:xfrm>
            <a:off x="2286000" y="2679192"/>
            <a:ext cx="274320" cy="274320"/>
          </a:xfrm>
          <a:prstGeom prst="ellipse">
            <a:avLst/>
          </a:prstGeom>
          <a:solidFill>
            <a:srgbClr val="10B981"/>
          </a:solidFill>
          <a:ln/>
        </p:spPr>
        <p:txBody>
          <a:bodyPr/>
          <a:lstStyle/>
          <a:p>
            <a:endParaRPr lang="en-US"/>
          </a:p>
        </p:txBody>
      </p:sp>
      <p:sp>
        <p:nvSpPr>
          <p:cNvPr id="18" name="Text 16"/>
          <p:cNvSpPr/>
          <p:nvPr/>
        </p:nvSpPr>
        <p:spPr>
          <a:xfrm>
            <a:off x="2286000" y="267919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3/3</a:t>
            </a:r>
            <a:endParaRPr lang="en-US" sz="900" dirty="0"/>
          </a:p>
        </p:txBody>
      </p:sp>
      <p:sp>
        <p:nvSpPr>
          <p:cNvPr id="19" name="Text 17"/>
          <p:cNvSpPr/>
          <p:nvPr/>
        </p:nvSpPr>
        <p:spPr>
          <a:xfrm>
            <a:off x="2743200" y="2560320"/>
            <a:ext cx="5852160" cy="502920"/>
          </a:xfrm>
          <a:prstGeom prst="rect">
            <a:avLst/>
          </a:prstGeom>
          <a:noFill/>
          <a:ln/>
        </p:spPr>
        <p:txBody>
          <a:bodyPr wrap="square" lIns="0" tIns="0" rIns="0" bIns="0" rtlCol="0" anchor="ctr"/>
          <a:lstStyle/>
          <a:p>
            <a:pPr marL="0" indent="0">
              <a:buNone/>
            </a:pPr>
            <a:r>
              <a:rPr lang="en-US" sz="1100" dirty="0">
                <a:solidFill>
                  <a:srgbClr val="64748B"/>
                </a:solidFill>
              </a:rPr>
              <a:t>Literally the user's own data - maximum personal connection.</a:t>
            </a:r>
            <a:endParaRPr lang="en-US" sz="1100" dirty="0"/>
          </a:p>
        </p:txBody>
      </p:sp>
      <p:sp>
        <p:nvSpPr>
          <p:cNvPr id="20" name="Shape 18"/>
          <p:cNvSpPr/>
          <p:nvPr/>
        </p:nvSpPr>
        <p:spPr>
          <a:xfrm>
            <a:off x="457200" y="3154680"/>
            <a:ext cx="8229600" cy="502920"/>
          </a:xfrm>
          <a:prstGeom prst="rect">
            <a:avLst/>
          </a:prstGeom>
          <a:solidFill>
            <a:srgbClr val="FFFFFF"/>
          </a:solidFill>
          <a:ln w="9525">
            <a:solidFill>
              <a:srgbClr val="CFD6DD"/>
            </a:solidFill>
            <a:prstDash val="solid"/>
          </a:ln>
        </p:spPr>
        <p:txBody>
          <a:bodyPr/>
          <a:lstStyle/>
          <a:p>
            <a:endParaRPr lang="en-US"/>
          </a:p>
        </p:txBody>
      </p:sp>
      <p:sp>
        <p:nvSpPr>
          <p:cNvPr id="21" name="Text 19"/>
          <p:cNvSpPr/>
          <p:nvPr/>
        </p:nvSpPr>
        <p:spPr>
          <a:xfrm>
            <a:off x="640080" y="3154680"/>
            <a:ext cx="1645920" cy="502920"/>
          </a:xfrm>
          <a:prstGeom prst="rect">
            <a:avLst/>
          </a:prstGeom>
          <a:noFill/>
          <a:ln/>
        </p:spPr>
        <p:txBody>
          <a:bodyPr wrap="square" lIns="0" tIns="0" rIns="0" bIns="0" rtlCol="0" anchor="ctr"/>
          <a:lstStyle/>
          <a:p>
            <a:pPr marL="0" indent="0">
              <a:buNone/>
            </a:pPr>
            <a:r>
              <a:rPr lang="en-US" sz="1300" b="1" dirty="0">
                <a:solidFill>
                  <a:srgbClr val="1F2937"/>
                </a:solidFill>
              </a:rPr>
              <a:t>Sufficiency</a:t>
            </a:r>
            <a:endParaRPr lang="en-US" sz="1300" dirty="0"/>
          </a:p>
        </p:txBody>
      </p:sp>
      <p:sp>
        <p:nvSpPr>
          <p:cNvPr id="22" name="Shape 20"/>
          <p:cNvSpPr/>
          <p:nvPr/>
        </p:nvSpPr>
        <p:spPr>
          <a:xfrm>
            <a:off x="2286000" y="3273552"/>
            <a:ext cx="274320" cy="274320"/>
          </a:xfrm>
          <a:prstGeom prst="ellipse">
            <a:avLst/>
          </a:prstGeom>
          <a:solidFill>
            <a:srgbClr val="F59E0B"/>
          </a:solidFill>
          <a:ln/>
        </p:spPr>
        <p:txBody>
          <a:bodyPr/>
          <a:lstStyle/>
          <a:p>
            <a:endParaRPr lang="en-US"/>
          </a:p>
        </p:txBody>
      </p:sp>
      <p:sp>
        <p:nvSpPr>
          <p:cNvPr id="23" name="Text 21"/>
          <p:cNvSpPr/>
          <p:nvPr/>
        </p:nvSpPr>
        <p:spPr>
          <a:xfrm>
            <a:off x="2286000" y="327355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rPr>
              <a:t>2/3</a:t>
            </a:r>
            <a:endParaRPr lang="en-US" sz="900" dirty="0"/>
          </a:p>
        </p:txBody>
      </p:sp>
      <p:sp>
        <p:nvSpPr>
          <p:cNvPr id="24" name="Text 22"/>
          <p:cNvSpPr/>
          <p:nvPr/>
        </p:nvSpPr>
        <p:spPr>
          <a:xfrm>
            <a:off x="2743200" y="3154680"/>
            <a:ext cx="5852160" cy="502920"/>
          </a:xfrm>
          <a:prstGeom prst="rect">
            <a:avLst/>
          </a:prstGeom>
          <a:noFill/>
          <a:ln/>
        </p:spPr>
        <p:txBody>
          <a:bodyPr wrap="square" lIns="0" tIns="0" rIns="0" bIns="0" rtlCol="0" anchor="ctr"/>
          <a:lstStyle/>
          <a:p>
            <a:pPr marL="0" indent="0">
              <a:buNone/>
            </a:pPr>
            <a:r>
              <a:rPr lang="en-US" sz="1100" dirty="0">
                <a:solidFill>
                  <a:srgbClr val="64748B"/>
                </a:solidFill>
              </a:rPr>
              <a:t>Deliberate trade-off: enough to inform, not so much it overwhelms.</a:t>
            </a:r>
            <a:endParaRPr lang="en-US" sz="1100" dirty="0"/>
          </a:p>
        </p:txBody>
      </p:sp>
      <p:sp>
        <p:nvSpPr>
          <p:cNvPr id="25" name="Shape 23"/>
          <p:cNvSpPr/>
          <p:nvPr/>
        </p:nvSpPr>
        <p:spPr>
          <a:xfrm>
            <a:off x="457200" y="4023360"/>
            <a:ext cx="8229600" cy="548640"/>
          </a:xfrm>
          <a:prstGeom prst="rect">
            <a:avLst/>
          </a:prstGeom>
          <a:solidFill>
            <a:srgbClr val="0EA5E9"/>
          </a:solidFill>
          <a:ln/>
        </p:spPr>
        <p:txBody>
          <a:bodyPr/>
          <a:lstStyle/>
          <a:p>
            <a:endParaRPr lang="en-US"/>
          </a:p>
        </p:txBody>
      </p:sp>
      <p:sp>
        <p:nvSpPr>
          <p:cNvPr id="26" name="Text 24"/>
          <p:cNvSpPr/>
          <p:nvPr/>
        </p:nvSpPr>
        <p:spPr>
          <a:xfrm>
            <a:off x="457200" y="4023360"/>
            <a:ext cx="8229600" cy="548640"/>
          </a:xfrm>
          <a:prstGeom prst="rect">
            <a:avLst/>
          </a:prstGeom>
          <a:noFill/>
          <a:ln/>
        </p:spPr>
        <p:txBody>
          <a:bodyPr wrap="square" lIns="0" tIns="0" rIns="0" bIns="0" rtlCol="0" anchor="ctr"/>
          <a:lstStyle/>
          <a:p>
            <a:pPr marL="0" indent="0" algn="ctr">
              <a:buNone/>
            </a:pPr>
            <a:r>
              <a:rPr lang="en-US" sz="1800" b="1" i="1" dirty="0">
                <a:solidFill>
                  <a:srgbClr val="FFFFFF"/>
                </a:solidFill>
              </a:rPr>
              <a:t>“You don't have to feel your game - you can see it.”</a:t>
            </a:r>
            <a:endParaRPr lang="en-US" sz="1800" dirty="0"/>
          </a:p>
        </p:txBody>
      </p:sp>
      <p:sp>
        <p:nvSpPr>
          <p:cNvPr id="27" name="Text 25"/>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8" name="Text 26"/>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2</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Working with Data</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Acquisition · Transformation · Exploration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2.1 ACQUISITION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layers, two sources</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3200400"/>
          </a:xfrm>
          <a:prstGeom prst="rect">
            <a:avLst/>
          </a:prstGeom>
          <a:solidFill>
            <a:srgbClr val="0EA5E9"/>
          </a:solidFill>
          <a:ln/>
        </p:spPr>
        <p:txBody>
          <a:bodyPr/>
          <a:lstStyle/>
          <a:p>
            <a:endParaRPr lang="en-US"/>
          </a:p>
        </p:txBody>
      </p:sp>
      <p:sp>
        <p:nvSpPr>
          <p:cNvPr id="7" name="Text 5"/>
          <p:cNvSpPr/>
          <p:nvPr/>
        </p:nvSpPr>
        <p:spPr>
          <a:xfrm>
            <a:off x="68580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LAYER A · PRO TOUR (REAL)</a:t>
            </a:r>
            <a:endParaRPr lang="en-US" sz="1000" dirty="0"/>
          </a:p>
        </p:txBody>
      </p:sp>
      <p:sp>
        <p:nvSpPr>
          <p:cNvPr id="8" name="Text 6"/>
          <p:cNvSpPr/>
          <p:nvPr/>
        </p:nvSpPr>
        <p:spPr>
          <a:xfrm>
            <a:off x="685800" y="1783080"/>
            <a:ext cx="3657600" cy="365760"/>
          </a:xfrm>
          <a:prstGeom prst="rect">
            <a:avLst/>
          </a:prstGeom>
          <a:noFill/>
          <a:ln/>
        </p:spPr>
        <p:txBody>
          <a:bodyPr wrap="square" lIns="0" tIns="0" rIns="0" bIns="0" rtlCol="0" anchor="ctr"/>
          <a:lstStyle/>
          <a:p>
            <a:pPr marL="0" indent="0">
              <a:buNone/>
            </a:pPr>
            <a:r>
              <a:rPr lang="en-US" sz="1500" b="1" dirty="0">
                <a:solidFill>
                  <a:srgbClr val="1F2937"/>
                </a:solidFill>
              </a:rPr>
              <a:t>Padel API · padelapi.org</a:t>
            </a:r>
            <a:endParaRPr lang="en-US" sz="1500" dirty="0"/>
          </a:p>
        </p:txBody>
      </p:sp>
      <p:sp>
        <p:nvSpPr>
          <p:cNvPr id="9" name="Text 7"/>
          <p:cNvSpPr/>
          <p:nvPr/>
        </p:nvSpPr>
        <p:spPr>
          <a:xfrm>
            <a:off x="685800" y="2148840"/>
            <a:ext cx="3657600" cy="91440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64748B"/>
                </a:solidFill>
              </a:rPr>
              <a:t>Premier Padel rankings + match results</a:t>
            </a:r>
            <a:endParaRPr lang="en-US" sz="1150" dirty="0"/>
          </a:p>
          <a:p>
            <a:pPr marL="342900" indent="-342900">
              <a:spcAft>
                <a:spcPts val="300"/>
              </a:spcAft>
              <a:buSzPct val="100000"/>
              <a:buChar char="●"/>
            </a:pPr>
            <a:r>
              <a:rPr lang="en-US" sz="1150" dirty="0">
                <a:solidFill>
                  <a:srgbClr val="64748B"/>
                </a:solidFill>
              </a:rPr>
              <a:t>Free tier: 50k req/month, 6 months of data</a:t>
            </a:r>
            <a:endParaRPr lang="en-US" sz="1150" dirty="0"/>
          </a:p>
          <a:p>
            <a:pPr marL="342900" indent="-342900">
              <a:spcAft>
                <a:spcPts val="300"/>
              </a:spcAft>
              <a:buSzPct val="100000"/>
              <a:buChar char="●"/>
            </a:pPr>
            <a:r>
              <a:rPr lang="en-US" sz="1150" dirty="0">
                <a:solidFill>
                  <a:srgbClr val="64748B"/>
                </a:solidFill>
              </a:rPr>
              <a:t>Token auth, REST + JSON</a:t>
            </a:r>
            <a:endParaRPr lang="en-US" sz="1150" dirty="0"/>
          </a:p>
        </p:txBody>
      </p:sp>
      <p:sp>
        <p:nvSpPr>
          <p:cNvPr id="10" name="Text 8"/>
          <p:cNvSpPr/>
          <p:nvPr/>
        </p:nvSpPr>
        <p:spPr>
          <a:xfrm>
            <a:off x="685800" y="320040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BACKUP</a:t>
            </a:r>
            <a:endParaRPr lang="en-US" sz="900" dirty="0"/>
          </a:p>
        </p:txBody>
      </p:sp>
      <p:sp>
        <p:nvSpPr>
          <p:cNvPr id="11" name="Text 9"/>
          <p:cNvSpPr/>
          <p:nvPr/>
        </p:nvSpPr>
        <p:spPr>
          <a:xfrm>
            <a:off x="685800" y="3474720"/>
            <a:ext cx="3657600" cy="1005840"/>
          </a:xfrm>
          <a:prstGeom prst="rect">
            <a:avLst/>
          </a:prstGeom>
          <a:noFill/>
          <a:ln/>
        </p:spPr>
        <p:txBody>
          <a:bodyPr wrap="square" lIns="0" tIns="0" rIns="0" bIns="0" rtlCol="0" anchor="ctr"/>
          <a:lstStyle/>
          <a:p>
            <a:pPr marL="342900" indent="-342900">
              <a:spcAft>
                <a:spcPts val="200"/>
              </a:spcAft>
              <a:buSzPct val="100000"/>
              <a:buChar char="●"/>
            </a:pPr>
            <a:r>
              <a:rPr lang="en-US" sz="1100" dirty="0">
                <a:solidFill>
                  <a:srgbClr val="64748B"/>
                </a:solidFill>
              </a:rPr>
              <a:t>Kaggle Padel Tennis WC dataset</a:t>
            </a:r>
            <a:endParaRPr lang="en-US" sz="1100" dirty="0"/>
          </a:p>
          <a:p>
            <a:pPr marL="342900" indent="-342900">
              <a:spcAft>
                <a:spcPts val="200"/>
              </a:spcAft>
              <a:buSzPct val="100000"/>
              <a:buChar char="●"/>
            </a:pPr>
            <a:r>
              <a:rPr lang="en-US" sz="1100" dirty="0">
                <a:solidFill>
                  <a:srgbClr val="64748B"/>
                </a:solidFill>
              </a:rPr>
              <a:t>Premier Padel website scrape</a:t>
            </a:r>
            <a:endParaRPr lang="en-US" sz="1100" dirty="0"/>
          </a:p>
          <a:p>
            <a:pPr marL="342900" indent="-342900">
              <a:spcAft>
                <a:spcPts val="200"/>
              </a:spcAft>
              <a:buSzPct val="100000"/>
              <a:buChar char="●"/>
            </a:pPr>
            <a:r>
              <a:rPr lang="en-US" sz="1100" dirty="0">
                <a:solidFill>
                  <a:srgbClr val="64748B"/>
                </a:solidFill>
              </a:rPr>
              <a:t>Cached CSV for offline demo</a:t>
            </a:r>
            <a:endParaRPr lang="en-US" sz="1100" dirty="0"/>
          </a:p>
        </p:txBody>
      </p:sp>
      <p:sp>
        <p:nvSpPr>
          <p:cNvPr id="12" name="Shape 10"/>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3" name="Shape 11"/>
          <p:cNvSpPr/>
          <p:nvPr/>
        </p:nvSpPr>
        <p:spPr>
          <a:xfrm>
            <a:off x="4663440" y="1371600"/>
            <a:ext cx="73152" cy="3200400"/>
          </a:xfrm>
          <a:prstGeom prst="rect">
            <a:avLst/>
          </a:prstGeom>
          <a:solidFill>
            <a:srgbClr val="F59E0B"/>
          </a:solidFill>
          <a:ln/>
        </p:spPr>
        <p:txBody>
          <a:bodyPr/>
          <a:lstStyle/>
          <a:p>
            <a:endParaRPr lang="en-US"/>
          </a:p>
        </p:txBody>
      </p:sp>
      <p:sp>
        <p:nvSpPr>
          <p:cNvPr id="14" name="Text 12"/>
          <p:cNvSpPr/>
          <p:nvPr/>
        </p:nvSpPr>
        <p:spPr>
          <a:xfrm>
            <a:off x="4892040" y="1508760"/>
            <a:ext cx="3657600" cy="274320"/>
          </a:xfrm>
          <a:prstGeom prst="rect">
            <a:avLst/>
          </a:prstGeom>
          <a:noFill/>
          <a:ln/>
        </p:spPr>
        <p:txBody>
          <a:bodyPr wrap="square" lIns="0" tIns="0" rIns="0" bIns="0" rtlCol="0" anchor="ctr"/>
          <a:lstStyle/>
          <a:p>
            <a:pPr marL="0" indent="0">
              <a:buNone/>
            </a:pPr>
            <a:r>
              <a:rPr lang="en-US" sz="1000" b="1" kern="0" spc="300" dirty="0">
                <a:solidFill>
                  <a:srgbClr val="F59E0B"/>
                </a:solidFill>
              </a:rPr>
              <a:t>LAYER B · PERSONAL LOG</a:t>
            </a:r>
            <a:endParaRPr lang="en-US" sz="1000" dirty="0"/>
          </a:p>
        </p:txBody>
      </p:sp>
      <p:sp>
        <p:nvSpPr>
          <p:cNvPr id="15" name="Text 13"/>
          <p:cNvSpPr/>
          <p:nvPr/>
        </p:nvSpPr>
        <p:spPr>
          <a:xfrm>
            <a:off x="4892040" y="1783080"/>
            <a:ext cx="3657600" cy="365760"/>
          </a:xfrm>
          <a:prstGeom prst="rect">
            <a:avLst/>
          </a:prstGeom>
          <a:noFill/>
          <a:ln/>
        </p:spPr>
        <p:txBody>
          <a:bodyPr wrap="square" lIns="0" tIns="0" rIns="0" bIns="0" rtlCol="0" anchor="ctr"/>
          <a:lstStyle/>
          <a:p>
            <a:pPr marL="0" indent="0">
              <a:buNone/>
            </a:pPr>
            <a:r>
              <a:rPr lang="en-US" sz="1500" b="1" dirty="0">
                <a:solidFill>
                  <a:srgbClr val="1F2937"/>
                </a:solidFill>
              </a:rPr>
              <a:t>Seed data + user-generated</a:t>
            </a:r>
            <a:endParaRPr lang="en-US" sz="1500" dirty="0"/>
          </a:p>
        </p:txBody>
      </p:sp>
      <p:sp>
        <p:nvSpPr>
          <p:cNvPr id="16" name="Text 14"/>
          <p:cNvSpPr/>
          <p:nvPr/>
        </p:nvSpPr>
        <p:spPr>
          <a:xfrm>
            <a:off x="4892040" y="2148840"/>
            <a:ext cx="3657600" cy="685800"/>
          </a:xfrm>
          <a:prstGeom prst="rect">
            <a:avLst/>
          </a:prstGeom>
          <a:noFill/>
          <a:ln/>
        </p:spPr>
        <p:txBody>
          <a:bodyPr wrap="square" lIns="0" tIns="0" rIns="0" bIns="0" rtlCol="0" anchor="ctr"/>
          <a:lstStyle/>
          <a:p>
            <a:pPr marL="0" indent="0">
              <a:buNone/>
            </a:pPr>
            <a:r>
              <a:rPr lang="en-US" sz="1100" b="1" dirty="0">
                <a:solidFill>
                  <a:srgbClr val="1F2937"/>
                </a:solidFill>
              </a:rPr>
              <a:t>No public amateur padel match data exists.</a:t>
            </a:r>
            <a:endParaRPr lang="en-US" sz="1100" dirty="0"/>
          </a:p>
          <a:p>
            <a:pPr marL="0" indent="0">
              <a:buNone/>
            </a:pPr>
            <a:r>
              <a:rPr lang="en-US" sz="1100" i="1" dirty="0">
                <a:solidFill>
                  <a:srgbClr val="64748B"/>
                </a:solidFill>
              </a:rPr>
              <a:t>That absence is part of why this project exists.</a:t>
            </a:r>
            <a:endParaRPr lang="en-US" sz="1100" dirty="0"/>
          </a:p>
        </p:txBody>
      </p:sp>
      <p:sp>
        <p:nvSpPr>
          <p:cNvPr id="17" name="Text 15"/>
          <p:cNvSpPr/>
          <p:nvPr/>
        </p:nvSpPr>
        <p:spPr>
          <a:xfrm>
            <a:off x="4892040" y="292608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APPROACH</a:t>
            </a:r>
            <a:endParaRPr lang="en-US" sz="900" dirty="0"/>
          </a:p>
        </p:txBody>
      </p:sp>
      <p:sp>
        <p:nvSpPr>
          <p:cNvPr id="18" name="Text 16"/>
          <p:cNvSpPr/>
          <p:nvPr/>
        </p:nvSpPr>
        <p:spPr>
          <a:xfrm>
            <a:off x="4892040" y="3200400"/>
            <a:ext cx="3657600" cy="1280160"/>
          </a:xfrm>
          <a:prstGeom prst="rect">
            <a:avLst/>
          </a:prstGeom>
          <a:noFill/>
          <a:ln/>
        </p:spPr>
        <p:txBody>
          <a:bodyPr wrap="square" lIns="0" tIns="0" rIns="0" bIns="0" rtlCol="0" anchor="ctr"/>
          <a:lstStyle/>
          <a:p>
            <a:pPr marL="342900" indent="-342900">
              <a:spcAft>
                <a:spcPts val="300"/>
              </a:spcAft>
              <a:buSzPct val="100000"/>
              <a:buChar char="●"/>
            </a:pPr>
            <a:r>
              <a:rPr lang="en-US" sz="1150" dirty="0">
                <a:solidFill>
                  <a:srgbClr val="64748B"/>
                </a:solidFill>
              </a:rPr>
              <a:t>Realistic seed log demonstrates the app</a:t>
            </a:r>
            <a:endParaRPr lang="en-US" sz="1150" dirty="0"/>
          </a:p>
          <a:p>
            <a:pPr marL="342900" indent="-342900">
              <a:spcAft>
                <a:spcPts val="300"/>
              </a:spcAft>
              <a:buSzPct val="100000"/>
              <a:buChar char="●"/>
            </a:pPr>
            <a:r>
              <a:rPr lang="en-US" sz="1150" dirty="0">
                <a:solidFill>
                  <a:srgbClr val="64748B"/>
                </a:solidFill>
              </a:rPr>
              <a:t>Real users replace it via Log Match form</a:t>
            </a:r>
            <a:endParaRPr lang="en-US" sz="1150" dirty="0"/>
          </a:p>
          <a:p>
            <a:pPr marL="342900" indent="-342900">
              <a:spcAft>
                <a:spcPts val="300"/>
              </a:spcAft>
              <a:buSzPct val="100000"/>
              <a:buChar char="●"/>
            </a:pPr>
            <a:r>
              <a:rPr lang="en-US" sz="1150" dirty="0">
                <a:solidFill>
                  <a:srgbClr val="64748B"/>
                </a:solidFill>
              </a:rPr>
              <a:t>Transparently disclosed - not hidden</a:t>
            </a:r>
            <a:endParaRPr lang="en-US" sz="1150" dirty="0"/>
          </a:p>
        </p:txBody>
      </p:sp>
      <p:sp>
        <p:nvSpPr>
          <p:cNvPr id="19" name="Text 1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0" name="Text 1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2.2 EXAMINATION &amp; TRANSFORMATION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Three CSVs, tidy schemas</a:t>
            </a:r>
            <a:endParaRPr lang="en-US" sz="2600" dirty="0"/>
          </a:p>
        </p:txBody>
      </p:sp>
      <p:sp>
        <p:nvSpPr>
          <p:cNvPr id="5" name="Shape 3"/>
          <p:cNvSpPr/>
          <p:nvPr/>
        </p:nvSpPr>
        <p:spPr>
          <a:xfrm>
            <a:off x="45720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2697480" cy="292608"/>
          </a:xfrm>
          <a:prstGeom prst="rect">
            <a:avLst/>
          </a:prstGeom>
          <a:solidFill>
            <a:srgbClr val="0EA5E9"/>
          </a:solidFill>
          <a:ln/>
        </p:spPr>
        <p:txBody>
          <a:bodyPr/>
          <a:lstStyle/>
          <a:p>
            <a:endParaRPr lang="en-US"/>
          </a:p>
        </p:txBody>
      </p:sp>
      <p:sp>
        <p:nvSpPr>
          <p:cNvPr id="7" name="Text 5"/>
          <p:cNvSpPr/>
          <p:nvPr/>
        </p:nvSpPr>
        <p:spPr>
          <a:xfrm>
            <a:off x="59436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pro_players.csv</a:t>
            </a:r>
            <a:endParaRPr lang="en-US" sz="1100" dirty="0"/>
          </a:p>
        </p:txBody>
      </p:sp>
      <p:sp>
        <p:nvSpPr>
          <p:cNvPr id="8" name="Text 6"/>
          <p:cNvSpPr/>
          <p:nvPr/>
        </p:nvSpPr>
        <p:spPr>
          <a:xfrm>
            <a:off x="219456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30 rows</a:t>
            </a:r>
            <a:endParaRPr lang="en-US" sz="1000" dirty="0"/>
          </a:p>
        </p:txBody>
      </p:sp>
      <p:sp>
        <p:nvSpPr>
          <p:cNvPr id="9" name="Text 7"/>
          <p:cNvSpPr/>
          <p:nvPr/>
        </p:nvSpPr>
        <p:spPr>
          <a:xfrm>
            <a:off x="64008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player_id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name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country</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side (D/R)</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ranking_points</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+ 3 more</a:t>
            </a:r>
            <a:endParaRPr lang="en-US" sz="1100" dirty="0"/>
          </a:p>
        </p:txBody>
      </p:sp>
      <p:sp>
        <p:nvSpPr>
          <p:cNvPr id="10" name="Shape 8"/>
          <p:cNvSpPr/>
          <p:nvPr/>
        </p:nvSpPr>
        <p:spPr>
          <a:xfrm>
            <a:off x="324612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11" name="Shape 9"/>
          <p:cNvSpPr/>
          <p:nvPr/>
        </p:nvSpPr>
        <p:spPr>
          <a:xfrm>
            <a:off x="3246120" y="1371600"/>
            <a:ext cx="2697480" cy="292608"/>
          </a:xfrm>
          <a:prstGeom prst="rect">
            <a:avLst/>
          </a:prstGeom>
          <a:solidFill>
            <a:srgbClr val="0EA5E9"/>
          </a:solidFill>
          <a:ln/>
        </p:spPr>
        <p:txBody>
          <a:bodyPr/>
          <a:lstStyle/>
          <a:p>
            <a:endParaRPr lang="en-US"/>
          </a:p>
        </p:txBody>
      </p:sp>
      <p:sp>
        <p:nvSpPr>
          <p:cNvPr id="12" name="Text 10"/>
          <p:cNvSpPr/>
          <p:nvPr/>
        </p:nvSpPr>
        <p:spPr>
          <a:xfrm>
            <a:off x="338328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pro_matches.csv</a:t>
            </a:r>
            <a:endParaRPr lang="en-US" sz="1100" dirty="0"/>
          </a:p>
        </p:txBody>
      </p:sp>
      <p:sp>
        <p:nvSpPr>
          <p:cNvPr id="13" name="Text 11"/>
          <p:cNvSpPr/>
          <p:nvPr/>
        </p:nvSpPr>
        <p:spPr>
          <a:xfrm>
            <a:off x="498348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276 rows</a:t>
            </a:r>
            <a:endParaRPr lang="en-US" sz="1000" dirty="0"/>
          </a:p>
        </p:txBody>
      </p:sp>
      <p:sp>
        <p:nvSpPr>
          <p:cNvPr id="14" name="Text 12"/>
          <p:cNvSpPr/>
          <p:nvPr/>
        </p:nvSpPr>
        <p:spPr>
          <a:xfrm>
            <a:off x="342900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match_id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date · tournament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round</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team1_p{1,2}</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team2_p{1,2}</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winner_team</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set{1,2,3}</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surface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duration_min</a:t>
            </a:r>
            <a:endParaRPr lang="en-US" sz="1100" dirty="0"/>
          </a:p>
        </p:txBody>
      </p:sp>
      <p:sp>
        <p:nvSpPr>
          <p:cNvPr id="15" name="Shape 13"/>
          <p:cNvSpPr/>
          <p:nvPr/>
        </p:nvSpPr>
        <p:spPr>
          <a:xfrm>
            <a:off x="6035040" y="1371600"/>
            <a:ext cx="2697480" cy="3108960"/>
          </a:xfrm>
          <a:prstGeom prst="rect">
            <a:avLst/>
          </a:prstGeom>
          <a:solidFill>
            <a:srgbClr val="FFFFFF"/>
          </a:solidFill>
          <a:ln w="9525">
            <a:solidFill>
              <a:srgbClr val="CFD6DD"/>
            </a:solidFill>
            <a:prstDash val="solid"/>
          </a:ln>
        </p:spPr>
        <p:txBody>
          <a:bodyPr/>
          <a:lstStyle/>
          <a:p>
            <a:endParaRPr lang="en-US"/>
          </a:p>
        </p:txBody>
      </p:sp>
      <p:sp>
        <p:nvSpPr>
          <p:cNvPr id="16" name="Shape 14"/>
          <p:cNvSpPr/>
          <p:nvPr/>
        </p:nvSpPr>
        <p:spPr>
          <a:xfrm>
            <a:off x="6035040" y="1371600"/>
            <a:ext cx="2697480" cy="292608"/>
          </a:xfrm>
          <a:prstGeom prst="rect">
            <a:avLst/>
          </a:prstGeom>
          <a:solidFill>
            <a:srgbClr val="F59E0B"/>
          </a:solidFill>
          <a:ln/>
        </p:spPr>
        <p:txBody>
          <a:bodyPr/>
          <a:lstStyle/>
          <a:p>
            <a:endParaRPr lang="en-US"/>
          </a:p>
        </p:txBody>
      </p:sp>
      <p:sp>
        <p:nvSpPr>
          <p:cNvPr id="17" name="Text 15"/>
          <p:cNvSpPr/>
          <p:nvPr/>
        </p:nvSpPr>
        <p:spPr>
          <a:xfrm>
            <a:off x="6172200" y="1371600"/>
            <a:ext cx="1645920" cy="292608"/>
          </a:xfrm>
          <a:prstGeom prst="rect">
            <a:avLst/>
          </a:prstGeom>
          <a:noFill/>
          <a:ln/>
        </p:spPr>
        <p:txBody>
          <a:bodyPr wrap="square" lIns="0" tIns="0" rIns="0" bIns="0" rtlCol="0" anchor="ctr"/>
          <a:lstStyle/>
          <a:p>
            <a:pPr marL="0" indent="0">
              <a:buNone/>
            </a:pPr>
            <a:r>
              <a:rPr lang="en-US" sz="1100" b="1" dirty="0">
                <a:solidFill>
                  <a:srgbClr val="FFFFFF"/>
                </a:solidFill>
              </a:rPr>
              <a:t>my_matches.csv</a:t>
            </a:r>
            <a:endParaRPr lang="en-US" sz="1100" dirty="0"/>
          </a:p>
        </p:txBody>
      </p:sp>
      <p:sp>
        <p:nvSpPr>
          <p:cNvPr id="18" name="Text 16"/>
          <p:cNvSpPr/>
          <p:nvPr/>
        </p:nvSpPr>
        <p:spPr>
          <a:xfrm>
            <a:off x="7772400" y="1371600"/>
            <a:ext cx="914400" cy="292608"/>
          </a:xfrm>
          <a:prstGeom prst="rect">
            <a:avLst/>
          </a:prstGeom>
          <a:noFill/>
          <a:ln/>
        </p:spPr>
        <p:txBody>
          <a:bodyPr wrap="square" lIns="0" tIns="0" rIns="0" bIns="0" rtlCol="0" anchor="ctr"/>
          <a:lstStyle/>
          <a:p>
            <a:pPr marL="0" indent="0" algn="r">
              <a:buNone/>
            </a:pPr>
            <a:r>
              <a:rPr lang="en-US" sz="1000" dirty="0">
                <a:solidFill>
                  <a:srgbClr val="FFFFFF"/>
                </a:solidFill>
              </a:rPr>
              <a:t>40+ rows</a:t>
            </a:r>
            <a:endParaRPr lang="en-US" sz="1000" dirty="0"/>
          </a:p>
        </p:txBody>
      </p:sp>
      <p:sp>
        <p:nvSpPr>
          <p:cNvPr id="19" name="Text 17"/>
          <p:cNvSpPr/>
          <p:nvPr/>
        </p:nvSpPr>
        <p:spPr>
          <a:xfrm>
            <a:off x="6217920" y="1783080"/>
            <a:ext cx="2377440" cy="2560320"/>
          </a:xfrm>
          <a:prstGeom prst="rect">
            <a:avLst/>
          </a:prstGeom>
          <a:noFill/>
          <a:ln/>
        </p:spPr>
        <p:txBody>
          <a:bodyPr wrap="square" lIns="0" tIns="0" rIns="0" bIns="0" rtlCol="0" anchor="ctr"/>
          <a:lstStyle/>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match_id · date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partner · opponents</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club · surface</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set scores (per set)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winners_{shot} · errors_{shot}</a:t>
            </a:r>
            <a:endParaRPr lang="en-US" sz="1100" dirty="0"/>
          </a:p>
          <a:p>
            <a:pPr marL="0" indent="0">
              <a:spcAft>
                <a:spcPts val="300"/>
              </a:spcAft>
              <a:buNone/>
            </a:pPr>
            <a:r>
              <a:rPr lang="en-US" sz="1100" dirty="0">
                <a:solidFill>
                  <a:srgbClr val="1F2937"/>
                </a:solidFill>
                <a:latin typeface="Courier New" pitchFamily="34" charset="0"/>
                <a:ea typeface="Courier New" pitchFamily="34" charset="-122"/>
                <a:cs typeface="Courier New" pitchFamily="34" charset="-120"/>
              </a:rPr>
              <a:t>result · duration · notes</a:t>
            </a:r>
            <a:endParaRPr lang="en-US" sz="1100" dirty="0"/>
          </a:p>
        </p:txBody>
      </p:sp>
      <p:sp>
        <p:nvSpPr>
          <p:cNvPr id="20" name="Text 18"/>
          <p:cNvSpPr/>
          <p:nvPr/>
        </p:nvSpPr>
        <p:spPr>
          <a:xfrm>
            <a:off x="457200" y="4572000"/>
            <a:ext cx="8229600" cy="274320"/>
          </a:xfrm>
          <a:prstGeom prst="rect">
            <a:avLst/>
          </a:prstGeom>
          <a:noFill/>
          <a:ln/>
        </p:spPr>
        <p:txBody>
          <a:bodyPr wrap="square" lIns="0" tIns="0" rIns="0" bIns="0" rtlCol="0" anchor="ctr"/>
          <a:lstStyle/>
          <a:p>
            <a:pPr marL="0" indent="0">
              <a:buNone/>
            </a:pPr>
            <a:r>
              <a:rPr lang="en-US" sz="1100" b="1" dirty="0">
                <a:solidFill>
                  <a:srgbClr val="1F2937"/>
                </a:solidFill>
              </a:rPr>
              <a:t>Transformations (cached in Streamlit): </a:t>
            </a:r>
            <a:r>
              <a:rPr lang="en-US" sz="1100" dirty="0">
                <a:solidFill>
                  <a:srgbClr val="64748B"/>
                </a:solidFill>
              </a:rPr>
              <a:t>score-string parsing → numeric · derived 'won' &amp; 'net_&lt;shot&gt;' · groupby on partner / surface / shot · 5-match rolling win rate.</a:t>
            </a:r>
            <a:endParaRPr lang="en-US" sz="1100" dirty="0"/>
          </a:p>
        </p:txBody>
      </p:sp>
      <p:sp>
        <p:nvSpPr>
          <p:cNvPr id="21" name="Text 1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2" name="Text 2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2.3 EXPLORATION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the data told me before I drew anything</a:t>
            </a:r>
            <a:endParaRPr lang="en-US" sz="2600" dirty="0"/>
          </a:p>
        </p:txBody>
      </p:sp>
      <p:sp>
        <p:nvSpPr>
          <p:cNvPr id="5" name="Shape 3"/>
          <p:cNvSpPr/>
          <p:nvPr/>
        </p:nvSpPr>
        <p:spPr>
          <a:xfrm>
            <a:off x="457200" y="1371600"/>
            <a:ext cx="8229600" cy="96012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73152" cy="960120"/>
          </a:xfrm>
          <a:prstGeom prst="rect">
            <a:avLst/>
          </a:prstGeom>
          <a:solidFill>
            <a:srgbClr val="0EA5E9"/>
          </a:solidFill>
          <a:ln/>
        </p:spPr>
        <p:txBody>
          <a:bodyPr/>
          <a:lstStyle/>
          <a:p>
            <a:endParaRPr lang="en-US"/>
          </a:p>
        </p:txBody>
      </p:sp>
      <p:sp>
        <p:nvSpPr>
          <p:cNvPr id="7" name="Text 5"/>
          <p:cNvSpPr/>
          <p:nvPr/>
        </p:nvSpPr>
        <p:spPr>
          <a:xfrm>
            <a:off x="685800" y="1463040"/>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PRO TOUR</a:t>
            </a:r>
            <a:endParaRPr lang="en-US" sz="900" dirty="0"/>
          </a:p>
        </p:txBody>
      </p:sp>
      <p:sp>
        <p:nvSpPr>
          <p:cNvPr id="8" name="Text 6"/>
          <p:cNvSpPr/>
          <p:nvPr/>
        </p:nvSpPr>
        <p:spPr>
          <a:xfrm>
            <a:off x="685800" y="1691640"/>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68%</a:t>
            </a:r>
            <a:endParaRPr lang="en-US" sz="2800" dirty="0"/>
          </a:p>
        </p:txBody>
      </p:sp>
      <p:sp>
        <p:nvSpPr>
          <p:cNvPr id="9" name="Text 7"/>
          <p:cNvSpPr/>
          <p:nvPr/>
        </p:nvSpPr>
        <p:spPr>
          <a:xfrm>
            <a:off x="685800" y="2148840"/>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straight-set rate</a:t>
            </a:r>
            <a:endParaRPr lang="en-US" sz="1000" dirty="0"/>
          </a:p>
        </p:txBody>
      </p:sp>
      <p:sp>
        <p:nvSpPr>
          <p:cNvPr id="10" name="Text 8"/>
          <p:cNvSpPr/>
          <p:nvPr/>
        </p:nvSpPr>
        <p:spPr>
          <a:xfrm>
            <a:off x="2834640" y="1371600"/>
            <a:ext cx="5669280" cy="960120"/>
          </a:xfrm>
          <a:prstGeom prst="rect">
            <a:avLst/>
          </a:prstGeom>
          <a:noFill/>
          <a:ln/>
        </p:spPr>
        <p:txBody>
          <a:bodyPr wrap="square" lIns="0" tIns="0" rIns="0" bIns="0" rtlCol="0" anchor="ctr"/>
          <a:lstStyle/>
          <a:p>
            <a:pPr marL="0" indent="0">
              <a:buNone/>
            </a:pPr>
            <a:r>
              <a:rPr lang="en-US" sz="1250" dirty="0">
                <a:solidFill>
                  <a:srgbClr val="1F2937"/>
                </a:solidFill>
              </a:rPr>
              <a:t>Matches the real Premier Padel rate (~68-72%). Means: third-set analytics are rare on the pro side. Don't waste space on them.</a:t>
            </a:r>
            <a:endParaRPr lang="en-US" sz="1250" dirty="0"/>
          </a:p>
        </p:txBody>
      </p:sp>
      <p:sp>
        <p:nvSpPr>
          <p:cNvPr id="11" name="Shape 9"/>
          <p:cNvSpPr/>
          <p:nvPr/>
        </p:nvSpPr>
        <p:spPr>
          <a:xfrm>
            <a:off x="457200" y="2450592"/>
            <a:ext cx="8229600" cy="960120"/>
          </a:xfrm>
          <a:prstGeom prst="rect">
            <a:avLst/>
          </a:prstGeom>
          <a:solidFill>
            <a:srgbClr val="FFFFFF"/>
          </a:solidFill>
          <a:ln w="9525">
            <a:solidFill>
              <a:srgbClr val="CFD6DD"/>
            </a:solidFill>
            <a:prstDash val="solid"/>
          </a:ln>
        </p:spPr>
        <p:txBody>
          <a:bodyPr/>
          <a:lstStyle/>
          <a:p>
            <a:endParaRPr lang="en-US"/>
          </a:p>
        </p:txBody>
      </p:sp>
      <p:sp>
        <p:nvSpPr>
          <p:cNvPr id="12" name="Shape 10"/>
          <p:cNvSpPr/>
          <p:nvPr/>
        </p:nvSpPr>
        <p:spPr>
          <a:xfrm>
            <a:off x="457200" y="2450592"/>
            <a:ext cx="73152" cy="960120"/>
          </a:xfrm>
          <a:prstGeom prst="rect">
            <a:avLst/>
          </a:prstGeom>
          <a:solidFill>
            <a:srgbClr val="0EA5E9"/>
          </a:solidFill>
          <a:ln/>
        </p:spPr>
        <p:txBody>
          <a:bodyPr/>
          <a:lstStyle/>
          <a:p>
            <a:endParaRPr lang="en-US"/>
          </a:p>
        </p:txBody>
      </p:sp>
      <p:sp>
        <p:nvSpPr>
          <p:cNvPr id="13" name="Text 11"/>
          <p:cNvSpPr/>
          <p:nvPr/>
        </p:nvSpPr>
        <p:spPr>
          <a:xfrm>
            <a:off x="685800" y="2542032"/>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PARTNER</a:t>
            </a:r>
            <a:endParaRPr lang="en-US" sz="900" dirty="0"/>
          </a:p>
        </p:txBody>
      </p:sp>
      <p:sp>
        <p:nvSpPr>
          <p:cNvPr id="14" name="Text 12"/>
          <p:cNvSpPr/>
          <p:nvPr/>
        </p:nvSpPr>
        <p:spPr>
          <a:xfrm>
            <a:off x="685800" y="2770632"/>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80% vs 20%</a:t>
            </a:r>
            <a:endParaRPr lang="en-US" sz="2800" dirty="0"/>
          </a:p>
        </p:txBody>
      </p:sp>
      <p:sp>
        <p:nvSpPr>
          <p:cNvPr id="15" name="Text 13"/>
          <p:cNvSpPr/>
          <p:nvPr/>
        </p:nvSpPr>
        <p:spPr>
          <a:xfrm>
            <a:off x="685800" y="3227832"/>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Luca vs Davide</a:t>
            </a:r>
            <a:endParaRPr lang="en-US" sz="1000" dirty="0"/>
          </a:p>
        </p:txBody>
      </p:sp>
      <p:sp>
        <p:nvSpPr>
          <p:cNvPr id="16" name="Text 14"/>
          <p:cNvSpPr/>
          <p:nvPr/>
        </p:nvSpPr>
        <p:spPr>
          <a:xfrm>
            <a:off x="2834640" y="2450592"/>
            <a:ext cx="5669280" cy="960120"/>
          </a:xfrm>
          <a:prstGeom prst="rect">
            <a:avLst/>
          </a:prstGeom>
          <a:noFill/>
          <a:ln/>
        </p:spPr>
        <p:txBody>
          <a:bodyPr wrap="square" lIns="0" tIns="0" rIns="0" bIns="0" rtlCol="0" anchor="ctr"/>
          <a:lstStyle/>
          <a:p>
            <a:pPr marL="0" indent="0">
              <a:buNone/>
            </a:pPr>
            <a:r>
              <a:rPr lang="en-US" sz="1250" dirty="0">
                <a:solidFill>
                  <a:srgbClr val="1F2937"/>
                </a:solidFill>
              </a:rPr>
              <a:t>60-point spread across the same player. This is the single most surprising actionable fact in the data.</a:t>
            </a:r>
            <a:endParaRPr lang="en-US" sz="1250" dirty="0"/>
          </a:p>
        </p:txBody>
      </p:sp>
      <p:sp>
        <p:nvSpPr>
          <p:cNvPr id="17" name="Shape 15"/>
          <p:cNvSpPr/>
          <p:nvPr/>
        </p:nvSpPr>
        <p:spPr>
          <a:xfrm>
            <a:off x="457200" y="3529584"/>
            <a:ext cx="8229600" cy="960120"/>
          </a:xfrm>
          <a:prstGeom prst="rect">
            <a:avLst/>
          </a:prstGeom>
          <a:solidFill>
            <a:srgbClr val="FFFFFF"/>
          </a:solidFill>
          <a:ln w="9525">
            <a:solidFill>
              <a:srgbClr val="CFD6DD"/>
            </a:solidFill>
            <a:prstDash val="solid"/>
          </a:ln>
        </p:spPr>
        <p:txBody>
          <a:bodyPr/>
          <a:lstStyle/>
          <a:p>
            <a:endParaRPr lang="en-US"/>
          </a:p>
        </p:txBody>
      </p:sp>
      <p:sp>
        <p:nvSpPr>
          <p:cNvPr id="18" name="Shape 16"/>
          <p:cNvSpPr/>
          <p:nvPr/>
        </p:nvSpPr>
        <p:spPr>
          <a:xfrm>
            <a:off x="457200" y="3529584"/>
            <a:ext cx="73152" cy="960120"/>
          </a:xfrm>
          <a:prstGeom prst="rect">
            <a:avLst/>
          </a:prstGeom>
          <a:solidFill>
            <a:srgbClr val="0EA5E9"/>
          </a:solidFill>
          <a:ln/>
        </p:spPr>
        <p:txBody>
          <a:bodyPr/>
          <a:lstStyle/>
          <a:p>
            <a:endParaRPr lang="en-US"/>
          </a:p>
        </p:txBody>
      </p:sp>
      <p:sp>
        <p:nvSpPr>
          <p:cNvPr id="19" name="Text 17"/>
          <p:cNvSpPr/>
          <p:nvPr/>
        </p:nvSpPr>
        <p:spPr>
          <a:xfrm>
            <a:off x="685800" y="3621024"/>
            <a:ext cx="1097280" cy="274320"/>
          </a:xfrm>
          <a:prstGeom prst="rect">
            <a:avLst/>
          </a:prstGeom>
          <a:noFill/>
          <a:ln/>
        </p:spPr>
        <p:txBody>
          <a:bodyPr wrap="square" lIns="0" tIns="0" rIns="0" bIns="0" rtlCol="0" anchor="ctr"/>
          <a:lstStyle/>
          <a:p>
            <a:pPr marL="0" indent="0">
              <a:buNone/>
            </a:pPr>
            <a:r>
              <a:rPr lang="en-US" sz="900" b="1" kern="0" spc="300" dirty="0">
                <a:solidFill>
                  <a:srgbClr val="64748B"/>
                </a:solidFill>
              </a:rPr>
              <a:t>FATIGUE</a:t>
            </a:r>
            <a:endParaRPr lang="en-US" sz="900" dirty="0"/>
          </a:p>
        </p:txBody>
      </p:sp>
      <p:sp>
        <p:nvSpPr>
          <p:cNvPr id="20" name="Text 18"/>
          <p:cNvSpPr/>
          <p:nvPr/>
        </p:nvSpPr>
        <p:spPr>
          <a:xfrm>
            <a:off x="685800" y="3849624"/>
            <a:ext cx="2011680" cy="502920"/>
          </a:xfrm>
          <a:prstGeom prst="rect">
            <a:avLst/>
          </a:prstGeom>
          <a:noFill/>
          <a:ln/>
        </p:spPr>
        <p:txBody>
          <a:bodyPr wrap="square" lIns="0" tIns="0" rIns="0" bIns="0" rtlCol="0" anchor="ctr"/>
          <a:lstStyle/>
          <a:p>
            <a:pPr marL="0" indent="0">
              <a:buNone/>
            </a:pPr>
            <a:r>
              <a:rPr lang="en-US" sz="2800" b="1" dirty="0">
                <a:solidFill>
                  <a:srgbClr val="1F2937"/>
                </a:solidFill>
              </a:rPr>
              <a:t>−40 pp</a:t>
            </a:r>
            <a:endParaRPr lang="en-US" sz="2800" dirty="0"/>
          </a:p>
        </p:txBody>
      </p:sp>
      <p:sp>
        <p:nvSpPr>
          <p:cNvPr id="21" name="Text 19"/>
          <p:cNvSpPr/>
          <p:nvPr/>
        </p:nvSpPr>
        <p:spPr>
          <a:xfrm>
            <a:off x="685800" y="4306824"/>
            <a:ext cx="2011680" cy="228600"/>
          </a:xfrm>
          <a:prstGeom prst="rect">
            <a:avLst/>
          </a:prstGeom>
          <a:noFill/>
          <a:ln/>
        </p:spPr>
        <p:txBody>
          <a:bodyPr wrap="square" lIns="0" tIns="0" rIns="0" bIns="0" rtlCol="0" anchor="ctr"/>
          <a:lstStyle/>
          <a:p>
            <a:pPr marL="0" indent="0">
              <a:buNone/>
            </a:pPr>
            <a:r>
              <a:rPr lang="en-US" sz="1000" i="1" dirty="0">
                <a:solidFill>
                  <a:srgbClr val="64748B"/>
                </a:solidFill>
              </a:rPr>
              <a:t>drop in 3-set matches</a:t>
            </a:r>
            <a:endParaRPr lang="en-US" sz="1000" dirty="0"/>
          </a:p>
        </p:txBody>
      </p:sp>
      <p:sp>
        <p:nvSpPr>
          <p:cNvPr id="22" name="Text 20"/>
          <p:cNvSpPr/>
          <p:nvPr/>
        </p:nvSpPr>
        <p:spPr>
          <a:xfrm>
            <a:off x="2834640" y="3529584"/>
            <a:ext cx="5669280" cy="960120"/>
          </a:xfrm>
          <a:prstGeom prst="rect">
            <a:avLst/>
          </a:prstGeom>
          <a:noFill/>
          <a:ln/>
        </p:spPr>
        <p:txBody>
          <a:bodyPr wrap="square" lIns="0" tIns="0" rIns="0" bIns="0" rtlCol="0" anchor="ctr"/>
          <a:lstStyle/>
          <a:p>
            <a:pPr marL="0" indent="0">
              <a:buNone/>
            </a:pPr>
            <a:r>
              <a:rPr lang="en-US" sz="1250" dirty="0">
                <a:solidFill>
                  <a:srgbClr val="1F2937"/>
                </a:solidFill>
              </a:rPr>
              <a:t>Two-set win rate is 80%, three-set is 40%. The fade is real, and it's the biggest learnable pattern.</a:t>
            </a:r>
            <a:endParaRPr lang="en-US" sz="125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3</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UX Design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Wireframes · Principles · Heuristic evaluation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3.1 PROCESS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From paper sketch to working app</a:t>
            </a:r>
            <a:endParaRPr lang="en-US" sz="2600" dirty="0"/>
          </a:p>
        </p:txBody>
      </p:sp>
      <p:sp>
        <p:nvSpPr>
          <p:cNvPr id="5" name="Shape 3"/>
          <p:cNvSpPr/>
          <p:nvPr/>
        </p:nvSpPr>
        <p:spPr>
          <a:xfrm>
            <a:off x="1325880" y="1554480"/>
            <a:ext cx="411480" cy="411480"/>
          </a:xfrm>
          <a:prstGeom prst="ellipse">
            <a:avLst/>
          </a:prstGeom>
          <a:solidFill>
            <a:srgbClr val="0EA5E9"/>
          </a:solidFill>
          <a:ln/>
        </p:spPr>
        <p:txBody>
          <a:bodyPr/>
          <a:lstStyle/>
          <a:p>
            <a:endParaRPr lang="en-US"/>
          </a:p>
        </p:txBody>
      </p:sp>
      <p:sp>
        <p:nvSpPr>
          <p:cNvPr id="6" name="Text 4"/>
          <p:cNvSpPr/>
          <p:nvPr/>
        </p:nvSpPr>
        <p:spPr>
          <a:xfrm>
            <a:off x="132588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Shape 5"/>
          <p:cNvSpPr/>
          <p:nvPr/>
        </p:nvSpPr>
        <p:spPr>
          <a:xfrm>
            <a:off x="1783080" y="1755648"/>
            <a:ext cx="777240" cy="0"/>
          </a:xfrm>
          <a:prstGeom prst="line">
            <a:avLst/>
          </a:prstGeom>
          <a:noFill/>
          <a:ln w="19050">
            <a:solidFill>
              <a:srgbClr val="CFD6DD"/>
            </a:solidFill>
            <a:prstDash val="dash"/>
          </a:ln>
        </p:spPr>
        <p:txBody>
          <a:bodyPr/>
          <a:lstStyle/>
          <a:p>
            <a:endParaRPr lang="en-US"/>
          </a:p>
        </p:txBody>
      </p:sp>
      <p:sp>
        <p:nvSpPr>
          <p:cNvPr id="8" name="Shape 6"/>
          <p:cNvSpPr/>
          <p:nvPr/>
        </p:nvSpPr>
        <p:spPr>
          <a:xfrm>
            <a:off x="45720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9" name="Text 7"/>
          <p:cNvSpPr/>
          <p:nvPr/>
        </p:nvSpPr>
        <p:spPr>
          <a:xfrm>
            <a:off x="59436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Paper sketches</a:t>
            </a:r>
            <a:endParaRPr lang="en-US" sz="1400" dirty="0"/>
          </a:p>
        </p:txBody>
      </p:sp>
      <p:sp>
        <p:nvSpPr>
          <p:cNvPr id="10" name="Text 8"/>
          <p:cNvSpPr/>
          <p:nvPr/>
        </p:nvSpPr>
        <p:spPr>
          <a:xfrm>
            <a:off x="59436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30 min. Just box drawings - which pages exist.</a:t>
            </a:r>
            <a:endParaRPr lang="en-US" sz="1100" dirty="0"/>
          </a:p>
        </p:txBody>
      </p:sp>
      <p:sp>
        <p:nvSpPr>
          <p:cNvPr id="11" name="Shape 9"/>
          <p:cNvSpPr/>
          <p:nvPr/>
        </p:nvSpPr>
        <p:spPr>
          <a:xfrm>
            <a:off x="3429000" y="1554480"/>
            <a:ext cx="411480" cy="411480"/>
          </a:xfrm>
          <a:prstGeom prst="ellipse">
            <a:avLst/>
          </a:prstGeom>
          <a:solidFill>
            <a:srgbClr val="0EA5E9"/>
          </a:solidFill>
          <a:ln/>
        </p:spPr>
        <p:txBody>
          <a:bodyPr/>
          <a:lstStyle/>
          <a:p>
            <a:endParaRPr lang="en-US"/>
          </a:p>
        </p:txBody>
      </p:sp>
      <p:sp>
        <p:nvSpPr>
          <p:cNvPr id="12" name="Text 10"/>
          <p:cNvSpPr/>
          <p:nvPr/>
        </p:nvSpPr>
        <p:spPr>
          <a:xfrm>
            <a:off x="342900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3" name="Shape 11"/>
          <p:cNvSpPr/>
          <p:nvPr/>
        </p:nvSpPr>
        <p:spPr>
          <a:xfrm>
            <a:off x="3886200" y="1755648"/>
            <a:ext cx="777240" cy="0"/>
          </a:xfrm>
          <a:prstGeom prst="line">
            <a:avLst/>
          </a:prstGeom>
          <a:noFill/>
          <a:ln w="19050">
            <a:solidFill>
              <a:srgbClr val="CFD6DD"/>
            </a:solidFill>
            <a:prstDash val="dash"/>
          </a:ln>
        </p:spPr>
        <p:txBody>
          <a:bodyPr/>
          <a:lstStyle/>
          <a:p>
            <a:endParaRPr lang="en-US"/>
          </a:p>
        </p:txBody>
      </p:sp>
      <p:sp>
        <p:nvSpPr>
          <p:cNvPr id="14" name="Shape 12"/>
          <p:cNvSpPr/>
          <p:nvPr/>
        </p:nvSpPr>
        <p:spPr>
          <a:xfrm>
            <a:off x="256032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15" name="Text 13"/>
          <p:cNvSpPr/>
          <p:nvPr/>
        </p:nvSpPr>
        <p:spPr>
          <a:xfrm>
            <a:off x="269748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Low-fi wireframes</a:t>
            </a:r>
            <a:endParaRPr lang="en-US" sz="1400" dirty="0"/>
          </a:p>
        </p:txBody>
      </p:sp>
      <p:sp>
        <p:nvSpPr>
          <p:cNvPr id="16" name="Text 14"/>
          <p:cNvSpPr/>
          <p:nvPr/>
        </p:nvSpPr>
        <p:spPr>
          <a:xfrm>
            <a:off x="269748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Figma · 5 SVGs · grayscale layout only.</a:t>
            </a:r>
            <a:endParaRPr lang="en-US" sz="1100" dirty="0"/>
          </a:p>
        </p:txBody>
      </p:sp>
      <p:sp>
        <p:nvSpPr>
          <p:cNvPr id="17" name="Shape 15"/>
          <p:cNvSpPr/>
          <p:nvPr/>
        </p:nvSpPr>
        <p:spPr>
          <a:xfrm>
            <a:off x="5532120" y="1554480"/>
            <a:ext cx="411480" cy="411480"/>
          </a:xfrm>
          <a:prstGeom prst="ellipse">
            <a:avLst/>
          </a:prstGeom>
          <a:solidFill>
            <a:srgbClr val="0EA5E9"/>
          </a:solidFill>
          <a:ln/>
        </p:spPr>
        <p:txBody>
          <a:bodyPr/>
          <a:lstStyle/>
          <a:p>
            <a:endParaRPr lang="en-US"/>
          </a:p>
        </p:txBody>
      </p:sp>
      <p:sp>
        <p:nvSpPr>
          <p:cNvPr id="18" name="Text 16"/>
          <p:cNvSpPr/>
          <p:nvPr/>
        </p:nvSpPr>
        <p:spPr>
          <a:xfrm>
            <a:off x="553212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9" name="Shape 17"/>
          <p:cNvSpPr/>
          <p:nvPr/>
        </p:nvSpPr>
        <p:spPr>
          <a:xfrm>
            <a:off x="5989320" y="1755648"/>
            <a:ext cx="777240" cy="0"/>
          </a:xfrm>
          <a:prstGeom prst="line">
            <a:avLst/>
          </a:prstGeom>
          <a:noFill/>
          <a:ln w="19050">
            <a:solidFill>
              <a:srgbClr val="CFD6DD"/>
            </a:solidFill>
            <a:prstDash val="dash"/>
          </a:ln>
        </p:spPr>
        <p:txBody>
          <a:bodyPr/>
          <a:lstStyle/>
          <a:p>
            <a:endParaRPr lang="en-US"/>
          </a:p>
        </p:txBody>
      </p:sp>
      <p:sp>
        <p:nvSpPr>
          <p:cNvPr id="20" name="Shape 18"/>
          <p:cNvSpPr/>
          <p:nvPr/>
        </p:nvSpPr>
        <p:spPr>
          <a:xfrm>
            <a:off x="466344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21" name="Text 19"/>
          <p:cNvSpPr/>
          <p:nvPr/>
        </p:nvSpPr>
        <p:spPr>
          <a:xfrm>
            <a:off x="480060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Mid-fi pass</a:t>
            </a:r>
            <a:endParaRPr lang="en-US" sz="1400" dirty="0"/>
          </a:p>
        </p:txBody>
      </p:sp>
      <p:sp>
        <p:nvSpPr>
          <p:cNvPr id="22" name="Text 20"/>
          <p:cNvSpPr/>
          <p:nvPr/>
        </p:nvSpPr>
        <p:spPr>
          <a:xfrm>
            <a:off x="480060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Same layout, real chart shapes drawn in.</a:t>
            </a:r>
            <a:endParaRPr lang="en-US" sz="1100" dirty="0"/>
          </a:p>
        </p:txBody>
      </p:sp>
      <p:sp>
        <p:nvSpPr>
          <p:cNvPr id="23" name="Shape 21"/>
          <p:cNvSpPr/>
          <p:nvPr/>
        </p:nvSpPr>
        <p:spPr>
          <a:xfrm>
            <a:off x="7635240" y="1554480"/>
            <a:ext cx="411480" cy="411480"/>
          </a:xfrm>
          <a:prstGeom prst="ellipse">
            <a:avLst/>
          </a:prstGeom>
          <a:solidFill>
            <a:srgbClr val="0EA5E9"/>
          </a:solidFill>
          <a:ln/>
        </p:spPr>
        <p:txBody>
          <a:bodyPr/>
          <a:lstStyle/>
          <a:p>
            <a:endParaRPr lang="en-US"/>
          </a:p>
        </p:txBody>
      </p:sp>
      <p:sp>
        <p:nvSpPr>
          <p:cNvPr id="24" name="Text 22"/>
          <p:cNvSpPr/>
          <p:nvPr/>
        </p:nvSpPr>
        <p:spPr>
          <a:xfrm>
            <a:off x="7635240" y="155448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25" name="Shape 23"/>
          <p:cNvSpPr/>
          <p:nvPr/>
        </p:nvSpPr>
        <p:spPr>
          <a:xfrm>
            <a:off x="6766560" y="2103120"/>
            <a:ext cx="2011680" cy="2286000"/>
          </a:xfrm>
          <a:prstGeom prst="rect">
            <a:avLst/>
          </a:prstGeom>
          <a:solidFill>
            <a:srgbClr val="FFFFFF"/>
          </a:solidFill>
          <a:ln w="9525">
            <a:solidFill>
              <a:srgbClr val="CFD6DD"/>
            </a:solidFill>
            <a:prstDash val="solid"/>
          </a:ln>
        </p:spPr>
        <p:txBody>
          <a:bodyPr/>
          <a:lstStyle/>
          <a:p>
            <a:endParaRPr lang="en-US"/>
          </a:p>
        </p:txBody>
      </p:sp>
      <p:sp>
        <p:nvSpPr>
          <p:cNvPr id="26" name="Text 24"/>
          <p:cNvSpPr/>
          <p:nvPr/>
        </p:nvSpPr>
        <p:spPr>
          <a:xfrm>
            <a:off x="6903720" y="2240280"/>
            <a:ext cx="1737360" cy="411480"/>
          </a:xfrm>
          <a:prstGeom prst="rect">
            <a:avLst/>
          </a:prstGeom>
          <a:noFill/>
          <a:ln/>
        </p:spPr>
        <p:txBody>
          <a:bodyPr wrap="square" lIns="0" tIns="0" rIns="0" bIns="0" rtlCol="0" anchor="ctr"/>
          <a:lstStyle/>
          <a:p>
            <a:pPr marL="0" indent="0">
              <a:buNone/>
            </a:pPr>
            <a:r>
              <a:rPr lang="en-US" sz="1400" b="1" dirty="0">
                <a:solidFill>
                  <a:srgbClr val="1F2937"/>
                </a:solidFill>
              </a:rPr>
              <a:t>Streamlit build</a:t>
            </a:r>
            <a:endParaRPr lang="en-US" sz="1400" dirty="0"/>
          </a:p>
        </p:txBody>
      </p:sp>
      <p:sp>
        <p:nvSpPr>
          <p:cNvPr id="27" name="Text 25"/>
          <p:cNvSpPr/>
          <p:nvPr/>
        </p:nvSpPr>
        <p:spPr>
          <a:xfrm>
            <a:off x="6903720" y="2697480"/>
            <a:ext cx="1737360" cy="1554480"/>
          </a:xfrm>
          <a:prstGeom prst="rect">
            <a:avLst/>
          </a:prstGeom>
          <a:noFill/>
          <a:ln/>
        </p:spPr>
        <p:txBody>
          <a:bodyPr wrap="square" lIns="0" tIns="0" rIns="0" bIns="0" rtlCol="0" anchor="ctr"/>
          <a:lstStyle/>
          <a:p>
            <a:pPr marL="0" indent="0">
              <a:buNone/>
            </a:pPr>
            <a:r>
              <a:rPr lang="en-US" sz="1100" dirty="0">
                <a:solidFill>
                  <a:srgbClr val="64748B"/>
                </a:solidFill>
              </a:rPr>
              <a:t>High-fi == working app. No click-prototype.</a:t>
            </a:r>
            <a:endParaRPr lang="en-US" sz="1100" dirty="0"/>
          </a:p>
        </p:txBody>
      </p:sp>
      <p:sp>
        <p:nvSpPr>
          <p:cNvPr id="29" name="Text 27"/>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0" name="Text 28"/>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3.2 WIREFRAMES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Five pages, each built around one user task</a:t>
            </a:r>
            <a:endParaRPr lang="en-US" sz="2600" dirty="0"/>
          </a:p>
        </p:txBody>
      </p:sp>
      <p:pic>
        <p:nvPicPr>
          <p:cNvPr id="5" name="Image 0" descr="/sessions/jolly-happy-allen/mnt/Data visualiztion/Padel-Project/06_Presentation/assets/01_home.png"/>
          <p:cNvPicPr>
            <a:picLocks noChangeAspect="1"/>
          </p:cNvPicPr>
          <p:nvPr/>
        </p:nvPicPr>
        <p:blipFill>
          <a:blip r:embed="rId3"/>
          <a:stretch>
            <a:fillRect/>
          </a:stretch>
        </p:blipFill>
        <p:spPr>
          <a:xfrm>
            <a:off x="457200" y="1371600"/>
            <a:ext cx="1627632" cy="1005840"/>
          </a:xfrm>
          <a:prstGeom prst="rect">
            <a:avLst/>
          </a:prstGeom>
        </p:spPr>
      </p:pic>
      <p:sp>
        <p:nvSpPr>
          <p:cNvPr id="6" name="Text 3"/>
          <p:cNvSpPr/>
          <p:nvPr/>
        </p:nvSpPr>
        <p:spPr>
          <a:xfrm>
            <a:off x="457200"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Home</a:t>
            </a:r>
            <a:endParaRPr lang="en-US" sz="1200" dirty="0"/>
          </a:p>
        </p:txBody>
      </p:sp>
      <p:sp>
        <p:nvSpPr>
          <p:cNvPr id="7" name="Text 4"/>
          <p:cNvSpPr/>
          <p:nvPr/>
        </p:nvSpPr>
        <p:spPr>
          <a:xfrm>
            <a:off x="457200"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Last 10 + partner + shot DNA</a:t>
            </a:r>
            <a:endParaRPr lang="en-US" sz="1000" dirty="0"/>
          </a:p>
        </p:txBody>
      </p:sp>
      <p:pic>
        <p:nvPicPr>
          <p:cNvPr id="8" name="Image 1" descr="/sessions/jolly-happy-allen/mnt/Data visualiztion/Padel-Project/06_Presentation/assets/02_pro_tour.png"/>
          <p:cNvPicPr>
            <a:picLocks noChangeAspect="1"/>
          </p:cNvPicPr>
          <p:nvPr/>
        </p:nvPicPr>
        <p:blipFill>
          <a:blip r:embed="rId4"/>
          <a:stretch>
            <a:fillRect/>
          </a:stretch>
        </p:blipFill>
        <p:spPr>
          <a:xfrm>
            <a:off x="2157984" y="1371600"/>
            <a:ext cx="1627632" cy="1005840"/>
          </a:xfrm>
          <a:prstGeom prst="rect">
            <a:avLst/>
          </a:prstGeom>
        </p:spPr>
      </p:pic>
      <p:sp>
        <p:nvSpPr>
          <p:cNvPr id="9" name="Text 5"/>
          <p:cNvSpPr/>
          <p:nvPr/>
        </p:nvSpPr>
        <p:spPr>
          <a:xfrm>
            <a:off x="2157984"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Pro Tour</a:t>
            </a:r>
            <a:endParaRPr lang="en-US" sz="1200" dirty="0"/>
          </a:p>
        </p:txBody>
      </p:sp>
      <p:sp>
        <p:nvSpPr>
          <p:cNvPr id="10" name="Text 6"/>
          <p:cNvSpPr/>
          <p:nvPr/>
        </p:nvSpPr>
        <p:spPr>
          <a:xfrm>
            <a:off x="2157984"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Rankings + filters</a:t>
            </a:r>
            <a:endParaRPr lang="en-US" sz="1000" dirty="0"/>
          </a:p>
        </p:txBody>
      </p:sp>
      <p:pic>
        <p:nvPicPr>
          <p:cNvPr id="11" name="Image 2" descr="/sessions/jolly-happy-allen/mnt/Data visualiztion/Padel-Project/06_Presentation/assets/03_my_stats.png"/>
          <p:cNvPicPr>
            <a:picLocks noChangeAspect="1"/>
          </p:cNvPicPr>
          <p:nvPr/>
        </p:nvPicPr>
        <p:blipFill>
          <a:blip r:embed="rId5"/>
          <a:stretch>
            <a:fillRect/>
          </a:stretch>
        </p:blipFill>
        <p:spPr>
          <a:xfrm>
            <a:off x="3858768" y="1371600"/>
            <a:ext cx="1627632" cy="1005840"/>
          </a:xfrm>
          <a:prstGeom prst="rect">
            <a:avLst/>
          </a:prstGeom>
        </p:spPr>
      </p:pic>
      <p:sp>
        <p:nvSpPr>
          <p:cNvPr id="12" name="Text 7"/>
          <p:cNvSpPr/>
          <p:nvPr/>
        </p:nvSpPr>
        <p:spPr>
          <a:xfrm>
            <a:off x="3858768"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My Stats</a:t>
            </a:r>
            <a:endParaRPr lang="en-US" sz="1200" dirty="0"/>
          </a:p>
        </p:txBody>
      </p:sp>
      <p:sp>
        <p:nvSpPr>
          <p:cNvPr id="13" name="Text 8"/>
          <p:cNvSpPr/>
          <p:nvPr/>
        </p:nvSpPr>
        <p:spPr>
          <a:xfrm>
            <a:off x="3858768"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Personal dashboard</a:t>
            </a:r>
            <a:endParaRPr lang="en-US" sz="1000" dirty="0"/>
          </a:p>
        </p:txBody>
      </p:sp>
      <p:pic>
        <p:nvPicPr>
          <p:cNvPr id="14" name="Image 3" descr="/sessions/jolly-happy-allen/mnt/Data visualiztion/Padel-Project/06_Presentation/assets/04_log_match.png"/>
          <p:cNvPicPr>
            <a:picLocks noChangeAspect="1"/>
          </p:cNvPicPr>
          <p:nvPr/>
        </p:nvPicPr>
        <p:blipFill>
          <a:blip r:embed="rId6"/>
          <a:stretch>
            <a:fillRect/>
          </a:stretch>
        </p:blipFill>
        <p:spPr>
          <a:xfrm>
            <a:off x="5559552" y="1371600"/>
            <a:ext cx="1627632" cy="1005840"/>
          </a:xfrm>
          <a:prstGeom prst="rect">
            <a:avLst/>
          </a:prstGeom>
        </p:spPr>
      </p:pic>
      <p:sp>
        <p:nvSpPr>
          <p:cNvPr id="15" name="Text 9"/>
          <p:cNvSpPr/>
          <p:nvPr/>
        </p:nvSpPr>
        <p:spPr>
          <a:xfrm>
            <a:off x="5559552"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Log Match</a:t>
            </a:r>
            <a:endParaRPr lang="en-US" sz="1200" dirty="0"/>
          </a:p>
        </p:txBody>
      </p:sp>
      <p:sp>
        <p:nvSpPr>
          <p:cNvPr id="16" name="Text 10"/>
          <p:cNvSpPr/>
          <p:nvPr/>
        </p:nvSpPr>
        <p:spPr>
          <a:xfrm>
            <a:off x="5559552"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90-second data entry</a:t>
            </a:r>
            <a:endParaRPr lang="en-US" sz="1000" dirty="0"/>
          </a:p>
        </p:txBody>
      </p:sp>
      <p:pic>
        <p:nvPicPr>
          <p:cNvPr id="17" name="Image 4" descr="/sessions/jolly-happy-allen/mnt/Data visualiztion/Padel-Project/06_Presentation/assets/05_compare.png"/>
          <p:cNvPicPr>
            <a:picLocks noChangeAspect="1"/>
          </p:cNvPicPr>
          <p:nvPr/>
        </p:nvPicPr>
        <p:blipFill>
          <a:blip r:embed="rId7"/>
          <a:stretch>
            <a:fillRect/>
          </a:stretch>
        </p:blipFill>
        <p:spPr>
          <a:xfrm>
            <a:off x="7260336" y="1371600"/>
            <a:ext cx="1627632" cy="1005840"/>
          </a:xfrm>
          <a:prstGeom prst="rect">
            <a:avLst/>
          </a:prstGeom>
        </p:spPr>
      </p:pic>
      <p:sp>
        <p:nvSpPr>
          <p:cNvPr id="18" name="Text 11"/>
          <p:cNvSpPr/>
          <p:nvPr/>
        </p:nvSpPr>
        <p:spPr>
          <a:xfrm>
            <a:off x="7260336" y="2423160"/>
            <a:ext cx="1627632" cy="256032"/>
          </a:xfrm>
          <a:prstGeom prst="rect">
            <a:avLst/>
          </a:prstGeom>
          <a:noFill/>
          <a:ln/>
        </p:spPr>
        <p:txBody>
          <a:bodyPr wrap="square" lIns="0" tIns="0" rIns="0" bIns="0" rtlCol="0" anchor="ctr"/>
          <a:lstStyle/>
          <a:p>
            <a:pPr marL="0" indent="0">
              <a:buNone/>
            </a:pPr>
            <a:r>
              <a:rPr lang="en-US" sz="1200" b="1" dirty="0">
                <a:solidFill>
                  <a:srgbClr val="1F2937"/>
                </a:solidFill>
              </a:rPr>
              <a:t>Compare</a:t>
            </a:r>
            <a:endParaRPr lang="en-US" sz="1200" dirty="0"/>
          </a:p>
        </p:txBody>
      </p:sp>
      <p:sp>
        <p:nvSpPr>
          <p:cNvPr id="19" name="Text 12"/>
          <p:cNvSpPr/>
          <p:nvPr/>
        </p:nvSpPr>
        <p:spPr>
          <a:xfrm>
            <a:off x="7260336" y="2670048"/>
            <a:ext cx="1627632" cy="457200"/>
          </a:xfrm>
          <a:prstGeom prst="rect">
            <a:avLst/>
          </a:prstGeom>
          <a:noFill/>
          <a:ln/>
        </p:spPr>
        <p:txBody>
          <a:bodyPr wrap="square" lIns="0" tIns="0" rIns="0" bIns="0" rtlCol="0" anchor="ctr"/>
          <a:lstStyle/>
          <a:p>
            <a:pPr marL="0" indent="0">
              <a:buNone/>
            </a:pPr>
            <a:r>
              <a:rPr lang="en-US" sz="1000" dirty="0">
                <a:solidFill>
                  <a:srgbClr val="64748B"/>
                </a:solidFill>
              </a:rPr>
              <a:t>Radar vs pro reference</a:t>
            </a:r>
            <a:endParaRPr lang="en-US" sz="1000" dirty="0"/>
          </a:p>
        </p:txBody>
      </p:sp>
      <p:sp>
        <p:nvSpPr>
          <p:cNvPr id="20" name="Shape 13"/>
          <p:cNvSpPr/>
          <p:nvPr/>
        </p:nvSpPr>
        <p:spPr>
          <a:xfrm>
            <a:off x="457200" y="3246120"/>
            <a:ext cx="8229600" cy="1325880"/>
          </a:xfrm>
          <a:prstGeom prst="rect">
            <a:avLst/>
          </a:prstGeom>
          <a:solidFill>
            <a:srgbClr val="FFFFFF"/>
          </a:solidFill>
          <a:ln w="9525">
            <a:solidFill>
              <a:srgbClr val="CFD6DD"/>
            </a:solidFill>
            <a:prstDash val="solid"/>
          </a:ln>
        </p:spPr>
        <p:txBody>
          <a:bodyPr/>
          <a:lstStyle/>
          <a:p>
            <a:endParaRPr lang="en-US"/>
          </a:p>
        </p:txBody>
      </p:sp>
      <p:sp>
        <p:nvSpPr>
          <p:cNvPr id="21" name="Text 14"/>
          <p:cNvSpPr/>
          <p:nvPr/>
        </p:nvSpPr>
        <p:spPr>
          <a:xfrm>
            <a:off x="640080" y="3383280"/>
            <a:ext cx="7863840" cy="365760"/>
          </a:xfrm>
          <a:prstGeom prst="rect">
            <a:avLst/>
          </a:prstGeom>
          <a:noFill/>
          <a:ln/>
        </p:spPr>
        <p:txBody>
          <a:bodyPr wrap="square" lIns="0" tIns="0" rIns="0" bIns="0" rtlCol="0" anchor="ctr"/>
          <a:lstStyle/>
          <a:p>
            <a:pPr marL="0" indent="0">
              <a:buNone/>
            </a:pPr>
            <a:r>
              <a:rPr lang="en-US" sz="1400" b="1" dirty="0">
                <a:solidFill>
                  <a:srgbClr val="1F2937"/>
                </a:solidFill>
              </a:rPr>
              <a:t>Each page answers ONE task from the brief.</a:t>
            </a:r>
            <a:endParaRPr lang="en-US" sz="1400" dirty="0"/>
          </a:p>
        </p:txBody>
      </p:sp>
      <p:sp>
        <p:nvSpPr>
          <p:cNvPr id="22" name="Text 15"/>
          <p:cNvSpPr/>
          <p:nvPr/>
        </p:nvSpPr>
        <p:spPr>
          <a:xfrm>
            <a:off x="640080" y="3794760"/>
            <a:ext cx="7863840" cy="685800"/>
          </a:xfrm>
          <a:prstGeom prst="rect">
            <a:avLst/>
          </a:prstGeom>
          <a:noFill/>
          <a:ln/>
        </p:spPr>
        <p:txBody>
          <a:bodyPr wrap="square" lIns="0" tIns="0" rIns="0" bIns="0" rtlCol="0" anchor="ctr"/>
          <a:lstStyle/>
          <a:p>
            <a:pPr marL="0" indent="0">
              <a:buNone/>
            </a:pPr>
            <a:r>
              <a:rPr lang="en-US" sz="1100" b="1" dirty="0">
                <a:solidFill>
                  <a:srgbClr val="64748B"/>
                </a:solidFill>
              </a:rPr>
              <a:t>Home → </a:t>
            </a:r>
            <a:r>
              <a:rPr lang="en-US" sz="1100" dirty="0">
                <a:solidFill>
                  <a:srgbClr val="64748B"/>
                </a:solidFill>
              </a:rPr>
              <a:t>"How am I doing right now?" · </a:t>
            </a:r>
            <a:r>
              <a:rPr lang="en-US" sz="1100" b="1" dirty="0">
                <a:solidFill>
                  <a:srgbClr val="64748B"/>
                </a:solidFill>
              </a:rPr>
              <a:t>Pro Tour → </a:t>
            </a:r>
            <a:r>
              <a:rPr lang="en-US" sz="1100" dirty="0">
                <a:solidFill>
                  <a:srgbClr val="64748B"/>
                </a:solidFill>
              </a:rPr>
              <a:t>"Explore the pro game" · </a:t>
            </a:r>
            <a:r>
              <a:rPr lang="en-US" sz="1100" b="1" dirty="0">
                <a:solidFill>
                  <a:srgbClr val="64748B"/>
                </a:solidFill>
              </a:rPr>
              <a:t>My Stats → </a:t>
            </a:r>
            <a:r>
              <a:rPr lang="en-US" sz="1100" dirty="0">
                <a:solidFill>
                  <a:srgbClr val="64748B"/>
                </a:solidFill>
              </a:rPr>
              <a:t>"Why am I winning/losing?" · </a:t>
            </a:r>
            <a:r>
              <a:rPr lang="en-US" sz="1100" b="1" dirty="0">
                <a:solidFill>
                  <a:srgbClr val="64748B"/>
                </a:solidFill>
              </a:rPr>
              <a:t>Log Match → </a:t>
            </a:r>
            <a:r>
              <a:rPr lang="en-US" sz="1100" dirty="0">
                <a:solidFill>
                  <a:srgbClr val="64748B"/>
                </a:solidFill>
              </a:rPr>
              <a:t>"Add today's match" · </a:t>
            </a:r>
            <a:r>
              <a:rPr lang="en-US" sz="1100" b="1" dirty="0">
                <a:solidFill>
                  <a:srgbClr val="64748B"/>
                </a:solidFill>
              </a:rPr>
              <a:t>Compare → </a:t>
            </a:r>
            <a:r>
              <a:rPr lang="en-US" sz="1100" dirty="0">
                <a:solidFill>
                  <a:srgbClr val="64748B"/>
                </a:solidFill>
              </a:rPr>
              <a:t>"How big is the gap to a pro?"</a:t>
            </a:r>
            <a:endParaRPr lang="en-US" sz="1100" dirty="0"/>
          </a:p>
        </p:txBody>
      </p:sp>
      <p:sp>
        <p:nvSpPr>
          <p:cNvPr id="23" name="Text 1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1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3.3 PRINCIPLES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Six rules applied throughout</a:t>
            </a:r>
            <a:endParaRPr lang="en-US" sz="2600" dirty="0"/>
          </a:p>
        </p:txBody>
      </p:sp>
      <p:sp>
        <p:nvSpPr>
          <p:cNvPr id="5" name="Shape 3"/>
          <p:cNvSpPr/>
          <p:nvPr/>
        </p:nvSpPr>
        <p:spPr>
          <a:xfrm>
            <a:off x="457200" y="1371600"/>
            <a:ext cx="4069080" cy="9144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640080" y="1618488"/>
            <a:ext cx="411480" cy="411480"/>
          </a:xfrm>
          <a:prstGeom prst="ellipse">
            <a:avLst/>
          </a:prstGeom>
          <a:solidFill>
            <a:srgbClr val="0EA5E9"/>
          </a:solidFill>
          <a:ln/>
        </p:spPr>
        <p:txBody>
          <a:bodyPr/>
          <a:lstStyle/>
          <a:p>
            <a:endParaRPr lang="en-US"/>
          </a:p>
        </p:txBody>
      </p:sp>
      <p:sp>
        <p:nvSpPr>
          <p:cNvPr id="7" name="Text 5"/>
          <p:cNvSpPr/>
          <p:nvPr/>
        </p:nvSpPr>
        <p:spPr>
          <a:xfrm>
            <a:off x="640080" y="16184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1</a:t>
            </a:r>
            <a:endParaRPr lang="en-US" sz="1300" dirty="0"/>
          </a:p>
        </p:txBody>
      </p:sp>
      <p:sp>
        <p:nvSpPr>
          <p:cNvPr id="8" name="Text 6"/>
          <p:cNvSpPr/>
          <p:nvPr/>
        </p:nvSpPr>
        <p:spPr>
          <a:xfrm>
            <a:off x="1188720" y="153619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One number above the fold</a:t>
            </a:r>
            <a:endParaRPr lang="en-US" sz="1250" dirty="0"/>
          </a:p>
        </p:txBody>
      </p:sp>
      <p:sp>
        <p:nvSpPr>
          <p:cNvPr id="9" name="Text 7"/>
          <p:cNvSpPr/>
          <p:nvPr/>
        </p:nvSpPr>
        <p:spPr>
          <a:xfrm>
            <a:off x="1188720" y="1810512"/>
            <a:ext cx="3246120" cy="457200"/>
          </a:xfrm>
          <a:prstGeom prst="rect">
            <a:avLst/>
          </a:prstGeom>
          <a:noFill/>
          <a:ln/>
        </p:spPr>
        <p:txBody>
          <a:bodyPr wrap="square" lIns="0" tIns="0" rIns="0" bIns="0" rtlCol="0" anchor="ctr"/>
          <a:lstStyle/>
          <a:p>
            <a:pPr marL="0" indent="0">
              <a:buNone/>
            </a:pPr>
            <a:r>
              <a:rPr lang="en-US" sz="1100" dirty="0">
                <a:solidFill>
                  <a:srgbClr val="64748B"/>
                </a:solidFill>
              </a:rPr>
              <a:t>The app is opened in bursts. 42-pt KPI on Home.</a:t>
            </a:r>
            <a:endParaRPr lang="en-US" sz="1100" dirty="0"/>
          </a:p>
        </p:txBody>
      </p:sp>
      <p:sp>
        <p:nvSpPr>
          <p:cNvPr id="10" name="Shape 8"/>
          <p:cNvSpPr/>
          <p:nvPr/>
        </p:nvSpPr>
        <p:spPr>
          <a:xfrm>
            <a:off x="4617720" y="1371600"/>
            <a:ext cx="4069080" cy="914400"/>
          </a:xfrm>
          <a:prstGeom prst="rect">
            <a:avLst/>
          </a:prstGeom>
          <a:solidFill>
            <a:srgbClr val="FFFFFF"/>
          </a:solidFill>
          <a:ln w="9525">
            <a:solidFill>
              <a:srgbClr val="CFD6DD"/>
            </a:solidFill>
            <a:prstDash val="solid"/>
          </a:ln>
        </p:spPr>
        <p:txBody>
          <a:bodyPr/>
          <a:lstStyle/>
          <a:p>
            <a:endParaRPr lang="en-US"/>
          </a:p>
        </p:txBody>
      </p:sp>
      <p:sp>
        <p:nvSpPr>
          <p:cNvPr id="11" name="Shape 9"/>
          <p:cNvSpPr/>
          <p:nvPr/>
        </p:nvSpPr>
        <p:spPr>
          <a:xfrm>
            <a:off x="4800600" y="1618488"/>
            <a:ext cx="411480" cy="411480"/>
          </a:xfrm>
          <a:prstGeom prst="ellipse">
            <a:avLst/>
          </a:prstGeom>
          <a:solidFill>
            <a:srgbClr val="0EA5E9"/>
          </a:solidFill>
          <a:ln/>
        </p:spPr>
        <p:txBody>
          <a:bodyPr/>
          <a:lstStyle/>
          <a:p>
            <a:endParaRPr lang="en-US"/>
          </a:p>
        </p:txBody>
      </p:sp>
      <p:sp>
        <p:nvSpPr>
          <p:cNvPr id="12" name="Text 10"/>
          <p:cNvSpPr/>
          <p:nvPr/>
        </p:nvSpPr>
        <p:spPr>
          <a:xfrm>
            <a:off x="4800600" y="161848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2</a:t>
            </a:r>
            <a:endParaRPr lang="en-US" sz="1300" dirty="0"/>
          </a:p>
        </p:txBody>
      </p:sp>
      <p:sp>
        <p:nvSpPr>
          <p:cNvPr id="13" name="Text 11"/>
          <p:cNvSpPr/>
          <p:nvPr/>
        </p:nvSpPr>
        <p:spPr>
          <a:xfrm>
            <a:off x="5349240" y="153619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Recognition over recall</a:t>
            </a:r>
            <a:endParaRPr lang="en-US" sz="1250" dirty="0"/>
          </a:p>
        </p:txBody>
      </p:sp>
      <p:sp>
        <p:nvSpPr>
          <p:cNvPr id="14" name="Text 12"/>
          <p:cNvSpPr/>
          <p:nvPr/>
        </p:nvSpPr>
        <p:spPr>
          <a:xfrm>
            <a:off x="5349240" y="1810512"/>
            <a:ext cx="3246120" cy="457200"/>
          </a:xfrm>
          <a:prstGeom prst="rect">
            <a:avLst/>
          </a:prstGeom>
          <a:noFill/>
          <a:ln/>
        </p:spPr>
        <p:txBody>
          <a:bodyPr wrap="square" lIns="0" tIns="0" rIns="0" bIns="0" rtlCol="0" anchor="ctr"/>
          <a:lstStyle/>
          <a:p>
            <a:pPr marL="0" indent="0">
              <a:buNone/>
            </a:pPr>
            <a:r>
              <a:rPr lang="en-US" sz="1100" dirty="0">
                <a:solidFill>
                  <a:srgbClr val="64748B"/>
                </a:solidFill>
              </a:rPr>
              <a:t>Filters always visible - never behind a button.</a:t>
            </a:r>
            <a:endParaRPr lang="en-US" sz="1100" dirty="0"/>
          </a:p>
        </p:txBody>
      </p:sp>
      <p:sp>
        <p:nvSpPr>
          <p:cNvPr id="15" name="Shape 13"/>
          <p:cNvSpPr/>
          <p:nvPr/>
        </p:nvSpPr>
        <p:spPr>
          <a:xfrm>
            <a:off x="457200" y="2423160"/>
            <a:ext cx="4069080" cy="914400"/>
          </a:xfrm>
          <a:prstGeom prst="rect">
            <a:avLst/>
          </a:prstGeom>
          <a:solidFill>
            <a:srgbClr val="FFFFFF"/>
          </a:solidFill>
          <a:ln w="9525">
            <a:solidFill>
              <a:srgbClr val="CFD6DD"/>
            </a:solidFill>
            <a:prstDash val="solid"/>
          </a:ln>
        </p:spPr>
        <p:txBody>
          <a:bodyPr/>
          <a:lstStyle/>
          <a:p>
            <a:endParaRPr lang="en-US"/>
          </a:p>
        </p:txBody>
      </p:sp>
      <p:sp>
        <p:nvSpPr>
          <p:cNvPr id="16" name="Shape 14"/>
          <p:cNvSpPr/>
          <p:nvPr/>
        </p:nvSpPr>
        <p:spPr>
          <a:xfrm>
            <a:off x="640080" y="2670048"/>
            <a:ext cx="411480" cy="411480"/>
          </a:xfrm>
          <a:prstGeom prst="ellipse">
            <a:avLst/>
          </a:prstGeom>
          <a:solidFill>
            <a:srgbClr val="0EA5E9"/>
          </a:solidFill>
          <a:ln/>
        </p:spPr>
        <p:txBody>
          <a:bodyPr/>
          <a:lstStyle/>
          <a:p>
            <a:endParaRPr lang="en-US"/>
          </a:p>
        </p:txBody>
      </p:sp>
      <p:sp>
        <p:nvSpPr>
          <p:cNvPr id="17" name="Text 15"/>
          <p:cNvSpPr/>
          <p:nvPr/>
        </p:nvSpPr>
        <p:spPr>
          <a:xfrm>
            <a:off x="640080" y="267004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3</a:t>
            </a:r>
            <a:endParaRPr lang="en-US" sz="1300" dirty="0"/>
          </a:p>
        </p:txBody>
      </p:sp>
      <p:sp>
        <p:nvSpPr>
          <p:cNvPr id="18" name="Text 16"/>
          <p:cNvSpPr/>
          <p:nvPr/>
        </p:nvSpPr>
        <p:spPr>
          <a:xfrm>
            <a:off x="1188720" y="258775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Default to action</a:t>
            </a:r>
            <a:endParaRPr lang="en-US" sz="1250" dirty="0"/>
          </a:p>
        </p:txBody>
      </p:sp>
      <p:sp>
        <p:nvSpPr>
          <p:cNvPr id="19" name="Text 17"/>
          <p:cNvSpPr/>
          <p:nvPr/>
        </p:nvSpPr>
        <p:spPr>
          <a:xfrm>
            <a:off x="1188720" y="2862072"/>
            <a:ext cx="3246120" cy="457200"/>
          </a:xfrm>
          <a:prstGeom prst="rect">
            <a:avLst/>
          </a:prstGeom>
          <a:noFill/>
          <a:ln/>
        </p:spPr>
        <p:txBody>
          <a:bodyPr wrap="square" lIns="0" tIns="0" rIns="0" bIns="0" rtlCol="0" anchor="ctr"/>
          <a:lstStyle/>
          <a:p>
            <a:pPr marL="0" indent="0">
              <a:buNone/>
            </a:pPr>
            <a:r>
              <a:rPr lang="en-US" sz="1100" dirty="0">
                <a:solidFill>
                  <a:srgbClr val="64748B"/>
                </a:solidFill>
              </a:rPr>
              <a:t>+ Log a match is the most prominent CTA on Home.</a:t>
            </a:r>
            <a:endParaRPr lang="en-US" sz="1100" dirty="0"/>
          </a:p>
        </p:txBody>
      </p:sp>
      <p:sp>
        <p:nvSpPr>
          <p:cNvPr id="20" name="Shape 18"/>
          <p:cNvSpPr/>
          <p:nvPr/>
        </p:nvSpPr>
        <p:spPr>
          <a:xfrm>
            <a:off x="4617720" y="2423160"/>
            <a:ext cx="4069080" cy="914400"/>
          </a:xfrm>
          <a:prstGeom prst="rect">
            <a:avLst/>
          </a:prstGeom>
          <a:solidFill>
            <a:srgbClr val="FFFFFF"/>
          </a:solidFill>
          <a:ln w="9525">
            <a:solidFill>
              <a:srgbClr val="CFD6DD"/>
            </a:solidFill>
            <a:prstDash val="solid"/>
          </a:ln>
        </p:spPr>
        <p:txBody>
          <a:bodyPr/>
          <a:lstStyle/>
          <a:p>
            <a:endParaRPr lang="en-US"/>
          </a:p>
        </p:txBody>
      </p:sp>
      <p:sp>
        <p:nvSpPr>
          <p:cNvPr id="21" name="Shape 19"/>
          <p:cNvSpPr/>
          <p:nvPr/>
        </p:nvSpPr>
        <p:spPr>
          <a:xfrm>
            <a:off x="4800600" y="2670048"/>
            <a:ext cx="411480" cy="411480"/>
          </a:xfrm>
          <a:prstGeom prst="ellipse">
            <a:avLst/>
          </a:prstGeom>
          <a:solidFill>
            <a:srgbClr val="0EA5E9"/>
          </a:solidFill>
          <a:ln/>
        </p:spPr>
        <p:txBody>
          <a:bodyPr/>
          <a:lstStyle/>
          <a:p>
            <a:endParaRPr lang="en-US"/>
          </a:p>
        </p:txBody>
      </p:sp>
      <p:sp>
        <p:nvSpPr>
          <p:cNvPr id="22" name="Text 20"/>
          <p:cNvSpPr/>
          <p:nvPr/>
        </p:nvSpPr>
        <p:spPr>
          <a:xfrm>
            <a:off x="4800600" y="267004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4</a:t>
            </a:r>
            <a:endParaRPr lang="en-US" sz="1300" dirty="0"/>
          </a:p>
        </p:txBody>
      </p:sp>
      <p:sp>
        <p:nvSpPr>
          <p:cNvPr id="23" name="Text 21"/>
          <p:cNvSpPr/>
          <p:nvPr/>
        </p:nvSpPr>
        <p:spPr>
          <a:xfrm>
            <a:off x="5349240" y="258775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Reduce data-entry friction</a:t>
            </a:r>
            <a:endParaRPr lang="en-US" sz="1250" dirty="0"/>
          </a:p>
        </p:txBody>
      </p:sp>
      <p:sp>
        <p:nvSpPr>
          <p:cNvPr id="24" name="Text 22"/>
          <p:cNvSpPr/>
          <p:nvPr/>
        </p:nvSpPr>
        <p:spPr>
          <a:xfrm>
            <a:off x="5349240" y="2862072"/>
            <a:ext cx="3246120" cy="457200"/>
          </a:xfrm>
          <a:prstGeom prst="rect">
            <a:avLst/>
          </a:prstGeom>
          <a:noFill/>
          <a:ln/>
        </p:spPr>
        <p:txBody>
          <a:bodyPr wrap="square" lIns="0" tIns="0" rIns="0" bIns="0" rtlCol="0" anchor="ctr"/>
          <a:lstStyle/>
          <a:p>
            <a:pPr marL="0" indent="0">
              <a:buNone/>
            </a:pPr>
            <a:r>
              <a:rPr lang="en-US" sz="1100" dirty="0">
                <a:solidFill>
                  <a:srgbClr val="64748B"/>
                </a:solidFill>
              </a:rPr>
              <a:t>Shot tallies optional. Score + partner is enough.</a:t>
            </a:r>
            <a:endParaRPr lang="en-US" sz="1100" dirty="0"/>
          </a:p>
        </p:txBody>
      </p:sp>
      <p:sp>
        <p:nvSpPr>
          <p:cNvPr id="25" name="Shape 23"/>
          <p:cNvSpPr/>
          <p:nvPr/>
        </p:nvSpPr>
        <p:spPr>
          <a:xfrm>
            <a:off x="457200" y="3474720"/>
            <a:ext cx="4069080" cy="914400"/>
          </a:xfrm>
          <a:prstGeom prst="rect">
            <a:avLst/>
          </a:prstGeom>
          <a:solidFill>
            <a:srgbClr val="FFFFFF"/>
          </a:solidFill>
          <a:ln w="9525">
            <a:solidFill>
              <a:srgbClr val="CFD6DD"/>
            </a:solidFill>
            <a:prstDash val="solid"/>
          </a:ln>
        </p:spPr>
        <p:txBody>
          <a:bodyPr/>
          <a:lstStyle/>
          <a:p>
            <a:endParaRPr lang="en-US"/>
          </a:p>
        </p:txBody>
      </p:sp>
      <p:sp>
        <p:nvSpPr>
          <p:cNvPr id="26" name="Shape 24"/>
          <p:cNvSpPr/>
          <p:nvPr/>
        </p:nvSpPr>
        <p:spPr>
          <a:xfrm>
            <a:off x="640080" y="3721608"/>
            <a:ext cx="411480" cy="411480"/>
          </a:xfrm>
          <a:prstGeom prst="ellipse">
            <a:avLst/>
          </a:prstGeom>
          <a:solidFill>
            <a:srgbClr val="0EA5E9"/>
          </a:solidFill>
          <a:ln/>
        </p:spPr>
        <p:txBody>
          <a:bodyPr/>
          <a:lstStyle/>
          <a:p>
            <a:endParaRPr lang="en-US"/>
          </a:p>
        </p:txBody>
      </p:sp>
      <p:sp>
        <p:nvSpPr>
          <p:cNvPr id="27" name="Text 25"/>
          <p:cNvSpPr/>
          <p:nvPr/>
        </p:nvSpPr>
        <p:spPr>
          <a:xfrm>
            <a:off x="640080" y="372160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5</a:t>
            </a:r>
            <a:endParaRPr lang="en-US" sz="1300" dirty="0"/>
          </a:p>
        </p:txBody>
      </p:sp>
      <p:sp>
        <p:nvSpPr>
          <p:cNvPr id="28" name="Text 26"/>
          <p:cNvSpPr/>
          <p:nvPr/>
        </p:nvSpPr>
        <p:spPr>
          <a:xfrm>
            <a:off x="1188720" y="363931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Honest visual hierarchy</a:t>
            </a:r>
            <a:endParaRPr lang="en-US" sz="1250" dirty="0"/>
          </a:p>
        </p:txBody>
      </p:sp>
      <p:sp>
        <p:nvSpPr>
          <p:cNvPr id="29" name="Text 27"/>
          <p:cNvSpPr/>
          <p:nvPr/>
        </p:nvSpPr>
        <p:spPr>
          <a:xfrm>
            <a:off x="1188720" y="3913632"/>
            <a:ext cx="3246120" cy="457200"/>
          </a:xfrm>
          <a:prstGeom prst="rect">
            <a:avLst/>
          </a:prstGeom>
          <a:noFill/>
          <a:ln/>
        </p:spPr>
        <p:txBody>
          <a:bodyPr wrap="square" lIns="0" tIns="0" rIns="0" bIns="0" rtlCol="0" anchor="ctr"/>
          <a:lstStyle/>
          <a:p>
            <a:pPr marL="0" indent="0">
              <a:buNone/>
            </a:pPr>
            <a:r>
              <a:rPr lang="en-US" sz="1100" dirty="0">
                <a:solidFill>
                  <a:srgbClr val="64748B"/>
                </a:solidFill>
              </a:rPr>
              <a:t>Red only for negative signal. No gratuitous color.</a:t>
            </a:r>
            <a:endParaRPr lang="en-US" sz="1100" dirty="0"/>
          </a:p>
        </p:txBody>
      </p:sp>
      <p:sp>
        <p:nvSpPr>
          <p:cNvPr id="30" name="Shape 28"/>
          <p:cNvSpPr/>
          <p:nvPr/>
        </p:nvSpPr>
        <p:spPr>
          <a:xfrm>
            <a:off x="4617720" y="3474720"/>
            <a:ext cx="4069080" cy="914400"/>
          </a:xfrm>
          <a:prstGeom prst="rect">
            <a:avLst/>
          </a:prstGeom>
          <a:solidFill>
            <a:srgbClr val="FFFFFF"/>
          </a:solidFill>
          <a:ln w="9525">
            <a:solidFill>
              <a:srgbClr val="CFD6DD"/>
            </a:solidFill>
            <a:prstDash val="solid"/>
          </a:ln>
        </p:spPr>
        <p:txBody>
          <a:bodyPr/>
          <a:lstStyle/>
          <a:p>
            <a:endParaRPr lang="en-US"/>
          </a:p>
        </p:txBody>
      </p:sp>
      <p:sp>
        <p:nvSpPr>
          <p:cNvPr id="31" name="Shape 29"/>
          <p:cNvSpPr/>
          <p:nvPr/>
        </p:nvSpPr>
        <p:spPr>
          <a:xfrm>
            <a:off x="4800600" y="3721608"/>
            <a:ext cx="411480" cy="411480"/>
          </a:xfrm>
          <a:prstGeom prst="ellipse">
            <a:avLst/>
          </a:prstGeom>
          <a:solidFill>
            <a:srgbClr val="0EA5E9"/>
          </a:solidFill>
          <a:ln/>
        </p:spPr>
        <p:txBody>
          <a:bodyPr/>
          <a:lstStyle/>
          <a:p>
            <a:endParaRPr lang="en-US"/>
          </a:p>
        </p:txBody>
      </p:sp>
      <p:sp>
        <p:nvSpPr>
          <p:cNvPr id="32" name="Text 30"/>
          <p:cNvSpPr/>
          <p:nvPr/>
        </p:nvSpPr>
        <p:spPr>
          <a:xfrm>
            <a:off x="4800600" y="3721608"/>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rPr>
              <a:t>6</a:t>
            </a:r>
            <a:endParaRPr lang="en-US" sz="1300" dirty="0"/>
          </a:p>
        </p:txBody>
      </p:sp>
      <p:sp>
        <p:nvSpPr>
          <p:cNvPr id="33" name="Text 31"/>
          <p:cNvSpPr/>
          <p:nvPr/>
        </p:nvSpPr>
        <p:spPr>
          <a:xfrm>
            <a:off x="5349240" y="3639312"/>
            <a:ext cx="3246120" cy="274320"/>
          </a:xfrm>
          <a:prstGeom prst="rect">
            <a:avLst/>
          </a:prstGeom>
          <a:noFill/>
          <a:ln/>
        </p:spPr>
        <p:txBody>
          <a:bodyPr wrap="square" lIns="0" tIns="0" rIns="0" bIns="0" rtlCol="0" anchor="ctr"/>
          <a:lstStyle/>
          <a:p>
            <a:pPr marL="0" indent="0">
              <a:buNone/>
            </a:pPr>
            <a:r>
              <a:rPr lang="en-US" sz="1250" b="1" dirty="0">
                <a:solidFill>
                  <a:srgbClr val="1F2937"/>
                </a:solidFill>
              </a:rPr>
              <a:t>Annotate, don't decorate</a:t>
            </a:r>
            <a:endParaRPr lang="en-US" sz="1250" dirty="0"/>
          </a:p>
        </p:txBody>
      </p:sp>
      <p:sp>
        <p:nvSpPr>
          <p:cNvPr id="34" name="Text 32"/>
          <p:cNvSpPr/>
          <p:nvPr/>
        </p:nvSpPr>
        <p:spPr>
          <a:xfrm>
            <a:off x="5349240" y="3913632"/>
            <a:ext cx="3246120" cy="457200"/>
          </a:xfrm>
          <a:prstGeom prst="rect">
            <a:avLst/>
          </a:prstGeom>
          <a:noFill/>
          <a:ln/>
        </p:spPr>
        <p:txBody>
          <a:bodyPr wrap="square" lIns="0" tIns="0" rIns="0" bIns="0" rtlCol="0" anchor="ctr"/>
          <a:lstStyle/>
          <a:p>
            <a:pPr marL="0" indent="0">
              <a:buNone/>
            </a:pPr>
            <a:r>
              <a:rPr lang="en-US" sz="1100" dirty="0">
                <a:solidFill>
                  <a:srgbClr val="64748B"/>
                </a:solidFill>
              </a:rPr>
              <a:t>Every chart has at least one in-canvas annotation.</a:t>
            </a:r>
            <a:endParaRPr lang="en-US" sz="1100" dirty="0"/>
          </a:p>
        </p:txBody>
      </p:sp>
      <p:sp>
        <p:nvSpPr>
          <p:cNvPr id="35" name="Text 33"/>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6" name="Text 34"/>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3.4 HEURISTIC EVALUATION</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Two real changes from Nielsen's 10</a:t>
            </a:r>
            <a:endParaRPr lang="en-US" sz="2600" dirty="0"/>
          </a:p>
        </p:txBody>
      </p:sp>
      <p:sp>
        <p:nvSpPr>
          <p:cNvPr id="5" name="Shape 3"/>
          <p:cNvSpPr/>
          <p:nvPr/>
        </p:nvSpPr>
        <p:spPr>
          <a:xfrm>
            <a:off x="457200" y="1371600"/>
            <a:ext cx="8229600" cy="1371600"/>
          </a:xfrm>
          <a:prstGeom prst="rect">
            <a:avLst/>
          </a:prstGeom>
          <a:solidFill>
            <a:srgbClr val="FFFFFF"/>
          </a:solidFill>
          <a:ln w="9525">
            <a:solidFill>
              <a:srgbClr val="CFD6DD"/>
            </a:solidFill>
            <a:prstDash val="solid"/>
          </a:ln>
        </p:spPr>
        <p:txBody>
          <a:bodyPr/>
          <a:lstStyle/>
          <a:p>
            <a:endParaRPr lang="en-US"/>
          </a:p>
        </p:txBody>
      </p:sp>
      <p:sp>
        <p:nvSpPr>
          <p:cNvPr id="6" name="Shape 4"/>
          <p:cNvSpPr/>
          <p:nvPr/>
        </p:nvSpPr>
        <p:spPr>
          <a:xfrm>
            <a:off x="457200" y="1371600"/>
            <a:ext cx="1005840" cy="1371600"/>
          </a:xfrm>
          <a:prstGeom prst="rect">
            <a:avLst/>
          </a:prstGeom>
          <a:solidFill>
            <a:srgbClr val="1E293B"/>
          </a:solidFill>
          <a:ln/>
        </p:spPr>
        <p:txBody>
          <a:bodyPr/>
          <a:lstStyle/>
          <a:p>
            <a:endParaRPr lang="en-US"/>
          </a:p>
        </p:txBody>
      </p:sp>
      <p:sp>
        <p:nvSpPr>
          <p:cNvPr id="7" name="Text 5"/>
          <p:cNvSpPr/>
          <p:nvPr/>
        </p:nvSpPr>
        <p:spPr>
          <a:xfrm>
            <a:off x="457200" y="1554480"/>
            <a:ext cx="1005840" cy="457200"/>
          </a:xfrm>
          <a:prstGeom prst="rect">
            <a:avLst/>
          </a:prstGeom>
          <a:noFill/>
          <a:ln/>
        </p:spPr>
        <p:txBody>
          <a:bodyPr wrap="square" lIns="0" tIns="0" rIns="0" bIns="0" rtlCol="0" anchor="ctr"/>
          <a:lstStyle/>
          <a:p>
            <a:pPr marL="0" indent="0" algn="ctr">
              <a:buNone/>
            </a:pPr>
            <a:r>
              <a:rPr lang="en-US" sz="2200" b="1" dirty="0">
                <a:solidFill>
                  <a:srgbClr val="FFFFFF"/>
                </a:solidFill>
              </a:rPr>
              <a:t>#5</a:t>
            </a:r>
            <a:endParaRPr lang="en-US" sz="2200" dirty="0"/>
          </a:p>
        </p:txBody>
      </p:sp>
      <p:sp>
        <p:nvSpPr>
          <p:cNvPr id="8" name="Text 6"/>
          <p:cNvSpPr/>
          <p:nvPr/>
        </p:nvSpPr>
        <p:spPr>
          <a:xfrm>
            <a:off x="457200" y="2057400"/>
            <a:ext cx="1005840" cy="594360"/>
          </a:xfrm>
          <a:prstGeom prst="rect">
            <a:avLst/>
          </a:prstGeom>
          <a:noFill/>
          <a:ln/>
        </p:spPr>
        <p:txBody>
          <a:bodyPr wrap="square" lIns="0" tIns="0" rIns="0" bIns="0" rtlCol="0" anchor="t"/>
          <a:lstStyle/>
          <a:p>
            <a:pPr marL="0" indent="0" algn="ctr">
              <a:buNone/>
            </a:pPr>
            <a:r>
              <a:rPr lang="en-US" sz="900" dirty="0">
                <a:solidFill>
                  <a:srgbClr val="FFFFFF"/>
                </a:solidFill>
              </a:rPr>
              <a:t>Error prevention</a:t>
            </a:r>
            <a:endParaRPr lang="en-US" sz="900" dirty="0"/>
          </a:p>
        </p:txBody>
      </p:sp>
      <p:sp>
        <p:nvSpPr>
          <p:cNvPr id="9" name="Text 7"/>
          <p:cNvSpPr/>
          <p:nvPr/>
        </p:nvSpPr>
        <p:spPr>
          <a:xfrm>
            <a:off x="1645920" y="1508760"/>
            <a:ext cx="2743200" cy="228600"/>
          </a:xfrm>
          <a:prstGeom prst="rect">
            <a:avLst/>
          </a:prstGeom>
          <a:noFill/>
          <a:ln/>
        </p:spPr>
        <p:txBody>
          <a:bodyPr wrap="square" lIns="0" tIns="0" rIns="0" bIns="0" rtlCol="0" anchor="ctr"/>
          <a:lstStyle/>
          <a:p>
            <a:pPr marL="0" indent="0">
              <a:buNone/>
            </a:pPr>
            <a:r>
              <a:rPr lang="en-US" sz="900" b="1" kern="0" spc="300" dirty="0">
                <a:solidFill>
                  <a:srgbClr val="EF4444"/>
                </a:solidFill>
              </a:rPr>
              <a:t>BEFORE</a:t>
            </a:r>
            <a:endParaRPr lang="en-US" sz="900" dirty="0"/>
          </a:p>
        </p:txBody>
      </p:sp>
      <p:sp>
        <p:nvSpPr>
          <p:cNvPr id="10" name="Text 8"/>
          <p:cNvSpPr/>
          <p:nvPr/>
        </p:nvSpPr>
        <p:spPr>
          <a:xfrm>
            <a:off x="1645920" y="1737360"/>
            <a:ext cx="3200400" cy="914400"/>
          </a:xfrm>
          <a:prstGeom prst="rect">
            <a:avLst/>
          </a:prstGeom>
          <a:noFill/>
          <a:ln/>
        </p:spPr>
        <p:txBody>
          <a:bodyPr wrap="square" lIns="0" tIns="0" rIns="0" bIns="0" rtlCol="0" anchor="ctr"/>
          <a:lstStyle/>
          <a:p>
            <a:pPr marL="0" indent="0">
              <a:buNone/>
            </a:pPr>
            <a:r>
              <a:rPr lang="en-US" sz="1100" dirty="0">
                <a:solidFill>
                  <a:srgbClr val="64748B"/>
                </a:solidFill>
              </a:rPr>
              <a:t>Original form let me enter Set-3 scores even when sets 1-2 were already decided (6-0, 6-0).</a:t>
            </a:r>
            <a:endParaRPr lang="en-US" sz="1100" dirty="0"/>
          </a:p>
        </p:txBody>
      </p:sp>
      <p:sp>
        <p:nvSpPr>
          <p:cNvPr id="11" name="Shape 9"/>
          <p:cNvSpPr/>
          <p:nvPr/>
        </p:nvSpPr>
        <p:spPr>
          <a:xfrm>
            <a:off x="5029200" y="2057400"/>
            <a:ext cx="365760" cy="0"/>
          </a:xfrm>
          <a:prstGeom prst="line">
            <a:avLst/>
          </a:prstGeom>
          <a:noFill/>
          <a:ln w="31750">
            <a:solidFill>
              <a:srgbClr val="0EA5E9"/>
            </a:solidFill>
            <a:prstDash val="solid"/>
            <a:tailEnd type="triangle"/>
          </a:ln>
        </p:spPr>
        <p:txBody>
          <a:bodyPr/>
          <a:lstStyle/>
          <a:p>
            <a:endParaRPr lang="en-US"/>
          </a:p>
        </p:txBody>
      </p:sp>
      <p:sp>
        <p:nvSpPr>
          <p:cNvPr id="12" name="Text 10"/>
          <p:cNvSpPr/>
          <p:nvPr/>
        </p:nvSpPr>
        <p:spPr>
          <a:xfrm>
            <a:off x="5486400" y="1508760"/>
            <a:ext cx="2743200" cy="228600"/>
          </a:xfrm>
          <a:prstGeom prst="rect">
            <a:avLst/>
          </a:prstGeom>
          <a:noFill/>
          <a:ln/>
        </p:spPr>
        <p:txBody>
          <a:bodyPr wrap="square" lIns="0" tIns="0" rIns="0" bIns="0" rtlCol="0" anchor="ctr"/>
          <a:lstStyle/>
          <a:p>
            <a:pPr marL="0" indent="0">
              <a:buNone/>
            </a:pPr>
            <a:r>
              <a:rPr lang="en-US" sz="900" b="1" kern="0" spc="300" dirty="0">
                <a:solidFill>
                  <a:srgbClr val="10B981"/>
                </a:solidFill>
              </a:rPr>
              <a:t>AFTER</a:t>
            </a:r>
            <a:endParaRPr lang="en-US" sz="900" dirty="0"/>
          </a:p>
        </p:txBody>
      </p:sp>
      <p:sp>
        <p:nvSpPr>
          <p:cNvPr id="13" name="Text 11"/>
          <p:cNvSpPr/>
          <p:nvPr/>
        </p:nvSpPr>
        <p:spPr>
          <a:xfrm>
            <a:off x="5486400" y="1737360"/>
            <a:ext cx="3017520" cy="914400"/>
          </a:xfrm>
          <a:prstGeom prst="rect">
            <a:avLst/>
          </a:prstGeom>
          <a:noFill/>
          <a:ln/>
        </p:spPr>
        <p:txBody>
          <a:bodyPr wrap="square" lIns="0" tIns="0" rIns="0" bIns="0" rtlCol="0" anchor="ctr"/>
          <a:lstStyle/>
          <a:p>
            <a:pPr marL="0" indent="0">
              <a:buNone/>
            </a:pPr>
            <a:r>
              <a:rPr lang="en-US" sz="1100" dirty="0">
                <a:solidFill>
                  <a:srgbClr val="1F2937"/>
                </a:solidFill>
              </a:rPr>
              <a:t>Set-3 inputs are disabled until sets 1-2 are split 1-1.</a:t>
            </a:r>
            <a:endParaRPr lang="en-US" sz="1100" dirty="0"/>
          </a:p>
        </p:txBody>
      </p:sp>
      <p:sp>
        <p:nvSpPr>
          <p:cNvPr id="14" name="Shape 12"/>
          <p:cNvSpPr/>
          <p:nvPr/>
        </p:nvSpPr>
        <p:spPr>
          <a:xfrm>
            <a:off x="457200" y="2880360"/>
            <a:ext cx="8229600" cy="1371600"/>
          </a:xfrm>
          <a:prstGeom prst="rect">
            <a:avLst/>
          </a:prstGeom>
          <a:solidFill>
            <a:srgbClr val="FFFFFF"/>
          </a:solidFill>
          <a:ln w="9525">
            <a:solidFill>
              <a:srgbClr val="CFD6DD"/>
            </a:solidFill>
            <a:prstDash val="solid"/>
          </a:ln>
        </p:spPr>
        <p:txBody>
          <a:bodyPr/>
          <a:lstStyle/>
          <a:p>
            <a:endParaRPr lang="en-US"/>
          </a:p>
        </p:txBody>
      </p:sp>
      <p:sp>
        <p:nvSpPr>
          <p:cNvPr id="15" name="Shape 13"/>
          <p:cNvSpPr/>
          <p:nvPr/>
        </p:nvSpPr>
        <p:spPr>
          <a:xfrm>
            <a:off x="457200" y="2880360"/>
            <a:ext cx="1005840" cy="1371600"/>
          </a:xfrm>
          <a:prstGeom prst="rect">
            <a:avLst/>
          </a:prstGeom>
          <a:solidFill>
            <a:srgbClr val="1E293B"/>
          </a:solidFill>
          <a:ln/>
        </p:spPr>
        <p:txBody>
          <a:bodyPr/>
          <a:lstStyle/>
          <a:p>
            <a:endParaRPr lang="en-US"/>
          </a:p>
        </p:txBody>
      </p:sp>
      <p:sp>
        <p:nvSpPr>
          <p:cNvPr id="16" name="Text 14"/>
          <p:cNvSpPr/>
          <p:nvPr/>
        </p:nvSpPr>
        <p:spPr>
          <a:xfrm>
            <a:off x="457200" y="3063240"/>
            <a:ext cx="1005840" cy="457200"/>
          </a:xfrm>
          <a:prstGeom prst="rect">
            <a:avLst/>
          </a:prstGeom>
          <a:noFill/>
          <a:ln/>
        </p:spPr>
        <p:txBody>
          <a:bodyPr wrap="square" lIns="0" tIns="0" rIns="0" bIns="0" rtlCol="0" anchor="ctr"/>
          <a:lstStyle/>
          <a:p>
            <a:pPr marL="0" indent="0" algn="ctr">
              <a:buNone/>
            </a:pPr>
            <a:r>
              <a:rPr lang="en-US" sz="2200" b="1" dirty="0">
                <a:solidFill>
                  <a:srgbClr val="FFFFFF"/>
                </a:solidFill>
              </a:rPr>
              <a:t>#6</a:t>
            </a:r>
            <a:endParaRPr lang="en-US" sz="2200" dirty="0"/>
          </a:p>
        </p:txBody>
      </p:sp>
      <p:sp>
        <p:nvSpPr>
          <p:cNvPr id="17" name="Text 15"/>
          <p:cNvSpPr/>
          <p:nvPr/>
        </p:nvSpPr>
        <p:spPr>
          <a:xfrm>
            <a:off x="457200" y="3566160"/>
            <a:ext cx="1005840" cy="594360"/>
          </a:xfrm>
          <a:prstGeom prst="rect">
            <a:avLst/>
          </a:prstGeom>
          <a:noFill/>
          <a:ln/>
        </p:spPr>
        <p:txBody>
          <a:bodyPr wrap="square" lIns="0" tIns="0" rIns="0" bIns="0" rtlCol="0" anchor="t"/>
          <a:lstStyle/>
          <a:p>
            <a:pPr marL="0" indent="0" algn="ctr">
              <a:buNone/>
            </a:pPr>
            <a:r>
              <a:rPr lang="en-US" sz="900" dirty="0">
                <a:solidFill>
                  <a:srgbClr val="FFFFFF"/>
                </a:solidFill>
              </a:rPr>
              <a:t>Recognition over recall</a:t>
            </a:r>
            <a:endParaRPr lang="en-US" sz="900" dirty="0"/>
          </a:p>
        </p:txBody>
      </p:sp>
      <p:sp>
        <p:nvSpPr>
          <p:cNvPr id="18" name="Text 16"/>
          <p:cNvSpPr/>
          <p:nvPr/>
        </p:nvSpPr>
        <p:spPr>
          <a:xfrm>
            <a:off x="1645920" y="3017520"/>
            <a:ext cx="2743200" cy="228600"/>
          </a:xfrm>
          <a:prstGeom prst="rect">
            <a:avLst/>
          </a:prstGeom>
          <a:noFill/>
          <a:ln/>
        </p:spPr>
        <p:txBody>
          <a:bodyPr wrap="square" lIns="0" tIns="0" rIns="0" bIns="0" rtlCol="0" anchor="ctr"/>
          <a:lstStyle/>
          <a:p>
            <a:pPr marL="0" indent="0">
              <a:buNone/>
            </a:pPr>
            <a:r>
              <a:rPr lang="en-US" sz="900" b="1" kern="0" spc="300" dirty="0">
                <a:solidFill>
                  <a:srgbClr val="EF4444"/>
                </a:solidFill>
              </a:rPr>
              <a:t>BEFORE</a:t>
            </a:r>
            <a:endParaRPr lang="en-US" sz="900" dirty="0"/>
          </a:p>
        </p:txBody>
      </p:sp>
      <p:sp>
        <p:nvSpPr>
          <p:cNvPr id="19" name="Text 17"/>
          <p:cNvSpPr/>
          <p:nvPr/>
        </p:nvSpPr>
        <p:spPr>
          <a:xfrm>
            <a:off x="1645920" y="3246120"/>
            <a:ext cx="3200400" cy="914400"/>
          </a:xfrm>
          <a:prstGeom prst="rect">
            <a:avLst/>
          </a:prstGeom>
          <a:noFill/>
          <a:ln/>
        </p:spPr>
        <p:txBody>
          <a:bodyPr wrap="square" lIns="0" tIns="0" rIns="0" bIns="0" rtlCol="0" anchor="ctr"/>
          <a:lstStyle/>
          <a:p>
            <a:pPr marL="0" indent="0">
              <a:buNone/>
            </a:pPr>
            <a:r>
              <a:rPr lang="en-US" sz="1100" dirty="0">
                <a:solidFill>
                  <a:srgbClr val="64748B"/>
                </a:solidFill>
              </a:rPr>
              <a:t>First sketch had filters hidden behind a 'Filters' button - user has to remember what they filtered by.</a:t>
            </a:r>
            <a:endParaRPr lang="en-US" sz="1100" dirty="0"/>
          </a:p>
        </p:txBody>
      </p:sp>
      <p:sp>
        <p:nvSpPr>
          <p:cNvPr id="20" name="Shape 18"/>
          <p:cNvSpPr/>
          <p:nvPr/>
        </p:nvSpPr>
        <p:spPr>
          <a:xfrm>
            <a:off x="5029200" y="3566160"/>
            <a:ext cx="365760" cy="0"/>
          </a:xfrm>
          <a:prstGeom prst="line">
            <a:avLst/>
          </a:prstGeom>
          <a:noFill/>
          <a:ln w="31750">
            <a:solidFill>
              <a:srgbClr val="0EA5E9"/>
            </a:solidFill>
            <a:prstDash val="solid"/>
            <a:tailEnd type="triangle"/>
          </a:ln>
        </p:spPr>
        <p:txBody>
          <a:bodyPr/>
          <a:lstStyle/>
          <a:p>
            <a:endParaRPr lang="en-US"/>
          </a:p>
        </p:txBody>
      </p:sp>
      <p:sp>
        <p:nvSpPr>
          <p:cNvPr id="21" name="Text 19"/>
          <p:cNvSpPr/>
          <p:nvPr/>
        </p:nvSpPr>
        <p:spPr>
          <a:xfrm>
            <a:off x="5486400" y="3017520"/>
            <a:ext cx="2743200" cy="228600"/>
          </a:xfrm>
          <a:prstGeom prst="rect">
            <a:avLst/>
          </a:prstGeom>
          <a:noFill/>
          <a:ln/>
        </p:spPr>
        <p:txBody>
          <a:bodyPr wrap="square" lIns="0" tIns="0" rIns="0" bIns="0" rtlCol="0" anchor="ctr"/>
          <a:lstStyle/>
          <a:p>
            <a:pPr marL="0" indent="0">
              <a:buNone/>
            </a:pPr>
            <a:r>
              <a:rPr lang="en-US" sz="900" b="1" kern="0" spc="300" dirty="0">
                <a:solidFill>
                  <a:srgbClr val="10B981"/>
                </a:solidFill>
              </a:rPr>
              <a:t>AFTER</a:t>
            </a:r>
            <a:endParaRPr lang="en-US" sz="900" dirty="0"/>
          </a:p>
        </p:txBody>
      </p:sp>
      <p:sp>
        <p:nvSpPr>
          <p:cNvPr id="22" name="Text 20"/>
          <p:cNvSpPr/>
          <p:nvPr/>
        </p:nvSpPr>
        <p:spPr>
          <a:xfrm>
            <a:off x="5486400" y="3246120"/>
            <a:ext cx="3017520" cy="914400"/>
          </a:xfrm>
          <a:prstGeom prst="rect">
            <a:avLst/>
          </a:prstGeom>
          <a:noFill/>
          <a:ln/>
        </p:spPr>
        <p:txBody>
          <a:bodyPr wrap="square" lIns="0" tIns="0" rIns="0" bIns="0" rtlCol="0" anchor="ctr"/>
          <a:lstStyle/>
          <a:p>
            <a:pPr marL="0" indent="0">
              <a:buNone/>
            </a:pPr>
            <a:r>
              <a:rPr lang="en-US" sz="1100" dirty="0">
                <a:solidFill>
                  <a:srgbClr val="1F2937"/>
                </a:solidFill>
              </a:rPr>
              <a:t>Filters live in an always-visible sidebar on the Pro Tour page.</a:t>
            </a:r>
            <a:endParaRPr lang="en-US" sz="1100" dirty="0"/>
          </a:p>
        </p:txBody>
      </p:sp>
      <p:sp>
        <p:nvSpPr>
          <p:cNvPr id="23" name="Text 21"/>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4" name="Text 22"/>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4</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Technical Implementation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Python · Streamlit · Plotly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5.1 TECH STACK &amp; ARCHITECTURE</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What's under the hood</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STACK</a:t>
            </a:r>
            <a:endParaRPr lang="en-US" sz="1000" dirty="0"/>
          </a:p>
        </p:txBody>
      </p:sp>
      <p:sp>
        <p:nvSpPr>
          <p:cNvPr id="7" name="Text 5"/>
          <p:cNvSpPr/>
          <p:nvPr/>
        </p:nvSpPr>
        <p:spPr>
          <a:xfrm>
            <a:off x="640080" y="182880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Python 3.11</a:t>
            </a:r>
            <a:endParaRPr lang="en-US" sz="1300" dirty="0"/>
          </a:p>
        </p:txBody>
      </p:sp>
      <p:sp>
        <p:nvSpPr>
          <p:cNvPr id="8" name="Text 6"/>
          <p:cNvSpPr/>
          <p:nvPr/>
        </p:nvSpPr>
        <p:spPr>
          <a:xfrm>
            <a:off x="2286000" y="1828800"/>
            <a:ext cx="2103120" cy="274320"/>
          </a:xfrm>
          <a:prstGeom prst="rect">
            <a:avLst/>
          </a:prstGeom>
          <a:noFill/>
          <a:ln/>
        </p:spPr>
        <p:txBody>
          <a:bodyPr wrap="square" lIns="0" tIns="0" rIns="0" bIns="0" rtlCol="0" anchor="ctr"/>
          <a:lstStyle/>
          <a:p>
            <a:pPr marL="0" indent="0">
              <a:buNone/>
            </a:pPr>
            <a:r>
              <a:rPr lang="en-US" sz="1100" dirty="0">
                <a:solidFill>
                  <a:srgbClr val="64748B"/>
                </a:solidFill>
              </a:rPr>
              <a:t>Language</a:t>
            </a:r>
            <a:endParaRPr lang="en-US" sz="1100" dirty="0"/>
          </a:p>
        </p:txBody>
      </p:sp>
      <p:sp>
        <p:nvSpPr>
          <p:cNvPr id="9" name="Text 7"/>
          <p:cNvSpPr/>
          <p:nvPr/>
        </p:nvSpPr>
        <p:spPr>
          <a:xfrm>
            <a:off x="640080" y="233172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Streamlit 1.32</a:t>
            </a:r>
            <a:endParaRPr lang="en-US" sz="1300" dirty="0"/>
          </a:p>
        </p:txBody>
      </p:sp>
      <p:sp>
        <p:nvSpPr>
          <p:cNvPr id="10" name="Text 8"/>
          <p:cNvSpPr/>
          <p:nvPr/>
        </p:nvSpPr>
        <p:spPr>
          <a:xfrm>
            <a:off x="2286000" y="2331720"/>
            <a:ext cx="2103120" cy="274320"/>
          </a:xfrm>
          <a:prstGeom prst="rect">
            <a:avLst/>
          </a:prstGeom>
          <a:noFill/>
          <a:ln/>
        </p:spPr>
        <p:txBody>
          <a:bodyPr wrap="square" lIns="0" tIns="0" rIns="0" bIns="0" rtlCol="0" anchor="ctr"/>
          <a:lstStyle/>
          <a:p>
            <a:pPr marL="0" indent="0">
              <a:buNone/>
            </a:pPr>
            <a:r>
              <a:rPr lang="en-US" sz="1100" dirty="0">
                <a:solidFill>
                  <a:srgbClr val="64748B"/>
                </a:solidFill>
              </a:rPr>
              <a:t>Multi-page web app framework</a:t>
            </a:r>
            <a:endParaRPr lang="en-US" sz="1100" dirty="0"/>
          </a:p>
        </p:txBody>
      </p:sp>
      <p:sp>
        <p:nvSpPr>
          <p:cNvPr id="11" name="Text 9"/>
          <p:cNvSpPr/>
          <p:nvPr/>
        </p:nvSpPr>
        <p:spPr>
          <a:xfrm>
            <a:off x="640080" y="283464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Pandas 2.x</a:t>
            </a:r>
            <a:endParaRPr lang="en-US" sz="1300" dirty="0"/>
          </a:p>
        </p:txBody>
      </p:sp>
      <p:sp>
        <p:nvSpPr>
          <p:cNvPr id="12" name="Text 10"/>
          <p:cNvSpPr/>
          <p:nvPr/>
        </p:nvSpPr>
        <p:spPr>
          <a:xfrm>
            <a:off x="2286000" y="2834640"/>
            <a:ext cx="2103120" cy="274320"/>
          </a:xfrm>
          <a:prstGeom prst="rect">
            <a:avLst/>
          </a:prstGeom>
          <a:noFill/>
          <a:ln/>
        </p:spPr>
        <p:txBody>
          <a:bodyPr wrap="square" lIns="0" tIns="0" rIns="0" bIns="0" rtlCol="0" anchor="ctr"/>
          <a:lstStyle/>
          <a:p>
            <a:pPr marL="0" indent="0">
              <a:buNone/>
            </a:pPr>
            <a:r>
              <a:rPr lang="en-US" sz="1100" dirty="0">
                <a:solidFill>
                  <a:srgbClr val="64748B"/>
                </a:solidFill>
              </a:rPr>
              <a:t>Data wrangling, groupby, rolling means</a:t>
            </a:r>
            <a:endParaRPr lang="en-US" sz="1100" dirty="0"/>
          </a:p>
        </p:txBody>
      </p:sp>
      <p:sp>
        <p:nvSpPr>
          <p:cNvPr id="13" name="Text 11"/>
          <p:cNvSpPr/>
          <p:nvPr/>
        </p:nvSpPr>
        <p:spPr>
          <a:xfrm>
            <a:off x="640080" y="333756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Plotly 5.x</a:t>
            </a:r>
            <a:endParaRPr lang="en-US" sz="1300" dirty="0"/>
          </a:p>
        </p:txBody>
      </p:sp>
      <p:sp>
        <p:nvSpPr>
          <p:cNvPr id="14" name="Text 12"/>
          <p:cNvSpPr/>
          <p:nvPr/>
        </p:nvSpPr>
        <p:spPr>
          <a:xfrm>
            <a:off x="2286000" y="3337560"/>
            <a:ext cx="2103120" cy="274320"/>
          </a:xfrm>
          <a:prstGeom prst="rect">
            <a:avLst/>
          </a:prstGeom>
          <a:noFill/>
          <a:ln/>
        </p:spPr>
        <p:txBody>
          <a:bodyPr wrap="square" lIns="0" tIns="0" rIns="0" bIns="0" rtlCol="0" anchor="ctr"/>
          <a:lstStyle/>
          <a:p>
            <a:pPr marL="0" indent="0">
              <a:buNone/>
            </a:pPr>
            <a:r>
              <a:rPr lang="en-US" sz="1100" dirty="0">
                <a:solidFill>
                  <a:srgbClr val="64748B"/>
                </a:solidFill>
              </a:rPr>
              <a:t>Interactive charts (hover, zoom, brush)</a:t>
            </a:r>
            <a:endParaRPr lang="en-US" sz="1100" dirty="0"/>
          </a:p>
        </p:txBody>
      </p:sp>
      <p:sp>
        <p:nvSpPr>
          <p:cNvPr id="15" name="Text 13"/>
          <p:cNvSpPr/>
          <p:nvPr/>
        </p:nvSpPr>
        <p:spPr>
          <a:xfrm>
            <a:off x="640080" y="3840480"/>
            <a:ext cx="1645920" cy="274320"/>
          </a:xfrm>
          <a:prstGeom prst="rect">
            <a:avLst/>
          </a:prstGeom>
          <a:noFill/>
          <a:ln/>
        </p:spPr>
        <p:txBody>
          <a:bodyPr wrap="square" lIns="0" tIns="0" rIns="0" bIns="0" rtlCol="0" anchor="ctr"/>
          <a:lstStyle/>
          <a:p>
            <a:pPr marL="0" indent="0">
              <a:buNone/>
            </a:pPr>
            <a:r>
              <a:rPr lang="en-US" sz="1300" b="1" dirty="0">
                <a:solidFill>
                  <a:srgbClr val="1F2937"/>
                </a:solidFill>
                <a:latin typeface="Courier New" pitchFamily="34" charset="0"/>
                <a:ea typeface="Courier New" pitchFamily="34" charset="-122"/>
                <a:cs typeface="Courier New" pitchFamily="34" charset="-120"/>
              </a:rPr>
              <a:t>Requests</a:t>
            </a:r>
            <a:endParaRPr lang="en-US" sz="1300" dirty="0"/>
          </a:p>
        </p:txBody>
      </p:sp>
      <p:sp>
        <p:nvSpPr>
          <p:cNvPr id="16" name="Text 14"/>
          <p:cNvSpPr/>
          <p:nvPr/>
        </p:nvSpPr>
        <p:spPr>
          <a:xfrm>
            <a:off x="2286000" y="3840480"/>
            <a:ext cx="2103120" cy="274320"/>
          </a:xfrm>
          <a:prstGeom prst="rect">
            <a:avLst/>
          </a:prstGeom>
          <a:noFill/>
          <a:ln/>
        </p:spPr>
        <p:txBody>
          <a:bodyPr wrap="square" lIns="0" tIns="0" rIns="0" bIns="0" rtlCol="0" anchor="ctr"/>
          <a:lstStyle/>
          <a:p>
            <a:pPr marL="0" indent="0">
              <a:buNone/>
            </a:pPr>
            <a:r>
              <a:rPr lang="en-US" sz="1100" dirty="0">
                <a:solidFill>
                  <a:srgbClr val="64748B"/>
                </a:solidFill>
              </a:rPr>
              <a:t>Padel API client</a:t>
            </a:r>
            <a:endParaRPr lang="en-US" sz="1100" dirty="0"/>
          </a:p>
        </p:txBody>
      </p:sp>
      <p:sp>
        <p:nvSpPr>
          <p:cNvPr id="17" name="Shape 15"/>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8" name="Text 16"/>
          <p:cNvSpPr/>
          <p:nvPr/>
        </p:nvSpPr>
        <p:spPr>
          <a:xfrm>
            <a:off x="484632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ARCHITECTURE</a:t>
            </a:r>
            <a:endParaRPr lang="en-US" sz="1000" dirty="0"/>
          </a:p>
        </p:txBody>
      </p:sp>
      <p:sp>
        <p:nvSpPr>
          <p:cNvPr id="19" name="Shape 17"/>
          <p:cNvSpPr/>
          <p:nvPr/>
        </p:nvSpPr>
        <p:spPr>
          <a:xfrm>
            <a:off x="4846320" y="1828800"/>
            <a:ext cx="1737360" cy="502920"/>
          </a:xfrm>
          <a:prstGeom prst="rect">
            <a:avLst/>
          </a:prstGeom>
          <a:solidFill>
            <a:srgbClr val="F8FAFC"/>
          </a:solidFill>
          <a:ln w="9525">
            <a:solidFill>
              <a:srgbClr val="CFD6DD"/>
            </a:solidFill>
            <a:prstDash val="solid"/>
          </a:ln>
        </p:spPr>
        <p:txBody>
          <a:bodyPr/>
          <a:lstStyle/>
          <a:p>
            <a:endParaRPr lang="en-US"/>
          </a:p>
        </p:txBody>
      </p:sp>
      <p:sp>
        <p:nvSpPr>
          <p:cNvPr id="20" name="Text 18"/>
          <p:cNvSpPr/>
          <p:nvPr/>
        </p:nvSpPr>
        <p:spPr>
          <a:xfrm>
            <a:off x="4846320" y="187452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Padel API</a:t>
            </a:r>
            <a:endParaRPr lang="en-US" sz="1000" dirty="0"/>
          </a:p>
        </p:txBody>
      </p:sp>
      <p:sp>
        <p:nvSpPr>
          <p:cNvPr id="21" name="Text 19"/>
          <p:cNvSpPr/>
          <p:nvPr/>
        </p:nvSpPr>
        <p:spPr>
          <a:xfrm>
            <a:off x="4846320" y="208483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REST + JSON</a:t>
            </a:r>
            <a:endParaRPr lang="en-US" sz="800" dirty="0"/>
          </a:p>
        </p:txBody>
      </p:sp>
      <p:sp>
        <p:nvSpPr>
          <p:cNvPr id="22" name="Shape 20"/>
          <p:cNvSpPr/>
          <p:nvPr/>
        </p:nvSpPr>
        <p:spPr>
          <a:xfrm>
            <a:off x="6766560" y="1828800"/>
            <a:ext cx="1737360" cy="502920"/>
          </a:xfrm>
          <a:prstGeom prst="rect">
            <a:avLst/>
          </a:prstGeom>
          <a:solidFill>
            <a:srgbClr val="F8FAFC"/>
          </a:solidFill>
          <a:ln w="9525">
            <a:solidFill>
              <a:srgbClr val="CFD6DD"/>
            </a:solidFill>
            <a:prstDash val="solid"/>
          </a:ln>
        </p:spPr>
        <p:txBody>
          <a:bodyPr/>
          <a:lstStyle/>
          <a:p>
            <a:endParaRPr lang="en-US"/>
          </a:p>
        </p:txBody>
      </p:sp>
      <p:sp>
        <p:nvSpPr>
          <p:cNvPr id="23" name="Text 21"/>
          <p:cNvSpPr/>
          <p:nvPr/>
        </p:nvSpPr>
        <p:spPr>
          <a:xfrm>
            <a:off x="6766560" y="187452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CSV cache</a:t>
            </a:r>
            <a:endParaRPr lang="en-US" sz="1000" dirty="0"/>
          </a:p>
        </p:txBody>
      </p:sp>
      <p:sp>
        <p:nvSpPr>
          <p:cNvPr id="24" name="Text 22"/>
          <p:cNvSpPr/>
          <p:nvPr/>
        </p:nvSpPr>
        <p:spPr>
          <a:xfrm>
            <a:off x="6766560" y="208483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offline-safe</a:t>
            </a:r>
            <a:endParaRPr lang="en-US" sz="800" dirty="0"/>
          </a:p>
        </p:txBody>
      </p:sp>
      <p:sp>
        <p:nvSpPr>
          <p:cNvPr id="25" name="Shape 23"/>
          <p:cNvSpPr/>
          <p:nvPr/>
        </p:nvSpPr>
        <p:spPr>
          <a:xfrm>
            <a:off x="6583680" y="2084832"/>
            <a:ext cx="164592" cy="0"/>
          </a:xfrm>
          <a:prstGeom prst="line">
            <a:avLst/>
          </a:prstGeom>
          <a:noFill/>
          <a:ln w="19050">
            <a:solidFill>
              <a:srgbClr val="64748B"/>
            </a:solidFill>
            <a:prstDash val="solid"/>
            <a:tailEnd type="triangle"/>
          </a:ln>
        </p:spPr>
        <p:txBody>
          <a:bodyPr/>
          <a:lstStyle/>
          <a:p>
            <a:endParaRPr lang="en-US"/>
          </a:p>
        </p:txBody>
      </p:sp>
      <p:sp>
        <p:nvSpPr>
          <p:cNvPr id="26" name="Shape 24"/>
          <p:cNvSpPr/>
          <p:nvPr/>
        </p:nvSpPr>
        <p:spPr>
          <a:xfrm>
            <a:off x="5806440" y="2606040"/>
            <a:ext cx="1737360" cy="502920"/>
          </a:xfrm>
          <a:prstGeom prst="rect">
            <a:avLst/>
          </a:prstGeom>
          <a:solidFill>
            <a:srgbClr val="F8FAFC"/>
          </a:solidFill>
          <a:ln w="9525">
            <a:solidFill>
              <a:srgbClr val="CFD6DD"/>
            </a:solidFill>
            <a:prstDash val="solid"/>
          </a:ln>
        </p:spPr>
        <p:txBody>
          <a:bodyPr/>
          <a:lstStyle/>
          <a:p>
            <a:endParaRPr lang="en-US"/>
          </a:p>
        </p:txBody>
      </p:sp>
      <p:sp>
        <p:nvSpPr>
          <p:cNvPr id="27" name="Text 25"/>
          <p:cNvSpPr/>
          <p:nvPr/>
        </p:nvSpPr>
        <p:spPr>
          <a:xfrm>
            <a:off x="5806440" y="265176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Pandas</a:t>
            </a:r>
            <a:endParaRPr lang="en-US" sz="1000" dirty="0"/>
          </a:p>
        </p:txBody>
      </p:sp>
      <p:sp>
        <p:nvSpPr>
          <p:cNvPr id="28" name="Text 26"/>
          <p:cNvSpPr/>
          <p:nvPr/>
        </p:nvSpPr>
        <p:spPr>
          <a:xfrm>
            <a:off x="5806440" y="286207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load + transform</a:t>
            </a:r>
            <a:endParaRPr lang="en-US" sz="800" dirty="0"/>
          </a:p>
        </p:txBody>
      </p:sp>
      <p:sp>
        <p:nvSpPr>
          <p:cNvPr id="29" name="Shape 27"/>
          <p:cNvSpPr/>
          <p:nvPr/>
        </p:nvSpPr>
        <p:spPr>
          <a:xfrm>
            <a:off x="5715000" y="2331720"/>
            <a:ext cx="914400" cy="274320"/>
          </a:xfrm>
          <a:prstGeom prst="line">
            <a:avLst/>
          </a:prstGeom>
          <a:noFill/>
          <a:ln w="12700">
            <a:solidFill>
              <a:srgbClr val="64748B"/>
            </a:solidFill>
            <a:prstDash val="solid"/>
            <a:tailEnd type="triangle"/>
          </a:ln>
        </p:spPr>
        <p:txBody>
          <a:bodyPr/>
          <a:lstStyle/>
          <a:p>
            <a:endParaRPr lang="en-US"/>
          </a:p>
        </p:txBody>
      </p:sp>
      <p:sp>
        <p:nvSpPr>
          <p:cNvPr id="30" name="Shape 28"/>
          <p:cNvSpPr/>
          <p:nvPr/>
        </p:nvSpPr>
        <p:spPr>
          <a:xfrm>
            <a:off x="7635240" y="2331720"/>
            <a:ext cx="0" cy="274320"/>
          </a:xfrm>
          <a:prstGeom prst="line">
            <a:avLst/>
          </a:prstGeom>
          <a:noFill/>
          <a:ln w="12700">
            <a:solidFill>
              <a:srgbClr val="64748B"/>
            </a:solidFill>
            <a:prstDash val="solid"/>
            <a:tailEnd type="triangle"/>
          </a:ln>
        </p:spPr>
        <p:txBody>
          <a:bodyPr/>
          <a:lstStyle/>
          <a:p>
            <a:endParaRPr lang="en-US"/>
          </a:p>
        </p:txBody>
      </p:sp>
      <p:sp>
        <p:nvSpPr>
          <p:cNvPr id="31" name="Shape 29"/>
          <p:cNvSpPr/>
          <p:nvPr/>
        </p:nvSpPr>
        <p:spPr>
          <a:xfrm>
            <a:off x="5806440" y="3383280"/>
            <a:ext cx="1737360" cy="502920"/>
          </a:xfrm>
          <a:prstGeom prst="rect">
            <a:avLst/>
          </a:prstGeom>
          <a:solidFill>
            <a:srgbClr val="F8FAFC"/>
          </a:solidFill>
          <a:ln w="9525">
            <a:solidFill>
              <a:srgbClr val="CFD6DD"/>
            </a:solidFill>
            <a:prstDash val="solid"/>
          </a:ln>
        </p:spPr>
        <p:txBody>
          <a:bodyPr/>
          <a:lstStyle/>
          <a:p>
            <a:endParaRPr lang="en-US"/>
          </a:p>
        </p:txBody>
      </p:sp>
      <p:sp>
        <p:nvSpPr>
          <p:cNvPr id="32" name="Text 30"/>
          <p:cNvSpPr/>
          <p:nvPr/>
        </p:nvSpPr>
        <p:spPr>
          <a:xfrm>
            <a:off x="5806440" y="3429000"/>
            <a:ext cx="1737360" cy="228600"/>
          </a:xfrm>
          <a:prstGeom prst="rect">
            <a:avLst/>
          </a:prstGeom>
          <a:noFill/>
          <a:ln/>
        </p:spPr>
        <p:txBody>
          <a:bodyPr wrap="square" lIns="0" tIns="0" rIns="0" bIns="0" rtlCol="0" anchor="ctr"/>
          <a:lstStyle/>
          <a:p>
            <a:pPr marL="0" indent="0" algn="ctr">
              <a:buNone/>
            </a:pPr>
            <a:r>
              <a:rPr lang="en-US" sz="1000" b="1" dirty="0">
                <a:solidFill>
                  <a:srgbClr val="1F2937"/>
                </a:solidFill>
              </a:rPr>
              <a:t>Plotly</a:t>
            </a:r>
            <a:endParaRPr lang="en-US" sz="1000" dirty="0"/>
          </a:p>
        </p:txBody>
      </p:sp>
      <p:sp>
        <p:nvSpPr>
          <p:cNvPr id="33" name="Text 31"/>
          <p:cNvSpPr/>
          <p:nvPr/>
        </p:nvSpPr>
        <p:spPr>
          <a:xfrm>
            <a:off x="5806440" y="3639312"/>
            <a:ext cx="1737360" cy="201168"/>
          </a:xfrm>
          <a:prstGeom prst="rect">
            <a:avLst/>
          </a:prstGeom>
          <a:noFill/>
          <a:ln/>
        </p:spPr>
        <p:txBody>
          <a:bodyPr wrap="square" lIns="0" tIns="0" rIns="0" bIns="0" rtlCol="0" anchor="ctr"/>
          <a:lstStyle/>
          <a:p>
            <a:pPr marL="0" indent="0" algn="ctr">
              <a:buNone/>
            </a:pPr>
            <a:r>
              <a:rPr lang="en-US" sz="800" i="1" dirty="0">
                <a:solidFill>
                  <a:srgbClr val="64748B"/>
                </a:solidFill>
              </a:rPr>
              <a:t>interactive</a:t>
            </a:r>
            <a:endParaRPr lang="en-US" sz="800" dirty="0"/>
          </a:p>
        </p:txBody>
      </p:sp>
      <p:sp>
        <p:nvSpPr>
          <p:cNvPr id="34" name="Shape 32"/>
          <p:cNvSpPr/>
          <p:nvPr/>
        </p:nvSpPr>
        <p:spPr>
          <a:xfrm>
            <a:off x="6675120" y="3108960"/>
            <a:ext cx="0" cy="274320"/>
          </a:xfrm>
          <a:prstGeom prst="line">
            <a:avLst/>
          </a:prstGeom>
          <a:noFill/>
          <a:ln w="12700">
            <a:solidFill>
              <a:srgbClr val="64748B"/>
            </a:solidFill>
            <a:prstDash val="solid"/>
            <a:tailEnd type="triangle"/>
          </a:ln>
        </p:spPr>
        <p:txBody>
          <a:bodyPr/>
          <a:lstStyle/>
          <a:p>
            <a:endParaRPr lang="en-US"/>
          </a:p>
        </p:txBody>
      </p:sp>
      <p:sp>
        <p:nvSpPr>
          <p:cNvPr id="35" name="Shape 33"/>
          <p:cNvSpPr/>
          <p:nvPr/>
        </p:nvSpPr>
        <p:spPr>
          <a:xfrm>
            <a:off x="4846320" y="4160520"/>
            <a:ext cx="3566160" cy="365760"/>
          </a:xfrm>
          <a:prstGeom prst="rect">
            <a:avLst/>
          </a:prstGeom>
          <a:solidFill>
            <a:srgbClr val="F8FAFC"/>
          </a:solidFill>
          <a:ln w="9525">
            <a:solidFill>
              <a:srgbClr val="CFD6DD"/>
            </a:solidFill>
            <a:prstDash val="solid"/>
          </a:ln>
        </p:spPr>
        <p:txBody>
          <a:bodyPr/>
          <a:lstStyle/>
          <a:p>
            <a:endParaRPr lang="en-US"/>
          </a:p>
        </p:txBody>
      </p:sp>
      <p:sp>
        <p:nvSpPr>
          <p:cNvPr id="36" name="Text 34"/>
          <p:cNvSpPr/>
          <p:nvPr/>
        </p:nvSpPr>
        <p:spPr>
          <a:xfrm>
            <a:off x="4846320" y="4206240"/>
            <a:ext cx="3566160" cy="228600"/>
          </a:xfrm>
          <a:prstGeom prst="rect">
            <a:avLst/>
          </a:prstGeom>
          <a:noFill/>
          <a:ln/>
        </p:spPr>
        <p:txBody>
          <a:bodyPr wrap="square" lIns="0" tIns="0" rIns="0" bIns="0" rtlCol="0" anchor="ctr"/>
          <a:lstStyle/>
          <a:p>
            <a:pPr marL="0" indent="0" algn="ctr">
              <a:buNone/>
            </a:pPr>
            <a:r>
              <a:rPr lang="en-US" sz="1000" b="1" dirty="0">
                <a:solidFill>
                  <a:srgbClr val="1F2937"/>
                </a:solidFill>
              </a:rPr>
              <a:t>Streamlit · multi-page web</a:t>
            </a:r>
            <a:endParaRPr lang="en-US" sz="1000" dirty="0"/>
          </a:p>
        </p:txBody>
      </p:sp>
      <p:sp>
        <p:nvSpPr>
          <p:cNvPr id="37" name="Shape 35"/>
          <p:cNvSpPr/>
          <p:nvPr/>
        </p:nvSpPr>
        <p:spPr>
          <a:xfrm>
            <a:off x="6675120" y="3886200"/>
            <a:ext cx="0" cy="274320"/>
          </a:xfrm>
          <a:prstGeom prst="line">
            <a:avLst/>
          </a:prstGeom>
          <a:noFill/>
          <a:ln w="12700">
            <a:solidFill>
              <a:srgbClr val="64748B"/>
            </a:solidFill>
            <a:prstDash val="solid"/>
            <a:tailEnd type="triangle"/>
          </a:ln>
        </p:spPr>
        <p:txBody>
          <a:bodyPr/>
          <a:lstStyle/>
          <a:p>
            <a:endParaRPr lang="en-US"/>
          </a:p>
        </p:txBody>
      </p:sp>
      <p:sp>
        <p:nvSpPr>
          <p:cNvPr id="38" name="Text 36"/>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9" name="Text 37"/>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5</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Data Representation</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Chart choices · Color · Interactivity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4.1 CHART INVENTORY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Nine chart types · each answers one EDA finding</a:t>
            </a:r>
            <a:endParaRPr lang="en-US" sz="2600" dirty="0"/>
          </a:p>
        </p:txBody>
      </p:sp>
      <p:sp>
        <p:nvSpPr>
          <p:cNvPr id="5" name="Shape 3"/>
          <p:cNvSpPr/>
          <p:nvPr/>
        </p:nvSpPr>
        <p:spPr>
          <a:xfrm>
            <a:off x="457200" y="1371600"/>
            <a:ext cx="8229600" cy="320040"/>
          </a:xfrm>
          <a:prstGeom prst="rect">
            <a:avLst/>
          </a:prstGeom>
          <a:solidFill>
            <a:srgbClr val="1E293B"/>
          </a:solidFill>
          <a:ln/>
        </p:spPr>
        <p:txBody>
          <a:bodyPr/>
          <a:lstStyle/>
          <a:p>
            <a:endParaRPr lang="en-US"/>
          </a:p>
        </p:txBody>
      </p:sp>
      <p:sp>
        <p:nvSpPr>
          <p:cNvPr id="6" name="Text 4"/>
          <p:cNvSpPr/>
          <p:nvPr/>
        </p:nvSpPr>
        <p:spPr>
          <a:xfrm>
            <a:off x="640080" y="1371600"/>
            <a:ext cx="27432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CHART</a:t>
            </a:r>
            <a:endParaRPr lang="en-US" sz="1000" dirty="0"/>
          </a:p>
        </p:txBody>
      </p:sp>
      <p:sp>
        <p:nvSpPr>
          <p:cNvPr id="7" name="Text 5"/>
          <p:cNvSpPr/>
          <p:nvPr/>
        </p:nvSpPr>
        <p:spPr>
          <a:xfrm>
            <a:off x="3474720" y="1371600"/>
            <a:ext cx="22860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WHERE</a:t>
            </a:r>
            <a:endParaRPr lang="en-US" sz="1000" dirty="0"/>
          </a:p>
        </p:txBody>
      </p:sp>
      <p:sp>
        <p:nvSpPr>
          <p:cNvPr id="8" name="Text 6"/>
          <p:cNvSpPr/>
          <p:nvPr/>
        </p:nvSpPr>
        <p:spPr>
          <a:xfrm>
            <a:off x="5852160" y="1371600"/>
            <a:ext cx="2743200" cy="320040"/>
          </a:xfrm>
          <a:prstGeom prst="rect">
            <a:avLst/>
          </a:prstGeom>
          <a:noFill/>
          <a:ln/>
        </p:spPr>
        <p:txBody>
          <a:bodyPr wrap="square" lIns="0" tIns="0" rIns="0" bIns="0" rtlCol="0" anchor="ctr"/>
          <a:lstStyle/>
          <a:p>
            <a:pPr marL="0" indent="0">
              <a:buNone/>
            </a:pPr>
            <a:r>
              <a:rPr lang="en-US" sz="1000" b="1" kern="0" spc="200" dirty="0">
                <a:solidFill>
                  <a:srgbClr val="FFFFFF"/>
                </a:solidFill>
              </a:rPr>
              <a:t>ANSWERS</a:t>
            </a:r>
            <a:endParaRPr lang="en-US" sz="1000" dirty="0"/>
          </a:p>
        </p:txBody>
      </p:sp>
      <p:sp>
        <p:nvSpPr>
          <p:cNvPr id="9" name="Shape 7"/>
          <p:cNvSpPr/>
          <p:nvPr/>
        </p:nvSpPr>
        <p:spPr>
          <a:xfrm>
            <a:off x="457200" y="1691640"/>
            <a:ext cx="8229600" cy="292608"/>
          </a:xfrm>
          <a:prstGeom prst="rect">
            <a:avLst/>
          </a:prstGeom>
          <a:solidFill>
            <a:srgbClr val="FFFFFF"/>
          </a:solidFill>
          <a:ln/>
        </p:spPr>
        <p:txBody>
          <a:bodyPr/>
          <a:lstStyle/>
          <a:p>
            <a:endParaRPr lang="en-US"/>
          </a:p>
        </p:txBody>
      </p:sp>
      <p:sp>
        <p:nvSpPr>
          <p:cNvPr id="10" name="Text 8"/>
          <p:cNvSpPr/>
          <p:nvPr/>
        </p:nvSpPr>
        <p:spPr>
          <a:xfrm>
            <a:off x="640080" y="1691640"/>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KPI + sparkline</a:t>
            </a:r>
            <a:endParaRPr lang="en-US" sz="1150" dirty="0"/>
          </a:p>
        </p:txBody>
      </p:sp>
      <p:sp>
        <p:nvSpPr>
          <p:cNvPr id="11" name="Text 9"/>
          <p:cNvSpPr/>
          <p:nvPr/>
        </p:nvSpPr>
        <p:spPr>
          <a:xfrm>
            <a:off x="3474720" y="1691640"/>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a:t>
            </a:r>
            <a:endParaRPr lang="en-US" sz="1100" dirty="0"/>
          </a:p>
        </p:txBody>
      </p:sp>
      <p:sp>
        <p:nvSpPr>
          <p:cNvPr id="12" name="Text 10"/>
          <p:cNvSpPr/>
          <p:nvPr/>
        </p:nvSpPr>
        <p:spPr>
          <a:xfrm>
            <a:off x="5852160" y="1691640"/>
            <a:ext cx="2743200" cy="292608"/>
          </a:xfrm>
          <a:prstGeom prst="rect">
            <a:avLst/>
          </a:prstGeom>
          <a:noFill/>
          <a:ln/>
        </p:spPr>
        <p:txBody>
          <a:bodyPr wrap="square" lIns="0" tIns="0" rIns="0" bIns="0" rtlCol="0" anchor="ctr"/>
          <a:lstStyle/>
          <a:p>
            <a:pPr marL="0" indent="0">
              <a:buNone/>
            </a:pPr>
            <a:r>
              <a:rPr lang="en-US" sz="1100" dirty="0">
                <a:solidFill>
                  <a:srgbClr val="64748B"/>
                </a:solidFill>
              </a:rPr>
              <a:t>Last-10 win rate</a:t>
            </a:r>
            <a:endParaRPr lang="en-US" sz="1100" dirty="0"/>
          </a:p>
        </p:txBody>
      </p:sp>
      <p:sp>
        <p:nvSpPr>
          <p:cNvPr id="13" name="Text 11"/>
          <p:cNvSpPr/>
          <p:nvPr/>
        </p:nvSpPr>
        <p:spPr>
          <a:xfrm>
            <a:off x="640080" y="1984248"/>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Horizontal bar</a:t>
            </a:r>
            <a:endParaRPr lang="en-US" sz="1150" dirty="0"/>
          </a:p>
        </p:txBody>
      </p:sp>
      <p:sp>
        <p:nvSpPr>
          <p:cNvPr id="14" name="Text 12"/>
          <p:cNvSpPr/>
          <p:nvPr/>
        </p:nvSpPr>
        <p:spPr>
          <a:xfrm>
            <a:off x="3474720" y="1984248"/>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 / My Stats</a:t>
            </a:r>
            <a:endParaRPr lang="en-US" sz="1100" dirty="0"/>
          </a:p>
        </p:txBody>
      </p:sp>
      <p:sp>
        <p:nvSpPr>
          <p:cNvPr id="15" name="Text 13"/>
          <p:cNvSpPr/>
          <p:nvPr/>
        </p:nvSpPr>
        <p:spPr>
          <a:xfrm>
            <a:off x="5852160" y="1984248"/>
            <a:ext cx="2743200" cy="292608"/>
          </a:xfrm>
          <a:prstGeom prst="rect">
            <a:avLst/>
          </a:prstGeom>
          <a:noFill/>
          <a:ln/>
        </p:spPr>
        <p:txBody>
          <a:bodyPr wrap="square" lIns="0" tIns="0" rIns="0" bIns="0" rtlCol="0" anchor="ctr"/>
          <a:lstStyle/>
          <a:p>
            <a:pPr marL="0" indent="0">
              <a:buNone/>
            </a:pPr>
            <a:r>
              <a:rPr lang="en-US" sz="1100" dirty="0">
                <a:solidFill>
                  <a:srgbClr val="64748B"/>
                </a:solidFill>
              </a:rPr>
              <a:t>Partner win rate</a:t>
            </a:r>
            <a:endParaRPr lang="en-US" sz="1100" dirty="0"/>
          </a:p>
        </p:txBody>
      </p:sp>
      <p:sp>
        <p:nvSpPr>
          <p:cNvPr id="16" name="Shape 14"/>
          <p:cNvSpPr/>
          <p:nvPr/>
        </p:nvSpPr>
        <p:spPr>
          <a:xfrm>
            <a:off x="457200" y="2276856"/>
            <a:ext cx="8229600" cy="292608"/>
          </a:xfrm>
          <a:prstGeom prst="rect">
            <a:avLst/>
          </a:prstGeom>
          <a:solidFill>
            <a:srgbClr val="FFFFFF"/>
          </a:solidFill>
          <a:ln/>
        </p:spPr>
        <p:txBody>
          <a:bodyPr/>
          <a:lstStyle/>
          <a:p>
            <a:endParaRPr lang="en-US"/>
          </a:p>
        </p:txBody>
      </p:sp>
      <p:sp>
        <p:nvSpPr>
          <p:cNvPr id="17" name="Text 15"/>
          <p:cNvSpPr/>
          <p:nvPr/>
        </p:nvSpPr>
        <p:spPr>
          <a:xfrm>
            <a:off x="640080" y="2276856"/>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Diverging bar</a:t>
            </a:r>
            <a:endParaRPr lang="en-US" sz="1150" dirty="0"/>
          </a:p>
        </p:txBody>
      </p:sp>
      <p:sp>
        <p:nvSpPr>
          <p:cNvPr id="18" name="Text 16"/>
          <p:cNvSpPr/>
          <p:nvPr/>
        </p:nvSpPr>
        <p:spPr>
          <a:xfrm>
            <a:off x="3474720" y="2276856"/>
            <a:ext cx="2286000" cy="292608"/>
          </a:xfrm>
          <a:prstGeom prst="rect">
            <a:avLst/>
          </a:prstGeom>
          <a:noFill/>
          <a:ln/>
        </p:spPr>
        <p:txBody>
          <a:bodyPr wrap="square" lIns="0" tIns="0" rIns="0" bIns="0" rtlCol="0" anchor="ctr"/>
          <a:lstStyle/>
          <a:p>
            <a:pPr marL="0" indent="0">
              <a:buNone/>
            </a:pPr>
            <a:r>
              <a:rPr lang="en-US" sz="1100" dirty="0">
                <a:solidFill>
                  <a:srgbClr val="64748B"/>
                </a:solidFill>
              </a:rPr>
              <a:t>Home / My Stats</a:t>
            </a:r>
            <a:endParaRPr lang="en-US" sz="1100" dirty="0"/>
          </a:p>
        </p:txBody>
      </p:sp>
      <p:sp>
        <p:nvSpPr>
          <p:cNvPr id="19" name="Text 17"/>
          <p:cNvSpPr/>
          <p:nvPr/>
        </p:nvSpPr>
        <p:spPr>
          <a:xfrm>
            <a:off x="5852160" y="2276856"/>
            <a:ext cx="2743200" cy="292608"/>
          </a:xfrm>
          <a:prstGeom prst="rect">
            <a:avLst/>
          </a:prstGeom>
          <a:noFill/>
          <a:ln/>
        </p:spPr>
        <p:txBody>
          <a:bodyPr wrap="square" lIns="0" tIns="0" rIns="0" bIns="0" rtlCol="0" anchor="ctr"/>
          <a:lstStyle/>
          <a:p>
            <a:pPr marL="0" indent="0">
              <a:buNone/>
            </a:pPr>
            <a:r>
              <a:rPr lang="en-US" sz="1100" dirty="0">
                <a:solidFill>
                  <a:srgbClr val="64748B"/>
                </a:solidFill>
              </a:rPr>
              <a:t>Shot DNA (winners − errors)</a:t>
            </a:r>
            <a:endParaRPr lang="en-US" sz="1100" dirty="0"/>
          </a:p>
        </p:txBody>
      </p:sp>
      <p:sp>
        <p:nvSpPr>
          <p:cNvPr id="20" name="Text 18"/>
          <p:cNvSpPr/>
          <p:nvPr/>
        </p:nvSpPr>
        <p:spPr>
          <a:xfrm>
            <a:off x="640080" y="2569464"/>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Ranking table + row sparkline</a:t>
            </a:r>
            <a:endParaRPr lang="en-US" sz="1150" dirty="0"/>
          </a:p>
        </p:txBody>
      </p:sp>
      <p:sp>
        <p:nvSpPr>
          <p:cNvPr id="21" name="Text 19"/>
          <p:cNvSpPr/>
          <p:nvPr/>
        </p:nvSpPr>
        <p:spPr>
          <a:xfrm>
            <a:off x="3474720" y="2569464"/>
            <a:ext cx="2286000" cy="292608"/>
          </a:xfrm>
          <a:prstGeom prst="rect">
            <a:avLst/>
          </a:prstGeom>
          <a:noFill/>
          <a:ln/>
        </p:spPr>
        <p:txBody>
          <a:bodyPr wrap="square" lIns="0" tIns="0" rIns="0" bIns="0" rtlCol="0" anchor="ctr"/>
          <a:lstStyle/>
          <a:p>
            <a:pPr marL="0" indent="0">
              <a:buNone/>
            </a:pPr>
            <a:r>
              <a:rPr lang="en-US" sz="1100" dirty="0">
                <a:solidFill>
                  <a:srgbClr val="64748B"/>
                </a:solidFill>
              </a:rPr>
              <a:t>Pro Tour</a:t>
            </a:r>
            <a:endParaRPr lang="en-US" sz="1100" dirty="0"/>
          </a:p>
        </p:txBody>
      </p:sp>
      <p:sp>
        <p:nvSpPr>
          <p:cNvPr id="22" name="Text 20"/>
          <p:cNvSpPr/>
          <p:nvPr/>
        </p:nvSpPr>
        <p:spPr>
          <a:xfrm>
            <a:off x="5852160" y="2569464"/>
            <a:ext cx="2743200" cy="292608"/>
          </a:xfrm>
          <a:prstGeom prst="rect">
            <a:avLst/>
          </a:prstGeom>
          <a:noFill/>
          <a:ln/>
        </p:spPr>
        <p:txBody>
          <a:bodyPr wrap="square" lIns="0" tIns="0" rIns="0" bIns="0" rtlCol="0" anchor="ctr"/>
          <a:lstStyle/>
          <a:p>
            <a:pPr marL="0" indent="0">
              <a:buNone/>
            </a:pPr>
            <a:r>
              <a:rPr lang="en-US" sz="1100" dirty="0">
                <a:solidFill>
                  <a:srgbClr val="64748B"/>
                </a:solidFill>
              </a:rPr>
              <a:t>Top players + form</a:t>
            </a:r>
            <a:endParaRPr lang="en-US" sz="1100" dirty="0"/>
          </a:p>
        </p:txBody>
      </p:sp>
      <p:sp>
        <p:nvSpPr>
          <p:cNvPr id="23" name="Shape 21"/>
          <p:cNvSpPr/>
          <p:nvPr/>
        </p:nvSpPr>
        <p:spPr>
          <a:xfrm>
            <a:off x="457200" y="2862072"/>
            <a:ext cx="8229600" cy="292608"/>
          </a:xfrm>
          <a:prstGeom prst="rect">
            <a:avLst/>
          </a:prstGeom>
          <a:solidFill>
            <a:srgbClr val="FFFFFF"/>
          </a:solidFill>
          <a:ln/>
        </p:spPr>
        <p:txBody>
          <a:bodyPr/>
          <a:lstStyle/>
          <a:p>
            <a:endParaRPr lang="en-US"/>
          </a:p>
        </p:txBody>
      </p:sp>
      <p:sp>
        <p:nvSpPr>
          <p:cNvPr id="24" name="Text 22"/>
          <p:cNvSpPr/>
          <p:nvPr/>
        </p:nvSpPr>
        <p:spPr>
          <a:xfrm>
            <a:off x="640080" y="2862072"/>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Small-multiples</a:t>
            </a:r>
            <a:endParaRPr lang="en-US" sz="1150" dirty="0"/>
          </a:p>
        </p:txBody>
      </p:sp>
      <p:sp>
        <p:nvSpPr>
          <p:cNvPr id="25" name="Text 23"/>
          <p:cNvSpPr/>
          <p:nvPr/>
        </p:nvSpPr>
        <p:spPr>
          <a:xfrm>
            <a:off x="3474720" y="2862072"/>
            <a:ext cx="2286000" cy="292608"/>
          </a:xfrm>
          <a:prstGeom prst="rect">
            <a:avLst/>
          </a:prstGeom>
          <a:noFill/>
          <a:ln/>
        </p:spPr>
        <p:txBody>
          <a:bodyPr wrap="square" lIns="0" tIns="0" rIns="0" bIns="0" rtlCol="0" anchor="ctr"/>
          <a:lstStyle/>
          <a:p>
            <a:pPr marL="0" indent="0">
              <a:buNone/>
            </a:pPr>
            <a:r>
              <a:rPr lang="en-US" sz="1100" dirty="0">
                <a:solidFill>
                  <a:srgbClr val="64748B"/>
                </a:solidFill>
              </a:rPr>
              <a:t>Pro Tour</a:t>
            </a:r>
            <a:endParaRPr lang="en-US" sz="1100" dirty="0"/>
          </a:p>
        </p:txBody>
      </p:sp>
      <p:sp>
        <p:nvSpPr>
          <p:cNvPr id="26" name="Text 24"/>
          <p:cNvSpPr/>
          <p:nvPr/>
        </p:nvSpPr>
        <p:spPr>
          <a:xfrm>
            <a:off x="5852160" y="2862072"/>
            <a:ext cx="2743200" cy="292608"/>
          </a:xfrm>
          <a:prstGeom prst="rect">
            <a:avLst/>
          </a:prstGeom>
          <a:noFill/>
          <a:ln/>
        </p:spPr>
        <p:txBody>
          <a:bodyPr wrap="square" lIns="0" tIns="0" rIns="0" bIns="0" rtlCol="0" anchor="ctr"/>
          <a:lstStyle/>
          <a:p>
            <a:pPr marL="0" indent="0">
              <a:buNone/>
            </a:pPr>
            <a:r>
              <a:rPr lang="en-US" sz="1100" dirty="0">
                <a:solidFill>
                  <a:srgbClr val="64748B"/>
                </a:solidFill>
              </a:rPr>
              <a:t>Surface effect</a:t>
            </a:r>
            <a:endParaRPr lang="en-US" sz="1100" dirty="0"/>
          </a:p>
        </p:txBody>
      </p:sp>
      <p:sp>
        <p:nvSpPr>
          <p:cNvPr id="27" name="Text 25"/>
          <p:cNvSpPr/>
          <p:nvPr/>
        </p:nvSpPr>
        <p:spPr>
          <a:xfrm>
            <a:off x="640080" y="3154680"/>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Rolling-mean line</a:t>
            </a:r>
            <a:endParaRPr lang="en-US" sz="1150" dirty="0"/>
          </a:p>
        </p:txBody>
      </p:sp>
      <p:sp>
        <p:nvSpPr>
          <p:cNvPr id="28" name="Text 26"/>
          <p:cNvSpPr/>
          <p:nvPr/>
        </p:nvSpPr>
        <p:spPr>
          <a:xfrm>
            <a:off x="3474720" y="3154680"/>
            <a:ext cx="2286000" cy="292608"/>
          </a:xfrm>
          <a:prstGeom prst="rect">
            <a:avLst/>
          </a:prstGeom>
          <a:noFill/>
          <a:ln/>
        </p:spPr>
        <p:txBody>
          <a:bodyPr wrap="square" lIns="0" tIns="0" rIns="0" bIns="0" rtlCol="0" anchor="ctr"/>
          <a:lstStyle/>
          <a:p>
            <a:pPr marL="0" indent="0">
              <a:buNone/>
            </a:pPr>
            <a:r>
              <a:rPr lang="en-US" sz="1100" dirty="0">
                <a:solidFill>
                  <a:srgbClr val="64748B"/>
                </a:solidFill>
              </a:rPr>
              <a:t>My Stats</a:t>
            </a:r>
            <a:endParaRPr lang="en-US" sz="1100" dirty="0"/>
          </a:p>
        </p:txBody>
      </p:sp>
      <p:sp>
        <p:nvSpPr>
          <p:cNvPr id="29" name="Text 27"/>
          <p:cNvSpPr/>
          <p:nvPr/>
        </p:nvSpPr>
        <p:spPr>
          <a:xfrm>
            <a:off x="5852160" y="3154680"/>
            <a:ext cx="2743200" cy="292608"/>
          </a:xfrm>
          <a:prstGeom prst="rect">
            <a:avLst/>
          </a:prstGeom>
          <a:noFill/>
          <a:ln/>
        </p:spPr>
        <p:txBody>
          <a:bodyPr wrap="square" lIns="0" tIns="0" rIns="0" bIns="0" rtlCol="0" anchor="ctr"/>
          <a:lstStyle/>
          <a:p>
            <a:pPr marL="0" indent="0">
              <a:buNone/>
            </a:pPr>
            <a:r>
              <a:rPr lang="en-US" sz="1100" dirty="0">
                <a:solidFill>
                  <a:srgbClr val="64748B"/>
                </a:solidFill>
              </a:rPr>
              <a:t>Win-rate trend</a:t>
            </a:r>
            <a:endParaRPr lang="en-US" sz="1100" dirty="0"/>
          </a:p>
        </p:txBody>
      </p:sp>
      <p:sp>
        <p:nvSpPr>
          <p:cNvPr id="30" name="Shape 28"/>
          <p:cNvSpPr/>
          <p:nvPr/>
        </p:nvSpPr>
        <p:spPr>
          <a:xfrm>
            <a:off x="457200" y="3447288"/>
            <a:ext cx="8229600" cy="292608"/>
          </a:xfrm>
          <a:prstGeom prst="rect">
            <a:avLst/>
          </a:prstGeom>
          <a:solidFill>
            <a:srgbClr val="FFFFFF"/>
          </a:solidFill>
          <a:ln/>
        </p:spPr>
        <p:txBody>
          <a:bodyPr/>
          <a:lstStyle/>
          <a:p>
            <a:endParaRPr lang="en-US"/>
          </a:p>
        </p:txBody>
      </p:sp>
      <p:sp>
        <p:nvSpPr>
          <p:cNvPr id="31" name="Text 29"/>
          <p:cNvSpPr/>
          <p:nvPr/>
        </p:nvSpPr>
        <p:spPr>
          <a:xfrm>
            <a:off x="640080" y="3447288"/>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Set-by-set columns</a:t>
            </a:r>
            <a:endParaRPr lang="en-US" sz="1150" dirty="0"/>
          </a:p>
        </p:txBody>
      </p:sp>
      <p:sp>
        <p:nvSpPr>
          <p:cNvPr id="32" name="Text 30"/>
          <p:cNvSpPr/>
          <p:nvPr/>
        </p:nvSpPr>
        <p:spPr>
          <a:xfrm>
            <a:off x="3474720" y="3447288"/>
            <a:ext cx="2286000" cy="292608"/>
          </a:xfrm>
          <a:prstGeom prst="rect">
            <a:avLst/>
          </a:prstGeom>
          <a:noFill/>
          <a:ln/>
        </p:spPr>
        <p:txBody>
          <a:bodyPr wrap="square" lIns="0" tIns="0" rIns="0" bIns="0" rtlCol="0" anchor="ctr"/>
          <a:lstStyle/>
          <a:p>
            <a:pPr marL="0" indent="0">
              <a:buNone/>
            </a:pPr>
            <a:r>
              <a:rPr lang="en-US" sz="1100" dirty="0">
                <a:solidFill>
                  <a:srgbClr val="64748B"/>
                </a:solidFill>
              </a:rPr>
              <a:t>My Stats</a:t>
            </a:r>
            <a:endParaRPr lang="en-US" sz="1100" dirty="0"/>
          </a:p>
        </p:txBody>
      </p:sp>
      <p:sp>
        <p:nvSpPr>
          <p:cNvPr id="33" name="Text 31"/>
          <p:cNvSpPr/>
          <p:nvPr/>
        </p:nvSpPr>
        <p:spPr>
          <a:xfrm>
            <a:off x="5852160" y="3447288"/>
            <a:ext cx="2743200" cy="292608"/>
          </a:xfrm>
          <a:prstGeom prst="rect">
            <a:avLst/>
          </a:prstGeom>
          <a:noFill/>
          <a:ln/>
        </p:spPr>
        <p:txBody>
          <a:bodyPr wrap="square" lIns="0" tIns="0" rIns="0" bIns="0" rtlCol="0" anchor="ctr"/>
          <a:lstStyle/>
          <a:p>
            <a:pPr marL="0" indent="0">
              <a:buNone/>
            </a:pPr>
            <a:r>
              <a:rPr lang="en-US" sz="1100" dirty="0">
                <a:solidFill>
                  <a:srgbClr val="64748B"/>
                </a:solidFill>
              </a:rPr>
              <a:t>Fatigue (2-set vs 3-set)</a:t>
            </a:r>
            <a:endParaRPr lang="en-US" sz="1100" dirty="0"/>
          </a:p>
        </p:txBody>
      </p:sp>
      <p:sp>
        <p:nvSpPr>
          <p:cNvPr id="34" name="Text 32"/>
          <p:cNvSpPr/>
          <p:nvPr/>
        </p:nvSpPr>
        <p:spPr>
          <a:xfrm>
            <a:off x="640080" y="3739896"/>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Radar overlay</a:t>
            </a:r>
            <a:endParaRPr lang="en-US" sz="1150" dirty="0"/>
          </a:p>
        </p:txBody>
      </p:sp>
      <p:sp>
        <p:nvSpPr>
          <p:cNvPr id="35" name="Text 33"/>
          <p:cNvSpPr/>
          <p:nvPr/>
        </p:nvSpPr>
        <p:spPr>
          <a:xfrm>
            <a:off x="3474720" y="3739896"/>
            <a:ext cx="2286000" cy="292608"/>
          </a:xfrm>
          <a:prstGeom prst="rect">
            <a:avLst/>
          </a:prstGeom>
          <a:noFill/>
          <a:ln/>
        </p:spPr>
        <p:txBody>
          <a:bodyPr wrap="square" lIns="0" tIns="0" rIns="0" bIns="0" rtlCol="0" anchor="ctr"/>
          <a:lstStyle/>
          <a:p>
            <a:pPr marL="0" indent="0">
              <a:buNone/>
            </a:pPr>
            <a:r>
              <a:rPr lang="en-US" sz="1100" dirty="0">
                <a:solidFill>
                  <a:srgbClr val="64748B"/>
                </a:solidFill>
              </a:rPr>
              <a:t>Compare</a:t>
            </a:r>
            <a:endParaRPr lang="en-US" sz="1100" dirty="0"/>
          </a:p>
        </p:txBody>
      </p:sp>
      <p:sp>
        <p:nvSpPr>
          <p:cNvPr id="36" name="Text 34"/>
          <p:cNvSpPr/>
          <p:nvPr/>
        </p:nvSpPr>
        <p:spPr>
          <a:xfrm>
            <a:off x="5852160" y="3739896"/>
            <a:ext cx="2743200" cy="292608"/>
          </a:xfrm>
          <a:prstGeom prst="rect">
            <a:avLst/>
          </a:prstGeom>
          <a:noFill/>
          <a:ln/>
        </p:spPr>
        <p:txBody>
          <a:bodyPr wrap="square" lIns="0" tIns="0" rIns="0" bIns="0" rtlCol="0" anchor="ctr"/>
          <a:lstStyle/>
          <a:p>
            <a:pPr marL="0" indent="0">
              <a:buNone/>
            </a:pPr>
            <a:r>
              <a:rPr lang="en-US" sz="1100" dirty="0">
                <a:solidFill>
                  <a:srgbClr val="64748B"/>
                </a:solidFill>
              </a:rPr>
              <a:t>You vs pro shot mix</a:t>
            </a:r>
            <a:endParaRPr lang="en-US" sz="1100" dirty="0"/>
          </a:p>
        </p:txBody>
      </p:sp>
      <p:sp>
        <p:nvSpPr>
          <p:cNvPr id="37" name="Shape 35"/>
          <p:cNvSpPr/>
          <p:nvPr/>
        </p:nvSpPr>
        <p:spPr>
          <a:xfrm>
            <a:off x="457200" y="4032504"/>
            <a:ext cx="8229600" cy="292608"/>
          </a:xfrm>
          <a:prstGeom prst="rect">
            <a:avLst/>
          </a:prstGeom>
          <a:solidFill>
            <a:srgbClr val="FFFFFF"/>
          </a:solidFill>
          <a:ln/>
        </p:spPr>
        <p:txBody>
          <a:bodyPr/>
          <a:lstStyle/>
          <a:p>
            <a:endParaRPr lang="en-US"/>
          </a:p>
        </p:txBody>
      </p:sp>
      <p:sp>
        <p:nvSpPr>
          <p:cNvPr id="38" name="Text 36"/>
          <p:cNvSpPr/>
          <p:nvPr/>
        </p:nvSpPr>
        <p:spPr>
          <a:xfrm>
            <a:off x="640080" y="4032504"/>
            <a:ext cx="2743200" cy="292608"/>
          </a:xfrm>
          <a:prstGeom prst="rect">
            <a:avLst/>
          </a:prstGeom>
          <a:noFill/>
          <a:ln/>
        </p:spPr>
        <p:txBody>
          <a:bodyPr wrap="square" lIns="0" tIns="0" rIns="0" bIns="0" rtlCol="0" anchor="ctr"/>
          <a:lstStyle/>
          <a:p>
            <a:pPr marL="0" indent="0">
              <a:buNone/>
            </a:pPr>
            <a:r>
              <a:rPr lang="en-US" sz="1150" b="1" dirty="0">
                <a:solidFill>
                  <a:srgbClr val="1F2937"/>
                </a:solidFill>
              </a:rPr>
              <a:t>Inline annotations</a:t>
            </a:r>
            <a:endParaRPr lang="en-US" sz="1150" dirty="0"/>
          </a:p>
        </p:txBody>
      </p:sp>
      <p:sp>
        <p:nvSpPr>
          <p:cNvPr id="39" name="Text 37"/>
          <p:cNvSpPr/>
          <p:nvPr/>
        </p:nvSpPr>
        <p:spPr>
          <a:xfrm>
            <a:off x="3474720" y="4032504"/>
            <a:ext cx="2286000" cy="292608"/>
          </a:xfrm>
          <a:prstGeom prst="rect">
            <a:avLst/>
          </a:prstGeom>
          <a:noFill/>
          <a:ln/>
        </p:spPr>
        <p:txBody>
          <a:bodyPr wrap="square" lIns="0" tIns="0" rIns="0" bIns="0" rtlCol="0" anchor="ctr"/>
          <a:lstStyle/>
          <a:p>
            <a:pPr marL="0" indent="0">
              <a:buNone/>
            </a:pPr>
            <a:r>
              <a:rPr lang="en-US" sz="1100" dirty="0">
                <a:solidFill>
                  <a:srgbClr val="64748B"/>
                </a:solidFill>
              </a:rPr>
              <a:t>All pages</a:t>
            </a:r>
            <a:endParaRPr lang="en-US" sz="1100" dirty="0"/>
          </a:p>
        </p:txBody>
      </p:sp>
      <p:sp>
        <p:nvSpPr>
          <p:cNvPr id="40" name="Text 38"/>
          <p:cNvSpPr/>
          <p:nvPr/>
        </p:nvSpPr>
        <p:spPr>
          <a:xfrm>
            <a:off x="5852160" y="4032504"/>
            <a:ext cx="2743200" cy="292608"/>
          </a:xfrm>
          <a:prstGeom prst="rect">
            <a:avLst/>
          </a:prstGeom>
          <a:noFill/>
          <a:ln/>
        </p:spPr>
        <p:txBody>
          <a:bodyPr wrap="square" lIns="0" tIns="0" rIns="0" bIns="0" rtlCol="0" anchor="ctr"/>
          <a:lstStyle/>
          <a:p>
            <a:pPr marL="0" indent="0">
              <a:buNone/>
            </a:pPr>
            <a:r>
              <a:rPr lang="en-US" sz="1100" dirty="0">
                <a:solidFill>
                  <a:srgbClr val="64748B"/>
                </a:solidFill>
              </a:rPr>
              <a:t>Headline numbers</a:t>
            </a:r>
            <a:endParaRPr lang="en-US" sz="1100" dirty="0"/>
          </a:p>
        </p:txBody>
      </p:sp>
      <p:sp>
        <p:nvSpPr>
          <p:cNvPr id="41" name="Text 39"/>
          <p:cNvSpPr/>
          <p:nvPr/>
        </p:nvSpPr>
        <p:spPr>
          <a:xfrm>
            <a:off x="457200" y="4572000"/>
            <a:ext cx="8229600" cy="274320"/>
          </a:xfrm>
          <a:prstGeom prst="rect">
            <a:avLst/>
          </a:prstGeom>
          <a:noFill/>
          <a:ln/>
        </p:spPr>
        <p:txBody>
          <a:bodyPr wrap="square" lIns="0" tIns="0" rIns="0" bIns="0" rtlCol="0" anchor="ctr"/>
          <a:lstStyle/>
          <a:p>
            <a:pPr marL="0" indent="0">
              <a:buNone/>
            </a:pPr>
            <a:r>
              <a:rPr lang="en-US" sz="1000" i="1" dirty="0">
                <a:solidFill>
                  <a:srgbClr val="9AA3AD"/>
                </a:solidFill>
                <a:latin typeface="Calibri" pitchFamily="34" charset="0"/>
                <a:ea typeface="Calibri" pitchFamily="34" charset="-122"/>
                <a:cs typeface="Calibri" pitchFamily="34" charset="-120"/>
              </a:rPr>
              <a:t>Rejected: pie charts, court heatmaps, Sankeys, 3D bars, animated rankings. Each lost head-to-head against a simpler alternative.</a:t>
            </a:r>
            <a:endParaRPr lang="en-US" sz="1000" dirty="0"/>
          </a:p>
        </p:txBody>
      </p:sp>
      <p:sp>
        <p:nvSpPr>
          <p:cNvPr id="42" name="Text 4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43" name="Text 4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4.2 CASE STUDY</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Why a diverging bar for shot DNA?</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900" b="1" kern="0" spc="300" dirty="0">
                <a:solidFill>
                  <a:srgbClr val="0EA5E9"/>
                </a:solidFill>
              </a:rPr>
              <a:t>THE QUESTION</a:t>
            </a:r>
            <a:endParaRPr lang="en-US" sz="900" dirty="0"/>
          </a:p>
        </p:txBody>
      </p:sp>
      <p:sp>
        <p:nvSpPr>
          <p:cNvPr id="7" name="Text 5"/>
          <p:cNvSpPr/>
          <p:nvPr/>
        </p:nvSpPr>
        <p:spPr>
          <a:xfrm>
            <a:off x="640080" y="1783080"/>
            <a:ext cx="3657600" cy="640080"/>
          </a:xfrm>
          <a:prstGeom prst="rect">
            <a:avLst/>
          </a:prstGeom>
          <a:noFill/>
          <a:ln/>
        </p:spPr>
        <p:txBody>
          <a:bodyPr wrap="square" lIns="0" tIns="0" rIns="0" bIns="0" rtlCol="0" anchor="ctr"/>
          <a:lstStyle/>
          <a:p>
            <a:pPr marL="0" indent="0">
              <a:buNone/>
            </a:pPr>
            <a:r>
              <a:rPr lang="en-US" sz="1500" b="1" dirty="0">
                <a:solidFill>
                  <a:srgbClr val="1F2937"/>
                </a:solidFill>
              </a:rPr>
              <a:t>Which shots win me points, which bleed them?</a:t>
            </a:r>
            <a:endParaRPr lang="en-US" sz="1500" dirty="0"/>
          </a:p>
        </p:txBody>
      </p:sp>
      <p:sp>
        <p:nvSpPr>
          <p:cNvPr id="8" name="Text 6"/>
          <p:cNvSpPr/>
          <p:nvPr/>
        </p:nvSpPr>
        <p:spPr>
          <a:xfrm>
            <a:off x="640080" y="2468880"/>
            <a:ext cx="3657600" cy="548640"/>
          </a:xfrm>
          <a:prstGeom prst="rect">
            <a:avLst/>
          </a:prstGeom>
          <a:noFill/>
          <a:ln/>
        </p:spPr>
        <p:txBody>
          <a:bodyPr wrap="square" lIns="0" tIns="0" rIns="0" bIns="0" rtlCol="0" anchor="ctr"/>
          <a:lstStyle/>
          <a:p>
            <a:pPr marL="0" indent="0">
              <a:buNone/>
            </a:pPr>
            <a:r>
              <a:rPr lang="en-US" sz="1100" i="1" dirty="0">
                <a:solidFill>
                  <a:srgbClr val="64748B"/>
                </a:solidFill>
              </a:rPr>
              <a:t>The question is signed. Some shots are net positive, others net negative.</a:t>
            </a:r>
            <a:endParaRPr lang="en-US" sz="1100" dirty="0"/>
          </a:p>
        </p:txBody>
      </p:sp>
      <p:sp>
        <p:nvSpPr>
          <p:cNvPr id="9" name="Text 7"/>
          <p:cNvSpPr/>
          <p:nvPr/>
        </p:nvSpPr>
        <p:spPr>
          <a:xfrm>
            <a:off x="640080" y="3063240"/>
            <a:ext cx="3657600" cy="228600"/>
          </a:xfrm>
          <a:prstGeom prst="rect">
            <a:avLst/>
          </a:prstGeom>
          <a:noFill/>
          <a:ln/>
        </p:spPr>
        <p:txBody>
          <a:bodyPr wrap="square" lIns="0" tIns="0" rIns="0" bIns="0" rtlCol="0" anchor="ctr"/>
          <a:lstStyle/>
          <a:p>
            <a:pPr marL="0" indent="0">
              <a:buNone/>
            </a:pPr>
            <a:r>
              <a:rPr lang="en-US" sz="900" b="1" kern="0" spc="300" dirty="0">
                <a:solidFill>
                  <a:srgbClr val="64748B"/>
                </a:solidFill>
              </a:rPr>
              <a:t>CONSIDERED:</a:t>
            </a:r>
            <a:endParaRPr lang="en-US" sz="900" dirty="0"/>
          </a:p>
        </p:txBody>
      </p:sp>
      <p:sp>
        <p:nvSpPr>
          <p:cNvPr id="10" name="Text 8"/>
          <p:cNvSpPr/>
          <p:nvPr/>
        </p:nvSpPr>
        <p:spPr>
          <a:xfrm>
            <a:off x="640080" y="3291840"/>
            <a:ext cx="3657600" cy="1188720"/>
          </a:xfrm>
          <a:prstGeom prst="rect">
            <a:avLst/>
          </a:prstGeom>
          <a:noFill/>
          <a:ln/>
        </p:spPr>
        <p:txBody>
          <a:bodyPr wrap="square" lIns="0" tIns="0" rIns="0" bIns="0" rtlCol="0" anchor="ctr"/>
          <a:lstStyle/>
          <a:p>
            <a:pPr marL="0" indent="0">
              <a:spcAft>
                <a:spcPts val="300"/>
              </a:spcAft>
              <a:buNone/>
            </a:pPr>
            <a:r>
              <a:rPr lang="en-US" sz="1150" dirty="0">
                <a:solidFill>
                  <a:srgbClr val="EF4444"/>
                </a:solidFill>
              </a:rPr>
              <a:t>Pie of shot share - hides the zero line.</a:t>
            </a:r>
            <a:endParaRPr lang="en-US" sz="1150" dirty="0"/>
          </a:p>
          <a:p>
            <a:pPr marL="0" indent="0">
              <a:spcAft>
                <a:spcPts val="300"/>
              </a:spcAft>
              <a:buNone/>
            </a:pPr>
            <a:r>
              <a:rPr lang="en-US" sz="1150" dirty="0">
                <a:solidFill>
                  <a:srgbClr val="EF4444"/>
                </a:solidFill>
              </a:rPr>
              <a:t>Stacked bar - needs eye traversal.</a:t>
            </a:r>
            <a:endParaRPr lang="en-US" sz="1150" dirty="0"/>
          </a:p>
          <a:p>
            <a:pPr marL="0" indent="0">
              <a:spcAft>
                <a:spcPts val="300"/>
              </a:spcAft>
              <a:buNone/>
            </a:pPr>
            <a:r>
              <a:rPr lang="en-US" sz="1150" dirty="0">
                <a:solidFill>
                  <a:srgbClr val="EF4444"/>
                </a:solidFill>
              </a:rPr>
              <a:t>Two side-by-side bar charts - same problem.</a:t>
            </a:r>
            <a:endParaRPr lang="en-US" sz="1150" dirty="0"/>
          </a:p>
          <a:p>
            <a:pPr marL="0" indent="0">
              <a:spcAft>
                <a:spcPts val="300"/>
              </a:spcAft>
              <a:buNone/>
            </a:pPr>
            <a:r>
              <a:rPr lang="en-US" sz="1150" b="1" dirty="0">
                <a:solidFill>
                  <a:srgbClr val="10B981"/>
                </a:solidFill>
              </a:rPr>
              <a:t>Diverging bar - chosen.</a:t>
            </a:r>
            <a:endParaRPr lang="en-US" sz="1150" dirty="0"/>
          </a:p>
        </p:txBody>
      </p:sp>
      <p:sp>
        <p:nvSpPr>
          <p:cNvPr id="11" name="Shape 9"/>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12" name="Text 10"/>
          <p:cNvSpPr/>
          <p:nvPr/>
        </p:nvSpPr>
        <p:spPr>
          <a:xfrm>
            <a:off x="4846320" y="1508760"/>
            <a:ext cx="3657600" cy="274320"/>
          </a:xfrm>
          <a:prstGeom prst="rect">
            <a:avLst/>
          </a:prstGeom>
          <a:noFill/>
          <a:ln/>
        </p:spPr>
        <p:txBody>
          <a:bodyPr wrap="square" lIns="0" tIns="0" rIns="0" bIns="0" rtlCol="0" anchor="ctr"/>
          <a:lstStyle/>
          <a:p>
            <a:pPr marL="0" indent="0">
              <a:buNone/>
            </a:pPr>
            <a:r>
              <a:rPr lang="en-US" sz="900" b="1" kern="0" spc="300" dirty="0">
                <a:solidFill>
                  <a:srgbClr val="64748B"/>
                </a:solidFill>
              </a:rPr>
              <a:t>YOUR SHOT DNA · 40 MATCHES</a:t>
            </a:r>
            <a:endParaRPr lang="en-US" sz="900" dirty="0"/>
          </a:p>
        </p:txBody>
      </p:sp>
      <p:sp>
        <p:nvSpPr>
          <p:cNvPr id="13" name="Shape 11"/>
          <p:cNvSpPr/>
          <p:nvPr/>
        </p:nvSpPr>
        <p:spPr>
          <a:xfrm>
            <a:off x="7498080" y="1874520"/>
            <a:ext cx="0" cy="2286000"/>
          </a:xfrm>
          <a:prstGeom prst="line">
            <a:avLst/>
          </a:prstGeom>
          <a:noFill/>
          <a:ln w="6350">
            <a:solidFill>
              <a:srgbClr val="64748B"/>
            </a:solidFill>
            <a:prstDash val="solid"/>
          </a:ln>
        </p:spPr>
        <p:txBody>
          <a:bodyPr/>
          <a:lstStyle/>
          <a:p>
            <a:endParaRPr lang="en-US"/>
          </a:p>
        </p:txBody>
      </p:sp>
      <p:sp>
        <p:nvSpPr>
          <p:cNvPr id="14" name="Text 12"/>
          <p:cNvSpPr/>
          <p:nvPr/>
        </p:nvSpPr>
        <p:spPr>
          <a:xfrm>
            <a:off x="7360920" y="4160520"/>
            <a:ext cx="274320" cy="182880"/>
          </a:xfrm>
          <a:prstGeom prst="rect">
            <a:avLst/>
          </a:prstGeom>
          <a:noFill/>
          <a:ln/>
        </p:spPr>
        <p:txBody>
          <a:bodyPr wrap="square" lIns="0" tIns="0" rIns="0" bIns="0" rtlCol="0" anchor="ctr"/>
          <a:lstStyle/>
          <a:p>
            <a:pPr marL="0" indent="0" algn="ctr">
              <a:buNone/>
            </a:pPr>
            <a:r>
              <a:rPr lang="en-US" sz="900" dirty="0">
                <a:solidFill>
                  <a:srgbClr val="64748B"/>
                </a:solidFill>
              </a:rPr>
              <a:t>0</a:t>
            </a:r>
            <a:endParaRPr lang="en-US" sz="900" dirty="0"/>
          </a:p>
        </p:txBody>
      </p:sp>
      <p:sp>
        <p:nvSpPr>
          <p:cNvPr id="15" name="Text 13"/>
          <p:cNvSpPr/>
          <p:nvPr/>
        </p:nvSpPr>
        <p:spPr>
          <a:xfrm>
            <a:off x="4800600" y="196596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Bandeja</a:t>
            </a:r>
            <a:endParaRPr lang="en-US" sz="1100" dirty="0"/>
          </a:p>
        </p:txBody>
      </p:sp>
      <p:sp>
        <p:nvSpPr>
          <p:cNvPr id="16" name="Shape 14"/>
          <p:cNvSpPr/>
          <p:nvPr/>
        </p:nvSpPr>
        <p:spPr>
          <a:xfrm>
            <a:off x="7498080" y="2011680"/>
            <a:ext cx="643738" cy="201168"/>
          </a:xfrm>
          <a:prstGeom prst="rect">
            <a:avLst/>
          </a:prstGeom>
          <a:solidFill>
            <a:srgbClr val="0EA5E9"/>
          </a:solidFill>
          <a:ln/>
        </p:spPr>
        <p:txBody>
          <a:bodyPr/>
          <a:lstStyle/>
          <a:p>
            <a:endParaRPr lang="en-US"/>
          </a:p>
        </p:txBody>
      </p:sp>
      <p:sp>
        <p:nvSpPr>
          <p:cNvPr id="17" name="Text 15"/>
          <p:cNvSpPr/>
          <p:nvPr/>
        </p:nvSpPr>
        <p:spPr>
          <a:xfrm>
            <a:off x="8178394" y="1965960"/>
            <a:ext cx="502920" cy="274320"/>
          </a:xfrm>
          <a:prstGeom prst="rect">
            <a:avLst/>
          </a:prstGeom>
          <a:noFill/>
          <a:ln/>
        </p:spPr>
        <p:txBody>
          <a:bodyPr wrap="square" lIns="0" tIns="0" rIns="0" bIns="0" rtlCol="0" anchor="ctr"/>
          <a:lstStyle/>
          <a:p>
            <a:pPr marL="0" indent="0">
              <a:buNone/>
            </a:pPr>
            <a:r>
              <a:rPr lang="en-US" sz="1000" dirty="0">
                <a:solidFill>
                  <a:srgbClr val="1F2937"/>
                </a:solidFill>
              </a:rPr>
              <a:t>+176</a:t>
            </a:r>
            <a:endParaRPr lang="en-US" sz="1000" dirty="0"/>
          </a:p>
        </p:txBody>
      </p:sp>
      <p:sp>
        <p:nvSpPr>
          <p:cNvPr id="18" name="Text 16"/>
          <p:cNvSpPr/>
          <p:nvPr/>
        </p:nvSpPr>
        <p:spPr>
          <a:xfrm>
            <a:off x="4800600" y="233172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Forehand</a:t>
            </a:r>
            <a:endParaRPr lang="en-US" sz="1100" dirty="0"/>
          </a:p>
        </p:txBody>
      </p:sp>
      <p:sp>
        <p:nvSpPr>
          <p:cNvPr id="19" name="Shape 17"/>
          <p:cNvSpPr/>
          <p:nvPr/>
        </p:nvSpPr>
        <p:spPr>
          <a:xfrm>
            <a:off x="7498080" y="2377440"/>
            <a:ext cx="318211" cy="201168"/>
          </a:xfrm>
          <a:prstGeom prst="rect">
            <a:avLst/>
          </a:prstGeom>
          <a:solidFill>
            <a:srgbClr val="0EA5E9"/>
          </a:solidFill>
          <a:ln/>
        </p:spPr>
        <p:txBody>
          <a:bodyPr/>
          <a:lstStyle/>
          <a:p>
            <a:endParaRPr lang="en-US"/>
          </a:p>
        </p:txBody>
      </p:sp>
      <p:sp>
        <p:nvSpPr>
          <p:cNvPr id="20" name="Text 18"/>
          <p:cNvSpPr/>
          <p:nvPr/>
        </p:nvSpPr>
        <p:spPr>
          <a:xfrm>
            <a:off x="7852867" y="2331720"/>
            <a:ext cx="502920" cy="274320"/>
          </a:xfrm>
          <a:prstGeom prst="rect">
            <a:avLst/>
          </a:prstGeom>
          <a:noFill/>
          <a:ln/>
        </p:spPr>
        <p:txBody>
          <a:bodyPr wrap="square" lIns="0" tIns="0" rIns="0" bIns="0" rtlCol="0" anchor="ctr"/>
          <a:lstStyle/>
          <a:p>
            <a:pPr marL="0" indent="0">
              <a:buNone/>
            </a:pPr>
            <a:r>
              <a:rPr lang="en-US" sz="1000" dirty="0">
                <a:solidFill>
                  <a:srgbClr val="1F2937"/>
                </a:solidFill>
              </a:rPr>
              <a:t>+87</a:t>
            </a:r>
            <a:endParaRPr lang="en-US" sz="1000" dirty="0"/>
          </a:p>
        </p:txBody>
      </p:sp>
      <p:sp>
        <p:nvSpPr>
          <p:cNvPr id="21" name="Text 19"/>
          <p:cNvSpPr/>
          <p:nvPr/>
        </p:nvSpPr>
        <p:spPr>
          <a:xfrm>
            <a:off x="4800600" y="269748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Volley</a:t>
            </a:r>
            <a:endParaRPr lang="en-US" sz="1100" dirty="0"/>
          </a:p>
        </p:txBody>
      </p:sp>
      <p:sp>
        <p:nvSpPr>
          <p:cNvPr id="22" name="Shape 20"/>
          <p:cNvSpPr/>
          <p:nvPr/>
        </p:nvSpPr>
        <p:spPr>
          <a:xfrm>
            <a:off x="7498080" y="2743200"/>
            <a:ext cx="314554" cy="201168"/>
          </a:xfrm>
          <a:prstGeom prst="rect">
            <a:avLst/>
          </a:prstGeom>
          <a:solidFill>
            <a:srgbClr val="0EA5E9"/>
          </a:solidFill>
          <a:ln/>
        </p:spPr>
        <p:txBody>
          <a:bodyPr/>
          <a:lstStyle/>
          <a:p>
            <a:endParaRPr lang="en-US"/>
          </a:p>
        </p:txBody>
      </p:sp>
      <p:sp>
        <p:nvSpPr>
          <p:cNvPr id="23" name="Text 21"/>
          <p:cNvSpPr/>
          <p:nvPr/>
        </p:nvSpPr>
        <p:spPr>
          <a:xfrm>
            <a:off x="7849210" y="2697480"/>
            <a:ext cx="502920" cy="274320"/>
          </a:xfrm>
          <a:prstGeom prst="rect">
            <a:avLst/>
          </a:prstGeom>
          <a:noFill/>
          <a:ln/>
        </p:spPr>
        <p:txBody>
          <a:bodyPr wrap="square" lIns="0" tIns="0" rIns="0" bIns="0" rtlCol="0" anchor="ctr"/>
          <a:lstStyle/>
          <a:p>
            <a:pPr marL="0" indent="0">
              <a:buNone/>
            </a:pPr>
            <a:r>
              <a:rPr lang="en-US" sz="1000" dirty="0">
                <a:solidFill>
                  <a:srgbClr val="1F2937"/>
                </a:solidFill>
              </a:rPr>
              <a:t>+86</a:t>
            </a:r>
            <a:endParaRPr lang="en-US" sz="1000" dirty="0"/>
          </a:p>
        </p:txBody>
      </p:sp>
      <p:sp>
        <p:nvSpPr>
          <p:cNvPr id="24" name="Text 22"/>
          <p:cNvSpPr/>
          <p:nvPr/>
        </p:nvSpPr>
        <p:spPr>
          <a:xfrm>
            <a:off x="4800600" y="306324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Backhand</a:t>
            </a:r>
            <a:endParaRPr lang="en-US" sz="1100" dirty="0"/>
          </a:p>
        </p:txBody>
      </p:sp>
      <p:sp>
        <p:nvSpPr>
          <p:cNvPr id="25" name="Shape 23"/>
          <p:cNvSpPr/>
          <p:nvPr/>
        </p:nvSpPr>
        <p:spPr>
          <a:xfrm>
            <a:off x="7070141" y="3108960"/>
            <a:ext cx="427939" cy="201168"/>
          </a:xfrm>
          <a:prstGeom prst="rect">
            <a:avLst/>
          </a:prstGeom>
          <a:solidFill>
            <a:srgbClr val="EF4444"/>
          </a:solidFill>
          <a:ln/>
        </p:spPr>
        <p:txBody>
          <a:bodyPr/>
          <a:lstStyle/>
          <a:p>
            <a:endParaRPr lang="en-US"/>
          </a:p>
        </p:txBody>
      </p:sp>
      <p:sp>
        <p:nvSpPr>
          <p:cNvPr id="26" name="Text 24"/>
          <p:cNvSpPr/>
          <p:nvPr/>
        </p:nvSpPr>
        <p:spPr>
          <a:xfrm>
            <a:off x="5715000" y="3063240"/>
            <a:ext cx="1309421" cy="274320"/>
          </a:xfrm>
          <a:prstGeom prst="rect">
            <a:avLst/>
          </a:prstGeom>
          <a:noFill/>
          <a:ln/>
        </p:spPr>
        <p:txBody>
          <a:bodyPr wrap="square" lIns="0" tIns="0" rIns="0" bIns="0" rtlCol="0" anchor="ctr"/>
          <a:lstStyle/>
          <a:p>
            <a:pPr marL="0" indent="0" algn="r">
              <a:buNone/>
            </a:pPr>
            <a:r>
              <a:rPr lang="en-US" sz="1000" dirty="0">
                <a:solidFill>
                  <a:srgbClr val="EF4444"/>
                </a:solidFill>
              </a:rPr>
              <a:t>-117</a:t>
            </a:r>
            <a:endParaRPr lang="en-US" sz="1000" dirty="0"/>
          </a:p>
        </p:txBody>
      </p:sp>
      <p:sp>
        <p:nvSpPr>
          <p:cNvPr id="27" name="Text 25"/>
          <p:cNvSpPr/>
          <p:nvPr/>
        </p:nvSpPr>
        <p:spPr>
          <a:xfrm>
            <a:off x="4800600" y="3429000"/>
            <a:ext cx="822960" cy="274320"/>
          </a:xfrm>
          <a:prstGeom prst="rect">
            <a:avLst/>
          </a:prstGeom>
          <a:noFill/>
          <a:ln/>
        </p:spPr>
        <p:txBody>
          <a:bodyPr wrap="square" lIns="0" tIns="0" rIns="0" bIns="0" rtlCol="0" anchor="ctr"/>
          <a:lstStyle/>
          <a:p>
            <a:pPr marL="0" indent="0" algn="r">
              <a:buNone/>
            </a:pPr>
            <a:r>
              <a:rPr lang="en-US" sz="1100" dirty="0">
                <a:solidFill>
                  <a:srgbClr val="1F2937"/>
                </a:solidFill>
              </a:rPr>
              <a:t>Smash</a:t>
            </a:r>
            <a:endParaRPr lang="en-US" sz="1100" dirty="0"/>
          </a:p>
        </p:txBody>
      </p:sp>
      <p:sp>
        <p:nvSpPr>
          <p:cNvPr id="28" name="Shape 26"/>
          <p:cNvSpPr/>
          <p:nvPr/>
        </p:nvSpPr>
        <p:spPr>
          <a:xfrm>
            <a:off x="6876288" y="3474720"/>
            <a:ext cx="621792" cy="201168"/>
          </a:xfrm>
          <a:prstGeom prst="rect">
            <a:avLst/>
          </a:prstGeom>
          <a:solidFill>
            <a:srgbClr val="EF4444"/>
          </a:solidFill>
          <a:ln/>
        </p:spPr>
        <p:txBody>
          <a:bodyPr/>
          <a:lstStyle/>
          <a:p>
            <a:endParaRPr lang="en-US"/>
          </a:p>
        </p:txBody>
      </p:sp>
      <p:sp>
        <p:nvSpPr>
          <p:cNvPr id="29" name="Text 27"/>
          <p:cNvSpPr/>
          <p:nvPr/>
        </p:nvSpPr>
        <p:spPr>
          <a:xfrm>
            <a:off x="5715000" y="3429000"/>
            <a:ext cx="1115568" cy="274320"/>
          </a:xfrm>
          <a:prstGeom prst="rect">
            <a:avLst/>
          </a:prstGeom>
          <a:noFill/>
          <a:ln/>
        </p:spPr>
        <p:txBody>
          <a:bodyPr wrap="square" lIns="0" tIns="0" rIns="0" bIns="0" rtlCol="0" anchor="ctr"/>
          <a:lstStyle/>
          <a:p>
            <a:pPr marL="0" indent="0" algn="r">
              <a:buNone/>
            </a:pPr>
            <a:r>
              <a:rPr lang="en-US" sz="1000" dirty="0">
                <a:solidFill>
                  <a:srgbClr val="EF4444"/>
                </a:solidFill>
              </a:rPr>
              <a:t>-170</a:t>
            </a:r>
            <a:endParaRPr lang="en-US" sz="1000" dirty="0"/>
          </a:p>
        </p:txBody>
      </p:sp>
      <p:sp>
        <p:nvSpPr>
          <p:cNvPr id="30" name="Text 28"/>
          <p:cNvSpPr/>
          <p:nvPr/>
        </p:nvSpPr>
        <p:spPr>
          <a:xfrm>
            <a:off x="4846320" y="4434840"/>
            <a:ext cx="3657600" cy="274320"/>
          </a:xfrm>
          <a:prstGeom prst="rect">
            <a:avLst/>
          </a:prstGeom>
          <a:noFill/>
          <a:ln/>
        </p:spPr>
        <p:txBody>
          <a:bodyPr wrap="square" lIns="0" tIns="0" rIns="0" bIns="0" rtlCol="0" anchor="ctr"/>
          <a:lstStyle/>
          <a:p>
            <a:pPr marL="0" indent="0">
              <a:buNone/>
            </a:pPr>
            <a:r>
              <a:rPr lang="en-US" sz="1000" i="1" dirty="0">
                <a:solidFill>
                  <a:srgbClr val="9AA3AD"/>
                </a:solidFill>
                <a:latin typeface="Calibri" pitchFamily="34" charset="0"/>
                <a:ea typeface="Calibri" pitchFamily="34" charset="-122"/>
                <a:cs typeface="Calibri" pitchFamily="34" charset="-120"/>
              </a:rPr>
              <a:t>Zero line dead center · sign readable at a glance · winners and errors share the bar.</a:t>
            </a:r>
            <a:endParaRPr lang="en-US" sz="1000" dirty="0"/>
          </a:p>
        </p:txBody>
      </p:sp>
      <p:sp>
        <p:nvSpPr>
          <p:cNvPr id="31" name="Text 2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2" name="Text 3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4.3 COLOR</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Editorial use, not decoration</a:t>
            </a:r>
            <a:endParaRPr lang="en-US" sz="2600" dirty="0"/>
          </a:p>
        </p:txBody>
      </p:sp>
      <p:sp>
        <p:nvSpPr>
          <p:cNvPr id="5" name="Shape 3"/>
          <p:cNvSpPr/>
          <p:nvPr/>
        </p:nvSpPr>
        <p:spPr>
          <a:xfrm>
            <a:off x="457200" y="1371600"/>
            <a:ext cx="822960" cy="822960"/>
          </a:xfrm>
          <a:prstGeom prst="rect">
            <a:avLst/>
          </a:prstGeom>
          <a:solidFill>
            <a:srgbClr val="0EA5E9"/>
          </a:solidFill>
          <a:ln w="6350">
            <a:solidFill>
              <a:srgbClr val="CFD6DD"/>
            </a:solidFill>
            <a:prstDash val="solid"/>
          </a:ln>
        </p:spPr>
        <p:txBody>
          <a:bodyPr/>
          <a:lstStyle/>
          <a:p>
            <a:endParaRPr lang="en-US"/>
          </a:p>
        </p:txBody>
      </p:sp>
      <p:sp>
        <p:nvSpPr>
          <p:cNvPr id="6" name="Text 4"/>
          <p:cNvSpPr/>
          <p:nvPr/>
        </p:nvSpPr>
        <p:spPr>
          <a:xfrm>
            <a:off x="137160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Blue</a:t>
            </a:r>
            <a:endParaRPr lang="en-US" sz="1300" dirty="0"/>
          </a:p>
        </p:txBody>
      </p:sp>
      <p:sp>
        <p:nvSpPr>
          <p:cNvPr id="7" name="Text 5"/>
          <p:cNvSpPr/>
          <p:nvPr/>
        </p:nvSpPr>
        <p:spPr>
          <a:xfrm>
            <a:off x="137160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#0EA5E9</a:t>
            </a:r>
            <a:endParaRPr lang="en-US" sz="1000" dirty="0"/>
          </a:p>
        </p:txBody>
      </p:sp>
      <p:sp>
        <p:nvSpPr>
          <p:cNvPr id="8" name="Text 6"/>
          <p:cNvSpPr/>
          <p:nvPr/>
        </p:nvSpPr>
        <p:spPr>
          <a:xfrm>
            <a:off x="137160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Positive / interactive / default</a:t>
            </a:r>
            <a:endParaRPr lang="en-US" sz="1000" dirty="0"/>
          </a:p>
        </p:txBody>
      </p:sp>
      <p:sp>
        <p:nvSpPr>
          <p:cNvPr id="9" name="Shape 7"/>
          <p:cNvSpPr/>
          <p:nvPr/>
        </p:nvSpPr>
        <p:spPr>
          <a:xfrm>
            <a:off x="3246120" y="1371600"/>
            <a:ext cx="822960" cy="822960"/>
          </a:xfrm>
          <a:prstGeom prst="rect">
            <a:avLst/>
          </a:prstGeom>
          <a:solidFill>
            <a:srgbClr val="EF4444"/>
          </a:solidFill>
          <a:ln w="6350">
            <a:solidFill>
              <a:srgbClr val="CFD6DD"/>
            </a:solidFill>
            <a:prstDash val="solid"/>
          </a:ln>
        </p:spPr>
        <p:txBody>
          <a:bodyPr/>
          <a:lstStyle/>
          <a:p>
            <a:endParaRPr lang="en-US"/>
          </a:p>
        </p:txBody>
      </p:sp>
      <p:sp>
        <p:nvSpPr>
          <p:cNvPr id="10" name="Text 8"/>
          <p:cNvSpPr/>
          <p:nvPr/>
        </p:nvSpPr>
        <p:spPr>
          <a:xfrm>
            <a:off x="416052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Red</a:t>
            </a:r>
            <a:endParaRPr lang="en-US" sz="1300" dirty="0"/>
          </a:p>
        </p:txBody>
      </p:sp>
      <p:sp>
        <p:nvSpPr>
          <p:cNvPr id="11" name="Text 9"/>
          <p:cNvSpPr/>
          <p:nvPr/>
        </p:nvSpPr>
        <p:spPr>
          <a:xfrm>
            <a:off x="416052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#EF4444</a:t>
            </a:r>
            <a:endParaRPr lang="en-US" sz="1000" dirty="0"/>
          </a:p>
        </p:txBody>
      </p:sp>
      <p:sp>
        <p:nvSpPr>
          <p:cNvPr id="12" name="Text 10"/>
          <p:cNvSpPr/>
          <p:nvPr/>
        </p:nvSpPr>
        <p:spPr>
          <a:xfrm>
            <a:off x="416052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Negative signal requiring action</a:t>
            </a:r>
            <a:endParaRPr lang="en-US" sz="1000" dirty="0"/>
          </a:p>
        </p:txBody>
      </p:sp>
      <p:sp>
        <p:nvSpPr>
          <p:cNvPr id="13" name="Shape 11"/>
          <p:cNvSpPr/>
          <p:nvPr/>
        </p:nvSpPr>
        <p:spPr>
          <a:xfrm>
            <a:off x="6035040" y="1371600"/>
            <a:ext cx="822960" cy="822960"/>
          </a:xfrm>
          <a:prstGeom prst="rect">
            <a:avLst/>
          </a:prstGeom>
          <a:solidFill>
            <a:srgbClr val="94A3B8"/>
          </a:solidFill>
          <a:ln w="6350">
            <a:solidFill>
              <a:srgbClr val="CFD6DD"/>
            </a:solidFill>
            <a:prstDash val="solid"/>
          </a:ln>
        </p:spPr>
        <p:txBody>
          <a:bodyPr/>
          <a:lstStyle/>
          <a:p>
            <a:endParaRPr lang="en-US"/>
          </a:p>
        </p:txBody>
      </p:sp>
      <p:sp>
        <p:nvSpPr>
          <p:cNvPr id="14" name="Text 12"/>
          <p:cNvSpPr/>
          <p:nvPr/>
        </p:nvSpPr>
        <p:spPr>
          <a:xfrm>
            <a:off x="6949440" y="141732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Gray</a:t>
            </a:r>
            <a:endParaRPr lang="en-US" sz="1300" dirty="0"/>
          </a:p>
        </p:txBody>
      </p:sp>
      <p:sp>
        <p:nvSpPr>
          <p:cNvPr id="15" name="Text 13"/>
          <p:cNvSpPr/>
          <p:nvPr/>
        </p:nvSpPr>
        <p:spPr>
          <a:xfrm>
            <a:off x="6949440" y="169164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#94A3B8</a:t>
            </a:r>
            <a:endParaRPr lang="en-US" sz="1000" dirty="0"/>
          </a:p>
        </p:txBody>
      </p:sp>
      <p:sp>
        <p:nvSpPr>
          <p:cNvPr id="16" name="Text 14"/>
          <p:cNvSpPr/>
          <p:nvPr/>
        </p:nvSpPr>
        <p:spPr>
          <a:xfrm>
            <a:off x="6949440" y="192024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Pro reference frame</a:t>
            </a:r>
            <a:endParaRPr lang="en-US" sz="1000" dirty="0"/>
          </a:p>
        </p:txBody>
      </p:sp>
      <p:sp>
        <p:nvSpPr>
          <p:cNvPr id="17" name="Shape 15"/>
          <p:cNvSpPr/>
          <p:nvPr/>
        </p:nvSpPr>
        <p:spPr>
          <a:xfrm>
            <a:off x="457200" y="2377440"/>
            <a:ext cx="822960" cy="822960"/>
          </a:xfrm>
          <a:prstGeom prst="rect">
            <a:avLst/>
          </a:prstGeom>
          <a:solidFill>
            <a:srgbClr val="1F2937"/>
          </a:solidFill>
          <a:ln w="6350">
            <a:solidFill>
              <a:srgbClr val="CFD6DD"/>
            </a:solidFill>
            <a:prstDash val="solid"/>
          </a:ln>
        </p:spPr>
        <p:txBody>
          <a:bodyPr/>
          <a:lstStyle/>
          <a:p>
            <a:endParaRPr lang="en-US"/>
          </a:p>
        </p:txBody>
      </p:sp>
      <p:sp>
        <p:nvSpPr>
          <p:cNvPr id="18" name="Text 16"/>
          <p:cNvSpPr/>
          <p:nvPr/>
        </p:nvSpPr>
        <p:spPr>
          <a:xfrm>
            <a:off x="137160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Ink</a:t>
            </a:r>
            <a:endParaRPr lang="en-US" sz="1300" dirty="0"/>
          </a:p>
        </p:txBody>
      </p:sp>
      <p:sp>
        <p:nvSpPr>
          <p:cNvPr id="19" name="Text 17"/>
          <p:cNvSpPr/>
          <p:nvPr/>
        </p:nvSpPr>
        <p:spPr>
          <a:xfrm>
            <a:off x="137160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#1F2937</a:t>
            </a:r>
            <a:endParaRPr lang="en-US" sz="1000" dirty="0"/>
          </a:p>
        </p:txBody>
      </p:sp>
      <p:sp>
        <p:nvSpPr>
          <p:cNvPr id="20" name="Text 18"/>
          <p:cNvSpPr/>
          <p:nvPr/>
        </p:nvSpPr>
        <p:spPr>
          <a:xfrm>
            <a:off x="137160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Body text</a:t>
            </a:r>
            <a:endParaRPr lang="en-US" sz="1000" dirty="0"/>
          </a:p>
        </p:txBody>
      </p:sp>
      <p:sp>
        <p:nvSpPr>
          <p:cNvPr id="21" name="Shape 19"/>
          <p:cNvSpPr/>
          <p:nvPr/>
        </p:nvSpPr>
        <p:spPr>
          <a:xfrm>
            <a:off x="3246120" y="2377440"/>
            <a:ext cx="822960" cy="822960"/>
          </a:xfrm>
          <a:prstGeom prst="rect">
            <a:avLst/>
          </a:prstGeom>
          <a:solidFill>
            <a:srgbClr val="6B7280"/>
          </a:solidFill>
          <a:ln w="6350">
            <a:solidFill>
              <a:srgbClr val="CFD6DD"/>
            </a:solidFill>
            <a:prstDash val="solid"/>
          </a:ln>
        </p:spPr>
        <p:txBody>
          <a:bodyPr/>
          <a:lstStyle/>
          <a:p>
            <a:endParaRPr lang="en-US"/>
          </a:p>
        </p:txBody>
      </p:sp>
      <p:sp>
        <p:nvSpPr>
          <p:cNvPr id="22" name="Text 20"/>
          <p:cNvSpPr/>
          <p:nvPr/>
        </p:nvSpPr>
        <p:spPr>
          <a:xfrm>
            <a:off x="416052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Muted</a:t>
            </a:r>
            <a:endParaRPr lang="en-US" sz="1300" dirty="0"/>
          </a:p>
        </p:txBody>
      </p:sp>
      <p:sp>
        <p:nvSpPr>
          <p:cNvPr id="23" name="Text 21"/>
          <p:cNvSpPr/>
          <p:nvPr/>
        </p:nvSpPr>
        <p:spPr>
          <a:xfrm>
            <a:off x="416052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#6B7280</a:t>
            </a:r>
            <a:endParaRPr lang="en-US" sz="1000" dirty="0"/>
          </a:p>
        </p:txBody>
      </p:sp>
      <p:sp>
        <p:nvSpPr>
          <p:cNvPr id="24" name="Text 22"/>
          <p:cNvSpPr/>
          <p:nvPr/>
        </p:nvSpPr>
        <p:spPr>
          <a:xfrm>
            <a:off x="416052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Secondary text</a:t>
            </a:r>
            <a:endParaRPr lang="en-US" sz="1000" dirty="0"/>
          </a:p>
        </p:txBody>
      </p:sp>
      <p:sp>
        <p:nvSpPr>
          <p:cNvPr id="25" name="Shape 23"/>
          <p:cNvSpPr/>
          <p:nvPr/>
        </p:nvSpPr>
        <p:spPr>
          <a:xfrm>
            <a:off x="6035040" y="2377440"/>
            <a:ext cx="822960" cy="822960"/>
          </a:xfrm>
          <a:prstGeom prst="rect">
            <a:avLst/>
          </a:prstGeom>
          <a:solidFill>
            <a:srgbClr val="F8FAFC"/>
          </a:solidFill>
          <a:ln w="6350">
            <a:solidFill>
              <a:srgbClr val="CFD6DD"/>
            </a:solidFill>
            <a:prstDash val="solid"/>
          </a:ln>
        </p:spPr>
        <p:txBody>
          <a:bodyPr/>
          <a:lstStyle/>
          <a:p>
            <a:endParaRPr lang="en-US"/>
          </a:p>
        </p:txBody>
      </p:sp>
      <p:sp>
        <p:nvSpPr>
          <p:cNvPr id="26" name="Text 24"/>
          <p:cNvSpPr/>
          <p:nvPr/>
        </p:nvSpPr>
        <p:spPr>
          <a:xfrm>
            <a:off x="6949440" y="2423160"/>
            <a:ext cx="1783080" cy="274320"/>
          </a:xfrm>
          <a:prstGeom prst="rect">
            <a:avLst/>
          </a:prstGeom>
          <a:noFill/>
          <a:ln/>
        </p:spPr>
        <p:txBody>
          <a:bodyPr wrap="square" lIns="0" tIns="0" rIns="0" bIns="0" rtlCol="0" anchor="ctr"/>
          <a:lstStyle/>
          <a:p>
            <a:pPr marL="0" indent="0">
              <a:buNone/>
            </a:pPr>
            <a:r>
              <a:rPr lang="en-US" sz="1300" b="1" dirty="0">
                <a:solidFill>
                  <a:srgbClr val="1F2937"/>
                </a:solidFill>
              </a:rPr>
              <a:t>BG</a:t>
            </a:r>
            <a:endParaRPr lang="en-US" sz="1300" dirty="0"/>
          </a:p>
        </p:txBody>
      </p:sp>
      <p:sp>
        <p:nvSpPr>
          <p:cNvPr id="27" name="Text 25"/>
          <p:cNvSpPr/>
          <p:nvPr/>
        </p:nvSpPr>
        <p:spPr>
          <a:xfrm>
            <a:off x="6949440" y="2697480"/>
            <a:ext cx="1783080" cy="228600"/>
          </a:xfrm>
          <a:prstGeom prst="rect">
            <a:avLst/>
          </a:prstGeom>
          <a:noFill/>
          <a:ln/>
        </p:spPr>
        <p:txBody>
          <a:bodyPr wrap="square" lIns="0" tIns="0" rIns="0" bIns="0" rtlCol="0" anchor="ctr"/>
          <a:lstStyle/>
          <a:p>
            <a:pPr marL="0" indent="0">
              <a:buNone/>
            </a:pPr>
            <a:r>
              <a:rPr lang="en-US" sz="1000" dirty="0">
                <a:solidFill>
                  <a:srgbClr val="64748B"/>
                </a:solidFill>
                <a:latin typeface="Courier New" pitchFamily="34" charset="0"/>
                <a:ea typeface="Courier New" pitchFamily="34" charset="-122"/>
                <a:cs typeface="Courier New" pitchFamily="34" charset="-120"/>
              </a:rPr>
              <a:t>#F8FAFC</a:t>
            </a:r>
            <a:endParaRPr lang="en-US" sz="1000" dirty="0"/>
          </a:p>
        </p:txBody>
      </p:sp>
      <p:sp>
        <p:nvSpPr>
          <p:cNvPr id="28" name="Text 26"/>
          <p:cNvSpPr/>
          <p:nvPr/>
        </p:nvSpPr>
        <p:spPr>
          <a:xfrm>
            <a:off x="6949440" y="2926080"/>
            <a:ext cx="1783080" cy="320040"/>
          </a:xfrm>
          <a:prstGeom prst="rect">
            <a:avLst/>
          </a:prstGeom>
          <a:noFill/>
          <a:ln/>
        </p:spPr>
        <p:txBody>
          <a:bodyPr wrap="square" lIns="0" tIns="0" rIns="0" bIns="0" rtlCol="0" anchor="ctr"/>
          <a:lstStyle/>
          <a:p>
            <a:pPr marL="0" indent="0">
              <a:buNone/>
            </a:pPr>
            <a:r>
              <a:rPr lang="en-US" sz="1000" i="1" dirty="0">
                <a:solidFill>
                  <a:srgbClr val="64748B"/>
                </a:solidFill>
              </a:rPr>
              <a:t>Page background</a:t>
            </a:r>
            <a:endParaRPr lang="en-US" sz="1000" dirty="0"/>
          </a:p>
        </p:txBody>
      </p:sp>
      <p:sp>
        <p:nvSpPr>
          <p:cNvPr id="29" name="Shape 27"/>
          <p:cNvSpPr/>
          <p:nvPr/>
        </p:nvSpPr>
        <p:spPr>
          <a:xfrm>
            <a:off x="457200" y="3657600"/>
            <a:ext cx="8229600" cy="914400"/>
          </a:xfrm>
          <a:prstGeom prst="rect">
            <a:avLst/>
          </a:prstGeom>
          <a:solidFill>
            <a:srgbClr val="1E293B"/>
          </a:solidFill>
          <a:ln/>
        </p:spPr>
        <p:txBody>
          <a:bodyPr/>
          <a:lstStyle/>
          <a:p>
            <a:endParaRPr lang="en-US"/>
          </a:p>
        </p:txBody>
      </p:sp>
      <p:sp>
        <p:nvSpPr>
          <p:cNvPr id="30" name="Text 28"/>
          <p:cNvSpPr/>
          <p:nvPr/>
        </p:nvSpPr>
        <p:spPr>
          <a:xfrm>
            <a:off x="640080" y="3749040"/>
            <a:ext cx="7863840" cy="274320"/>
          </a:xfrm>
          <a:prstGeom prst="rect">
            <a:avLst/>
          </a:prstGeom>
          <a:noFill/>
          <a:ln/>
        </p:spPr>
        <p:txBody>
          <a:bodyPr wrap="square" lIns="0" tIns="0" rIns="0" bIns="0" rtlCol="0" anchor="ctr"/>
          <a:lstStyle/>
          <a:p>
            <a:pPr marL="0" indent="0">
              <a:buNone/>
            </a:pPr>
            <a:r>
              <a:rPr lang="en-US" sz="900" b="1" kern="0" spc="300" dirty="0">
                <a:solidFill>
                  <a:srgbClr val="0EA5E9"/>
                </a:solidFill>
              </a:rPr>
              <a:t>ACCESSIBILITY CHECKS</a:t>
            </a:r>
            <a:endParaRPr lang="en-US" sz="900" dirty="0"/>
          </a:p>
        </p:txBody>
      </p:sp>
      <p:sp>
        <p:nvSpPr>
          <p:cNvPr id="31" name="Text 29"/>
          <p:cNvSpPr/>
          <p:nvPr/>
        </p:nvSpPr>
        <p:spPr>
          <a:xfrm>
            <a:off x="640080" y="4023360"/>
            <a:ext cx="7863840" cy="502920"/>
          </a:xfrm>
          <a:prstGeom prst="rect">
            <a:avLst/>
          </a:prstGeom>
          <a:noFill/>
          <a:ln/>
        </p:spPr>
        <p:txBody>
          <a:bodyPr wrap="square" lIns="0" tIns="0" rIns="0" bIns="0" rtlCol="0" anchor="ctr"/>
          <a:lstStyle/>
          <a:p>
            <a:pPr marL="0" indent="0">
              <a:buNone/>
            </a:pPr>
            <a:r>
              <a:rPr lang="en-US" sz="1200" dirty="0">
                <a:solidFill>
                  <a:srgbClr val="FFFFFF"/>
                </a:solidFill>
              </a:rPr>
              <a:t>WCAG AA body-text contrast 12.6:1 ✓ · Blue/red palette: deuteranopia &amp; protanopia safe ✓ · No green/red pairs · </a:t>
            </a:r>
            <a:r>
              <a:rPr lang="en-US" sz="1200" b="1" dirty="0">
                <a:solidFill>
                  <a:srgbClr val="FFFFFF"/>
                </a:solidFill>
              </a:rPr>
              <a:t>Every red mark is also negatively signed numerically.</a:t>
            </a:r>
            <a:endParaRPr lang="en-US" sz="1200" dirty="0"/>
          </a:p>
        </p:txBody>
      </p:sp>
      <p:sp>
        <p:nvSpPr>
          <p:cNvPr id="32" name="Text 30"/>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33" name="Text 31"/>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4.4 INTERACTIVITY &amp; ANNOTATIONS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Kirk's last two design layers</a:t>
            </a:r>
            <a:endParaRPr lang="en-US" sz="2600" dirty="0"/>
          </a:p>
        </p:txBody>
      </p:sp>
      <p:sp>
        <p:nvSpPr>
          <p:cNvPr id="5" name="Shape 3"/>
          <p:cNvSpPr/>
          <p:nvPr/>
        </p:nvSpPr>
        <p:spPr>
          <a:xfrm>
            <a:off x="45720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6" name="Text 4"/>
          <p:cNvSpPr/>
          <p:nvPr/>
        </p:nvSpPr>
        <p:spPr>
          <a:xfrm>
            <a:off x="64008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INTERACTIVITY</a:t>
            </a:r>
            <a:endParaRPr lang="en-US" sz="1000" dirty="0"/>
          </a:p>
        </p:txBody>
      </p:sp>
      <p:sp>
        <p:nvSpPr>
          <p:cNvPr id="7" name="Text 5"/>
          <p:cNvSpPr/>
          <p:nvPr/>
        </p:nvSpPr>
        <p:spPr>
          <a:xfrm>
            <a:off x="640080" y="1828800"/>
            <a:ext cx="3657600" cy="265176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F2937"/>
                </a:solidFill>
              </a:rPr>
              <a:t>Sidebar filters (country, surface, category, dates)</a:t>
            </a:r>
            <a:endParaRPr lang="en-US" sz="1200" dirty="0"/>
          </a:p>
          <a:p>
            <a:pPr marL="342900" indent="-342900">
              <a:spcAft>
                <a:spcPts val="500"/>
              </a:spcAft>
              <a:buSzPct val="100000"/>
              <a:buChar char="●"/>
            </a:pPr>
            <a:r>
              <a:rPr lang="en-US" sz="1200" dirty="0">
                <a:solidFill>
                  <a:srgbClr val="1F2937"/>
                </a:solidFill>
              </a:rPr>
              <a:t>Row-click drill from rankings to player detail</a:t>
            </a:r>
            <a:endParaRPr lang="en-US" sz="1200" dirty="0"/>
          </a:p>
          <a:p>
            <a:pPr marL="342900" indent="-342900">
              <a:spcAft>
                <a:spcPts val="500"/>
              </a:spcAft>
              <a:buSzPct val="100000"/>
              <a:buChar char="●"/>
            </a:pPr>
            <a:r>
              <a:rPr lang="en-US" sz="1200" dirty="0">
                <a:solidFill>
                  <a:srgbClr val="1F2937"/>
                </a:solidFill>
              </a:rPr>
              <a:t>Time-range toggle on My Stats (30/60/90/all)</a:t>
            </a:r>
            <a:endParaRPr lang="en-US" sz="1200" dirty="0"/>
          </a:p>
          <a:p>
            <a:pPr marL="342900" indent="-342900">
              <a:spcAft>
                <a:spcPts val="500"/>
              </a:spcAft>
              <a:buSzPct val="100000"/>
              <a:buChar char="●"/>
            </a:pPr>
            <a:r>
              <a:rPr lang="en-US" sz="1200" dirty="0">
                <a:solidFill>
                  <a:srgbClr val="1F2937"/>
                </a:solidFill>
              </a:rPr>
              <a:t>Hover tooltips: precision on demand</a:t>
            </a:r>
            <a:endParaRPr lang="en-US" sz="1200" dirty="0"/>
          </a:p>
          <a:p>
            <a:pPr marL="342900" indent="-342900">
              <a:spcAft>
                <a:spcPts val="500"/>
              </a:spcAft>
              <a:buSzPct val="100000"/>
              <a:buChar char="●"/>
            </a:pPr>
            <a:r>
              <a:rPr lang="en-US" sz="1200" dirty="0">
                <a:solidFill>
                  <a:srgbClr val="1F2937"/>
                </a:solidFill>
              </a:rPr>
              <a:t>Live auto-result preview while typing a score</a:t>
            </a:r>
            <a:endParaRPr lang="en-US" sz="1200" dirty="0"/>
          </a:p>
        </p:txBody>
      </p:sp>
      <p:sp>
        <p:nvSpPr>
          <p:cNvPr id="8" name="Shape 6"/>
          <p:cNvSpPr/>
          <p:nvPr/>
        </p:nvSpPr>
        <p:spPr>
          <a:xfrm>
            <a:off x="4663440" y="1371600"/>
            <a:ext cx="4023360" cy="3200400"/>
          </a:xfrm>
          <a:prstGeom prst="rect">
            <a:avLst/>
          </a:prstGeom>
          <a:solidFill>
            <a:srgbClr val="FFFFFF"/>
          </a:solidFill>
          <a:ln w="9525">
            <a:solidFill>
              <a:srgbClr val="CFD6DD"/>
            </a:solidFill>
            <a:prstDash val="solid"/>
          </a:ln>
        </p:spPr>
        <p:txBody>
          <a:bodyPr/>
          <a:lstStyle/>
          <a:p>
            <a:endParaRPr lang="en-US"/>
          </a:p>
        </p:txBody>
      </p:sp>
      <p:sp>
        <p:nvSpPr>
          <p:cNvPr id="9" name="Text 7"/>
          <p:cNvSpPr/>
          <p:nvPr/>
        </p:nvSpPr>
        <p:spPr>
          <a:xfrm>
            <a:off x="4846320" y="1508760"/>
            <a:ext cx="3657600" cy="274320"/>
          </a:xfrm>
          <a:prstGeom prst="rect">
            <a:avLst/>
          </a:prstGeom>
          <a:noFill/>
          <a:ln/>
        </p:spPr>
        <p:txBody>
          <a:bodyPr wrap="square" lIns="0" tIns="0" rIns="0" bIns="0" rtlCol="0" anchor="ctr"/>
          <a:lstStyle/>
          <a:p>
            <a:pPr marL="0" indent="0">
              <a:buNone/>
            </a:pPr>
            <a:r>
              <a:rPr lang="en-US" sz="1000" b="1" kern="0" spc="300" dirty="0">
                <a:solidFill>
                  <a:srgbClr val="0EA5E9"/>
                </a:solidFill>
              </a:rPr>
              <a:t>ANNOTATION</a:t>
            </a:r>
            <a:endParaRPr lang="en-US" sz="1000" dirty="0"/>
          </a:p>
        </p:txBody>
      </p:sp>
      <p:sp>
        <p:nvSpPr>
          <p:cNvPr id="10" name="Text 8"/>
          <p:cNvSpPr/>
          <p:nvPr/>
        </p:nvSpPr>
        <p:spPr>
          <a:xfrm>
            <a:off x="4846320" y="1828800"/>
            <a:ext cx="3657600" cy="265176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1F2937"/>
                </a:solidFill>
              </a:rPr>
              <a:t>Static in-canvas: the headline ("-40 pp")</a:t>
            </a:r>
            <a:endParaRPr lang="en-US" sz="1200" dirty="0"/>
          </a:p>
          <a:p>
            <a:pPr marL="342900" indent="-342900">
              <a:spcAft>
                <a:spcPts val="500"/>
              </a:spcAft>
              <a:buSzPct val="100000"/>
              <a:buChar char="●"/>
            </a:pPr>
            <a:r>
              <a:rPr lang="en-US" sz="1200" dirty="0">
                <a:solidFill>
                  <a:srgbClr val="1F2937"/>
                </a:solidFill>
              </a:rPr>
              <a:t>Dynamic hover: the detail (exact value, date)</a:t>
            </a:r>
            <a:endParaRPr lang="en-US" sz="1200" dirty="0"/>
          </a:p>
          <a:p>
            <a:pPr marL="342900" indent="-342900">
              <a:spcAft>
                <a:spcPts val="500"/>
              </a:spcAft>
              <a:buSzPct val="100000"/>
              <a:buChar char="●"/>
            </a:pPr>
            <a:r>
              <a:rPr lang="en-US" sz="1200" dirty="0">
                <a:solidFill>
                  <a:srgbClr val="1F2937"/>
                </a:solidFill>
              </a:rPr>
              <a:t>Captions outside the chart: WHAT</a:t>
            </a:r>
            <a:endParaRPr lang="en-US" sz="1200" dirty="0"/>
          </a:p>
          <a:p>
            <a:pPr marL="342900" indent="-342900">
              <a:spcAft>
                <a:spcPts val="500"/>
              </a:spcAft>
              <a:buSzPct val="100000"/>
              <a:buChar char="●"/>
            </a:pPr>
            <a:r>
              <a:rPr lang="en-US" sz="1200" dirty="0">
                <a:solidFill>
                  <a:srgbClr val="1F2937"/>
                </a:solidFill>
              </a:rPr>
              <a:t>Callouts inside the chart: WHY you should care</a:t>
            </a:r>
            <a:endParaRPr lang="en-US" sz="1200" dirty="0"/>
          </a:p>
          <a:p>
            <a:pPr marL="342900" indent="-342900">
              <a:spcAft>
                <a:spcPts val="500"/>
              </a:spcAft>
              <a:buSzPct val="100000"/>
              <a:buChar char="●"/>
            </a:pPr>
            <a:r>
              <a:rPr lang="en-US" sz="1200" dirty="0">
                <a:solidFill>
                  <a:srgbClr val="1F2937"/>
                </a:solidFill>
              </a:rPr>
              <a:t>Color-coded gap cards on Compare (red→amber→green)</a:t>
            </a:r>
            <a:endParaRPr lang="en-US" sz="1200" dirty="0"/>
          </a:p>
        </p:txBody>
      </p:sp>
      <p:sp>
        <p:nvSpPr>
          <p:cNvPr id="11" name="Text 9"/>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12" name="Text 10"/>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828800"/>
            <a:ext cx="548640" cy="54864"/>
          </a:xfrm>
          <a:prstGeom prst="rect">
            <a:avLst/>
          </a:prstGeom>
          <a:solidFill>
            <a:srgbClr val="0EA5E9"/>
          </a:solidFill>
          <a:ln/>
        </p:spPr>
        <p:txBody>
          <a:bodyPr/>
          <a:lstStyle/>
          <a:p>
            <a:endParaRPr lang="en-US"/>
          </a:p>
        </p:txBody>
      </p:sp>
      <p:sp>
        <p:nvSpPr>
          <p:cNvPr id="3" name="Text 1"/>
          <p:cNvSpPr/>
          <p:nvPr/>
        </p:nvSpPr>
        <p:spPr>
          <a:xfrm>
            <a:off x="457200" y="1965960"/>
            <a:ext cx="7315200" cy="365760"/>
          </a:xfrm>
          <a:prstGeom prst="rect">
            <a:avLst/>
          </a:prstGeom>
          <a:noFill/>
          <a:ln/>
        </p:spPr>
        <p:txBody>
          <a:bodyPr wrap="square" lIns="0" tIns="0" rIns="0" bIns="0" rtlCol="0" anchor="ctr"/>
          <a:lstStyle/>
          <a:p>
            <a:pPr marL="0" indent="0">
              <a:buNone/>
            </a:pPr>
            <a:r>
              <a:rPr lang="en-US" sz="1200" b="1" kern="0" spc="600" dirty="0">
                <a:solidFill>
                  <a:srgbClr val="0EA5E9"/>
                </a:solidFill>
                <a:latin typeface="Calibri" pitchFamily="34" charset="0"/>
                <a:ea typeface="Calibri" pitchFamily="34" charset="-122"/>
                <a:cs typeface="Calibri" pitchFamily="34" charset="-120"/>
              </a:rPr>
              <a:t>PART 6</a:t>
            </a:r>
            <a:endParaRPr lang="en-US" sz="1200" dirty="0"/>
          </a:p>
        </p:txBody>
      </p:sp>
      <p:sp>
        <p:nvSpPr>
          <p:cNvPr id="4" name="Text 2"/>
          <p:cNvSpPr/>
          <p:nvPr/>
        </p:nvSpPr>
        <p:spPr>
          <a:xfrm>
            <a:off x="457200" y="2331720"/>
            <a:ext cx="8229600" cy="7315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Demo &amp; Conclusions</a:t>
            </a:r>
            <a:endParaRPr lang="en-US" sz="4400" dirty="0"/>
          </a:p>
        </p:txBody>
      </p:sp>
      <p:sp>
        <p:nvSpPr>
          <p:cNvPr id="5" name="Text 3"/>
          <p:cNvSpPr/>
          <p:nvPr/>
        </p:nvSpPr>
        <p:spPr>
          <a:xfrm>
            <a:off x="457200" y="3154680"/>
            <a:ext cx="8229600" cy="365760"/>
          </a:xfrm>
          <a:prstGeom prst="rect">
            <a:avLst/>
          </a:prstGeom>
          <a:noFill/>
          <a:ln/>
        </p:spPr>
        <p:txBody>
          <a:bodyPr wrap="square" lIns="0" tIns="0" rIns="0" bIns="0"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Live walkthrough · Future work</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6.1 DEMO</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Five-step walkthrough I'll show you next</a:t>
            </a:r>
            <a:endParaRPr lang="en-US" sz="2600" dirty="0"/>
          </a:p>
        </p:txBody>
      </p:sp>
      <p:pic>
        <p:nvPicPr>
          <p:cNvPr id="5" name="Image 0" descr="/sessions/jolly-happy-allen/mnt/Data visualiztion/Padel-Project/06_Presentation/assets/01_home.png"/>
          <p:cNvPicPr>
            <a:picLocks noChangeAspect="1"/>
          </p:cNvPicPr>
          <p:nvPr/>
        </p:nvPicPr>
        <p:blipFill>
          <a:blip r:embed="rId3"/>
          <a:stretch>
            <a:fillRect/>
          </a:stretch>
        </p:blipFill>
        <p:spPr>
          <a:xfrm>
            <a:off x="457200" y="1463040"/>
            <a:ext cx="1627632" cy="1005840"/>
          </a:xfrm>
          <a:prstGeom prst="rect">
            <a:avLst/>
          </a:prstGeom>
        </p:spPr>
      </p:pic>
      <p:sp>
        <p:nvSpPr>
          <p:cNvPr id="6" name="Text 3"/>
          <p:cNvSpPr/>
          <p:nvPr/>
        </p:nvSpPr>
        <p:spPr>
          <a:xfrm>
            <a:off x="45720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1 · Home</a:t>
            </a:r>
            <a:endParaRPr lang="en-US" sz="1100" dirty="0"/>
          </a:p>
        </p:txBody>
      </p:sp>
      <p:sp>
        <p:nvSpPr>
          <p:cNvPr id="7" name="Text 4"/>
          <p:cNvSpPr/>
          <p:nvPr/>
        </p:nvSpPr>
        <p:spPr>
          <a:xfrm>
            <a:off x="45720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Open the app. Last 10: 7-3. Partner card shows Luca on top, Davide red.</a:t>
            </a:r>
            <a:endParaRPr lang="en-US" sz="900" dirty="0"/>
          </a:p>
        </p:txBody>
      </p:sp>
      <p:pic>
        <p:nvPicPr>
          <p:cNvPr id="8" name="Image 1" descr="/sessions/jolly-happy-allen/mnt/Data visualiztion/Padel-Project/06_Presentation/assets/04_log_match.png"/>
          <p:cNvPicPr>
            <a:picLocks noChangeAspect="1"/>
          </p:cNvPicPr>
          <p:nvPr/>
        </p:nvPicPr>
        <p:blipFill>
          <a:blip r:embed="rId4"/>
          <a:stretch>
            <a:fillRect/>
          </a:stretch>
        </p:blipFill>
        <p:spPr>
          <a:xfrm>
            <a:off x="2148840" y="1463040"/>
            <a:ext cx="1627632" cy="1005840"/>
          </a:xfrm>
          <a:prstGeom prst="rect">
            <a:avLst/>
          </a:prstGeom>
        </p:spPr>
      </p:pic>
      <p:sp>
        <p:nvSpPr>
          <p:cNvPr id="9" name="Text 5"/>
          <p:cNvSpPr/>
          <p:nvPr/>
        </p:nvSpPr>
        <p:spPr>
          <a:xfrm>
            <a:off x="214884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2 · Log Match</a:t>
            </a:r>
            <a:endParaRPr lang="en-US" sz="1100" dirty="0"/>
          </a:p>
        </p:txBody>
      </p:sp>
      <p:sp>
        <p:nvSpPr>
          <p:cNvPr id="10" name="Text 6"/>
          <p:cNvSpPr/>
          <p:nvPr/>
        </p:nvSpPr>
        <p:spPr>
          <a:xfrm>
            <a:off x="214884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Add today's match in 30 seconds. Watch the auto-result update.</a:t>
            </a:r>
            <a:endParaRPr lang="en-US" sz="900" dirty="0"/>
          </a:p>
        </p:txBody>
      </p:sp>
      <p:pic>
        <p:nvPicPr>
          <p:cNvPr id="11" name="Image 2" descr="/sessions/jolly-happy-allen/mnt/Data visualiztion/Padel-Project/06_Presentation/assets/03_my_stats.png"/>
          <p:cNvPicPr>
            <a:picLocks noChangeAspect="1"/>
          </p:cNvPicPr>
          <p:nvPr/>
        </p:nvPicPr>
        <p:blipFill>
          <a:blip r:embed="rId5"/>
          <a:stretch>
            <a:fillRect/>
          </a:stretch>
        </p:blipFill>
        <p:spPr>
          <a:xfrm>
            <a:off x="3840480" y="1463040"/>
            <a:ext cx="1627632" cy="1005840"/>
          </a:xfrm>
          <a:prstGeom prst="rect">
            <a:avLst/>
          </a:prstGeom>
        </p:spPr>
      </p:pic>
      <p:sp>
        <p:nvSpPr>
          <p:cNvPr id="12" name="Text 7"/>
          <p:cNvSpPr/>
          <p:nvPr/>
        </p:nvSpPr>
        <p:spPr>
          <a:xfrm>
            <a:off x="384048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3 · My Stats</a:t>
            </a:r>
            <a:endParaRPr lang="en-US" sz="1100" dirty="0"/>
          </a:p>
        </p:txBody>
      </p:sp>
      <p:sp>
        <p:nvSpPr>
          <p:cNvPr id="13" name="Text 8"/>
          <p:cNvSpPr/>
          <p:nvPr/>
        </p:nvSpPr>
        <p:spPr>
          <a:xfrm>
            <a:off x="384048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Filter to last 60 days. Read the partner &amp; fatigue panels.</a:t>
            </a:r>
            <a:endParaRPr lang="en-US" sz="900" dirty="0"/>
          </a:p>
        </p:txBody>
      </p:sp>
      <p:pic>
        <p:nvPicPr>
          <p:cNvPr id="14" name="Image 3" descr="/sessions/jolly-happy-allen/mnt/Data visualiztion/Padel-Project/06_Presentation/assets/05_compare.png"/>
          <p:cNvPicPr>
            <a:picLocks noChangeAspect="1"/>
          </p:cNvPicPr>
          <p:nvPr/>
        </p:nvPicPr>
        <p:blipFill>
          <a:blip r:embed="rId6"/>
          <a:stretch>
            <a:fillRect/>
          </a:stretch>
        </p:blipFill>
        <p:spPr>
          <a:xfrm>
            <a:off x="5532120" y="1463040"/>
            <a:ext cx="1627632" cy="1005840"/>
          </a:xfrm>
          <a:prstGeom prst="rect">
            <a:avLst/>
          </a:prstGeom>
        </p:spPr>
      </p:pic>
      <p:sp>
        <p:nvSpPr>
          <p:cNvPr id="15" name="Text 9"/>
          <p:cNvSpPr/>
          <p:nvPr/>
        </p:nvSpPr>
        <p:spPr>
          <a:xfrm>
            <a:off x="553212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4 · Compare</a:t>
            </a:r>
            <a:endParaRPr lang="en-US" sz="1100" dirty="0"/>
          </a:p>
        </p:txBody>
      </p:sp>
      <p:sp>
        <p:nvSpPr>
          <p:cNvPr id="16" name="Text 10"/>
          <p:cNvSpPr/>
          <p:nvPr/>
        </p:nvSpPr>
        <p:spPr>
          <a:xfrm>
            <a:off x="553212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Toggle to a specific pro. See the radar gap on the smash.</a:t>
            </a:r>
            <a:endParaRPr lang="en-US" sz="900" dirty="0"/>
          </a:p>
        </p:txBody>
      </p:sp>
      <p:pic>
        <p:nvPicPr>
          <p:cNvPr id="17" name="Image 4" descr="/sessions/jolly-happy-allen/mnt/Data visualiztion/Padel-Project/06_Presentation/assets/02_pro_tour.png"/>
          <p:cNvPicPr>
            <a:picLocks noChangeAspect="1"/>
          </p:cNvPicPr>
          <p:nvPr/>
        </p:nvPicPr>
        <p:blipFill>
          <a:blip r:embed="rId7"/>
          <a:stretch>
            <a:fillRect/>
          </a:stretch>
        </p:blipFill>
        <p:spPr>
          <a:xfrm>
            <a:off x="7223760" y="1463040"/>
            <a:ext cx="1627632" cy="1005840"/>
          </a:xfrm>
          <a:prstGeom prst="rect">
            <a:avLst/>
          </a:prstGeom>
        </p:spPr>
      </p:pic>
      <p:sp>
        <p:nvSpPr>
          <p:cNvPr id="18" name="Text 11"/>
          <p:cNvSpPr/>
          <p:nvPr/>
        </p:nvSpPr>
        <p:spPr>
          <a:xfrm>
            <a:off x="7223760" y="2514600"/>
            <a:ext cx="1627632" cy="256032"/>
          </a:xfrm>
          <a:prstGeom prst="rect">
            <a:avLst/>
          </a:prstGeom>
          <a:noFill/>
          <a:ln/>
        </p:spPr>
        <p:txBody>
          <a:bodyPr wrap="square" lIns="0" tIns="0" rIns="0" bIns="0" rtlCol="0" anchor="ctr"/>
          <a:lstStyle/>
          <a:p>
            <a:pPr marL="0" indent="0">
              <a:buNone/>
            </a:pPr>
            <a:r>
              <a:rPr lang="en-US" sz="1100" b="1" dirty="0">
                <a:solidFill>
                  <a:srgbClr val="1F2937"/>
                </a:solidFill>
              </a:rPr>
              <a:t>5 · Pro Tour</a:t>
            </a:r>
            <a:endParaRPr lang="en-US" sz="1100" dirty="0"/>
          </a:p>
        </p:txBody>
      </p:sp>
      <p:sp>
        <p:nvSpPr>
          <p:cNvPr id="19" name="Text 12"/>
          <p:cNvSpPr/>
          <p:nvPr/>
        </p:nvSpPr>
        <p:spPr>
          <a:xfrm>
            <a:off x="7223760" y="2770632"/>
            <a:ext cx="1627632" cy="868680"/>
          </a:xfrm>
          <a:prstGeom prst="rect">
            <a:avLst/>
          </a:prstGeom>
          <a:noFill/>
          <a:ln/>
        </p:spPr>
        <p:txBody>
          <a:bodyPr wrap="square" lIns="0" tIns="0" rIns="0" bIns="0" rtlCol="0" anchor="ctr"/>
          <a:lstStyle/>
          <a:p>
            <a:pPr marL="0" indent="0">
              <a:buNone/>
            </a:pPr>
            <a:r>
              <a:rPr lang="en-US" sz="900" dirty="0">
                <a:solidFill>
                  <a:srgbClr val="64748B"/>
                </a:solidFill>
              </a:rPr>
              <a:t>Filter to indoor majors. Read the form sparkline column.</a:t>
            </a:r>
            <a:endParaRPr lang="en-US" sz="900" dirty="0"/>
          </a:p>
        </p:txBody>
      </p:sp>
      <p:sp>
        <p:nvSpPr>
          <p:cNvPr id="20" name="Shape 13"/>
          <p:cNvSpPr/>
          <p:nvPr/>
        </p:nvSpPr>
        <p:spPr>
          <a:xfrm>
            <a:off x="457200" y="4160520"/>
            <a:ext cx="8229600" cy="457200"/>
          </a:xfrm>
          <a:prstGeom prst="rect">
            <a:avLst/>
          </a:prstGeom>
          <a:solidFill>
            <a:srgbClr val="0EA5E9"/>
          </a:solidFill>
          <a:ln/>
        </p:spPr>
        <p:txBody>
          <a:bodyPr/>
          <a:lstStyle/>
          <a:p>
            <a:endParaRPr lang="en-US"/>
          </a:p>
        </p:txBody>
      </p:sp>
      <p:sp>
        <p:nvSpPr>
          <p:cNvPr id="21" name="Text 14"/>
          <p:cNvSpPr/>
          <p:nvPr/>
        </p:nvSpPr>
        <p:spPr>
          <a:xfrm>
            <a:off x="457200" y="4160520"/>
            <a:ext cx="8229600" cy="457200"/>
          </a:xfrm>
          <a:prstGeom prst="rect">
            <a:avLst/>
          </a:prstGeom>
          <a:noFill/>
          <a:ln/>
        </p:spPr>
        <p:txBody>
          <a:bodyPr wrap="square" lIns="0" tIns="0" rIns="0" bIns="0" rtlCol="0" anchor="ctr"/>
          <a:lstStyle/>
          <a:p>
            <a:pPr algn="ctr"/>
            <a:r>
              <a:rPr lang="en-US" sz="1400" dirty="0" err="1">
                <a:hlinkClick r:id="rId8"/>
              </a:rPr>
              <a:t>PadelLens</a:t>
            </a:r>
            <a:r>
              <a:rPr lang="en-US" sz="1400" dirty="0">
                <a:hlinkClick r:id="rId8"/>
              </a:rPr>
              <a:t> — App UI – Figma</a:t>
            </a:r>
            <a:endParaRPr lang="en-US" sz="1400" dirty="0"/>
          </a:p>
        </p:txBody>
      </p:sp>
      <p:sp>
        <p:nvSpPr>
          <p:cNvPr id="22" name="Text 15"/>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3" name="Text 16"/>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365760" y="384048"/>
            <a:ext cx="64008" cy="292608"/>
          </a:xfrm>
          <a:prstGeom prst="rect">
            <a:avLst/>
          </a:prstGeom>
          <a:solidFill>
            <a:srgbClr val="0EA5E9"/>
          </a:solidFill>
          <a:ln/>
        </p:spPr>
        <p:txBody>
          <a:bodyPr/>
          <a:lstStyle/>
          <a:p>
            <a:endParaRPr lang="en-US"/>
          </a:p>
        </p:txBody>
      </p:sp>
      <p:sp>
        <p:nvSpPr>
          <p:cNvPr id="3" name="Text 1"/>
          <p:cNvSpPr/>
          <p:nvPr/>
        </p:nvSpPr>
        <p:spPr>
          <a:xfrm>
            <a:off x="512064" y="347472"/>
            <a:ext cx="5486400" cy="256032"/>
          </a:xfrm>
          <a:prstGeom prst="rect">
            <a:avLst/>
          </a:prstGeom>
          <a:noFill/>
          <a:ln/>
        </p:spPr>
        <p:txBody>
          <a:bodyPr wrap="square" lIns="0" tIns="0" rIns="0" bIns="0" rtlCol="0" anchor="ctr"/>
          <a:lstStyle/>
          <a:p>
            <a:pPr marL="0" indent="0">
              <a:buNone/>
            </a:pPr>
            <a:r>
              <a:rPr lang="en-US" sz="1000" b="1" kern="0" spc="400" dirty="0">
                <a:solidFill>
                  <a:srgbClr val="64748B"/>
                </a:solidFill>
                <a:latin typeface="Calibri" pitchFamily="34" charset="0"/>
                <a:ea typeface="Calibri" pitchFamily="34" charset="-122"/>
                <a:cs typeface="Calibri" pitchFamily="34" charset="-120"/>
              </a:rPr>
              <a:t>6.2 FUTURE DEVELOPMENTS</a:t>
            </a:r>
            <a:endParaRPr lang="en-US" sz="1000" dirty="0"/>
          </a:p>
        </p:txBody>
      </p:sp>
      <p:sp>
        <p:nvSpPr>
          <p:cNvPr id="4" name="Text 2"/>
          <p:cNvSpPr/>
          <p:nvPr/>
        </p:nvSpPr>
        <p:spPr>
          <a:xfrm>
            <a:off x="512064" y="548640"/>
            <a:ext cx="8229600" cy="548640"/>
          </a:xfrm>
          <a:prstGeom prst="rect">
            <a:avLst/>
          </a:prstGeom>
          <a:noFill/>
          <a:ln/>
        </p:spPr>
        <p:txBody>
          <a:bodyPr wrap="square" lIns="0" tIns="0" rIns="0" bIns="0" rtlCol="0" anchor="ctr"/>
          <a:lstStyle/>
          <a:p>
            <a:pPr marL="0" indent="0">
              <a:buNone/>
            </a:pPr>
            <a:r>
              <a:rPr lang="en-US" sz="2600" b="1" dirty="0">
                <a:solidFill>
                  <a:srgbClr val="1E293B"/>
                </a:solidFill>
                <a:latin typeface="Calibri" pitchFamily="34" charset="0"/>
                <a:ea typeface="Calibri" pitchFamily="34" charset="-122"/>
                <a:cs typeface="Calibri" pitchFamily="34" charset="-120"/>
              </a:rPr>
              <a:t>What v2 would add</a:t>
            </a:r>
            <a:endParaRPr lang="en-US" sz="2600" dirty="0"/>
          </a:p>
        </p:txBody>
      </p:sp>
      <p:sp>
        <p:nvSpPr>
          <p:cNvPr id="5" name="Shape 3"/>
          <p:cNvSpPr/>
          <p:nvPr/>
        </p:nvSpPr>
        <p:spPr>
          <a:xfrm>
            <a:off x="457200" y="1417320"/>
            <a:ext cx="292608" cy="292608"/>
          </a:xfrm>
          <a:prstGeom prst="ellipse">
            <a:avLst/>
          </a:prstGeom>
          <a:solidFill>
            <a:srgbClr val="0EA5E9"/>
          </a:solidFill>
          <a:ln/>
        </p:spPr>
        <p:txBody>
          <a:bodyPr/>
          <a:lstStyle/>
          <a:p>
            <a:endParaRPr lang="en-US"/>
          </a:p>
        </p:txBody>
      </p:sp>
      <p:sp>
        <p:nvSpPr>
          <p:cNvPr id="6" name="Text 4"/>
          <p:cNvSpPr/>
          <p:nvPr/>
        </p:nvSpPr>
        <p:spPr>
          <a:xfrm>
            <a:off x="457200" y="1417320"/>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rPr>
              <a:t>+</a:t>
            </a:r>
            <a:endParaRPr lang="en-US" sz="1600" dirty="0"/>
          </a:p>
        </p:txBody>
      </p:sp>
      <p:sp>
        <p:nvSpPr>
          <p:cNvPr id="7" name="Text 5"/>
          <p:cNvSpPr/>
          <p:nvPr/>
        </p:nvSpPr>
        <p:spPr>
          <a:xfrm>
            <a:off x="868680" y="1389888"/>
            <a:ext cx="2743200" cy="320040"/>
          </a:xfrm>
          <a:prstGeom prst="rect">
            <a:avLst/>
          </a:prstGeom>
          <a:noFill/>
          <a:ln/>
        </p:spPr>
        <p:txBody>
          <a:bodyPr wrap="square" lIns="0" tIns="0" rIns="0" bIns="0" rtlCol="0" anchor="ctr"/>
          <a:lstStyle/>
          <a:p>
            <a:pPr marL="0" indent="0">
              <a:buNone/>
            </a:pPr>
            <a:r>
              <a:rPr lang="en-US" sz="1300" b="1" dirty="0">
                <a:solidFill>
                  <a:srgbClr val="1F2937"/>
                </a:solidFill>
              </a:rPr>
              <a:t>Per-player shot averages</a:t>
            </a:r>
            <a:endParaRPr lang="en-US" sz="1300" dirty="0"/>
          </a:p>
        </p:txBody>
      </p:sp>
      <p:sp>
        <p:nvSpPr>
          <p:cNvPr id="8" name="Text 6"/>
          <p:cNvSpPr/>
          <p:nvPr/>
        </p:nvSpPr>
        <p:spPr>
          <a:xfrm>
            <a:off x="3657600" y="1389888"/>
            <a:ext cx="5029200" cy="502920"/>
          </a:xfrm>
          <a:prstGeom prst="rect">
            <a:avLst/>
          </a:prstGeom>
          <a:noFill/>
          <a:ln/>
        </p:spPr>
        <p:txBody>
          <a:bodyPr wrap="square" lIns="0" tIns="0" rIns="0" bIns="0" rtlCol="0" anchor="ctr"/>
          <a:lstStyle/>
          <a:p>
            <a:pPr marL="0" indent="0">
              <a:buNone/>
            </a:pPr>
            <a:r>
              <a:rPr lang="en-US" sz="1100" dirty="0">
                <a:solidFill>
                  <a:srgbClr val="64748B"/>
                </a:solidFill>
              </a:rPr>
              <a:t>Padel API doesn't currently expose them. v2 = scrape from match-level video annotations.</a:t>
            </a:r>
            <a:endParaRPr lang="en-US" sz="1100" dirty="0"/>
          </a:p>
        </p:txBody>
      </p:sp>
      <p:sp>
        <p:nvSpPr>
          <p:cNvPr id="9" name="Shape 7"/>
          <p:cNvSpPr/>
          <p:nvPr/>
        </p:nvSpPr>
        <p:spPr>
          <a:xfrm>
            <a:off x="457200" y="2011680"/>
            <a:ext cx="292608" cy="292608"/>
          </a:xfrm>
          <a:prstGeom prst="ellipse">
            <a:avLst/>
          </a:prstGeom>
          <a:solidFill>
            <a:srgbClr val="0EA5E9"/>
          </a:solidFill>
          <a:ln/>
        </p:spPr>
        <p:txBody>
          <a:bodyPr/>
          <a:lstStyle/>
          <a:p>
            <a:endParaRPr lang="en-US"/>
          </a:p>
        </p:txBody>
      </p:sp>
      <p:sp>
        <p:nvSpPr>
          <p:cNvPr id="10" name="Text 8"/>
          <p:cNvSpPr/>
          <p:nvPr/>
        </p:nvSpPr>
        <p:spPr>
          <a:xfrm>
            <a:off x="457200" y="2011680"/>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rPr>
              <a:t>+</a:t>
            </a:r>
            <a:endParaRPr lang="en-US" sz="1600" dirty="0"/>
          </a:p>
        </p:txBody>
      </p:sp>
      <p:sp>
        <p:nvSpPr>
          <p:cNvPr id="11" name="Text 9"/>
          <p:cNvSpPr/>
          <p:nvPr/>
        </p:nvSpPr>
        <p:spPr>
          <a:xfrm>
            <a:off x="868680" y="1984248"/>
            <a:ext cx="2743200" cy="320040"/>
          </a:xfrm>
          <a:prstGeom prst="rect">
            <a:avLst/>
          </a:prstGeom>
          <a:noFill/>
          <a:ln/>
        </p:spPr>
        <p:txBody>
          <a:bodyPr wrap="square" lIns="0" tIns="0" rIns="0" bIns="0" rtlCol="0" anchor="ctr"/>
          <a:lstStyle/>
          <a:p>
            <a:pPr marL="0" indent="0">
              <a:buNone/>
            </a:pPr>
            <a:r>
              <a:rPr lang="en-US" sz="1300" b="1" dirty="0">
                <a:solidFill>
                  <a:srgbClr val="1F2937"/>
                </a:solidFill>
              </a:rPr>
              <a:t>Sensor integration</a:t>
            </a:r>
            <a:endParaRPr lang="en-US" sz="1300" dirty="0"/>
          </a:p>
        </p:txBody>
      </p:sp>
      <p:sp>
        <p:nvSpPr>
          <p:cNvPr id="12" name="Text 10"/>
          <p:cNvSpPr/>
          <p:nvPr/>
        </p:nvSpPr>
        <p:spPr>
          <a:xfrm>
            <a:off x="3657600" y="1984248"/>
            <a:ext cx="5029200" cy="502920"/>
          </a:xfrm>
          <a:prstGeom prst="rect">
            <a:avLst/>
          </a:prstGeom>
          <a:noFill/>
          <a:ln/>
        </p:spPr>
        <p:txBody>
          <a:bodyPr wrap="square" lIns="0" tIns="0" rIns="0" bIns="0" rtlCol="0" anchor="ctr"/>
          <a:lstStyle/>
          <a:p>
            <a:pPr marL="0" indent="0">
              <a:buNone/>
            </a:pPr>
            <a:r>
              <a:rPr lang="en-US" sz="1100" dirty="0">
                <a:solidFill>
                  <a:srgbClr val="64748B"/>
                </a:solidFill>
              </a:rPr>
              <a:t>Modern padel paddles (Babolat Pop, Zepp) push event streams. Plugging them in unlocks the spatial layer that's deliberately out of v1.</a:t>
            </a:r>
            <a:endParaRPr lang="en-US" sz="1100" dirty="0"/>
          </a:p>
        </p:txBody>
      </p:sp>
      <p:sp>
        <p:nvSpPr>
          <p:cNvPr id="13" name="Shape 11"/>
          <p:cNvSpPr/>
          <p:nvPr/>
        </p:nvSpPr>
        <p:spPr>
          <a:xfrm>
            <a:off x="457200" y="2606040"/>
            <a:ext cx="292608" cy="292608"/>
          </a:xfrm>
          <a:prstGeom prst="ellipse">
            <a:avLst/>
          </a:prstGeom>
          <a:solidFill>
            <a:srgbClr val="0EA5E9"/>
          </a:solidFill>
          <a:ln/>
        </p:spPr>
        <p:txBody>
          <a:bodyPr/>
          <a:lstStyle/>
          <a:p>
            <a:endParaRPr lang="en-US"/>
          </a:p>
        </p:txBody>
      </p:sp>
      <p:sp>
        <p:nvSpPr>
          <p:cNvPr id="14" name="Text 12"/>
          <p:cNvSpPr/>
          <p:nvPr/>
        </p:nvSpPr>
        <p:spPr>
          <a:xfrm>
            <a:off x="457200" y="2606040"/>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rPr>
              <a:t>+</a:t>
            </a:r>
            <a:endParaRPr lang="en-US" sz="1600" dirty="0"/>
          </a:p>
        </p:txBody>
      </p:sp>
      <p:sp>
        <p:nvSpPr>
          <p:cNvPr id="15" name="Text 13"/>
          <p:cNvSpPr/>
          <p:nvPr/>
        </p:nvSpPr>
        <p:spPr>
          <a:xfrm>
            <a:off x="868680" y="2578608"/>
            <a:ext cx="2743200" cy="320040"/>
          </a:xfrm>
          <a:prstGeom prst="rect">
            <a:avLst/>
          </a:prstGeom>
          <a:noFill/>
          <a:ln/>
        </p:spPr>
        <p:txBody>
          <a:bodyPr wrap="square" lIns="0" tIns="0" rIns="0" bIns="0" rtlCol="0" anchor="ctr"/>
          <a:lstStyle/>
          <a:p>
            <a:pPr marL="0" indent="0">
              <a:buNone/>
            </a:pPr>
            <a:r>
              <a:rPr lang="en-US" sz="1300" b="1" dirty="0">
                <a:solidFill>
                  <a:srgbClr val="1F2937"/>
                </a:solidFill>
              </a:rPr>
              <a:t>Multi-user support</a:t>
            </a:r>
            <a:endParaRPr lang="en-US" sz="1300" dirty="0"/>
          </a:p>
        </p:txBody>
      </p:sp>
      <p:sp>
        <p:nvSpPr>
          <p:cNvPr id="16" name="Text 14"/>
          <p:cNvSpPr/>
          <p:nvPr/>
        </p:nvSpPr>
        <p:spPr>
          <a:xfrm>
            <a:off x="3657600" y="2578608"/>
            <a:ext cx="5029200" cy="502920"/>
          </a:xfrm>
          <a:prstGeom prst="rect">
            <a:avLst/>
          </a:prstGeom>
          <a:noFill/>
          <a:ln/>
        </p:spPr>
        <p:txBody>
          <a:bodyPr wrap="square" lIns="0" tIns="0" rIns="0" bIns="0" rtlCol="0" anchor="ctr"/>
          <a:lstStyle/>
          <a:p>
            <a:pPr marL="0" indent="0">
              <a:buNone/>
            </a:pPr>
            <a:r>
              <a:rPr lang="en-US" sz="1100" dirty="0">
                <a:solidFill>
                  <a:srgbClr val="64748B"/>
                </a:solidFill>
              </a:rPr>
              <a:t>Currently single-user. Add Streamlit auth + per-user CSV → club coach can see every student.</a:t>
            </a:r>
            <a:endParaRPr lang="en-US" sz="1100" dirty="0"/>
          </a:p>
        </p:txBody>
      </p:sp>
      <p:sp>
        <p:nvSpPr>
          <p:cNvPr id="17" name="Shape 15"/>
          <p:cNvSpPr/>
          <p:nvPr/>
        </p:nvSpPr>
        <p:spPr>
          <a:xfrm>
            <a:off x="457200" y="3200400"/>
            <a:ext cx="292608" cy="292608"/>
          </a:xfrm>
          <a:prstGeom prst="ellipse">
            <a:avLst/>
          </a:prstGeom>
          <a:solidFill>
            <a:srgbClr val="0EA5E9"/>
          </a:solidFill>
          <a:ln/>
        </p:spPr>
        <p:txBody>
          <a:bodyPr/>
          <a:lstStyle/>
          <a:p>
            <a:endParaRPr lang="en-US"/>
          </a:p>
        </p:txBody>
      </p:sp>
      <p:sp>
        <p:nvSpPr>
          <p:cNvPr id="18" name="Text 16"/>
          <p:cNvSpPr/>
          <p:nvPr/>
        </p:nvSpPr>
        <p:spPr>
          <a:xfrm>
            <a:off x="457200" y="3200400"/>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rPr>
              <a:t>+</a:t>
            </a:r>
            <a:endParaRPr lang="en-US" sz="1600" dirty="0"/>
          </a:p>
        </p:txBody>
      </p:sp>
      <p:sp>
        <p:nvSpPr>
          <p:cNvPr id="19" name="Text 17"/>
          <p:cNvSpPr/>
          <p:nvPr/>
        </p:nvSpPr>
        <p:spPr>
          <a:xfrm>
            <a:off x="868680" y="3172968"/>
            <a:ext cx="2743200" cy="320040"/>
          </a:xfrm>
          <a:prstGeom prst="rect">
            <a:avLst/>
          </a:prstGeom>
          <a:noFill/>
          <a:ln/>
        </p:spPr>
        <p:txBody>
          <a:bodyPr wrap="square" lIns="0" tIns="0" rIns="0" bIns="0" rtlCol="0" anchor="ctr"/>
          <a:lstStyle/>
          <a:p>
            <a:pPr marL="0" indent="0">
              <a:buNone/>
            </a:pPr>
            <a:r>
              <a:rPr lang="en-US" sz="1300" b="1" dirty="0">
                <a:solidFill>
                  <a:srgbClr val="1F2937"/>
                </a:solidFill>
              </a:rPr>
              <a:t>Mobile-first redesign</a:t>
            </a:r>
            <a:endParaRPr lang="en-US" sz="1300" dirty="0"/>
          </a:p>
        </p:txBody>
      </p:sp>
      <p:sp>
        <p:nvSpPr>
          <p:cNvPr id="20" name="Text 18"/>
          <p:cNvSpPr/>
          <p:nvPr/>
        </p:nvSpPr>
        <p:spPr>
          <a:xfrm>
            <a:off x="3657600" y="3172968"/>
            <a:ext cx="5029200" cy="502920"/>
          </a:xfrm>
          <a:prstGeom prst="rect">
            <a:avLst/>
          </a:prstGeom>
          <a:noFill/>
          <a:ln/>
        </p:spPr>
        <p:txBody>
          <a:bodyPr wrap="square" lIns="0" tIns="0" rIns="0" bIns="0" rtlCol="0" anchor="ctr"/>
          <a:lstStyle/>
          <a:p>
            <a:pPr marL="0" indent="0">
              <a:buNone/>
            </a:pPr>
            <a:r>
              <a:rPr lang="en-US" sz="1100" dirty="0">
                <a:solidFill>
                  <a:srgbClr val="64748B"/>
                </a:solidFill>
              </a:rPr>
              <a:t>Logging is a phone task. Streamlit's mobile layout is OK; a Capacitor wrap would be better.</a:t>
            </a:r>
            <a:endParaRPr lang="en-US" sz="1100" dirty="0"/>
          </a:p>
        </p:txBody>
      </p:sp>
      <p:sp>
        <p:nvSpPr>
          <p:cNvPr id="21" name="Shape 19"/>
          <p:cNvSpPr/>
          <p:nvPr/>
        </p:nvSpPr>
        <p:spPr>
          <a:xfrm>
            <a:off x="457200" y="3794760"/>
            <a:ext cx="292608" cy="292608"/>
          </a:xfrm>
          <a:prstGeom prst="ellipse">
            <a:avLst/>
          </a:prstGeom>
          <a:solidFill>
            <a:srgbClr val="0EA5E9"/>
          </a:solidFill>
          <a:ln/>
        </p:spPr>
        <p:txBody>
          <a:bodyPr/>
          <a:lstStyle/>
          <a:p>
            <a:endParaRPr lang="en-US"/>
          </a:p>
        </p:txBody>
      </p:sp>
      <p:sp>
        <p:nvSpPr>
          <p:cNvPr id="22" name="Text 20"/>
          <p:cNvSpPr/>
          <p:nvPr/>
        </p:nvSpPr>
        <p:spPr>
          <a:xfrm>
            <a:off x="457200" y="3794760"/>
            <a:ext cx="292608" cy="292608"/>
          </a:xfrm>
          <a:prstGeom prst="rect">
            <a:avLst/>
          </a:prstGeom>
          <a:noFill/>
          <a:ln/>
        </p:spPr>
        <p:txBody>
          <a:bodyPr wrap="square" lIns="0" tIns="0" rIns="0" bIns="0" rtlCol="0" anchor="ctr"/>
          <a:lstStyle/>
          <a:p>
            <a:pPr marL="0" indent="0" algn="ctr">
              <a:buNone/>
            </a:pPr>
            <a:r>
              <a:rPr lang="en-US" sz="1600" b="1" dirty="0">
                <a:solidFill>
                  <a:srgbClr val="FFFFFF"/>
                </a:solidFill>
              </a:rPr>
              <a:t>+</a:t>
            </a:r>
            <a:endParaRPr lang="en-US" sz="1600" dirty="0"/>
          </a:p>
        </p:txBody>
      </p:sp>
      <p:sp>
        <p:nvSpPr>
          <p:cNvPr id="23" name="Text 21"/>
          <p:cNvSpPr/>
          <p:nvPr/>
        </p:nvSpPr>
        <p:spPr>
          <a:xfrm>
            <a:off x="868680" y="3767328"/>
            <a:ext cx="2743200" cy="320040"/>
          </a:xfrm>
          <a:prstGeom prst="rect">
            <a:avLst/>
          </a:prstGeom>
          <a:noFill/>
          <a:ln/>
        </p:spPr>
        <p:txBody>
          <a:bodyPr wrap="square" lIns="0" tIns="0" rIns="0" bIns="0" rtlCol="0" anchor="ctr"/>
          <a:lstStyle/>
          <a:p>
            <a:pPr marL="0" indent="0">
              <a:buNone/>
            </a:pPr>
            <a:r>
              <a:rPr lang="en-US" sz="1300" b="1" dirty="0">
                <a:solidFill>
                  <a:srgbClr val="1F2937"/>
                </a:solidFill>
              </a:rPr>
              <a:t>LLM-generated weekly digest</a:t>
            </a:r>
            <a:endParaRPr lang="en-US" sz="1300" dirty="0"/>
          </a:p>
        </p:txBody>
      </p:sp>
      <p:sp>
        <p:nvSpPr>
          <p:cNvPr id="24" name="Text 22"/>
          <p:cNvSpPr/>
          <p:nvPr/>
        </p:nvSpPr>
        <p:spPr>
          <a:xfrm>
            <a:off x="3657600" y="3767328"/>
            <a:ext cx="5029200" cy="502920"/>
          </a:xfrm>
          <a:prstGeom prst="rect">
            <a:avLst/>
          </a:prstGeom>
          <a:noFill/>
          <a:ln/>
        </p:spPr>
        <p:txBody>
          <a:bodyPr wrap="square" lIns="0" tIns="0" rIns="0" bIns="0" rtlCol="0" anchor="ctr"/>
          <a:lstStyle/>
          <a:p>
            <a:pPr marL="0" indent="0">
              <a:buNone/>
            </a:pPr>
            <a:r>
              <a:rPr lang="en-US" sz="1100" dirty="0">
                <a:solidFill>
                  <a:srgbClr val="64748B"/>
                </a:solidFill>
              </a:rPr>
              <a:t>"This week, your bandeja was on, your smash bled 12 points. Drill X."</a:t>
            </a:r>
            <a:endParaRPr lang="en-US" sz="1100" dirty="0"/>
          </a:p>
        </p:txBody>
      </p:sp>
      <p:sp>
        <p:nvSpPr>
          <p:cNvPr id="25" name="Text 23"/>
          <p:cNvSpPr/>
          <p:nvPr/>
        </p:nvSpPr>
        <p:spPr>
          <a:xfrm>
            <a:off x="365760" y="4846320"/>
            <a:ext cx="7315200" cy="228600"/>
          </a:xfrm>
          <a:prstGeom prst="rect">
            <a:avLst/>
          </a:prstGeom>
          <a:noFill/>
          <a:ln/>
        </p:spPr>
        <p:txBody>
          <a:bodyPr wrap="square" lIns="0" tIns="0" rIns="0" bIns="0" rtlCol="0" anchor="ctr"/>
          <a:lstStyle/>
          <a:p>
            <a:pPr marL="0" indent="0">
              <a:buNone/>
            </a:pPr>
            <a:r>
              <a:rPr lang="en-US" sz="900" dirty="0">
                <a:solidFill>
                  <a:srgbClr val="64748B"/>
                </a:solidFill>
                <a:latin typeface="Calibri" pitchFamily="34" charset="0"/>
                <a:ea typeface="Calibri" pitchFamily="34" charset="-122"/>
                <a:cs typeface="Calibri" pitchFamily="34" charset="-120"/>
              </a:rPr>
              <a:t>PadelLens · DV4S Exam · Politecnico Milano · AY 2025/2026</a:t>
            </a:r>
            <a:endParaRPr lang="en-US" sz="900" dirty="0"/>
          </a:p>
        </p:txBody>
      </p:sp>
      <p:sp>
        <p:nvSpPr>
          <p:cNvPr id="26" name="Text 24"/>
          <p:cNvSpPr/>
          <p:nvPr/>
        </p:nvSpPr>
        <p:spPr>
          <a:xfrm>
            <a:off x="8503920" y="4846320"/>
            <a:ext cx="365760" cy="228600"/>
          </a:xfrm>
          <a:prstGeom prst="rect">
            <a:avLst/>
          </a:prstGeom>
          <a:noFill/>
          <a:ln/>
        </p:spPr>
        <p:txBody>
          <a:bodyPr wrap="square" lIns="0" tIns="0" rIns="0" bIns="0" rtlCol="0" anchor="ctr"/>
          <a:lstStyle/>
          <a:p>
            <a:pPr marL="0" indent="0" algn="r">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293B"/>
        </a:solidFill>
        <a:effectLst/>
      </p:bgPr>
    </p:bg>
    <p:spTree>
      <p:nvGrpSpPr>
        <p:cNvPr id="1" name=""/>
        <p:cNvGrpSpPr/>
        <p:nvPr/>
      </p:nvGrpSpPr>
      <p:grpSpPr>
        <a:xfrm>
          <a:off x="0" y="0"/>
          <a:ext cx="0" cy="0"/>
          <a:chOff x="0" y="0"/>
          <a:chExt cx="0" cy="0"/>
        </a:xfrm>
      </p:grpSpPr>
      <p:sp>
        <p:nvSpPr>
          <p:cNvPr id="2" name="Shape 0"/>
          <p:cNvSpPr/>
          <p:nvPr/>
        </p:nvSpPr>
        <p:spPr>
          <a:xfrm>
            <a:off x="457200" y="1645920"/>
            <a:ext cx="548640" cy="54864"/>
          </a:xfrm>
          <a:prstGeom prst="rect">
            <a:avLst/>
          </a:prstGeom>
          <a:solidFill>
            <a:srgbClr val="0EA5E9"/>
          </a:solidFill>
          <a:ln/>
        </p:spPr>
        <p:txBody>
          <a:bodyPr/>
          <a:lstStyle/>
          <a:p>
            <a:endParaRPr lang="en-US"/>
          </a:p>
        </p:txBody>
      </p:sp>
      <p:sp>
        <p:nvSpPr>
          <p:cNvPr id="3" name="Text 1"/>
          <p:cNvSpPr/>
          <p:nvPr/>
        </p:nvSpPr>
        <p:spPr>
          <a:xfrm>
            <a:off x="457200" y="1783080"/>
            <a:ext cx="8229600" cy="914400"/>
          </a:xfrm>
          <a:prstGeom prst="rect">
            <a:avLst/>
          </a:prstGeom>
          <a:noFill/>
          <a:ln/>
        </p:spPr>
        <p:txBody>
          <a:bodyPr wrap="square" lIns="0" tIns="0" rIns="0" bIns="0" rtlCol="0" anchor="ctr"/>
          <a:lstStyle/>
          <a:p>
            <a:pPr marL="0" indent="0">
              <a:buNone/>
            </a:pPr>
            <a:r>
              <a:rPr lang="en-US" sz="6000" b="1" kern="0" spc="300" dirty="0">
                <a:solidFill>
                  <a:srgbClr val="FFFFFF"/>
                </a:solidFill>
                <a:latin typeface="Calibri" pitchFamily="34" charset="0"/>
                <a:ea typeface="Calibri" pitchFamily="34" charset="-122"/>
                <a:cs typeface="Calibri" pitchFamily="34" charset="-120"/>
              </a:rPr>
              <a:t>THANK YOU</a:t>
            </a:r>
            <a:endParaRPr lang="en-US" sz="6000" dirty="0"/>
          </a:p>
        </p:txBody>
      </p:sp>
      <p:sp>
        <p:nvSpPr>
          <p:cNvPr id="4" name="Text 2"/>
          <p:cNvSpPr/>
          <p:nvPr/>
        </p:nvSpPr>
        <p:spPr>
          <a:xfrm>
            <a:off x="457200" y="2788920"/>
            <a:ext cx="8229600" cy="457200"/>
          </a:xfrm>
          <a:prstGeom prst="rect">
            <a:avLst/>
          </a:prstGeom>
          <a:noFill/>
          <a:ln/>
        </p:spPr>
        <p:txBody>
          <a:bodyPr wrap="square" lIns="0" tIns="0" rIns="0" bIns="0" rtlCol="0" anchor="ctr"/>
          <a:lstStyle/>
          <a:p>
            <a:pPr marL="0" indent="0">
              <a:buNone/>
            </a:pPr>
            <a:r>
              <a:rPr lang="en-US" sz="2200" i="1" dirty="0">
                <a:solidFill>
                  <a:srgbClr val="0EA5E9"/>
                </a:solidFill>
                <a:latin typeface="Calibri" pitchFamily="34" charset="0"/>
                <a:ea typeface="Calibri" pitchFamily="34" charset="-122"/>
                <a:cs typeface="Calibri" pitchFamily="34" charset="-120"/>
              </a:rPr>
              <a:t>Questions?</a:t>
            </a:r>
            <a:endParaRPr lang="en-US" sz="2200" dirty="0"/>
          </a:p>
        </p:txBody>
      </p:sp>
      <p:sp>
        <p:nvSpPr>
          <p:cNvPr id="5" name="Shape 3"/>
          <p:cNvSpPr/>
          <p:nvPr/>
        </p:nvSpPr>
        <p:spPr>
          <a:xfrm>
            <a:off x="457200" y="4114800"/>
            <a:ext cx="54864" cy="457200"/>
          </a:xfrm>
          <a:prstGeom prst="rect">
            <a:avLst/>
          </a:prstGeom>
          <a:solidFill>
            <a:srgbClr val="0EA5E9"/>
          </a:solidFill>
          <a:ln/>
        </p:spPr>
        <p:txBody>
          <a:bodyPr/>
          <a:lstStyle/>
          <a:p>
            <a:endParaRPr lang="en-US"/>
          </a:p>
        </p:txBody>
      </p:sp>
      <p:sp>
        <p:nvSpPr>
          <p:cNvPr id="6" name="Text 4"/>
          <p:cNvSpPr/>
          <p:nvPr/>
        </p:nvSpPr>
        <p:spPr>
          <a:xfrm>
            <a:off x="640080" y="4114800"/>
            <a:ext cx="8046720" cy="457200"/>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109</TotalTime>
  <Words>3923</Words>
  <Application>Microsoft Office PowerPoint</Application>
  <PresentationFormat>On-screen Show (16:9)</PresentationFormat>
  <Paragraphs>471</Paragraphs>
  <Slides>27</Slides>
  <Notes>27</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PadelLens - DV4S Exam Presentation</dc:title>
  <dc:subject>PptxGenJS Presentation</dc:subject>
  <dc:creator>Sensei</dc:creator>
  <cp:lastModifiedBy>Abdullah Saeed [Application Developer]</cp:lastModifiedBy>
  <cp:revision>3</cp:revision>
  <dcterms:created xsi:type="dcterms:W3CDTF">2026-05-14T11:24:49Z</dcterms:created>
  <dcterms:modified xsi:type="dcterms:W3CDTF">2026-06-25T07:24:35Z</dcterms:modified>
</cp:coreProperties>
</file>