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3"/>
  </p:notesMasterIdLst>
  <p:sldIdLst>
    <p:sldId id="256" r:id="rId5"/>
    <p:sldId id="257" r:id="rId6"/>
    <p:sldId id="284" r:id="rId38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93" r:id="rId47"/>
    <p:sldId id="294" r:id="rId48"/>
    <p:sldId id="295" r:id="rId49"/>
    <p:sldId id="287" r:id="rId41"/>
    <p:sldId id="288" r:id="rId42"/>
    <p:sldId id="289" r:id="rId43"/>
    <p:sldId id="268" r:id="rId17"/>
    <p:sldId id="269" r:id="rId18"/>
    <p:sldId id="270" r:id="rId19"/>
    <p:sldId id="271" r:id="rId20"/>
    <p:sldId id="272" r:id="rId21"/>
    <p:sldId id="285" r:id="rId39"/>
    <p:sldId id="273" r:id="rId24"/>
    <p:sldId id="274" r:id="rId25"/>
    <p:sldId id="275" r:id="rId26"/>
    <p:sldId id="290" r:id="rId44"/>
    <p:sldId id="291" r:id="rId45"/>
    <p:sldId id="292" r:id="rId46"/>
    <p:sldId id="276" r:id="rId27"/>
    <p:sldId id="277" r:id="rId28"/>
    <p:sldId id="278" r:id="rId22"/>
    <p:sldId id="279" r:id="rId23"/>
    <p:sldId id="286" r:id="rId40"/>
    <p:sldId id="280" r:id="rId29"/>
    <p:sldId id="281" r:id="rId30"/>
    <p:sldId id="282" r:id="rId31"/>
    <p:sldId id="283" r:id="rId3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03" autoAdjust="0"/>
    <p:restoredTop sz="84779" autoAdjust="0"/>
  </p:normalViewPr>
  <p:slideViewPr>
    <p:cSldViewPr snapToGrid="0" snapToObjects="1">
      <p:cViewPr>
        <p:scale>
          <a:sx n="132" d="100"/>
          <a:sy n="132" d="100"/>
        </p:scale>
        <p:origin x="76" y="-1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20.xml"/><Relationship Id="rId18" Type="http://schemas.openxmlformats.org/officeDocument/2006/relationships/slide" Target="slides/slide21.xml"/><Relationship Id="rId19" Type="http://schemas.openxmlformats.org/officeDocument/2006/relationships/slide" Target="slides/slide22.xml"/><Relationship Id="rId20" Type="http://schemas.openxmlformats.org/officeDocument/2006/relationships/slide" Target="slides/slide23.xml"/><Relationship Id="rId21" Type="http://schemas.openxmlformats.org/officeDocument/2006/relationships/slide" Target="slides/slide24.xml"/><Relationship Id="rId22" Type="http://schemas.openxmlformats.org/officeDocument/2006/relationships/slide" Target="slides/slide34.xml"/><Relationship Id="rId23" Type="http://schemas.openxmlformats.org/officeDocument/2006/relationships/slide" Target="slides/slide35.xml"/><Relationship Id="rId24" Type="http://schemas.openxmlformats.org/officeDocument/2006/relationships/slide" Target="slides/slide26.xml"/><Relationship Id="rId25" Type="http://schemas.openxmlformats.org/officeDocument/2006/relationships/slide" Target="slides/slide27.xml"/><Relationship Id="rId26" Type="http://schemas.openxmlformats.org/officeDocument/2006/relationships/slide" Target="slides/slide28.xml"/><Relationship Id="rId27" Type="http://schemas.openxmlformats.org/officeDocument/2006/relationships/slide" Target="slides/slide32.xml"/><Relationship Id="rId28" Type="http://schemas.openxmlformats.org/officeDocument/2006/relationships/slide" Target="slides/slide33.xml"/><Relationship Id="rId29" Type="http://schemas.openxmlformats.org/officeDocument/2006/relationships/slide" Target="slides/slide37.xml"/><Relationship Id="rId30" Type="http://schemas.openxmlformats.org/officeDocument/2006/relationships/slide" Target="slides/slide38.xml"/><Relationship Id="rId31" Type="http://schemas.openxmlformats.org/officeDocument/2006/relationships/slide" Target="slides/slide39.xml"/><Relationship Id="rId32" Type="http://schemas.openxmlformats.org/officeDocument/2006/relationships/slide" Target="slides/slide4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Relationship Id="rId38" Type="http://schemas.openxmlformats.org/officeDocument/2006/relationships/slide" Target="slides/slide3.xml"/><Relationship Id="rId39" Type="http://schemas.openxmlformats.org/officeDocument/2006/relationships/slide" Target="slides/slide25.xml"/><Relationship Id="rId40" Type="http://schemas.openxmlformats.org/officeDocument/2006/relationships/slide" Target="slides/slide36.xml"/><Relationship Id="rId41" Type="http://schemas.openxmlformats.org/officeDocument/2006/relationships/slide" Target="slides/slide17.xml"/><Relationship Id="rId42" Type="http://schemas.openxmlformats.org/officeDocument/2006/relationships/slide" Target="slides/slide18.xml"/><Relationship Id="rId43" Type="http://schemas.openxmlformats.org/officeDocument/2006/relationships/slide" Target="slides/slide19.xml"/><Relationship Id="rId44" Type="http://schemas.openxmlformats.org/officeDocument/2006/relationships/slide" Target="slides/slide29.xml"/><Relationship Id="rId45" Type="http://schemas.openxmlformats.org/officeDocument/2006/relationships/slide" Target="slides/slide30.xml"/><Relationship Id="rId46" Type="http://schemas.openxmlformats.org/officeDocument/2006/relationships/slide" Target="slides/slide31.xml"/><Relationship Id="rId47" Type="http://schemas.openxmlformats.org/officeDocument/2006/relationships/slide" Target="slides/slide14.xml"/><Relationship Id="rId48" Type="http://schemas.openxmlformats.org/officeDocument/2006/relationships/slide" Target="slides/slide15.xml"/><Relationship Id="rId49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5004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hyperlink" Target="https://www.figma.com/design/Kyqnt8CnTDmD9yWxxcK4Ec/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7.png"/><Relationship Id="rId7" Type="http://schemas.openxmlformats.org/officeDocument/2006/relationships/image" Target="../media/image4.png"/><Relationship Id="rId8" Type="http://schemas.openxmlformats.org/officeDocument/2006/relationships/hyperlink" Target="https://padellens.streamlit.app/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github.com/Abdullahsaeed10/PadelLen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463040"/>
            <a:ext cx="54864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002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PADELLENS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Tour Insights + My Match Log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visualization tool for amateur padel players.</a:t>
            </a:r>
            <a:endParaRPr lang="en-US" sz="1400" dirty="0"/>
          </a:p>
        </p:txBody>
      </p:sp>
      <p:sp>
        <p:nvSpPr>
          <p:cNvPr id="9" name="Text Resub Subtitle"/>
          <p:cNvSpPr/>
          <p:nvPr/>
        </p:nvSpPr>
        <p:spPr>
          <a:xfrm>
            <a:off x="457200" y="35204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Resubmission - with real data &amp; discovered insights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4160520"/>
            <a:ext cx="54864" cy="54864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4160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for Sport  ·  Sports Engineering MSc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Politecnico di Milano  ·  AY 2025/2026</a:t>
            </a:r>
            <a:endParaRPr lang="en-US" sz="1200" dirty="0"/>
          </a:p>
        </p:txBody>
      </p:sp>
      <p:pic>
        <p:nvPicPr>
          <p:cNvPr id="8" name="Picture 7" descr="Plus de 20 images de Pádel et de Padel - Pixabay">
            <a:extLst>
              <a:ext uri="{FF2B5EF4-FFF2-40B4-BE49-F238E27FC236}">
                <a16:creationId xmlns:a16="http://schemas.microsoft.com/office/drawing/2014/main" id="{DCC3CE6F-1640-3499-9954-2CA8F6F950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8739" y="0"/>
            <a:ext cx="4665262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84048"/>
            <a:ext cx="64008" cy="29260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12064" y="347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talk is organized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65760" cy="36576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3898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383280" y="138988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domain, audience, editorial angle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365760" cy="36576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18928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Data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83280" y="189280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Sources, schema, exploration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365760" cy="36576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23957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Design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383280" y="239572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Wireframes, principles, heuristic eval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880360"/>
            <a:ext cx="365760" cy="36576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3383280"/>
            <a:ext cx="365760" cy="36576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3886200"/>
            <a:ext cx="365760" cy="36576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40" name="Text Updated Note"/>
          <p:cNvSpPr/>
          <p:nvPr/>
        </p:nvSpPr>
        <p:spPr>
          <a:xfrm>
            <a:off x="457200" y="43891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marked NEW/UPDATED show what changed since the first submission.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05840" y="39044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&amp; Conclusions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383280" y="390448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walkthrough, future work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PadelLens · DV4S Exam · Politecnico Milano · AY 2025/2026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1" name="Text 17">
            <a:extLst>
              <a:ext uri="{FF2B5EF4-FFF2-40B4-BE49-F238E27FC236}">
                <a16:creationId xmlns:a16="http://schemas.microsoft.com/office/drawing/2014/main" id="{808A806C-C4DA-3B76-1339-D21350B7B912}"/>
              </a:ext>
            </a:extLst>
          </p:cNvPr>
          <p:cNvSpPr>
            <a:spLocks/>
          </p:cNvSpPr>
          <p:nvPr/>
        </p:nvSpPr>
        <p:spPr>
          <a:xfrm>
            <a:off x="1005840" y="340193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Implementation</a:t>
            </a:r>
            <a:endParaRPr lang="en-US" sz="1500" dirty="0"/>
          </a:p>
        </p:txBody>
      </p:sp>
      <p:sp>
        <p:nvSpPr>
          <p:cNvPr id="32" name="Text 18">
            <a:extLst>
              <a:ext uri="{FF2B5EF4-FFF2-40B4-BE49-F238E27FC236}">
                <a16:creationId xmlns:a16="http://schemas.microsoft.com/office/drawing/2014/main" id="{32636B9A-A187-86A6-DBB9-83BF23A76B3A}"/>
              </a:ext>
            </a:extLst>
          </p:cNvPr>
          <p:cNvSpPr>
            <a:spLocks/>
          </p:cNvSpPr>
          <p:nvPr/>
        </p:nvSpPr>
        <p:spPr>
          <a:xfrm>
            <a:off x="3383280" y="3391583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Streamlit, architecture</a:t>
            </a:r>
            <a:endParaRPr lang="en-US" sz="1200" dirty="0"/>
          </a:p>
        </p:txBody>
      </p:sp>
      <p:sp>
        <p:nvSpPr>
          <p:cNvPr id="33" name="Text 21">
            <a:extLst>
              <a:ext uri="{FF2B5EF4-FFF2-40B4-BE49-F238E27FC236}">
                <a16:creationId xmlns:a16="http://schemas.microsoft.com/office/drawing/2014/main" id="{7F301614-53E2-0DF7-BB5D-59D7B12DABF7}"/>
              </a:ext>
            </a:extLst>
          </p:cNvPr>
          <p:cNvSpPr>
            <a:spLocks/>
          </p:cNvSpPr>
          <p:nvPr/>
        </p:nvSpPr>
        <p:spPr>
          <a:xfrm>
            <a:off x="1005840" y="2882407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Representation</a:t>
            </a:r>
            <a:endParaRPr lang="en-US" sz="1500" dirty="0"/>
          </a:p>
        </p:txBody>
      </p:sp>
      <p:sp>
        <p:nvSpPr>
          <p:cNvPr id="34" name="Text 22">
            <a:extLst>
              <a:ext uri="{FF2B5EF4-FFF2-40B4-BE49-F238E27FC236}">
                <a16:creationId xmlns:a16="http://schemas.microsoft.com/office/drawing/2014/main" id="{A8AFDB81-9206-0977-FE59-4A29A7A805B2}"/>
              </a:ext>
            </a:extLst>
          </p:cNvPr>
          <p:cNvSpPr>
            <a:spLocks/>
          </p:cNvSpPr>
          <p:nvPr/>
        </p:nvSpPr>
        <p:spPr>
          <a:xfrm>
            <a:off x="3383280" y="2926923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choices, color, interactivity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84048"/>
            <a:ext cx="64008" cy="29260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12064" y="347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since the first submission - at a glance</a:t>
            </a:r>
            <a:endParaRPr lang="en-US" sz="2600" dirty="0"/>
          </a:p>
        </p:txBody>
      </p:sp>
      <p:sp>
        <p:nvSpPr>
          <p:cNvPr id="100" name="Text 100"/>
          <p:cNvSpPr/>
          <p:nvPr/>
        </p:nvSpPr>
        <p:spPr>
          <a:xfrm>
            <a:off x="502920" y="137769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0EA5E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101" name="Text 101"/>
          <p:cNvSpPr/>
          <p:nvPr/>
        </p:nvSpPr>
        <p:spPr>
          <a:xfrm>
            <a:off x="960120" y="13411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776-match dataset</a:t>
            </a:r>
            <a:endParaRPr lang="en-US" sz="1300" dirty="0"/>
          </a:p>
        </p:txBody>
      </p:sp>
      <p:sp>
        <p:nvSpPr>
          <p:cNvPr id="102" name="Text 102"/>
          <p:cNvSpPr/>
          <p:nvPr/>
        </p:nvSpPr>
        <p:spPr>
          <a:xfrm>
            <a:off x="960120" y="1615440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padelapi.org, 2026 season - 26 tournaments, 2,165 ranked players, my own API key.</a:t>
            </a:r>
            <a:endParaRPr lang="en-US" sz="1000" dirty="0"/>
          </a:p>
        </p:txBody>
      </p:sp>
      <p:sp>
        <p:nvSpPr>
          <p:cNvPr id="103" name="Text 103"/>
          <p:cNvSpPr/>
          <p:nvPr/>
        </p:nvSpPr>
        <p:spPr>
          <a:xfrm>
            <a:off x="502920" y="189585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0EA5E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104" name="Text 104"/>
          <p:cNvSpPr/>
          <p:nvPr/>
        </p:nvSpPr>
        <p:spPr>
          <a:xfrm>
            <a:off x="960120" y="18592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data exploration</a:t>
            </a:r>
            <a:endParaRPr lang="en-US" sz="1300" dirty="0"/>
          </a:p>
        </p:txBody>
      </p:sp>
      <p:sp>
        <p:nvSpPr>
          <p:cNvPr id="105" name="Text 105"/>
          <p:cNvSpPr/>
          <p:nvPr/>
        </p:nvSpPr>
        <p:spPr>
          <a:xfrm>
            <a:off x="960120" y="2133600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hypotheses tested; seven discovered findings, including an honest null.</a:t>
            </a:r>
            <a:endParaRPr lang="en-US" sz="1000" dirty="0"/>
          </a:p>
        </p:txBody>
      </p:sp>
      <p:sp>
        <p:nvSpPr>
          <p:cNvPr id="106" name="Text 106"/>
          <p:cNvSpPr/>
          <p:nvPr/>
        </p:nvSpPr>
        <p:spPr>
          <a:xfrm>
            <a:off x="502920" y="241401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0EA5E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107" name="Text 107"/>
          <p:cNvSpPr/>
          <p:nvPr/>
        </p:nvSpPr>
        <p:spPr>
          <a:xfrm>
            <a:off x="960120" y="23774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analytics layer</a:t>
            </a:r>
            <a:endParaRPr lang="en-US" sz="1300" dirty="0"/>
          </a:p>
        </p:txBody>
      </p:sp>
      <p:sp>
        <p:nvSpPr>
          <p:cNvPr id="108" name="Text 108"/>
          <p:cNvSpPr/>
          <p:nvPr/>
        </p:nvSpPr>
        <p:spPr>
          <a:xfrm>
            <a:off x="960120" y="2651760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 ratings, a logistic win-probability model, and confidence intervals on every statistic</a:t>
            </a:r>
            <a:endParaRPr lang="en-US" sz="1000" dirty="0"/>
          </a:p>
        </p:txBody>
      </p:sp>
      <p:sp>
        <p:nvSpPr>
          <p:cNvPr id="109" name="Text 109"/>
          <p:cNvSpPr/>
          <p:nvPr/>
        </p:nvSpPr>
        <p:spPr>
          <a:xfrm>
            <a:off x="502920" y="293217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0EA5E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110" name="Text 110"/>
          <p:cNvSpPr/>
          <p:nvPr/>
        </p:nvSpPr>
        <p:spPr>
          <a:xfrm>
            <a:off x="960120" y="28956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upgraded application</a:t>
            </a:r>
            <a:endParaRPr lang="en-US" sz="1300" dirty="0"/>
          </a:p>
        </p:txBody>
      </p:sp>
      <p:sp>
        <p:nvSpPr>
          <p:cNvPr id="111" name="Text 111"/>
          <p:cNvSpPr/>
          <p:nvPr/>
        </p:nvSpPr>
        <p:spPr>
          <a:xfrm>
            <a:off x="960120" y="3169920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SQLite-backed, multi-user-ready, with a new Insights page (seven discovery cards).</a:t>
            </a:r>
            <a:endParaRPr lang="en-US" sz="1000" dirty="0"/>
          </a:p>
        </p:txBody>
      </p:sp>
      <p:sp>
        <p:nvSpPr>
          <p:cNvPr id="112" name="Text 112"/>
          <p:cNvSpPr/>
          <p:nvPr/>
        </p:nvSpPr>
        <p:spPr>
          <a:xfrm>
            <a:off x="502920" y="345033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0EA5E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113" name="Text 113"/>
          <p:cNvSpPr/>
          <p:nvPr/>
        </p:nvSpPr>
        <p:spPr>
          <a:xfrm>
            <a:off x="960120" y="34137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Validation, honestly reported</a:t>
            </a:r>
            <a:endParaRPr lang="en-US" sz="1300" dirty="0"/>
          </a:p>
        </p:txBody>
      </p:sp>
      <p:sp>
        <p:nvSpPr>
          <p:cNvPr id="114" name="Text 114"/>
          <p:cNvSpPr/>
          <p:nvPr/>
        </p:nvSpPr>
        <p:spPr>
          <a:xfrm>
            <a:off x="960120" y="3688080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Instruments ready (survey, SUS, protocols); sessions with real club players scheduled.</a:t>
            </a:r>
            <a:endParaRPr lang="en-US" sz="1000" dirty="0"/>
          </a:p>
        </p:txBody>
      </p:sp>
      <p:sp>
        <p:nvSpPr>
          <p:cNvPr id="115" name="Text 115"/>
          <p:cNvSpPr/>
          <p:nvPr/>
        </p:nvSpPr>
        <p:spPr>
          <a:xfrm>
            <a:off x="502920" y="396849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0EA5E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116" name="Text 116"/>
          <p:cNvSpPr/>
          <p:nvPr/>
        </p:nvSpPr>
        <p:spPr>
          <a:xfrm>
            <a:off x="960120" y="39319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polished, verified deliverable</a:t>
            </a:r>
            <a:endParaRPr lang="en-US" sz="1300" dirty="0"/>
          </a:p>
        </p:txBody>
      </p:sp>
      <p:sp>
        <p:nvSpPr>
          <p:cNvPr id="117" name="Text 117"/>
          <p:cNvSpPr/>
          <p:nvPr/>
        </p:nvSpPr>
        <p:spPr>
          <a:xfrm>
            <a:off x="960120" y="4206240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deck: consistent numbering, zero placeholders, speaker notes on every slide.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PadelLens · DV4S Exam · Politecnico Milano · AY 2025/2026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0"/>
            <a:ext cx="54864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154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Vision · Stage 1 of Kirk's data visualization process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84048"/>
            <a:ext cx="64008" cy="29260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12064" y="347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SPORT DOMAIN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padel?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11480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</a:rPr>
              <a:t>Padel is exploding.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EA5E9"/>
                </a:solidFill>
              </a:rPr>
              <a:t>1.1M+</a:t>
            </a:r>
            <a:r>
              <a:rPr lang="en-US" sz="1300" dirty="0">
                <a:solidFill>
                  <a:srgbClr val="64748B"/>
                </a:solidFill>
              </a:rPr>
              <a:t>  federated players in Italy (2024)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Up from ~30,000 in 2019 (FIP data).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</a:rPr>
              <a:t>Pros have analytics.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Amateurs have a group chat.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7033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Premier Padel rankings, ball-tracking, broadcast overlays - none of that reaches the club player.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1371600"/>
            <a:ext cx="384048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0" y="1508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</a:rPr>
              <a:t>THE GAP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0" y="17830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</a:rPr>
              <a:t>What amateurs feel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21488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64748B"/>
                </a:solidFill>
              </a:rPr>
              <a:t>"I always lose in the third set."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64748B"/>
                </a:solidFill>
              </a:rPr>
              <a:t>"I play better with Luca."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64748B"/>
                </a:solidFill>
              </a:rPr>
              <a:t>"My bandeja is OK, my smash isn't."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3200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</a:rPr>
              <a:t>What they can confirm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3566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F4444"/>
                </a:solidFill>
              </a:rPr>
              <a:t>Nothing.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029200" y="4023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That gap is the project.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PadelLens · DV4S Exam · Politecnico Milano · AY 2025/2026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84048"/>
            <a:ext cx="64008" cy="29260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12064" y="347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PROBLEM &amp; USER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at the other end of the screen?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900" b="1" kern="0" spc="400" dirty="0">
                <a:solidFill>
                  <a:srgbClr val="0EA5E9"/>
                </a:solidFill>
              </a:rPr>
              <a:t>PROBLEM STATEMENT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</a:rPr>
              <a:t>Amateur padel players want to see patterns in their own game that they can't feel - but no simple tool turns a player's match log into honest visual feedback.</a:t>
            </a:r>
            <a:endParaRPr lang="en-US" sz="900" dirty="0"/>
          </a:p>
        </p:txBody>
      </p:sp>
      <p:sp>
        <p:nvSpPr>
          <p:cNvPr id="30" name="Text Validation Note"/>
          <p:cNvSpPr/>
          <p:nvPr/>
        </p:nvSpPr>
        <p:spPr>
          <a:xfrm>
            <a:off x="457200" y="221361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now being grounded in a real survey + interviews (07_Validation)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402336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542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EA5E9"/>
                </a:solidFill>
              </a:rPr>
              <a:t>PRIMARY USER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</a:rPr>
              <a:t>Marco · the club player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15468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50" dirty="0">
                <a:solidFill>
                  <a:srgbClr val="64748B"/>
                </a:solidFill>
              </a:rPr>
              <a:t>22-40 years old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50" dirty="0">
                <a:solidFill>
                  <a:srgbClr val="64748B"/>
                </a:solidFill>
              </a:rPr>
              <a:t>Plays 1-5 times per week at his local club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50" dirty="0">
                <a:solidFill>
                  <a:srgbClr val="64748B"/>
                </a:solidFill>
              </a:rPr>
              <a:t>6 months to 5 years of experience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50" dirty="0">
                <a:solidFill>
                  <a:srgbClr val="64748B"/>
                </a:solidFill>
              </a:rPr>
              <a:t>Will spend 90 seconds logging on his phone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50" dirty="0">
                <a:solidFill>
                  <a:srgbClr val="64748B"/>
                </a:solidFill>
              </a:rPr>
              <a:t>Wants to improve · is not a pro 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2423160"/>
            <a:ext cx="402336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46320" y="2542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EA5E9"/>
                </a:solidFill>
              </a:rPr>
              <a:t>SECONDARY USER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46320" y="2788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</a:rPr>
              <a:t>Luca · the amateur coach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46320" y="315468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50" dirty="0">
                <a:solidFill>
                  <a:srgbClr val="64748B"/>
                </a:solidFill>
              </a:rPr>
              <a:t>Gives weekly 1-hour lessons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50" dirty="0">
                <a:solidFill>
                  <a:srgbClr val="64748B"/>
                </a:solidFill>
              </a:rPr>
              <a:t>Needs a 2-min summary of each student before training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50" dirty="0">
                <a:solidFill>
                  <a:srgbClr val="64748B"/>
                </a:solidFill>
              </a:rPr>
              <a:t>Cares about shot balance, error trends, partner effect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50" dirty="0">
                <a:solidFill>
                  <a:srgbClr val="64748B"/>
                </a:solidFill>
              </a:rPr>
              <a:t>Reads on a laptop, not a phone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PadelLens · DV4S Exam · Politecnico Milano · AY 2025/2026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84048"/>
            <a:ext cx="64008" cy="29260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12064" y="347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EDITORIAL THINKING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· Framing · Focus (Kirk)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9748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097280" cy="25603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FFFFF"/>
                </a:solidFill>
              </a:rPr>
              <a:t>ANGLE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</a:rPr>
              <a:t>Reflective self-analysis over time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Temporal · Categorical · Comparative.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5204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Spatial overlays (court heatmaps) deliberately excluded - we don't have sensor data.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1371600"/>
            <a:ext cx="269748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429000" y="1508760"/>
            <a:ext cx="1097280" cy="25603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29000" y="15087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FFFFF"/>
                </a:solidFill>
              </a:rPr>
              <a:t>FRAMING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29000" y="19202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</a:rPr>
              <a:t>What an amateur can log on a phone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29000" y="27432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Inside: matches, sets, shot tallies, partners, surface.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29000" y="35204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Outside: ball-trajectory, biometrics, opponent scouting.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1371600"/>
            <a:ext cx="269748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17920" y="1508760"/>
            <a:ext cx="1097280" cy="256032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17920" y="15087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FFFFF"/>
                </a:solidFill>
              </a:rPr>
              <a:t>FOCUS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17920" y="19202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</a:rPr>
              <a:t>One number above the fold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17920" y="27432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Last-10-matches win rate.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17920" y="35204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Plus: net shot balance, plain-language insight ("You win 80% with Luca").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PadelLens · DV4S Exam · Politecnico Milano · AY 2025/2026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84048"/>
            <a:ext cx="64008" cy="29260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12064" y="347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RELEVANCE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on Kirk's four factors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</a:rPr>
              <a:t>Timeliness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0" y="1490472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286000" y="1490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3/3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0" y="137160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Opens after a match or before the next one - actionable now.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965960"/>
            <a:ext cx="82296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19659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</a:rPr>
              <a:t>Interestingness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286000" y="2084832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286000" y="2084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3/3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3200" y="196596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Confirms or contradicts gut feelings - both outcomes are interesting.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560320"/>
            <a:ext cx="82296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2560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</a:rPr>
              <a:t>Pertinence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286000" y="2679192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286000" y="2679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3/3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43200" y="256032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Literally the user's own data - maximum personal connection.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154680"/>
            <a:ext cx="82296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3154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</a:rPr>
              <a:t>Sufficiency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286000" y="3273552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286000" y="3273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2/3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743200" y="315468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Deliberate trade-off: enough to inform, not so much it overwhelms.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FFFFFF"/>
                </a:solidFill>
              </a:rPr>
              <a:t>“You don't have to feel your game - you can see it.”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PadelLens · DV4S Exam · Politecnico Milano · AY 2025/2026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0"/>
            <a:ext cx="54864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Data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154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· Transformation · Exploration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84048"/>
            <a:ext cx="64008" cy="29260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12064" y="347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 PRO DATA SOURCE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Padel: the elite circuit behind our data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12064" y="115214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official global professional padel tour (launched 2022, run by the FIP and Qatar Sports Investments). Data comes from padelapi.org, a real REST API called with my own API key, covering the full 2026 season: 776 completed matches and 2,165 ranked players.</a:t>
            </a:r>
            <a:endParaRPr lang="en-US" sz="1150" dirty="0"/>
          </a:p>
        </p:txBody>
      </p:sp>
      <p:pic>
        <p:nvPicPr>
          <p:cNvPr id="6" name="Image 0" descr="/sessions/jolly-nifty-archimedes/mnt/Padel-Project/06_Presentation/assets/premier_padel_cou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83080"/>
            <a:ext cx="2743200" cy="2743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5537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Padel court (top-down). Swap in an official photo if you have rights.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520440" y="1783080"/>
            <a:ext cx="5257800" cy="658368"/>
          </a:xfrm>
          <a:prstGeom prst="roundRect">
            <a:avLst>
              <a:gd name="adj" fmla="val 8333"/>
            </a:avLst>
          </a:prstGeom>
          <a:solidFill>
            <a:srgbClr val="EAF6FD"/>
          </a:solidFill>
          <a:ln w="9525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703320" y="178308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~26  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tournaments per season, on 5 continents (Majors + P1 + P2 + Finals)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3566160" y="260604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617720" y="2642616"/>
            <a:ext cx="960120" cy="310896"/>
          </a:xfrm>
          <a:prstGeom prst="roundRect">
            <a:avLst>
              <a:gd name="adj" fmla="val 14706"/>
            </a:avLst>
          </a:prstGeom>
          <a:solidFill>
            <a:srgbClr val="0EA5E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pts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715000" y="260604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tier - 4 a year (Qatar, Italy, France, Mexico)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566160" y="306324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617720" y="3099816"/>
            <a:ext cx="960120" cy="310896"/>
          </a:xfrm>
          <a:prstGeom prst="roundRect">
            <a:avLst>
              <a:gd name="adj" fmla="val 14706"/>
            </a:avLst>
          </a:prstGeom>
          <a:solidFill>
            <a:srgbClr val="0EA5E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pts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715000" y="306324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tier - e.g. Madrid, Milano, Dubai, London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566160" y="352044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617720" y="3557016"/>
            <a:ext cx="960120" cy="310896"/>
          </a:xfrm>
          <a:prstGeom prst="roundRect">
            <a:avLst>
              <a:gd name="adj" fmla="val 14706"/>
            </a:avLst>
          </a:prstGeom>
          <a:solidFill>
            <a:srgbClr val="64748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~500 pts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715000" y="352044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tier - e.g. Brussels, Rotterdam, Germany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566160" y="397764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617720" y="4014216"/>
            <a:ext cx="960120" cy="310896"/>
          </a:xfrm>
          <a:prstGeom prst="roundRect">
            <a:avLst>
              <a:gd name="adj" fmla="val 14706"/>
            </a:avLst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 pts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715000" y="397764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finale - top 16 pairs, Barcelona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566160" y="45262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season, real data: 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776 completed matches, 26 tournaments, full draws Round-of-64 to Final, men's and women's competitions, 2,165 ranked players.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PadelLens · DV4S Exam · Politecnico Milano · AY 2025/2026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84048"/>
            <a:ext cx="64008" cy="29260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12064" y="347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ACQUISITION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layers, two sources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73152" cy="320040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EA5E9"/>
                </a:solidFill>
              </a:rPr>
              <a:t>LAYER A · PRO TOUR (REAL)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</a:rPr>
              <a:t>Padel API · padelapi.org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21488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50" dirty="0">
                <a:solidFill>
                  <a:srgbClr val="64748B"/>
                </a:solidFill>
              </a:rPr>
              <a:t>Rankings + real 2026-season match results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50" dirty="0">
                <a:solidFill>
                  <a:srgbClr val="64748B"/>
                </a:solidFill>
              </a:rPr>
              <a:t>10 req/min throttle, under the free-tier cap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50" dirty="0">
                <a:solidFill>
                  <a:srgbClr val="64748B"/>
                </a:solidFill>
              </a:rPr>
              <a:t>Restartable: one file per tournament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○"/>
            </a:pPr>
            <a:r>
              <a:rPr lang="en-US" sz="1150" i="1" dirty="0">
                <a:solidFill>
                  <a:srgbClr val="1F2937"/>
                </a:solidFill>
              </a:rPr>
              <a:t>Archives every raw response first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8580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</a:rPr>
              <a:t>SAFEGUARDS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347472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64748B"/>
                </a:solidFill>
              </a:rPr>
              <a:t>429 backoff, up to 4 retries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64748B"/>
                </a:solidFill>
              </a:rPr>
              <a:t>hidden_free_plan values are skipped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371600"/>
            <a:ext cx="402336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63440" y="1371600"/>
            <a:ext cx="73152" cy="32004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9204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59E0B"/>
                </a:solidFill>
              </a:rPr>
              <a:t>LAYER B · PERSONAL LOG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92040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</a:rPr>
              <a:t>Seed data + user-generated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92040" y="21488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</a:rPr>
              <a:t>No public amateur padel match data exists.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That absence is part of why this project exists.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2926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</a:rPr>
              <a:t>APPROACH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92040" y="320040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50" dirty="0">
                <a:solidFill>
                  <a:srgbClr val="64748B"/>
                </a:solidFill>
              </a:rPr>
              <a:t>Realistic seed log demonstrates the app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50" dirty="0">
                <a:solidFill>
                  <a:srgbClr val="64748B"/>
                </a:solidFill>
              </a:rPr>
              <a:t>Real users replace it via Log Match form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50" dirty="0">
                <a:solidFill>
                  <a:srgbClr val="64748B"/>
                </a:solidFill>
              </a:rPr>
              <a:t>Every personal page shows a visible SYNTHETIC DEMO DATA badge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PadelLens · DV4S Exam · Politecnico Milano · AY 2025/2026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84048"/>
            <a:ext cx="64008" cy="29260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12064" y="347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EXAMINATION &amp; TRANSFORMATION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real CSVs - and the bug I caught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9748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697480" cy="29260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371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pro_players_real.csv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94560" y="13716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</a:rPr>
              <a:t>2,165 rows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player_id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country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ranking_points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+ 2 more (hand/height, patchy)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371600"/>
            <a:ext cx="269748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46120" y="1371600"/>
            <a:ext cx="2697480" cy="29260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83280" y="1371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pro_matches_real.csv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83480" y="13716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</a:rPr>
              <a:t>776 rows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29000" y="178308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match_id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 · tournament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team1_p{1,2}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team2_p{1,2}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winner_team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set{1,2,3}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(API record id)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duration_min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371600"/>
            <a:ext cx="269748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35040" y="1371600"/>
            <a:ext cx="2697480" cy="29260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72200" y="1371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my_matches.csv (demo)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0" y="13716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</a:rPr>
              <a:t>40+ rows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17920" y="178308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match_id · date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partner · opponents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club · surface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scores (per set)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winners_{shot} · errors_{shot}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· duration · notes</a:t>
            </a:r>
            <a:endParaRPr lang="en-US" sz="1100" dirty="0"/>
          </a:p>
        </p:txBody>
      </p:sp>
      <p:sp>
        <p:nvSpPr>
          <p:cNvPr id="50" name="Text Score Bug Callout"/>
          <p:cNvSpPr/>
          <p:nvPr/>
        </p:nvSpPr>
        <p:spPr>
          <a:xfrm>
            <a:off x="457200" y="4525963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Examination caught a real bug: 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API returns scores as a JSON array of sets, not the comma-string my first parser assumed - fixed in build_real_csv.py, zero re-fetching.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PadelLens · DV4S Exam · Politecnico Milano · AY 2025/2026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84048"/>
            <a:ext cx="64008" cy="29260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12064" y="347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EXPLORATION - HOW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explored, before I trusted a single number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73152" cy="96012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</a:rPr>
              <a:t>SCOPE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16916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10 tests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85800" y="21488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hypotheses, E1-E10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834640" y="1371600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All ten run against the real 776-match dataset, two-sided tests at alpha=0.05 - nothing cherry-picked.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450592"/>
            <a:ext cx="82296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2450592"/>
            <a:ext cx="73152" cy="96012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25420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</a:rPr>
              <a:t>CONFIDENCE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800" y="2830000"/>
            <a:ext cx="201168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2937"/>
                </a:solidFill>
              </a:rPr>
              <a:t>Wilson 95% CI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85800" y="32278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on every proportion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834640" y="2450592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Every win rate in this report ships with a confidence interval, never a bare point estimate.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3529584"/>
            <a:ext cx="82296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3529584"/>
            <a:ext cx="73152" cy="96012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5800" y="362102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</a:rPr>
              <a:t>VERDICTS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5800" y="3909000"/>
            <a:ext cx="201168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2937"/>
                </a:solidFill>
              </a:rPr>
              <a:t>3 honest labels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85800" y="430682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signal · null · insufficient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834640" y="3529584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A finding that fails a test is reported as a null or insufficient - never hidden or rounded up.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PadelLens · DV4S Exam · Politecnico Milano · AY 2025/2026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365760" y="384048"/>
            <a:ext cx="64008" cy="29260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3"/>
          <p:cNvSpPr/>
          <p:nvPr/>
        </p:nvSpPr>
        <p:spPr>
          <a:xfrm>
            <a:off x="512064" y="347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0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THE DATASET IN NUMBERS</a:t>
            </a:r>
            <a:endParaRPr lang="en-US" sz="1000" dirty="0"/>
          </a:p>
        </p:txBody>
      </p:sp>
      <p:sp>
        <p:nvSpPr>
          <p:cNvPr id="4" name="Text 4"/>
          <p:cNvSpPr/>
          <p:nvPr/>
        </p:nvSpPr>
        <p:spPr>
          <a:xfrm>
            <a:off x="512064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i="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professional season, captured end to end</a:t>
            </a:r>
            <a:endParaRPr lang="en-US" sz="2600" dirty="0"/>
          </a:p>
        </p:txBody>
      </p:sp>
      <p:sp>
        <p:nvSpPr>
          <p:cNvPr id="5" name="Text 5"/>
          <p:cNvSpPr/>
          <p:nvPr/>
        </p:nvSpPr>
        <p:spPr>
          <a:xfrm>
            <a:off x="457200" y="117348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0" i="1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padelapi.org REST API (official professional padel data service) · personal API key · season window Feb-Jul 2026</a:t>
            </a:r>
            <a:endParaRPr lang="en-US" sz="1100" dirty="0"/>
          </a:p>
        </p:txBody>
      </p:sp>
      <p:sp>
        <p:nvSpPr>
          <p:cNvPr id="6" name="Shape 6"/>
          <p:cNvSpPr/>
          <p:nvPr/>
        </p:nvSpPr>
        <p:spPr>
          <a:xfrm>
            <a:off x="457200" y="1572768"/>
            <a:ext cx="2621280" cy="11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457200" y="1572768"/>
            <a:ext cx="73152" cy="115000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8"/>
          <p:cNvSpPr/>
          <p:nvPr/>
        </p:nvSpPr>
        <p:spPr>
          <a:xfrm>
            <a:off x="685800" y="1664208"/>
            <a:ext cx="2301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0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</a:t>
            </a:r>
            <a:endParaRPr lang="en-US" sz="900" dirty="0"/>
          </a:p>
        </p:txBody>
      </p:sp>
      <p:sp>
        <p:nvSpPr>
          <p:cNvPr id="9" name="Text 9"/>
          <p:cNvSpPr/>
          <p:nvPr/>
        </p:nvSpPr>
        <p:spPr>
          <a:xfrm>
            <a:off x="685800" y="1912768"/>
            <a:ext cx="230124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i="0" kern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776</a:t>
            </a:r>
            <a:endParaRPr lang="en-US" sz="3600" dirty="0"/>
          </a:p>
        </p:txBody>
      </p:sp>
      <p:sp>
        <p:nvSpPr>
          <p:cNvPr id="10" name="Text 10"/>
          <p:cNvSpPr/>
          <p:nvPr/>
        </p:nvSpPr>
        <p:spPr>
          <a:xfrm>
            <a:off x="685800" y="2452768"/>
            <a:ext cx="2301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0" i="1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completed, 2026 season</a:t>
            </a:r>
            <a:endParaRPr lang="en-US" sz="1000" dirty="0"/>
          </a:p>
        </p:txBody>
      </p:sp>
      <p:sp>
        <p:nvSpPr>
          <p:cNvPr id="11" name="Shape 11"/>
          <p:cNvSpPr/>
          <p:nvPr/>
        </p:nvSpPr>
        <p:spPr>
          <a:xfrm>
            <a:off x="3261360" y="1572768"/>
            <a:ext cx="2621280" cy="11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3261360" y="1572768"/>
            <a:ext cx="73152" cy="115000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3"/>
          <p:cNvSpPr/>
          <p:nvPr/>
        </p:nvSpPr>
        <p:spPr>
          <a:xfrm>
            <a:off x="3489960" y="1664208"/>
            <a:ext cx="2301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0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TOURNAMENTS</a:t>
            </a:r>
            <a:endParaRPr lang="en-US" sz="900" dirty="0"/>
          </a:p>
        </p:txBody>
      </p:sp>
      <p:sp>
        <p:nvSpPr>
          <p:cNvPr id="14" name="Text 14"/>
          <p:cNvSpPr/>
          <p:nvPr/>
        </p:nvSpPr>
        <p:spPr>
          <a:xfrm>
            <a:off x="3489960" y="1912768"/>
            <a:ext cx="230124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i="0" kern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3600" dirty="0"/>
          </a:p>
        </p:txBody>
      </p:sp>
      <p:sp>
        <p:nvSpPr>
          <p:cNvPr id="15" name="Text 15"/>
          <p:cNvSpPr/>
          <p:nvPr/>
        </p:nvSpPr>
        <p:spPr>
          <a:xfrm>
            <a:off x="3489960" y="2452768"/>
            <a:ext cx="2301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0" i="1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Feb-Jul 2026, 5 continents</a:t>
            </a:r>
            <a:endParaRPr lang="en-US" sz="1000" dirty="0"/>
          </a:p>
        </p:txBody>
      </p:sp>
      <p:sp>
        <p:nvSpPr>
          <p:cNvPr id="16" name="Shape 16"/>
          <p:cNvSpPr/>
          <p:nvPr/>
        </p:nvSpPr>
        <p:spPr>
          <a:xfrm>
            <a:off x="6065520" y="1572768"/>
            <a:ext cx="2621280" cy="11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7"/>
          <p:cNvSpPr/>
          <p:nvPr/>
        </p:nvSpPr>
        <p:spPr>
          <a:xfrm>
            <a:off x="6065520" y="1572768"/>
            <a:ext cx="73152" cy="115000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8"/>
          <p:cNvSpPr/>
          <p:nvPr/>
        </p:nvSpPr>
        <p:spPr>
          <a:xfrm>
            <a:off x="6294120" y="1664208"/>
            <a:ext cx="2301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0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</a:t>
            </a:r>
            <a:endParaRPr lang="en-US" sz="900" dirty="0"/>
          </a:p>
        </p:txBody>
      </p:sp>
      <p:sp>
        <p:nvSpPr>
          <p:cNvPr id="19" name="Text 19"/>
          <p:cNvSpPr/>
          <p:nvPr/>
        </p:nvSpPr>
        <p:spPr>
          <a:xfrm>
            <a:off x="6294120" y="1912768"/>
            <a:ext cx="230124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i="0" kern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2,165</a:t>
            </a:r>
            <a:endParaRPr lang="en-US" sz="3600" dirty="0"/>
          </a:p>
        </p:txBody>
      </p:sp>
      <p:sp>
        <p:nvSpPr>
          <p:cNvPr id="20" name="Text 20"/>
          <p:cNvSpPr/>
          <p:nvPr/>
        </p:nvSpPr>
        <p:spPr>
          <a:xfrm>
            <a:off x="6294120" y="2452768"/>
            <a:ext cx="2301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0" i="1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ranked, men + women</a:t>
            </a:r>
            <a:endParaRPr lang="en-US" sz="1000" dirty="0"/>
          </a:p>
        </p:txBody>
      </p:sp>
      <p:sp>
        <p:nvSpPr>
          <p:cNvPr id="21" name="Shape 21"/>
          <p:cNvSpPr/>
          <p:nvPr/>
        </p:nvSpPr>
        <p:spPr>
          <a:xfrm>
            <a:off x="457200" y="2875168"/>
            <a:ext cx="2621280" cy="11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2"/>
          <p:cNvSpPr/>
          <p:nvPr/>
        </p:nvSpPr>
        <p:spPr>
          <a:xfrm>
            <a:off x="457200" y="2875168"/>
            <a:ext cx="2621280" cy="29260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3"/>
          <p:cNvSpPr/>
          <p:nvPr/>
        </p:nvSpPr>
        <p:spPr>
          <a:xfrm>
            <a:off x="594360" y="2875168"/>
            <a:ext cx="234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000" dirty="0"/>
          </a:p>
        </p:txBody>
      </p:sp>
      <p:sp>
        <p:nvSpPr>
          <p:cNvPr id="24" name="Text 24"/>
          <p:cNvSpPr/>
          <p:nvPr/>
        </p:nvSpPr>
        <p:spPr>
          <a:xfrm>
            <a:off x="594360" y="3213496"/>
            <a:ext cx="2346960" cy="765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b="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Round-of-64 → Final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 456 · Women 320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P2 350 · P1 340 · Major 86</a:t>
            </a:r>
            <a:endParaRPr lang="en-US" sz="1000" dirty="0"/>
          </a:p>
        </p:txBody>
      </p:sp>
      <p:sp>
        <p:nvSpPr>
          <p:cNvPr id="25" name="Shape 25"/>
          <p:cNvSpPr/>
          <p:nvPr/>
        </p:nvSpPr>
        <p:spPr>
          <a:xfrm>
            <a:off x="3261360" y="2875168"/>
            <a:ext cx="2621280" cy="11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6"/>
          <p:cNvSpPr/>
          <p:nvPr/>
        </p:nvSpPr>
        <p:spPr>
          <a:xfrm>
            <a:off x="3261360" y="2875168"/>
            <a:ext cx="2621280" cy="29260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7"/>
          <p:cNvSpPr/>
          <p:nvPr/>
        </p:nvSpPr>
        <p:spPr>
          <a:xfrm>
            <a:off x="3398520" y="2875168"/>
            <a:ext cx="234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PER-MATCH FIELDS</a:t>
            </a:r>
            <a:endParaRPr lang="en-US" sz="1000" dirty="0"/>
          </a:p>
        </p:txBody>
      </p:sp>
      <p:sp>
        <p:nvSpPr>
          <p:cNvPr id="28" name="Text 28"/>
          <p:cNvSpPr/>
          <p:nvPr/>
        </p:nvSpPr>
        <p:spPr>
          <a:xfrm>
            <a:off x="3398520" y="3213496"/>
            <a:ext cx="2346960" cy="765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b="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date, round, seeds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 IDs, court sides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scores, duration</a:t>
            </a:r>
            <a:endParaRPr lang="en-US" sz="1000" dirty="0"/>
          </a:p>
        </p:txBody>
      </p:sp>
      <p:sp>
        <p:nvSpPr>
          <p:cNvPr id="29" name="Shape 29"/>
          <p:cNvSpPr/>
          <p:nvPr/>
        </p:nvSpPr>
        <p:spPr>
          <a:xfrm>
            <a:off x="6065520" y="2875168"/>
            <a:ext cx="2621280" cy="11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30"/>
          <p:cNvSpPr/>
          <p:nvPr/>
        </p:nvSpPr>
        <p:spPr>
          <a:xfrm>
            <a:off x="6065520" y="2875168"/>
            <a:ext cx="2621280" cy="29260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31"/>
          <p:cNvSpPr/>
          <p:nvPr/>
        </p:nvSpPr>
        <p:spPr>
          <a:xfrm>
            <a:off x="6202680" y="2875168"/>
            <a:ext cx="234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PER-PLAYER FIELDS</a:t>
            </a:r>
            <a:endParaRPr lang="en-US" sz="1000" dirty="0"/>
          </a:p>
        </p:txBody>
      </p:sp>
      <p:sp>
        <p:nvSpPr>
          <p:cNvPr id="32" name="Text 32"/>
          <p:cNvSpPr/>
          <p:nvPr/>
        </p:nvSpPr>
        <p:spPr>
          <a:xfrm>
            <a:off x="6202680" y="3213496"/>
            <a:ext cx="2346960" cy="765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b="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ranking, points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age, nationality</a:t>
            </a:r>
            <a:endParaRPr lang="en-US" sz="1000" dirty="0"/>
          </a:p>
        </p:txBody>
      </p:sp>
      <p:sp>
        <p:nvSpPr>
          <p:cNvPr id="33" name="Text 33"/>
          <p:cNvSpPr/>
          <p:nvPr/>
        </p:nvSpPr>
        <p:spPr>
          <a:xfrm>
            <a:off x="457200" y="4460600"/>
            <a:ext cx="82296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hygiene: </a:t>
            </a:r>
            <a:r>
              <a:rPr lang="en-US" sz="1000" b="0" i="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use the 763 matches that finished normally - 13 retired/walkovers excluded. Every raw API response is archived as JSONL before transformation (fetch → archive → clean → SQLite).</a:t>
            </a:r>
            <a:endParaRPr lang="en-US" sz="1000" dirty="0"/>
          </a:p>
        </p:txBody>
      </p:sp>
      <p:sp>
        <p:nvSpPr>
          <p:cNvPr id="34" name="Text 34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0" i="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PadelLens · DV4S Exam · Politecnico Milano · AY 2025/2026</a:t>
            </a:r>
            <a:endParaRPr lang="en-US" sz="900" dirty="0"/>
          </a:p>
        </p:txBody>
      </p:sp>
      <p:sp>
        <p:nvSpPr>
          <p:cNvPr id="35" name="Text 35"/>
          <p:cNvSpPr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0" i="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365760" y="384048"/>
            <a:ext cx="64008" cy="29260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7"/>
          <p:cNvSpPr/>
          <p:nvPr/>
        </p:nvSpPr>
        <p:spPr>
          <a:xfrm>
            <a:off x="512064" y="347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0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STATISTICAL TOOLKIT - TESTS</a:t>
            </a:r>
            <a:endParaRPr lang="en-US" sz="1000" dirty="0"/>
          </a:p>
        </p:txBody>
      </p:sp>
      <p:sp>
        <p:nvSpPr>
          <p:cNvPr id="38" name="Text 38"/>
          <p:cNvSpPr/>
          <p:nvPr/>
        </p:nvSpPr>
        <p:spPr>
          <a:xfrm>
            <a:off x="512064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i="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tools, applied the same way every time</a:t>
            </a:r>
            <a:endParaRPr lang="en-US" sz="2600" dirty="0"/>
          </a:p>
        </p:txBody>
      </p:sp>
      <p:sp>
        <p:nvSpPr>
          <p:cNvPr id="39" name="Text 39"/>
          <p:cNvSpPr/>
          <p:nvPr/>
        </p:nvSpPr>
        <p:spPr>
          <a:xfrm>
            <a:off x="457200" y="1180000"/>
            <a:ext cx="8229600" cy="17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0" i="1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tests two-sided, α = 0.05 · every proportion carries a 95% Wilson confidence interval · win rates with n &lt; 10 are never shown as claims</a:t>
            </a:r>
            <a:endParaRPr lang="en-US" sz="1000" dirty="0"/>
          </a:p>
        </p:txBody>
      </p:sp>
      <p:sp>
        <p:nvSpPr>
          <p:cNvPr id="40" name="Shape 40"/>
          <p:cNvSpPr/>
          <p:nvPr/>
        </p:nvSpPr>
        <p:spPr>
          <a:xfrm>
            <a:off x="457200" y="1371600"/>
            <a:ext cx="8229600" cy="71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41"/>
          <p:cNvSpPr/>
          <p:nvPr/>
        </p:nvSpPr>
        <p:spPr>
          <a:xfrm>
            <a:off x="457200" y="1371600"/>
            <a:ext cx="73152" cy="71000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2"/>
          <p:cNvSpPr/>
          <p:nvPr/>
        </p:nvSpPr>
        <p:spPr>
          <a:xfrm>
            <a:off x="685800" y="1436600"/>
            <a:ext cx="77724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Wilson 95% CI  -  </a:t>
            </a:r>
            <a:r>
              <a:rPr lang="en-US" sz="1150" b="1" i="0" kern="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(p̂ + z²/2n ± z·√(p̂(1−p̂)/n + z²/4n²)) / (1 + z²/n),  z = 1.96</a:t>
            </a:r>
            <a:endParaRPr lang="en-US" sz="1150" dirty="0"/>
          </a:p>
        </p:txBody>
      </p:sp>
      <p:sp>
        <p:nvSpPr>
          <p:cNvPr id="43" name="Text 43"/>
          <p:cNvSpPr/>
          <p:nvPr/>
        </p:nvSpPr>
        <p:spPr>
          <a:xfrm>
            <a:off x="685800" y="1736600"/>
            <a:ext cx="77724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0" i="1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the naive interval it stays inside [0,1] and is reliable for small n.</a:t>
            </a:r>
            <a:endParaRPr lang="en-US" sz="1000" dirty="0"/>
          </a:p>
        </p:txBody>
      </p:sp>
      <p:sp>
        <p:nvSpPr>
          <p:cNvPr id="44" name="Shape 44"/>
          <p:cNvSpPr/>
          <p:nvPr/>
        </p:nvSpPr>
        <p:spPr>
          <a:xfrm>
            <a:off x="457200" y="2173040"/>
            <a:ext cx="8229600" cy="71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5"/>
          <p:cNvSpPr/>
          <p:nvPr/>
        </p:nvSpPr>
        <p:spPr>
          <a:xfrm>
            <a:off x="457200" y="2173040"/>
            <a:ext cx="73152" cy="71000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6"/>
          <p:cNvSpPr/>
          <p:nvPr/>
        </p:nvSpPr>
        <p:spPr>
          <a:xfrm>
            <a:off x="685800" y="2238040"/>
            <a:ext cx="77724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Binomial test  -  </a:t>
            </a:r>
            <a:r>
              <a:rPr lang="en-US" sz="1150" b="0" i="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an observed proportion different from 50/50?</a:t>
            </a:r>
            <a:endParaRPr lang="en-US" sz="1150" dirty="0"/>
          </a:p>
        </p:txBody>
      </p:sp>
      <p:sp>
        <p:nvSpPr>
          <p:cNvPr id="47" name="Text 47"/>
          <p:cNvSpPr/>
          <p:nvPr/>
        </p:nvSpPr>
        <p:spPr>
          <a:xfrm>
            <a:off x="685800" y="2538040"/>
            <a:ext cx="77724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0" i="1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momentum (86%), favorites (78.5%), upsets (22.4%).</a:t>
            </a:r>
            <a:endParaRPr lang="en-US" sz="1000" dirty="0"/>
          </a:p>
        </p:txBody>
      </p:sp>
      <p:sp>
        <p:nvSpPr>
          <p:cNvPr id="48" name="Shape 48"/>
          <p:cNvSpPr/>
          <p:nvPr/>
        </p:nvSpPr>
        <p:spPr>
          <a:xfrm>
            <a:off x="457200" y="2974480"/>
            <a:ext cx="8229600" cy="71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9"/>
          <p:cNvSpPr/>
          <p:nvPr/>
        </p:nvSpPr>
        <p:spPr>
          <a:xfrm>
            <a:off x="457200" y="2974480"/>
            <a:ext cx="73152" cy="71000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50"/>
          <p:cNvSpPr/>
          <p:nvPr/>
        </p:nvSpPr>
        <p:spPr>
          <a:xfrm>
            <a:off x="685800" y="3039480"/>
            <a:ext cx="77724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test  -  </a:t>
            </a:r>
            <a:r>
              <a:rPr lang="en-US" sz="1150" b="1" i="0" kern="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χ² = Σ (O−E)²/E</a:t>
            </a:r>
            <a:r>
              <a:rPr lang="en-US" sz="1150" b="0" i="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are win rates equal across groups?</a:t>
            </a:r>
            <a:endParaRPr lang="en-US" sz="1150" dirty="0"/>
          </a:p>
        </p:txBody>
      </p:sp>
      <p:sp>
        <p:nvSpPr>
          <p:cNvPr id="51" name="Text 51"/>
          <p:cNvSpPr/>
          <p:nvPr/>
        </p:nvSpPr>
        <p:spPr>
          <a:xfrm>
            <a:off x="685800" y="3339480"/>
            <a:ext cx="77724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0" i="1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the 4 chemistry buckets (1-3, 4-7, 8-15, 16+ matches together).</a:t>
            </a:r>
            <a:endParaRPr lang="en-US" sz="1000" dirty="0"/>
          </a:p>
        </p:txBody>
      </p:sp>
      <p:sp>
        <p:nvSpPr>
          <p:cNvPr id="52" name="Shape 52"/>
          <p:cNvSpPr/>
          <p:nvPr/>
        </p:nvSpPr>
        <p:spPr>
          <a:xfrm>
            <a:off x="457200" y="3775920"/>
            <a:ext cx="8229600" cy="71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3"/>
          <p:cNvSpPr/>
          <p:nvPr/>
        </p:nvSpPr>
        <p:spPr>
          <a:xfrm>
            <a:off x="457200" y="3775920"/>
            <a:ext cx="73152" cy="71000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4"/>
          <p:cNvSpPr/>
          <p:nvPr/>
        </p:nvSpPr>
        <p:spPr>
          <a:xfrm>
            <a:off x="685800" y="3840920"/>
            <a:ext cx="77724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 t-test  -  </a:t>
            </a:r>
            <a:r>
              <a:rPr lang="en-US" sz="1150" b="1" i="0" kern="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 = (x̄₁−x̄₂) / √(s₁²/n₁ + s₂²/n₂)</a:t>
            </a:r>
            <a:endParaRPr lang="en-US" sz="1150" dirty="0"/>
          </a:p>
        </p:txBody>
      </p:sp>
      <p:sp>
        <p:nvSpPr>
          <p:cNvPr id="55" name="Text 55"/>
          <p:cNvSpPr/>
          <p:nvPr/>
        </p:nvSpPr>
        <p:spPr>
          <a:xfrm>
            <a:off x="685800" y="4140920"/>
            <a:ext cx="77724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0" i="1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of means without assuming equal variance - used for match durations.</a:t>
            </a:r>
            <a:endParaRPr lang="en-US" sz="1000" dirty="0"/>
          </a:p>
        </p:txBody>
      </p:sp>
      <p:sp>
        <p:nvSpPr>
          <p:cNvPr id="56" name="Text 56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0" i="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PadelLens · DV4S Exam · Politecnico Milano · AY 2025/2026</a:t>
            </a:r>
            <a:endParaRPr lang="en-US" sz="900" dirty="0"/>
          </a:p>
        </p:txBody>
      </p:sp>
      <p:sp>
        <p:nvSpPr>
          <p:cNvPr id="57" name="Text 57"/>
          <p:cNvSpPr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0" i="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58"/>
          <p:cNvSpPr/>
          <p:nvPr/>
        </p:nvSpPr>
        <p:spPr>
          <a:xfrm>
            <a:off x="365760" y="384048"/>
            <a:ext cx="64008" cy="29260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9"/>
          <p:cNvSpPr/>
          <p:nvPr/>
        </p:nvSpPr>
        <p:spPr>
          <a:xfrm>
            <a:off x="512064" y="347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0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 STATISTICAL TOOLKIT - MODELS</a:t>
            </a:r>
            <a:endParaRPr lang="en-US" sz="1000" dirty="0"/>
          </a:p>
        </p:txBody>
      </p:sp>
      <p:sp>
        <p:nvSpPr>
          <p:cNvPr id="60" name="Text 60"/>
          <p:cNvSpPr/>
          <p:nvPr/>
        </p:nvSpPr>
        <p:spPr>
          <a:xfrm>
            <a:off x="512064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i="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models turn tests into predictions</a:t>
            </a:r>
            <a:endParaRPr lang="en-US" sz="2600" dirty="0"/>
          </a:p>
        </p:txBody>
      </p:sp>
      <p:sp>
        <p:nvSpPr>
          <p:cNvPr id="61" name="Shape 61"/>
          <p:cNvSpPr/>
          <p:nvPr/>
        </p:nvSpPr>
        <p:spPr>
          <a:xfrm>
            <a:off x="457200" y="1371600"/>
            <a:ext cx="82296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2"/>
          <p:cNvSpPr/>
          <p:nvPr/>
        </p:nvSpPr>
        <p:spPr>
          <a:xfrm>
            <a:off x="457200" y="1371600"/>
            <a:ext cx="73152" cy="96012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3"/>
          <p:cNvSpPr/>
          <p:nvPr/>
        </p:nvSpPr>
        <p:spPr>
          <a:xfrm>
            <a:off x="685800" y="1463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0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MODEL</a:t>
            </a:r>
            <a:endParaRPr lang="en-US" sz="900" dirty="0"/>
          </a:p>
        </p:txBody>
      </p:sp>
      <p:sp>
        <p:nvSpPr>
          <p:cNvPr id="64" name="Text 64"/>
          <p:cNvSpPr/>
          <p:nvPr/>
        </p:nvSpPr>
        <p:spPr>
          <a:xfrm>
            <a:off x="685800" y="1691640"/>
            <a:ext cx="230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i="0" kern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0.88</a:t>
            </a:r>
            <a:endParaRPr lang="en-US" sz="2800" dirty="0"/>
          </a:p>
        </p:txBody>
      </p:sp>
      <p:sp>
        <p:nvSpPr>
          <p:cNvPr id="65" name="Text 65"/>
          <p:cNvSpPr/>
          <p:nvPr/>
        </p:nvSpPr>
        <p:spPr>
          <a:xfrm>
            <a:off x="685800" y="2071720"/>
            <a:ext cx="230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0" i="1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decile calib. vs y = x</a:t>
            </a:r>
            <a:endParaRPr lang="en-US" sz="1000" dirty="0"/>
          </a:p>
        </p:txBody>
      </p:sp>
      <p:sp>
        <p:nvSpPr>
          <p:cNvPr id="66" name="Text 66"/>
          <p:cNvSpPr/>
          <p:nvPr/>
        </p:nvSpPr>
        <p:spPr>
          <a:xfrm>
            <a:off x="2834640" y="1371600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0" i="0" kern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P(team1 wins) = 1 / (1 + e^−(β₀ + β₁·log(pts₁/pts₂))) - log of the points ratio, because ranking advantages act multiplicatively. In 88% of winner-loser pairs the model ranked the winner higher.</a:t>
            </a:r>
            <a:endParaRPr lang="en-US" sz="1200" dirty="0"/>
          </a:p>
        </p:txBody>
      </p:sp>
      <p:sp>
        <p:nvSpPr>
          <p:cNvPr id="67" name="Shape 67"/>
          <p:cNvSpPr/>
          <p:nvPr/>
        </p:nvSpPr>
        <p:spPr>
          <a:xfrm>
            <a:off x="457200" y="2450592"/>
            <a:ext cx="82296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8"/>
          <p:cNvSpPr/>
          <p:nvPr/>
        </p:nvSpPr>
        <p:spPr>
          <a:xfrm>
            <a:off x="457200" y="2450592"/>
            <a:ext cx="73152" cy="96012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9"/>
          <p:cNvSpPr/>
          <p:nvPr/>
        </p:nvSpPr>
        <p:spPr>
          <a:xfrm>
            <a:off x="685800" y="25420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0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 ENGINE</a:t>
            </a:r>
            <a:endParaRPr lang="en-US" sz="900" dirty="0"/>
          </a:p>
        </p:txBody>
      </p:sp>
      <p:sp>
        <p:nvSpPr>
          <p:cNvPr id="70" name="Text 70"/>
          <p:cNvSpPr/>
          <p:nvPr/>
        </p:nvSpPr>
        <p:spPr>
          <a:xfrm>
            <a:off x="685800" y="2770632"/>
            <a:ext cx="230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i="0" kern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32</a:t>
            </a:r>
            <a:endParaRPr lang="en-US" sz="2800" dirty="0"/>
          </a:p>
        </p:txBody>
      </p:sp>
      <p:sp>
        <p:nvSpPr>
          <p:cNvPr id="71" name="Text 71"/>
          <p:cNvSpPr/>
          <p:nvPr/>
        </p:nvSpPr>
        <p:spPr>
          <a:xfrm>
            <a:off x="685800" y="3150712"/>
            <a:ext cx="230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0" i="1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1500, chronological</a:t>
            </a:r>
            <a:endParaRPr lang="en-US" sz="1000" dirty="0"/>
          </a:p>
        </p:txBody>
      </p:sp>
      <p:sp>
        <p:nvSpPr>
          <p:cNvPr id="72" name="Text 72"/>
          <p:cNvSpPr/>
          <p:nvPr/>
        </p:nvSpPr>
        <p:spPr>
          <a:xfrm>
            <a:off x="2834640" y="2450592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0" i="0" kern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score E_A = 1/(1+10^((R_B−R_A)/400)); update R′_A = R_A + K·(S_A−E_A), zero-sum and unit-tested. Disagreement between Elo and official points is the over/under-rated-players insight.</a:t>
            </a:r>
            <a:endParaRPr lang="en-US" sz="1200" dirty="0"/>
          </a:p>
        </p:txBody>
      </p:sp>
      <p:sp>
        <p:nvSpPr>
          <p:cNvPr id="79" name="Text 79"/>
          <p:cNvSpPr/>
          <p:nvPr/>
        </p:nvSpPr>
        <p:spPr>
          <a:xfrm>
            <a:off x="457200" y="37120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0" i="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implemented in analytics.py - 12/12 unit tests passing.</a:t>
            </a:r>
            <a:endParaRPr lang="en-US" sz="1000" dirty="0"/>
          </a:p>
        </p:txBody>
      </p:sp>
      <p:sp>
        <p:nvSpPr>
          <p:cNvPr id="80" name="Text 80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0" i="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PadelLens · DV4S Exam · Politecnico Milano · AY 2025/2026</a:t>
            </a:r>
            <a:endParaRPr lang="en-US" sz="900" dirty="0"/>
          </a:p>
        </p:txBody>
      </p:sp>
      <p:sp>
        <p:nvSpPr>
          <p:cNvPr id="81" name="Text 81"/>
          <p:cNvSpPr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0" i="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84048"/>
            <a:ext cx="64008" cy="29260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12064" y="347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 FINDINGS - MOMENTUM &amp; CHEMISTRY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set decides a lot. Chemistry takes longer.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73152" cy="96012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</a:rPr>
              <a:t>MOMENTUM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16916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</a:rPr>
              <a:t>86%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85800" y="21488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win match after set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834640" y="1371600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n=668, p&lt;0.001 - consistent across gender and level. A near-decisive early lead.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450592"/>
            <a:ext cx="82296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2450592"/>
            <a:ext cx="73152" cy="96012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25420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</a:rPr>
              <a:t>DECIDING SET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800" y="277063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</a:rPr>
              <a:t>~49%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85800" y="32278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coin flip in a decider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834640" y="2450592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Once a match actually reaches a 3rd set, the set-1 winner's edge evaporates (n=207).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3529584"/>
            <a:ext cx="82296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3529584"/>
            <a:ext cx="73152" cy="96012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5800" y="362102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</a:rPr>
              <a:t>CHEMISTRY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5800" y="384962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40% → 67%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85800" y="430682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win rate, 1-3 vs 16+ matches together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834640" y="3529584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p&lt;0.001 across buckets. Caveat: survivorship - winning pairs simply get more reps together.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PadelLens · DV4S Exam · Politecnico Milano · AY 2025/2026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84048"/>
            <a:ext cx="64008" cy="29260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12064" y="347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 FINDINGS - RANKING, UPSETS, EFFICIENCY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Rankings predict. They just don’t decide.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73152" cy="96012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</a:rPr>
              <a:t>RANKING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16916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</a:rPr>
              <a:t>78.5%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85800" y="21488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favorite (by points) wins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834640" y="1371600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Logistic model AUC 0.88. Caveat: points are a single end-of-window snapshot, not match-date values.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450592"/>
            <a:ext cx="82296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2450592"/>
            <a:ext cx="73152" cy="96012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25420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</a:rPr>
              <a:t>UPSETS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800" y="277063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</a:rPr>
              <a:t>22.4%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85800" y="32278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of seeded matches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834640" y="2450592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n=165, p&lt;0.001. Non-monotonic by round - finals land close to a coin flip (50%).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3529584"/>
            <a:ext cx="82296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3529584"/>
            <a:ext cx="73152" cy="96012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5800" y="362102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</a:rPr>
              <a:t>EFFICIENCY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5800" y="384962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59.7%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85800" y="430682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next-match win rate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834640" y="3529584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n=233, p=0.004 - fewer games in the previous round is a real efficiency/fatigue signal.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PadelLens · DV4S Exam · Politecnico Milano · AY 2025/2026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84048"/>
            <a:ext cx="64008" cy="29260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12064" y="347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 THE HONEST NULLS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honestly does NOT show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73152" cy="960120"/>
          </a:xfrm>
          <a:prstGeom prst="rect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</a:rPr>
              <a:t>HOME ADVANTAGE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16916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43%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85800" y="21488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home-team win rate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834640" y="1371600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n=109, p=0.18 - not significant. No detectable home advantage overall.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450592"/>
            <a:ext cx="82296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2450592"/>
            <a:ext cx="73152" cy="960120"/>
          </a:xfrm>
          <a:prstGeom prst="rect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25420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</a:rPr>
              <a:t>AGE GAP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800" y="277063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</a:rPr>
              <a:t>No effect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85800" y="32278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winner vs loser age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834640" y="2450592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Mean gap ≈0 years (p=0.277). A within-pair correlation is significant but explains &lt;1% of variance.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3529584"/>
            <a:ext cx="82296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3529584"/>
            <a:ext cx="73152" cy="960120"/>
          </a:xfrm>
          <a:prstGeom prst="rect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5800" y="362102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</a:rPr>
              <a:t>HANDEDNESS / HEIGHT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5800" y="3906000"/>
            <a:ext cx="201168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2937"/>
                </a:solidFill>
              </a:rPr>
              <a:t>Insufficient data</a:t>
            </a:r>
            <a:endParaRPr lang="en-US" sz="2800" dirty="0"/>
          </a:p>
        </p:txBody>
      </p:sp>
      <p:sp>
        <p:nvSpPr>
          <p:cNvPr id="50" name="Text Closing Line"/>
          <p:cNvSpPr/>
          <p:nvPr/>
        </p:nvSpPr>
        <p:spPr>
          <a:xfrm>
            <a:off x="457200" y="45262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Trustworthy analysis reports what the data does NOT show.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85800" y="430682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coverage too low to test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834640" y="3529584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Hand data covers 38.4% of participants, height 33.8% - both below the 60% usability threshold.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PadelLens · DV4S Exam · Politecnico Milano · AY 2025/2026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0"/>
            <a:ext cx="54864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Design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154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Wireframes · Principles · Heuristic evaluation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84048"/>
            <a:ext cx="64008" cy="29260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12064" y="347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PROCESS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paper sketch to working app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325880" y="1554480"/>
            <a:ext cx="411480" cy="41148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2588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783080" y="1755648"/>
            <a:ext cx="777240" cy="0"/>
          </a:xfrm>
          <a:prstGeom prst="line">
            <a:avLst/>
          </a:prstGeom>
          <a:noFill/>
          <a:ln w="19050">
            <a:solidFill>
              <a:srgbClr val="CFD6D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201168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22402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</a:rPr>
              <a:t>Paper sketches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269748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30 min. Just box drawings - which pages exist.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29000" y="1554480"/>
            <a:ext cx="411480" cy="41148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2900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86200" y="1755648"/>
            <a:ext cx="777240" cy="0"/>
          </a:xfrm>
          <a:prstGeom prst="line">
            <a:avLst/>
          </a:prstGeom>
          <a:noFill/>
          <a:ln w="19050">
            <a:solidFill>
              <a:srgbClr val="CFD6D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560320" y="2103120"/>
            <a:ext cx="201168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697480" y="22402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</a:rPr>
              <a:t>Low-fi wireframes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697480" y="269748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Figma · 5 SVGs · grayscale layout only.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532120" y="1554480"/>
            <a:ext cx="411480" cy="41148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53212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989320" y="1755648"/>
            <a:ext cx="777240" cy="0"/>
          </a:xfrm>
          <a:prstGeom prst="line">
            <a:avLst/>
          </a:prstGeom>
          <a:noFill/>
          <a:ln w="19050">
            <a:solidFill>
              <a:srgbClr val="CFD6D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663440" y="2103120"/>
            <a:ext cx="201168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00600" y="22402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</a:rPr>
              <a:t>Mid-fi pass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00600" y="269748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Same layout, real chart shapes drawn in.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635240" y="1554480"/>
            <a:ext cx="411480" cy="41148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63524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766560" y="2103120"/>
            <a:ext cx="201168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903720" y="22402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</a:rPr>
              <a:t>Streamlit build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03720" y="269748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High-fi, working app. No click-prototype.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PadelLens · DV4S Exam · Politecnico Milano · AY 2025/2026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84048"/>
            <a:ext cx="64008" cy="29260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12064" y="347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WIREFRAMES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pages, each built around one user task</a:t>
            </a:r>
            <a:endParaRPr lang="en-US" sz="2600" dirty="0"/>
          </a:p>
        </p:txBody>
      </p:sp>
      <p:pic>
        <p:nvPicPr>
          <p:cNvPr id="5" name="Image 0" descr="/sessions/jolly-nifty-archimedes/mnt/Padel-Project/06_Presentation/assets/01_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1627632" cy="1005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42316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</a:rPr>
              <a:t>Home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2670048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Last 10 + partner + shot DNA</a:t>
            </a:r>
            <a:endParaRPr lang="en-US" sz="1000" dirty="0"/>
          </a:p>
        </p:txBody>
      </p:sp>
      <p:pic>
        <p:nvPicPr>
          <p:cNvPr id="8" name="Image 1" descr="/sessions/jolly-nifty-archimedes/mnt/Padel-Project/06_Presentation/assets/02_pro_tou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7984" y="1371600"/>
            <a:ext cx="1627632" cy="10058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157984" y="242316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</a:rPr>
              <a:t>Pro Tour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2157984" y="2670048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Rankings + filters</a:t>
            </a:r>
            <a:endParaRPr lang="en-US" sz="1000" dirty="0"/>
          </a:p>
        </p:txBody>
      </p:sp>
      <p:pic>
        <p:nvPicPr>
          <p:cNvPr id="11" name="Image 2" descr="/sessions/jolly-nifty-archimedes/mnt/Padel-Project/06_Presentation/assets/03_my_sta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8768" y="1371600"/>
            <a:ext cx="1627632" cy="10058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858768" y="242316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</a:rPr>
              <a:t>My Stats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3858768" y="2670048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Personal dashboard</a:t>
            </a:r>
            <a:endParaRPr lang="en-US" sz="1000" dirty="0"/>
          </a:p>
        </p:txBody>
      </p:sp>
      <p:pic>
        <p:nvPicPr>
          <p:cNvPr id="14" name="Image 3" descr="/sessions/jolly-nifty-archimedes/mnt/Padel-Project/06_Presentation/assets/04_log_mat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9552" y="1371600"/>
            <a:ext cx="1627632" cy="10058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559552" y="242316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</a:rPr>
              <a:t>Log Match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5559552" y="2670048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90-second data entry</a:t>
            </a:r>
            <a:endParaRPr lang="en-US" sz="1000" dirty="0"/>
          </a:p>
        </p:txBody>
      </p:sp>
      <p:pic>
        <p:nvPicPr>
          <p:cNvPr id="17" name="Image 4" descr="/sessions/jolly-nifty-archimedes/mnt/Padel-Project/06_Presentation/assets/05_compar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60336" y="1371600"/>
            <a:ext cx="1627632" cy="100584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260336" y="242316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</a:rPr>
              <a:t>Compare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7260336" y="2670048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Radar vs pro reference</a:t>
            </a:r>
            <a:endParaRPr lang="en-US" sz="1000" dirty="0"/>
          </a:p>
        </p:txBody>
      </p:sp>
      <p:sp>
        <p:nvSpPr>
          <p:cNvPr id="20" name="Shape 13"/>
          <p:cNvSpPr/>
          <p:nvPr/>
        </p:nvSpPr>
        <p:spPr>
          <a:xfrm>
            <a:off x="457200" y="3246120"/>
            <a:ext cx="82296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Text 14"/>
          <p:cNvSpPr/>
          <p:nvPr/>
        </p:nvSpPr>
        <p:spPr>
          <a:xfrm>
            <a:off x="640080" y="3383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</a:rPr>
              <a:t>Each page answers ONE task from the brief.  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640080" y="379476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Home → </a:t>
            </a:r>
            <a:r>
              <a:rPr lang="en-US" sz="1100" dirty="0">
                <a:solidFill>
                  <a:srgbClr val="64748B"/>
                </a:solidFill>
              </a:rPr>
              <a:t>"How am I doing right now?" · </a:t>
            </a:r>
            <a:r>
              <a:rPr lang="en-US" sz="1100" b="1" dirty="0">
                <a:solidFill>
                  <a:srgbClr val="64748B"/>
                </a:solidFill>
              </a:rPr>
              <a:t>Pro Tour → </a:t>
            </a:r>
            <a:r>
              <a:rPr lang="en-US" sz="1100" dirty="0">
                <a:solidFill>
                  <a:srgbClr val="64748B"/>
                </a:solidFill>
              </a:rPr>
              <a:t>"Explore the pro game" · </a:t>
            </a:r>
            <a:r>
              <a:rPr lang="en-US" sz="1100" b="1" dirty="0">
                <a:solidFill>
                  <a:srgbClr val="64748B"/>
                </a:solidFill>
              </a:rPr>
              <a:t>My Stats → </a:t>
            </a:r>
            <a:r>
              <a:rPr lang="en-US" sz="1100" dirty="0">
                <a:solidFill>
                  <a:srgbClr val="64748B"/>
                </a:solidFill>
              </a:rPr>
              <a:t>"Why am I winning/losing?" · </a:t>
            </a:r>
            <a:r>
              <a:rPr lang="en-US" sz="1100" b="1" dirty="0">
                <a:solidFill>
                  <a:srgbClr val="64748B"/>
                </a:solidFill>
              </a:rPr>
              <a:t>Log Match → </a:t>
            </a:r>
            <a:r>
              <a:rPr lang="en-US" sz="1100" dirty="0">
                <a:solidFill>
                  <a:srgbClr val="64748B"/>
                </a:solidFill>
              </a:rPr>
              <a:t>"Add today's match" · </a:t>
            </a:r>
            <a:r>
              <a:rPr lang="en-US" sz="1100" b="1" dirty="0">
                <a:solidFill>
                  <a:srgbClr val="64748B"/>
                </a:solidFill>
              </a:rPr>
              <a:t>Compare → </a:t>
            </a:r>
            <a:r>
              <a:rPr lang="en-US" sz="1100" dirty="0">
                <a:solidFill>
                  <a:srgbClr val="64748B"/>
                </a:solidFill>
              </a:rPr>
              <a:t>"How big is the gap to a pro?"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PadelLens · DV4S Exam · Politecnico Milano · AY 2025/2026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27" name="Shape 13">
            <a:hlinkClick r:id="rId8"/>
            <a:extLst>
              <a:ext uri="{FF2B5EF4-FFF2-40B4-BE49-F238E27FC236}">
                <a16:creationId xmlns:a16="http://schemas.microsoft.com/office/drawing/2014/main" id="{988E3AF2-DDFA-E0D4-B930-FEED7A0C267C}"/>
              </a:ext>
            </a:extLst>
          </p:cNvPr>
          <p:cNvSpPr/>
          <p:nvPr/>
        </p:nvSpPr>
        <p:spPr>
          <a:xfrm>
            <a:off x="7260336" y="3336593"/>
            <a:ext cx="1323474" cy="27913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r>
              <a:rPr lang="en-US" sz="1200" dirty="0"/>
              <a:t>Figma Wireframes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84048"/>
            <a:ext cx="64008" cy="29260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12064" y="347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PRINCIPLES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rules applied throughout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690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618488"/>
            <a:ext cx="411480" cy="41148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6184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153619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</a:rPr>
              <a:t>One number above the fold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88720" y="181051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The app is opened in bursts. 42-pt KPI on Home.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1371600"/>
            <a:ext cx="40690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00600" y="1618488"/>
            <a:ext cx="411480" cy="41148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00600" y="16184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49240" y="153619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</a:rPr>
              <a:t>Recognition over recall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349240" y="181051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Filters always visible - never behind a button.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423160"/>
            <a:ext cx="40690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0080" y="2670048"/>
            <a:ext cx="411480" cy="41148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2670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258775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</a:rPr>
              <a:t>Default to action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88720" y="286207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+ Log a match is the most prominent CTA on Home.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17720" y="2423160"/>
            <a:ext cx="40690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00600" y="2670048"/>
            <a:ext cx="411480" cy="41148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00600" y="2670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49240" y="258775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</a:rPr>
              <a:t>Reduce data-entry friction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349240" y="286207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Shot tallies optional. Score + partner is enough.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474720"/>
            <a:ext cx="40690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40080" y="3721608"/>
            <a:ext cx="411480" cy="41148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0080" y="37216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88720" y="363931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</a:rPr>
              <a:t>Honest visual hierarchy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188720" y="391363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Red only for negative signal. No gratuitous color.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17720" y="3474720"/>
            <a:ext cx="40690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800600" y="3721608"/>
            <a:ext cx="411480" cy="41148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00600" y="37216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49240" y="363931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</a:rPr>
              <a:t>Annotate, don't decorate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349240" y="391363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Every chart has at least one in-canvas annotation.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PadelLens · DV4S Exam · Politecnico Milano · AY 2025/2026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84048"/>
            <a:ext cx="64008" cy="29260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12064" y="347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HEURISTIC EVALUATION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real changes from Nielsen's 10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005840" cy="13716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#5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Error prevention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645920" y="1508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F4444"/>
                </a:solidFill>
              </a:rPr>
              <a:t>BEFORE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45920" y="17373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Original form let me enter Set-3 scores even when sets 1-2 were already decided (6-0, 6-0).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0" y="2057400"/>
            <a:ext cx="365760" cy="0"/>
          </a:xfrm>
          <a:prstGeom prst="line">
            <a:avLst/>
          </a:prstGeom>
          <a:noFill/>
          <a:ln w="31750">
            <a:solidFill>
              <a:srgbClr val="0EA5E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0" y="1508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0B981"/>
                </a:solidFill>
              </a:rPr>
              <a:t>AFTER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0" y="1737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Set-3 inputs are disabled until sets 1-2 are split 1-1.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82296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1005840" cy="13716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30632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#6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57200" y="356616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Recognition over recall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645920" y="3017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F4444"/>
                </a:solidFill>
              </a:rPr>
              <a:t>BEFORE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645920" y="32461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First sketch had filters hidden behind a 'Filters' button - user has to remember what they filtered by.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0" y="3566160"/>
            <a:ext cx="365760" cy="0"/>
          </a:xfrm>
          <a:prstGeom prst="line">
            <a:avLst/>
          </a:prstGeom>
          <a:noFill/>
          <a:ln w="31750">
            <a:solidFill>
              <a:srgbClr val="0EA5E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0" y="3017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0B981"/>
                </a:solidFill>
              </a:rPr>
              <a:t>AFTER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0" y="32461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Filters live in an always-visible sidebar on the Pro Tour page.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PadelLens · DV4S Exam · Politecnico Milano · AY 2025/2026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84048"/>
            <a:ext cx="64008" cy="29260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12064" y="347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 CLOSING THE VALIDATION LOOP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Instruments ready. Sessions scheduled. No invented score.</a:t>
            </a:r>
            <a:endParaRPr lang="en-US" sz="2600" dirty="0"/>
          </a:p>
        </p:txBody>
      </p:sp>
      <p:sp>
        <p:nvSpPr>
          <p:cNvPr id="100" name="Text 100"/>
          <p:cNvSpPr/>
          <p:nvPr/>
        </p:nvSpPr>
        <p:spPr>
          <a:xfrm>
            <a:off x="502920" y="141732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0EA5E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101" name="Text 101"/>
          <p:cNvSpPr/>
          <p:nvPr/>
        </p:nvSpPr>
        <p:spPr>
          <a:xfrm>
            <a:off x="960120" y="138074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Persona-grounding survey (EN/IT)</a:t>
            </a:r>
            <a:endParaRPr lang="en-US" sz="1400" dirty="0"/>
          </a:p>
        </p:txBody>
      </p:sp>
      <p:sp>
        <p:nvSpPr>
          <p:cNvPr id="102" name="Text 102"/>
          <p:cNvSpPr/>
          <p:nvPr/>
        </p:nvSpPr>
        <p:spPr>
          <a:xfrm>
            <a:off x="960120" y="1655064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Grounds Marco and Luca in real respondents instead of assumptions.</a:t>
            </a:r>
            <a:endParaRPr lang="en-US" sz="1050" dirty="0"/>
          </a:p>
        </p:txBody>
      </p:sp>
      <p:sp>
        <p:nvSpPr>
          <p:cNvPr id="103" name="Text 103"/>
          <p:cNvSpPr/>
          <p:nvPr/>
        </p:nvSpPr>
        <p:spPr>
          <a:xfrm>
            <a:off x="502920" y="202082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0EA5E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104" name="Text 104"/>
          <p:cNvSpPr/>
          <p:nvPr/>
        </p:nvSpPr>
        <p:spPr>
          <a:xfrm>
            <a:off x="960120" y="19842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guide</a:t>
            </a:r>
            <a:endParaRPr lang="en-US" sz="1400" dirty="0"/>
          </a:p>
        </p:txBody>
      </p:sp>
      <p:sp>
        <p:nvSpPr>
          <p:cNvPr id="105" name="Text 105"/>
          <p:cNvSpPr/>
          <p:nvPr/>
        </p:nvSpPr>
        <p:spPr>
          <a:xfrm>
            <a:off x="960120" y="2258568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Semi-structured questions for club players, to probe beyond the survey.</a:t>
            </a:r>
            <a:endParaRPr lang="en-US" sz="1050" dirty="0"/>
          </a:p>
        </p:txBody>
      </p:sp>
      <p:sp>
        <p:nvSpPr>
          <p:cNvPr id="106" name="Text 106"/>
          <p:cNvSpPr/>
          <p:nvPr/>
        </p:nvSpPr>
        <p:spPr>
          <a:xfrm>
            <a:off x="502920" y="262432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0EA5E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107" name="Text 107"/>
          <p:cNvSpPr/>
          <p:nvPr/>
        </p:nvSpPr>
        <p:spPr>
          <a:xfrm>
            <a:off x="960120" y="25877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questionnaire + scoring sheet</a:t>
            </a:r>
            <a:endParaRPr lang="en-US" sz="1400" dirty="0"/>
          </a:p>
        </p:txBody>
      </p:sp>
      <p:sp>
        <p:nvSpPr>
          <p:cNvPr id="108" name="Text 108"/>
          <p:cNvSpPr/>
          <p:nvPr/>
        </p:nvSpPr>
        <p:spPr>
          <a:xfrm>
            <a:off x="960120" y="2862072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10-item System Usability Scale, ready to run - not yet run.</a:t>
            </a:r>
            <a:endParaRPr lang="en-US" sz="1050" dirty="0"/>
          </a:p>
        </p:txBody>
      </p:sp>
      <p:sp>
        <p:nvSpPr>
          <p:cNvPr id="109" name="Text 109"/>
          <p:cNvSpPr/>
          <p:nvPr/>
        </p:nvSpPr>
        <p:spPr>
          <a:xfrm>
            <a:off x="502920" y="3227832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0EA5E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110" name="Text 110"/>
          <p:cNvSpPr/>
          <p:nvPr/>
        </p:nvSpPr>
        <p:spPr>
          <a:xfrm>
            <a:off x="960120" y="319125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Task-based user-testing protocol</a:t>
            </a:r>
            <a:endParaRPr lang="en-US" sz="1400" dirty="0"/>
          </a:p>
        </p:txBody>
      </p:sp>
      <p:sp>
        <p:nvSpPr>
          <p:cNvPr id="111" name="Text 111"/>
          <p:cNvSpPr/>
          <p:nvPr/>
        </p:nvSpPr>
        <p:spPr>
          <a:xfrm>
            <a:off x="960120" y="3465576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tasks (log a match, compare to a pro) with success criteria.</a:t>
            </a:r>
            <a:endParaRPr lang="en-US" sz="1050" dirty="0"/>
          </a:p>
        </p:txBody>
      </p:sp>
      <p:sp>
        <p:nvSpPr>
          <p:cNvPr id="112" name="Text 112"/>
          <p:cNvSpPr/>
          <p:nvPr/>
        </p:nvSpPr>
        <p:spPr>
          <a:xfrm>
            <a:off x="502920" y="383133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0EA5E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113" name="Text 113"/>
          <p:cNvSpPr/>
          <p:nvPr/>
        </p:nvSpPr>
        <p:spPr>
          <a:xfrm>
            <a:off x="960120" y="37947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evaluation round 2</a:t>
            </a:r>
            <a:endParaRPr lang="en-US" sz="1400" dirty="0"/>
          </a:p>
        </p:txBody>
      </p:sp>
      <p:sp>
        <p:nvSpPr>
          <p:cNvPr id="114" name="Text 114"/>
          <p:cNvSpPr/>
          <p:nvPr/>
        </p:nvSpPr>
        <p:spPr>
          <a:xfrm>
            <a:off x="960120" y="4069080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template for external evaluators, going beyond my own first pass.</a:t>
            </a:r>
            <a:endParaRPr lang="en-US" sz="1050" dirty="0"/>
          </a:p>
        </p:txBody>
      </p:sp>
      <p:sp>
        <p:nvSpPr>
          <p:cNvPr id="60" name="Text Status Line"/>
          <p:cNvSpPr/>
          <p:nvPr/>
        </p:nvSpPr>
        <p:spPr>
          <a:xfrm>
            <a:off x="502920" y="44500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honestly: sessions with real club players are scheduled - no SUS score is invented.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PadelLens · DV4S Exam · Politecnico Milano · AY 2025/2026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0"/>
            <a:ext cx="54864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Representation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154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choices · Color · Interactivity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84048"/>
            <a:ext cx="64008" cy="29260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12064" y="347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CHART INVENTORY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Sixteen chart types · each answers one EDA finding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</a:rPr>
              <a:t>CHART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474720" y="1371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</a:rPr>
              <a:t>WHERE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5216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</a:rPr>
              <a:t>WHAT does it Represent 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822960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16916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</a:rPr>
              <a:t>KPI + sparkline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474720" y="16916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Home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52160" y="16916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Last-10 win rate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19842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</a:rPr>
              <a:t>Horizontal bar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474720" y="198424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Home / My Stats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52160" y="19842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Partner win rate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276856"/>
            <a:ext cx="822960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227685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</a:rPr>
              <a:t>Diverging bar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474720" y="22768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Home / My Stats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52160" y="227685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Shot DNA (winners − errors)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25694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</a:rPr>
              <a:t>Ranking table + row sparkline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474720" y="256946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Pro Tour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52160" y="25694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Top players + form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862072"/>
            <a:ext cx="822960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" y="28620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</a:rPr>
              <a:t>Small-multiples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474720" y="286207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Pro Tour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852160" y="28620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Surface effect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31546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</a:rPr>
              <a:t>Rolling-mean line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474720" y="31546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My Stats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852160" y="31546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Win-rate trend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3447288"/>
            <a:ext cx="822960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0080" y="344728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</a:rPr>
              <a:t>Set-by-set columns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474720" y="34472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My Stats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852160" y="344728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Fatigue (2-set vs 3-set)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" y="373989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</a:rPr>
              <a:t>Radar overlay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3474720" y="373989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Compare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852160" y="373989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You vs pro shot mix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4032504"/>
            <a:ext cx="822960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40080" y="403250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</a:rPr>
              <a:t>Inline annotations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3474720" y="403250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All pages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852160" y="403250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Headline numbers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850" i="1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Rejected: pie charts, court heatmaps, Sankeys, 3D bars, animated rankings - each lost head-to-head against a simpler alternative.</a:t>
            </a:r>
            <a:endParaRPr lang="en-US" sz="850" dirty="0"/>
          </a:p>
          <a:p>
            <a:pPr marL="0" indent="0">
              <a:buNone/>
            </a:pPr>
            <a:r>
              <a:rPr lang="en-US" sz="8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+ 7 new Insights-page charts (v3): </a:t>
            </a: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slope · chemistry band · calibration lollipop · Elo delta · upset-by-round · efficiency · home-advantage null.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PadelLens · DV4S Exam · Politecnico Milano · AY 2025/2026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84048"/>
            <a:ext cx="64008" cy="29260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12064" y="347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CASE STUDY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diverging bar for shot DNA?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EA5E9"/>
                </a:solidFill>
              </a:rPr>
              <a:t>THE QUESTION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</a:rPr>
              <a:t>Which shots win me points, which bleed them?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The question is signed. Some shots are net positive, others net negative.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063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</a:rPr>
              <a:t>CONSIDERED: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F4444"/>
                </a:solidFill>
              </a:rPr>
              <a:t>Pie of shot share - hides the zero line.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F4444"/>
                </a:solidFill>
              </a:rPr>
              <a:t>Stacked bar - needs eye traversal.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F4444"/>
                </a:solidFill>
              </a:rPr>
              <a:t>Two side-by-side bar charts - same problem.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0B981"/>
                </a:solidFill>
              </a:rPr>
              <a:t>Diverging bar - chosen.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1371600"/>
            <a:ext cx="402336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4632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</a:rPr>
              <a:t>YOUR SHOT DNA · 40 MATCHES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498080" y="1874520"/>
            <a:ext cx="0" cy="2286000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60920" y="4160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00600" y="1965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F2937"/>
                </a:solidFill>
              </a:rPr>
              <a:t>Bandeja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98080" y="2011680"/>
            <a:ext cx="643738" cy="20116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178394" y="19659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+176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00600" y="23317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F2937"/>
                </a:solidFill>
              </a:rPr>
              <a:t>Forehand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98080" y="2377440"/>
            <a:ext cx="318211" cy="20116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852867" y="23317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+87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00600" y="26974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F2937"/>
                </a:solidFill>
              </a:rPr>
              <a:t>Volley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498080" y="2743200"/>
            <a:ext cx="314554" cy="20116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849210" y="26974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+86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00600" y="3063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F2937"/>
                </a:solidFill>
              </a:rPr>
              <a:t>Backhand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070141" y="3108960"/>
            <a:ext cx="427939" cy="20116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715000" y="3063240"/>
            <a:ext cx="130942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F4444"/>
                </a:solidFill>
              </a:rPr>
              <a:t>-117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00600" y="34290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F2937"/>
                </a:solidFill>
              </a:rPr>
              <a:t>Smash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76288" y="3474720"/>
            <a:ext cx="621792" cy="20116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715000" y="342900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F4444"/>
                </a:solidFill>
              </a:rPr>
              <a:t>-170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00600" y="4320540"/>
            <a:ext cx="43073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line dead center · sign readable at a glance · winners and errors share the bar.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PadelLens · DV4S Exam · Politecnico Milano · AY 2025/2026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84048"/>
            <a:ext cx="64008" cy="29260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12064" y="347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CASE STUDY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slope chart for momentum?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EA5E9"/>
                </a:solidFill>
              </a:rPr>
              <a:t>THE QUESTION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</a:rPr>
              <a:t>If I win set 1, how much does that really tell me - and does it survive a decider?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A two-part story on purpose: a strong signal (86%) that quietly evaporates under one condition (49%).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063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</a:rPr>
              <a:t>CONSIDERED: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F4444"/>
                </a:solidFill>
              </a:rPr>
              <a:t>Grouped bars - the 37-pt collapse has to live in a caption, not the ink.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F4444"/>
                </a:solidFill>
              </a:rPr>
              <a:t>Waterfall - implies an additive step that doesn't exist; different subsets.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F4444"/>
                </a:solidFill>
              </a:rPr>
              <a:t>Sankey - ribbon width implies a population flow that isn't actually true here.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0B981"/>
                </a:solidFill>
              </a:rPr>
              <a:t>Two-point slope chart - chosen.</a:t>
            </a:r>
            <a:endParaRPr lang="en-US" sz="1150" dirty="0"/>
          </a:p>
        </p:txBody>
      </p:sp>
      <p:sp>
        <p:nvSpPr>
          <p:cNvPr id="1001" name="Shape RightCard"/>
          <p:cNvSpPr/>
          <p:nvPr/>
        </p:nvSpPr>
        <p:spPr>
          <a:xfrm>
            <a:off x="4663440" y="1371600"/>
            <a:ext cx="402336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2" name="AutoText"/>
          <p:cNvSpPr/>
          <p:nvPr/>
        </p:nvSpPr>
        <p:spPr>
          <a:xfrm>
            <a:off x="484632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</a:rPr>
              <a:t>SET-1 WIN RATE → DECIDER WIN RATE</a:t>
            </a:r>
            <a:endParaRPr lang="en-US" sz="900" dirty="0"/>
          </a:p>
        </p:txBody>
      </p:sp>
      <p:sp>
        <p:nvSpPr>
          <p:cNvPr id="1003" name="Line"/>
          <p:cNvSpPr/>
          <p:nvPr/>
        </p:nvSpPr>
        <p:spPr>
          <a:xfrm>
            <a:off x="4900000" y="1750000"/>
            <a:ext cx="0" cy="25500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4" name="AutoText"/>
          <p:cNvSpPr/>
          <p:nvPr/>
        </p:nvSpPr>
        <p:spPr>
          <a:xfrm>
            <a:off x="4280000" y="1630000"/>
            <a:ext cx="56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</a:rPr>
              <a:t>100%</a:t>
            </a:r>
            <a:endParaRPr lang="en-US" sz="850" dirty="0"/>
          </a:p>
        </p:txBody>
      </p:sp>
      <p:sp>
        <p:nvSpPr>
          <p:cNvPr id="1005" name="AutoText"/>
          <p:cNvSpPr/>
          <p:nvPr/>
        </p:nvSpPr>
        <p:spPr>
          <a:xfrm>
            <a:off x="4280000" y="2905000"/>
            <a:ext cx="56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</a:rPr>
              <a:t>50%</a:t>
            </a:r>
            <a:endParaRPr lang="en-US" sz="850" dirty="0"/>
          </a:p>
        </p:txBody>
      </p:sp>
      <p:sp>
        <p:nvSpPr>
          <p:cNvPr id="1006" name="AutoText"/>
          <p:cNvSpPr/>
          <p:nvPr/>
        </p:nvSpPr>
        <p:spPr>
          <a:xfrm>
            <a:off x="4280000" y="4180000"/>
            <a:ext cx="56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</a:rPr>
              <a:t>0%</a:t>
            </a:r>
            <a:endParaRPr lang="en-US" sz="850" dirty="0"/>
          </a:p>
        </p:txBody>
      </p:sp>
      <p:sp>
        <p:nvSpPr>
          <p:cNvPr id="1007" name="Line"/>
          <p:cNvSpPr/>
          <p:nvPr/>
        </p:nvSpPr>
        <p:spPr>
          <a:xfrm>
            <a:off x="4900000" y="3025000"/>
            <a:ext cx="3600000" cy="0"/>
          </a:xfrm>
          <a:prstGeom prst="line">
            <a:avLst/>
          </a:prstGeom>
          <a:noFill/>
          <a:ln w="9525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08" name="AutoText"/>
          <p:cNvSpPr/>
          <p:nvPr/>
        </p:nvSpPr>
        <p:spPr>
          <a:xfrm>
            <a:off x="8000000" y="2765000"/>
            <a:ext cx="55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</a:rPr>
              <a:t>coin flip</a:t>
            </a:r>
            <a:endParaRPr lang="en-US" sz="850" dirty="0"/>
          </a:p>
        </p:txBody>
      </p:sp>
      <p:sp>
        <p:nvSpPr>
          <p:cNvPr id="1009" name="Line"/>
          <p:cNvSpPr/>
          <p:nvPr/>
        </p:nvSpPr>
        <p:spPr>
          <a:xfrm>
            <a:off x="5470000" y="2107000"/>
            <a:ext cx="2500000" cy="943500"/>
          </a:xfrm>
          <a:prstGeom prst="line">
            <a:avLst/>
          </a:prstGeom>
          <a:noFill/>
          <a:ln w="28575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0" name="Dot"/>
          <p:cNvSpPr/>
          <p:nvPr/>
        </p:nvSpPr>
        <p:spPr>
          <a:xfrm>
            <a:off x="5340000" y="1977000"/>
            <a:ext cx="260000" cy="2600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11" name="Dot"/>
          <p:cNvSpPr/>
          <p:nvPr/>
        </p:nvSpPr>
        <p:spPr>
          <a:xfrm>
            <a:off x="7840000" y="2920500"/>
            <a:ext cx="260000" cy="2600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12" name="AutoText"/>
          <p:cNvSpPr/>
          <p:nvPr/>
        </p:nvSpPr>
        <p:spPr>
          <a:xfrm>
            <a:off x="5120000" y="1637000"/>
            <a:ext cx="7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369A1"/>
                </a:solidFill>
                <a:latin typeface="Calibri" pitchFamily="34" charset="0"/>
              </a:rPr>
              <a:t>86%</a:t>
            </a:r>
            <a:endParaRPr lang="en-US" sz="1800" dirty="0"/>
          </a:p>
        </p:txBody>
      </p:sp>
      <p:sp>
        <p:nvSpPr>
          <p:cNvPr id="1013" name="AutoText"/>
          <p:cNvSpPr/>
          <p:nvPr/>
        </p:nvSpPr>
        <p:spPr>
          <a:xfrm>
            <a:off x="4970000" y="2257000"/>
            <a:ext cx="10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</a:rPr>
              <a:t>win match after set 1</a:t>
            </a:r>
            <a:endParaRPr lang="en-US" sz="800" dirty="0"/>
          </a:p>
        </p:txBody>
      </p:sp>
      <p:sp>
        <p:nvSpPr>
          <p:cNvPr id="1014" name="AutoText"/>
          <p:cNvSpPr/>
          <p:nvPr/>
        </p:nvSpPr>
        <p:spPr>
          <a:xfrm>
            <a:off x="7620000" y="2580500"/>
            <a:ext cx="7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369A1"/>
                </a:solidFill>
                <a:latin typeface="Calibri" pitchFamily="34" charset="0"/>
              </a:rPr>
              <a:t>49%</a:t>
            </a:r>
            <a:endParaRPr lang="en-US" sz="1800" dirty="0"/>
          </a:p>
        </p:txBody>
      </p:sp>
      <p:sp>
        <p:nvSpPr>
          <p:cNvPr id="1015" name="AutoText"/>
          <p:cNvSpPr/>
          <p:nvPr/>
        </p:nvSpPr>
        <p:spPr>
          <a:xfrm>
            <a:off x="7420000" y="3200500"/>
            <a:ext cx="11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</a:rPr>
              <a:t>coin flip in a decider</a:t>
            </a:r>
            <a:endParaRPr lang="en-US" sz="800" dirty="0"/>
          </a:p>
        </p:txBody>
      </p:sp>
      <p:sp>
        <p:nvSpPr>
          <p:cNvPr id="1016" name="AutoText"/>
          <p:cNvSpPr/>
          <p:nvPr/>
        </p:nvSpPr>
        <p:spPr>
          <a:xfrm>
            <a:off x="4800600" y="4320540"/>
            <a:ext cx="43073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369A1"/>
                </a:solidFill>
                <a:latin typeface="Calibri" pitchFamily="34" charset="0"/>
              </a:rPr>
              <a:t>86% → 49%: your set-1 lead evaporates once it's a decider.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PadelLens · DV4S Exam · Politecnico Milano · AY 2025/2026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84048"/>
            <a:ext cx="64008" cy="29260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12064" y="347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 CASE STUDY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chemistry build with reps - or is it survivorship?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EA5E9"/>
                </a:solidFill>
              </a:rPr>
              <a:t>THE QUESTION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</a:rPr>
              <a:t>Does playing more matches together make a pair better, or are we just watching the survivors?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Unlike momentum, this finding needs a caveat that is structural, not a footnote: the sample shrinks as buckets grow.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063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</a:rPr>
              <a:t>CONSIDERED: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F4444"/>
                </a:solidFill>
              </a:rPr>
              <a:t>Bar per bucket - no room left to layer in the shrinking-sample signal.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F4444"/>
                </a:solidFill>
              </a:rPr>
              <a:t>Scatter per pair - noisy at low n; the thin high-x tail is easy to miss.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F4444"/>
                </a:solidFill>
              </a:rPr>
              <a:t>Small multiples - solves a re-stitching problem this finding doesn't have.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0B981"/>
                </a:solidFill>
              </a:rPr>
              <a:t>Line + CI, narrowing wedge - chosen.</a:t>
            </a:r>
            <a:endParaRPr lang="en-US" sz="1150" dirty="0"/>
          </a:p>
        </p:txBody>
      </p:sp>
      <p:sp>
        <p:nvSpPr>
          <p:cNvPr id="1001" name="Shape RightCard"/>
          <p:cNvSpPr/>
          <p:nvPr/>
        </p:nvSpPr>
        <p:spPr>
          <a:xfrm>
            <a:off x="4663440" y="1371600"/>
            <a:ext cx="402336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2" name="AutoText"/>
          <p:cNvSpPr/>
          <p:nvPr/>
        </p:nvSpPr>
        <p:spPr>
          <a:xfrm>
            <a:off x="484632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</a:rPr>
              <a:t>WIN RATE BY MATCHES TOGETHER</a:t>
            </a:r>
            <a:endParaRPr lang="en-US" sz="900" dirty="0"/>
          </a:p>
        </p:txBody>
      </p:sp>
      <p:sp>
        <p:nvSpPr>
          <p:cNvPr id="1003" name="Line"/>
          <p:cNvSpPr/>
          <p:nvPr/>
        </p:nvSpPr>
        <p:spPr>
          <a:xfrm>
            <a:off x="4900000" y="1750000"/>
            <a:ext cx="0" cy="25500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4" name="AutoText"/>
          <p:cNvSpPr/>
          <p:nvPr/>
        </p:nvSpPr>
        <p:spPr>
          <a:xfrm>
            <a:off x="4280000" y="1630000"/>
            <a:ext cx="56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</a:rPr>
              <a:t>100%</a:t>
            </a:r>
            <a:endParaRPr lang="en-US" sz="850" dirty="0"/>
          </a:p>
        </p:txBody>
      </p:sp>
      <p:sp>
        <p:nvSpPr>
          <p:cNvPr id="1005" name="AutoText"/>
          <p:cNvSpPr/>
          <p:nvPr/>
        </p:nvSpPr>
        <p:spPr>
          <a:xfrm>
            <a:off x="4280000" y="2905000"/>
            <a:ext cx="56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</a:rPr>
              <a:t>50%</a:t>
            </a:r>
            <a:endParaRPr lang="en-US" sz="850" dirty="0"/>
          </a:p>
        </p:txBody>
      </p:sp>
      <p:sp>
        <p:nvSpPr>
          <p:cNvPr id="1006" name="AutoText"/>
          <p:cNvSpPr/>
          <p:nvPr/>
        </p:nvSpPr>
        <p:spPr>
          <a:xfrm>
            <a:off x="4280000" y="4180000"/>
            <a:ext cx="56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</a:rPr>
              <a:t>0%</a:t>
            </a:r>
            <a:endParaRPr lang="en-US" sz="850" dirty="0"/>
          </a:p>
        </p:txBody>
      </p:sp>
      <p:sp>
        <p:nvSpPr>
          <p:cNvPr id="1007" name="Line"/>
          <p:cNvSpPr/>
          <p:nvPr/>
        </p:nvSpPr>
        <p:spPr>
          <a:xfrm>
            <a:off x="4900000" y="4300000"/>
            <a:ext cx="360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8" name="Line"/>
          <p:cNvSpPr/>
          <p:nvPr/>
        </p:nvSpPr>
        <p:spPr>
          <a:xfrm flipV="1">
            <a:off x="5350000" y="3144850"/>
            <a:ext cx="900000" cy="14025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9" name="Line"/>
          <p:cNvSpPr/>
          <p:nvPr/>
        </p:nvSpPr>
        <p:spPr>
          <a:xfrm flipV="1">
            <a:off x="6250000" y="2976550"/>
            <a:ext cx="900000" cy="16830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0" name="Line"/>
          <p:cNvSpPr/>
          <p:nvPr/>
        </p:nvSpPr>
        <p:spPr>
          <a:xfrm flipV="1">
            <a:off x="7150000" y="2560900"/>
            <a:ext cx="900000" cy="41565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1" name="Line"/>
          <p:cNvSpPr/>
          <p:nvPr/>
        </p:nvSpPr>
        <p:spPr>
          <a:xfrm>
            <a:off x="5350000" y="3175450"/>
            <a:ext cx="0" cy="219300"/>
          </a:xfrm>
          <a:prstGeom prst="line">
            <a:avLst/>
          </a:prstGeom>
          <a:noFill/>
          <a:ln w="952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2" name="Line"/>
          <p:cNvSpPr/>
          <p:nvPr/>
        </p:nvSpPr>
        <p:spPr>
          <a:xfrm>
            <a:off x="6250000" y="3019900"/>
            <a:ext cx="0" cy="249900"/>
          </a:xfrm>
          <a:prstGeom prst="line">
            <a:avLst/>
          </a:prstGeom>
          <a:noFill/>
          <a:ln w="952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3" name="Line"/>
          <p:cNvSpPr/>
          <p:nvPr/>
        </p:nvSpPr>
        <p:spPr>
          <a:xfrm>
            <a:off x="7150000" y="2828650"/>
            <a:ext cx="0" cy="295800"/>
          </a:xfrm>
          <a:prstGeom prst="line">
            <a:avLst/>
          </a:prstGeom>
          <a:noFill/>
          <a:ln w="952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4" name="Line"/>
          <p:cNvSpPr/>
          <p:nvPr/>
        </p:nvSpPr>
        <p:spPr>
          <a:xfrm>
            <a:off x="8050000" y="2435950"/>
            <a:ext cx="0" cy="249900"/>
          </a:xfrm>
          <a:prstGeom prst="line">
            <a:avLst/>
          </a:prstGeom>
          <a:noFill/>
          <a:ln w="952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5" name="Dot"/>
          <p:cNvSpPr/>
          <p:nvPr/>
        </p:nvSpPr>
        <p:spPr>
          <a:xfrm>
            <a:off x="5240000" y="3175100"/>
            <a:ext cx="220000" cy="2200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16" name="AutoText"/>
          <p:cNvSpPr/>
          <p:nvPr/>
        </p:nvSpPr>
        <p:spPr>
          <a:xfrm>
            <a:off x="5000000" y="2825100"/>
            <a:ext cx="7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369A1"/>
                </a:solidFill>
                <a:latin typeface="Calibri" pitchFamily="34" charset="0"/>
              </a:rPr>
              <a:t>40%</a:t>
            </a:r>
            <a:endParaRPr lang="en-US" sz="1400" dirty="0"/>
          </a:p>
        </p:txBody>
      </p:sp>
      <p:sp>
        <p:nvSpPr>
          <p:cNvPr id="1017" name="AutoText"/>
          <p:cNvSpPr/>
          <p:nvPr/>
        </p:nvSpPr>
        <p:spPr>
          <a:xfrm>
            <a:off x="5000000" y="4360000"/>
            <a:ext cx="7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</a:rPr>
              <a:t>1-3</a:t>
            </a:r>
            <a:endParaRPr lang="en-US" sz="900" dirty="0"/>
          </a:p>
        </p:txBody>
      </p:sp>
      <p:sp>
        <p:nvSpPr>
          <p:cNvPr id="1018" name="Dot"/>
          <p:cNvSpPr/>
          <p:nvPr/>
        </p:nvSpPr>
        <p:spPr>
          <a:xfrm>
            <a:off x="6140000" y="3034850"/>
            <a:ext cx="220000" cy="2200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19" name="AutoText"/>
          <p:cNvSpPr/>
          <p:nvPr/>
        </p:nvSpPr>
        <p:spPr>
          <a:xfrm>
            <a:off x="5900000" y="2684850"/>
            <a:ext cx="7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369A1"/>
                </a:solidFill>
                <a:latin typeface="Calibri" pitchFamily="34" charset="0"/>
              </a:rPr>
              <a:t>45%</a:t>
            </a:r>
            <a:endParaRPr lang="en-US" sz="1400" dirty="0"/>
          </a:p>
        </p:txBody>
      </p:sp>
      <p:sp>
        <p:nvSpPr>
          <p:cNvPr id="1020" name="AutoText"/>
          <p:cNvSpPr/>
          <p:nvPr/>
        </p:nvSpPr>
        <p:spPr>
          <a:xfrm>
            <a:off x="5900000" y="4360000"/>
            <a:ext cx="7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</a:rPr>
              <a:t>4-8</a:t>
            </a:r>
            <a:endParaRPr lang="en-US" sz="900" dirty="0"/>
          </a:p>
        </p:txBody>
      </p:sp>
      <p:sp>
        <p:nvSpPr>
          <p:cNvPr id="1021" name="Dot"/>
          <p:cNvSpPr/>
          <p:nvPr/>
        </p:nvSpPr>
        <p:spPr>
          <a:xfrm>
            <a:off x="7040000" y="2866550"/>
            <a:ext cx="220000" cy="2200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22" name="AutoText"/>
          <p:cNvSpPr/>
          <p:nvPr/>
        </p:nvSpPr>
        <p:spPr>
          <a:xfrm>
            <a:off x="6800000" y="2516550"/>
            <a:ext cx="7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369A1"/>
                </a:solidFill>
                <a:latin typeface="Calibri" pitchFamily="34" charset="0"/>
              </a:rPr>
              <a:t>52%</a:t>
            </a:r>
            <a:endParaRPr lang="en-US" sz="1400" dirty="0"/>
          </a:p>
        </p:txBody>
      </p:sp>
      <p:sp>
        <p:nvSpPr>
          <p:cNvPr id="1023" name="AutoText"/>
          <p:cNvSpPr/>
          <p:nvPr/>
        </p:nvSpPr>
        <p:spPr>
          <a:xfrm>
            <a:off x="6800000" y="4360000"/>
            <a:ext cx="7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</a:rPr>
              <a:t>9-15</a:t>
            </a:r>
            <a:endParaRPr lang="en-US" sz="900" dirty="0"/>
          </a:p>
        </p:txBody>
      </p:sp>
      <p:sp>
        <p:nvSpPr>
          <p:cNvPr id="1024" name="Dot"/>
          <p:cNvSpPr/>
          <p:nvPr/>
        </p:nvSpPr>
        <p:spPr>
          <a:xfrm>
            <a:off x="7940000" y="2450900"/>
            <a:ext cx="220000" cy="2200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25" name="AutoText"/>
          <p:cNvSpPr/>
          <p:nvPr/>
        </p:nvSpPr>
        <p:spPr>
          <a:xfrm>
            <a:off x="7700000" y="2100900"/>
            <a:ext cx="7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369A1"/>
                </a:solidFill>
                <a:latin typeface="Calibri" pitchFamily="34" charset="0"/>
              </a:rPr>
              <a:t>68%</a:t>
            </a:r>
            <a:endParaRPr lang="en-US" sz="1400" dirty="0"/>
          </a:p>
        </p:txBody>
      </p:sp>
      <p:sp>
        <p:nvSpPr>
          <p:cNvPr id="1026" name="AutoText"/>
          <p:cNvSpPr/>
          <p:nvPr/>
        </p:nvSpPr>
        <p:spPr>
          <a:xfrm>
            <a:off x="7700000" y="4360000"/>
            <a:ext cx="7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</a:rPr>
              <a:t>16+</a:t>
            </a:r>
            <a:endParaRPr lang="en-US" sz="900" dirty="0"/>
          </a:p>
        </p:txBody>
      </p:sp>
      <p:sp>
        <p:nvSpPr>
          <p:cNvPr id="1027" name="AutoText"/>
          <p:cNvSpPr/>
          <p:nvPr/>
        </p:nvSpPr>
        <p:spPr>
          <a:xfrm>
            <a:off x="4900000" y="1490000"/>
            <a:ext cx="36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</a:rPr>
              <a:t>Matches together, ordered left to right</a:t>
            </a:r>
            <a:endParaRPr lang="en-US" sz="850" dirty="0"/>
          </a:p>
        </p:txBody>
      </p:sp>
      <p:sp>
        <p:nvSpPr>
          <p:cNvPr id="1028" name="AutoText"/>
          <p:cNvSpPr/>
          <p:nvPr/>
        </p:nvSpPr>
        <p:spPr>
          <a:xfrm>
            <a:off x="4800600" y="4320540"/>
            <a:ext cx="43073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369A1"/>
                </a:solidFill>
                <a:latin typeface="Calibri" pitchFamily="34" charset="0"/>
              </a:rPr>
              <a:t>Only 39% of pairs (89 of 230) ever reach 5+ matches together - the rise partly reflects who stays paired.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PadelLens · DV4S Exam · Politecnico Milano · AY 2025/2026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84048"/>
            <a:ext cx="64008" cy="29260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12064" y="347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 CASE STUDY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rankings predict - or decide?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EA5E9"/>
                </a:solidFill>
              </a:rPr>
              <a:t>THE QUESTION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</a:rPr>
              <a:t>How much should a ranking gap change my expectations, and does trust scale with gap size?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The audience (Marco, Luca) never asked whether the model is honest - they asked whether the gap matters.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063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</a:rPr>
              <a:t>CONSIDERED: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F4444"/>
                </a:solidFill>
              </a:rPr>
              <a:t>ROC curve - answers 'is the model good', not 'does the gap matter'.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F4444"/>
                </a:solidFill>
              </a:rPr>
              <a:t>Calibration-vs-diagonal plot - presupposes the reader accepts a model's output.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F4444"/>
                </a:solidFill>
              </a:rPr>
              <a:t>Simple KPI (78.5%) - hides that the average masks a 58.8-96.7% range.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0B981"/>
                </a:solidFill>
              </a:rPr>
              <a:t>Lollipop by ranking-gap size - chosen.</a:t>
            </a:r>
            <a:endParaRPr lang="en-US" sz="1150" dirty="0"/>
          </a:p>
        </p:txBody>
      </p:sp>
      <p:sp>
        <p:nvSpPr>
          <p:cNvPr id="1001" name="Shape RightCard"/>
          <p:cNvSpPr/>
          <p:nvPr/>
        </p:nvSpPr>
        <p:spPr>
          <a:xfrm>
            <a:off x="4663440" y="1371600"/>
            <a:ext cx="402336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2" name="AutoText"/>
          <p:cNvSpPr/>
          <p:nvPr/>
        </p:nvSpPr>
        <p:spPr>
          <a:xfrm>
            <a:off x="484632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</a:rPr>
              <a:t>WIN RATE ABOVE A COIN FLIP, BY RANKING GAP</a:t>
            </a:r>
            <a:endParaRPr lang="en-US" sz="900" dirty="0"/>
          </a:p>
        </p:txBody>
      </p:sp>
      <p:sp>
        <p:nvSpPr>
          <p:cNvPr id="1003" name="Line"/>
          <p:cNvSpPr/>
          <p:nvPr/>
        </p:nvSpPr>
        <p:spPr>
          <a:xfrm>
            <a:off x="5300000" y="1900000"/>
            <a:ext cx="0" cy="225000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04" name="AutoText"/>
          <p:cNvSpPr/>
          <p:nvPr/>
        </p:nvSpPr>
        <p:spPr>
          <a:xfrm>
            <a:off x="4840000" y="4190000"/>
            <a:ext cx="9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</a:rPr>
              <a:t>coin flip (50%)</a:t>
            </a:r>
            <a:endParaRPr lang="en-US" sz="800" dirty="0"/>
          </a:p>
        </p:txBody>
      </p:sp>
      <p:sp>
        <p:nvSpPr>
          <p:cNvPr id="1005" name="Line"/>
          <p:cNvSpPr/>
          <p:nvPr/>
        </p:nvSpPr>
        <p:spPr>
          <a:xfrm>
            <a:off x="7124000" y="1900000"/>
            <a:ext cx="0" cy="2250000"/>
          </a:xfrm>
          <a:prstGeom prst="line">
            <a:avLst/>
          </a:prstGeom>
          <a:noFill/>
          <a:ln w="9525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06" name="AutoText"/>
          <p:cNvSpPr/>
          <p:nvPr/>
        </p:nvSpPr>
        <p:spPr>
          <a:xfrm>
            <a:off x="6474000" y="1640000"/>
            <a:ext cx="13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</a:rPr>
              <a:t>season average (78.5%)</a:t>
            </a:r>
            <a:endParaRPr lang="en-US" sz="800" dirty="0"/>
          </a:p>
        </p:txBody>
      </p:sp>
      <p:sp>
        <p:nvSpPr>
          <p:cNvPr id="1007" name="AutoText"/>
          <p:cNvSpPr/>
          <p:nvPr/>
        </p:nvSpPr>
        <p:spPr>
          <a:xfrm>
            <a:off x="2600000" y="2120000"/>
            <a:ext cx="13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</a:rPr>
              <a:t>Closest gap</a:t>
            </a:r>
            <a:endParaRPr lang="en-US" sz="1000" dirty="0"/>
          </a:p>
        </p:txBody>
      </p:sp>
      <p:sp>
        <p:nvSpPr>
          <p:cNvPr id="1008" name="Line"/>
          <p:cNvSpPr/>
          <p:nvPr/>
        </p:nvSpPr>
        <p:spPr>
          <a:xfrm>
            <a:off x="5300000" y="2250000"/>
            <a:ext cx="56320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9" name="Dot"/>
          <p:cNvSpPr/>
          <p:nvPr/>
        </p:nvSpPr>
        <p:spPr>
          <a:xfrm>
            <a:off x="5763200" y="2150000"/>
            <a:ext cx="200000" cy="2000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10" name="AutoText"/>
          <p:cNvSpPr/>
          <p:nvPr/>
        </p:nvSpPr>
        <p:spPr>
          <a:xfrm>
            <a:off x="6013200" y="2110000"/>
            <a:ext cx="70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69A1"/>
                </a:solidFill>
                <a:latin typeface="Calibri" pitchFamily="34" charset="0"/>
              </a:rPr>
              <a:t>58.8%</a:t>
            </a:r>
            <a:endParaRPr lang="en-US" sz="1200" dirty="0"/>
          </a:p>
        </p:txBody>
      </p:sp>
      <p:sp>
        <p:nvSpPr>
          <p:cNvPr id="1011" name="AutoText"/>
          <p:cNvSpPr/>
          <p:nvPr/>
        </p:nvSpPr>
        <p:spPr>
          <a:xfrm>
            <a:off x="2600000" y="2895000"/>
            <a:ext cx="13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</a:rPr>
              <a:t>Season average</a:t>
            </a:r>
            <a:endParaRPr lang="en-US" sz="1000" dirty="0"/>
          </a:p>
        </p:txBody>
      </p:sp>
      <p:sp>
        <p:nvSpPr>
          <p:cNvPr id="1012" name="Line"/>
          <p:cNvSpPr/>
          <p:nvPr/>
        </p:nvSpPr>
        <p:spPr>
          <a:xfrm>
            <a:off x="5300000" y="3025000"/>
            <a:ext cx="182400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3" name="Dot"/>
          <p:cNvSpPr/>
          <p:nvPr/>
        </p:nvSpPr>
        <p:spPr>
          <a:xfrm>
            <a:off x="7024000" y="2925000"/>
            <a:ext cx="200000" cy="2000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14" name="AutoText"/>
          <p:cNvSpPr/>
          <p:nvPr/>
        </p:nvSpPr>
        <p:spPr>
          <a:xfrm>
            <a:off x="7274000" y="2885000"/>
            <a:ext cx="70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69A1"/>
                </a:solidFill>
                <a:latin typeface="Calibri" pitchFamily="34" charset="0"/>
              </a:rPr>
              <a:t>78.5%</a:t>
            </a:r>
            <a:endParaRPr lang="en-US" sz="1200" dirty="0"/>
          </a:p>
        </p:txBody>
      </p:sp>
      <p:sp>
        <p:nvSpPr>
          <p:cNvPr id="1015" name="AutoText"/>
          <p:cNvSpPr/>
          <p:nvPr/>
        </p:nvSpPr>
        <p:spPr>
          <a:xfrm>
            <a:off x="2600000" y="3670000"/>
            <a:ext cx="13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</a:rPr>
              <a:t>Widest gap</a:t>
            </a:r>
            <a:endParaRPr lang="en-US" sz="1000" dirty="0"/>
          </a:p>
        </p:txBody>
      </p:sp>
      <p:sp>
        <p:nvSpPr>
          <p:cNvPr id="1016" name="Line"/>
          <p:cNvSpPr/>
          <p:nvPr/>
        </p:nvSpPr>
        <p:spPr>
          <a:xfrm>
            <a:off x="5300000" y="3800000"/>
            <a:ext cx="298880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7" name="Dot"/>
          <p:cNvSpPr/>
          <p:nvPr/>
        </p:nvSpPr>
        <p:spPr>
          <a:xfrm>
            <a:off x="8188800" y="3700000"/>
            <a:ext cx="200000" cy="2000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18" name="AutoText"/>
          <p:cNvSpPr/>
          <p:nvPr/>
        </p:nvSpPr>
        <p:spPr>
          <a:xfrm>
            <a:off x="8438800" y="3660000"/>
            <a:ext cx="70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69A1"/>
                </a:solidFill>
                <a:latin typeface="Calibri" pitchFamily="34" charset="0"/>
              </a:rPr>
              <a:t>96.7%</a:t>
            </a:r>
            <a:endParaRPr lang="en-US" sz="1200" dirty="0"/>
          </a:p>
        </p:txBody>
      </p:sp>
      <p:sp>
        <p:nvSpPr>
          <p:cNvPr id="1019" name="AutoText"/>
          <p:cNvSpPr/>
          <p:nvPr/>
        </p:nvSpPr>
        <p:spPr>
          <a:xfrm>
            <a:off x="4800600" y="4320540"/>
            <a:ext cx="43073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369A1"/>
                </a:solidFill>
                <a:latin typeface="Calibri" pitchFamily="34" charset="0"/>
              </a:rPr>
              <a:t>Even the closest gap tips to the favorite (59%); the widest gap is almost a sure thing (97%).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PadelLens · DV4S Exam · Politecnico Milano · AY 2025/2026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84048"/>
            <a:ext cx="64008" cy="29260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12064" y="347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 COLOR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Editorial use, not decoration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" cy="822960"/>
          </a:xfrm>
          <a:prstGeom prst="rect">
            <a:avLst/>
          </a:prstGeom>
          <a:solidFill>
            <a:srgbClr val="0EA5E9"/>
          </a:solidFill>
          <a:ln w="6350">
            <a:solidFill>
              <a:srgbClr val="CFD6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71600" y="14173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</a:rPr>
              <a:t>Blue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16916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#0EA5E9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71600" y="19202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Positive / interactive / default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371600"/>
            <a:ext cx="822960" cy="822960"/>
          </a:xfrm>
          <a:prstGeom prst="rect">
            <a:avLst/>
          </a:prstGeom>
          <a:solidFill>
            <a:srgbClr val="EF4444"/>
          </a:solidFill>
          <a:ln w="6350">
            <a:solidFill>
              <a:srgbClr val="CFD6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60520" y="14173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</a:rPr>
              <a:t>Red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60520" y="16916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#EF4444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60520" y="19202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Negative signal requiring action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35040" y="1371600"/>
            <a:ext cx="822960" cy="822960"/>
          </a:xfrm>
          <a:prstGeom prst="rect">
            <a:avLst/>
          </a:prstGeom>
          <a:solidFill>
            <a:srgbClr val="94A3B8"/>
          </a:solidFill>
          <a:ln w="6350">
            <a:solidFill>
              <a:srgbClr val="CFD6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949440" y="14173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</a:rPr>
              <a:t>Gray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949440" y="16916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#94A3B8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949440" y="19202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Pro reference frame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377440"/>
            <a:ext cx="822960" cy="822960"/>
          </a:xfrm>
          <a:prstGeom prst="rect">
            <a:avLst/>
          </a:prstGeom>
          <a:solidFill>
            <a:srgbClr val="1F2937"/>
          </a:solidFill>
          <a:ln w="6350">
            <a:solidFill>
              <a:srgbClr val="CFD6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371600" y="24231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</a:rPr>
              <a:t>Ink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71600" y="26974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#1F2937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371600" y="29260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Body text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46120" y="2377440"/>
            <a:ext cx="822960" cy="822960"/>
          </a:xfrm>
          <a:prstGeom prst="rect">
            <a:avLst/>
          </a:prstGeom>
          <a:solidFill>
            <a:srgbClr val="6B7280"/>
          </a:solidFill>
          <a:ln w="6350">
            <a:solidFill>
              <a:srgbClr val="CFD6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60520" y="24231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</a:rPr>
              <a:t>Muted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160520" y="26974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#6B7280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60520" y="29260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Secondary text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35040" y="2377440"/>
            <a:ext cx="82296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CFD6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949440" y="24231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</a:rPr>
              <a:t>BG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49440" y="26974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#F8FAFC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49440" y="29260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Page background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40080" y="37490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EA5E9"/>
                </a:solidFill>
              </a:rPr>
              <a:t>ACCESSIBILITY CHECKS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0080" y="40233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WCAG AA body-text contrast 12.6:1 ✓ · Blue/red palette: deuteranopia &amp; protanopia safe ✓ · No green/red pairs · </a:t>
            </a:r>
            <a:r>
              <a:rPr lang="en-US" sz="1200" b="1" dirty="0">
                <a:solidFill>
                  <a:srgbClr val="FFFFFF"/>
                </a:solidFill>
              </a:rPr>
              <a:t>Every red mark is also negatively signed numerically.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PadelLens · DV4S Exam · Politecnico Milano · AY 2025/2026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84048"/>
            <a:ext cx="64008" cy="29260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12064" y="347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 INTERACTIVITY &amp; ANNOTATIONS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Kirk's last two design layers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EA5E9"/>
                </a:solidFill>
              </a:rPr>
              <a:t>INTERACTIVITY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00" dirty="0">
                <a:solidFill>
                  <a:srgbClr val="1F2937"/>
                </a:solidFill>
              </a:rPr>
              <a:t>Sidebar filters (country, surface, category, dates)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00" dirty="0">
                <a:solidFill>
                  <a:srgbClr val="1F2937"/>
                </a:solidFill>
              </a:rPr>
              <a:t>Row-click drill from rankings to player detail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00" dirty="0">
                <a:solidFill>
                  <a:srgbClr val="1F2937"/>
                </a:solidFill>
              </a:rPr>
              <a:t>Time-range toggle on My Stats (30/60/90/all)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00" dirty="0">
                <a:solidFill>
                  <a:srgbClr val="1F2937"/>
                </a:solidFill>
              </a:rPr>
              <a:t>Hover tooltips: precision on demand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00" dirty="0">
                <a:solidFill>
                  <a:srgbClr val="1F2937"/>
                </a:solidFill>
              </a:rPr>
              <a:t>Live auto-result preview while typing a score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402336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4632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EA5E9"/>
                </a:solidFill>
              </a:rPr>
              <a:t>ANNOTATION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46320" y="182880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20"/>
              </a:spcAft>
              <a:buSzPct val="100000"/>
              <a:buChar char="●"/>
            </a:pPr>
            <a:r>
              <a:rPr lang="en-US" sz="1050" dirty="0">
                <a:solidFill>
                  <a:srgbClr val="1F2937"/>
                </a:solidFill>
              </a:rPr>
              <a:t>Static in-canvas: the headline ("-40 pp")</a:t>
            </a:r>
            <a:endParaRPr lang="en-US" sz="1050" dirty="0"/>
          </a:p>
          <a:p>
            <a:pPr marL="342900" indent="-342900">
              <a:spcAft>
                <a:spcPts val="320"/>
              </a:spcAft>
              <a:buSzPct val="100000"/>
              <a:buChar char="●"/>
            </a:pPr>
            <a:r>
              <a:rPr lang="en-US" sz="1050" dirty="0">
                <a:solidFill>
                  <a:srgbClr val="1F2937"/>
                </a:solidFill>
              </a:rPr>
              <a:t>Dynamic hover: the detail (exact value, date)</a:t>
            </a:r>
            <a:endParaRPr lang="en-US" sz="1050" dirty="0"/>
          </a:p>
          <a:p>
            <a:pPr marL="342900" indent="-342900">
              <a:spcAft>
                <a:spcPts val="320"/>
              </a:spcAft>
              <a:buSzPct val="100000"/>
              <a:buChar char="●"/>
            </a:pPr>
            <a:r>
              <a:rPr lang="en-US" sz="1050" dirty="0">
                <a:solidFill>
                  <a:srgbClr val="1F2937"/>
                </a:solidFill>
              </a:rPr>
              <a:t>Captions outside the chart: WHAT</a:t>
            </a:r>
            <a:endParaRPr lang="en-US" sz="1050" dirty="0"/>
          </a:p>
          <a:p>
            <a:pPr marL="342900" indent="-342900">
              <a:spcAft>
                <a:spcPts val="320"/>
              </a:spcAft>
              <a:buSzPct val="100000"/>
              <a:buChar char="●"/>
            </a:pPr>
            <a:r>
              <a:rPr lang="en-US" sz="1050" dirty="0">
                <a:solidFill>
                  <a:srgbClr val="1F2937"/>
                </a:solidFill>
              </a:rPr>
              <a:t>Callouts inside the chart: WHY you should care</a:t>
            </a:r>
            <a:endParaRPr lang="en-US" sz="1050" dirty="0"/>
          </a:p>
          <a:p>
            <a:pPr marL="342900" indent="-342900">
              <a:spcAft>
                <a:spcPts val="320"/>
              </a:spcAft>
              <a:buSzPct val="100000"/>
              <a:buChar char="●"/>
            </a:pPr>
            <a:r>
              <a:rPr lang="en-US" sz="1050" dirty="0">
                <a:solidFill>
                  <a:srgbClr val="1F2937"/>
                </a:solidFill>
              </a:rPr>
              <a:t>Color-coded gap cards on Compare (red→amber→green)</a:t>
            </a:r>
            <a:endParaRPr lang="en-US" sz="1050" dirty="0"/>
          </a:p>
          <a:p>
            <a:pPr marL="342900" indent="-342900">
              <a:spcAft>
                <a:spcPts val="320"/>
              </a:spcAft>
              <a:buSzPct val="100000"/>
              <a:buChar char="●"/>
            </a:pPr>
            <a:r>
              <a:rPr lang="en-US" sz="1050" dirty="0">
                <a:solidFill>
                  <a:srgbClr val="1F2937"/>
                </a:solidFill>
              </a:rPr>
              <a:t>Every insight card: in-canvas headline annotation + method note (test, n, p)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PadelLens · DV4S Exam · Politecnico Milano · AY 2025/2026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0"/>
            <a:ext cx="54864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Implementation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154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Streamlit · Plotly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84048"/>
            <a:ext cx="64008" cy="29260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12064" y="347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 TECH STACK &amp;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under the hood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EA5E9"/>
                </a:solidFill>
              </a:rPr>
              <a:t>STACK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3.11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86000" y="1828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Language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303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1.32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86000" y="2303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Multi-page web app framework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778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Pandas 2.x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286000" y="2778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Data wrangling, groupby, rolling means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253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Plotly 5.x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286000" y="3253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Interactive charts (hover, zoom, brush)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728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SQLite3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286000" y="3728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Embedded DB - users table, multi-user-ready</a:t>
            </a:r>
            <a:endParaRPr lang="en-US" sz="1100" dirty="0"/>
          </a:p>
        </p:txBody>
      </p:sp>
      <p:sp>
        <p:nvSpPr>
          <p:cNvPr id="90" name="Text Stack Row6a"/>
          <p:cNvSpPr/>
          <p:nvPr/>
        </p:nvSpPr>
        <p:spPr>
          <a:xfrm>
            <a:off x="640080" y="4203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analytics.py</a:t>
            </a:r>
            <a:endParaRPr lang="en-US" sz="1400" dirty="0"/>
          </a:p>
        </p:txBody>
      </p:sp>
      <p:sp>
        <p:nvSpPr>
          <p:cNvPr id="91" name="Text Stack Row6b"/>
          <p:cNvSpPr/>
          <p:nvPr/>
        </p:nvSpPr>
        <p:spPr>
          <a:xfrm>
            <a:off x="2286000" y="4203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 · win model · Wilson CIs (12/12 tests)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63440" y="1371600"/>
            <a:ext cx="402336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4632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EA5E9"/>
                </a:solidFill>
              </a:rPr>
              <a:t>ARCHITECTURE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1828800"/>
            <a:ext cx="1737360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CFD6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46320" y="18745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</a:rPr>
              <a:t>Padel API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208483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</a:rPr>
              <a:t>REST + JSON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766560" y="1828800"/>
            <a:ext cx="1737360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CFD6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766560" y="18745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</a:rPr>
              <a:t>SQLite DB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766560" y="208483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</a:rPr>
              <a:t>users table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583680" y="2084832"/>
            <a:ext cx="1645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806440" y="2606040"/>
            <a:ext cx="1737360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CFD6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806440" y="26517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</a:rPr>
              <a:t>Pandas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806440" y="286207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</a:rPr>
              <a:t>load + transform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715000" y="2331720"/>
            <a:ext cx="91440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635240" y="2331720"/>
            <a:ext cx="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806440" y="3383280"/>
            <a:ext cx="1737360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CFD6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806440" y="34290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</a:rPr>
              <a:t>Plotly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806440" y="363931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</a:rPr>
              <a:t>interactive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675120" y="3108960"/>
            <a:ext cx="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846320" y="4160520"/>
            <a:ext cx="35661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CFD6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Provenance Caption"/>
          <p:cNvSpPr/>
          <p:nvPr/>
        </p:nvSpPr>
        <p:spPr>
          <a:xfrm>
            <a:off x="4846320" y="45720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 view captions its data source.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42062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</a:rPr>
              <a:t>Streamlit · run_app.bat launcher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675120" y="3886200"/>
            <a:ext cx="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PadelLens · DV4S Exam · Politecnico Milano · AY 2025/2026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84048"/>
            <a:ext cx="64008" cy="29260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12064" y="347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 THE ANALYTICS MODULE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CSVs to a real modelling layer</a:t>
            </a:r>
            <a:endParaRPr lang="en-US" sz="2600" dirty="0"/>
          </a:p>
        </p:txBody>
      </p:sp>
      <p:sp>
        <p:nvSpPr>
          <p:cNvPr id="100" name="Text 100"/>
          <p:cNvSpPr/>
          <p:nvPr/>
        </p:nvSpPr>
        <p:spPr>
          <a:xfrm>
            <a:off x="502920" y="141732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0EA5E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101" name="Text 101"/>
          <p:cNvSpPr/>
          <p:nvPr/>
        </p:nvSpPr>
        <p:spPr>
          <a:xfrm>
            <a:off x="960120" y="138074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 rating engine</a:t>
            </a:r>
            <a:endParaRPr lang="en-US" sz="1400" dirty="0"/>
          </a:p>
        </p:txBody>
      </p:sp>
      <p:sp>
        <p:nvSpPr>
          <p:cNvPr id="102" name="Text 102"/>
          <p:cNvSpPr/>
          <p:nvPr/>
        </p:nvSpPr>
        <p:spPr>
          <a:xfrm>
            <a:off x="960120" y="1655064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Per-player ratings computed chronologically over all 776 real matches (K=32, base 1500).</a:t>
            </a:r>
            <a:endParaRPr lang="en-US" sz="1050" dirty="0"/>
          </a:p>
        </p:txBody>
      </p:sp>
      <p:sp>
        <p:nvSpPr>
          <p:cNvPr id="103" name="Text 103"/>
          <p:cNvSpPr/>
          <p:nvPr/>
        </p:nvSpPr>
        <p:spPr>
          <a:xfrm>
            <a:off x="502920" y="202082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0EA5E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104" name="Text 104"/>
          <p:cNvSpPr/>
          <p:nvPr/>
        </p:nvSpPr>
        <p:spPr>
          <a:xfrm>
            <a:off x="960120" y="19842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win model + calibration</a:t>
            </a:r>
            <a:endParaRPr lang="en-US" sz="1400" dirty="0"/>
          </a:p>
        </p:txBody>
      </p:sp>
      <p:sp>
        <p:nvSpPr>
          <p:cNvPr id="105" name="Text 105"/>
          <p:cNvSpPr/>
          <p:nvPr/>
        </p:nvSpPr>
        <p:spPr>
          <a:xfrm>
            <a:off x="960120" y="2258568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win probability from the ranking gap; decile calibration checked against outcomes.</a:t>
            </a:r>
            <a:endParaRPr lang="en-US" sz="1050" dirty="0"/>
          </a:p>
        </p:txBody>
      </p:sp>
      <p:sp>
        <p:nvSpPr>
          <p:cNvPr id="109" name="Text 109"/>
          <p:cNvSpPr/>
          <p:nvPr/>
        </p:nvSpPr>
        <p:spPr>
          <a:xfrm>
            <a:off x="502920" y="262432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0EA5E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110" name="Text 110"/>
          <p:cNvSpPr/>
          <p:nvPr/>
        </p:nvSpPr>
        <p:spPr>
          <a:xfrm>
            <a:off x="960120" y="25877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Wilson confidence intervals</a:t>
            </a:r>
            <a:endParaRPr lang="en-US" sz="1400" dirty="0"/>
          </a:p>
        </p:txBody>
      </p:sp>
      <p:sp>
        <p:nvSpPr>
          <p:cNvPr id="111" name="Text 111"/>
          <p:cNvSpPr/>
          <p:nvPr/>
        </p:nvSpPr>
        <p:spPr>
          <a:xfrm>
            <a:off x="960120" y="2862072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on every win rate shown in the app - never a bare point estimate.</a:t>
            </a:r>
            <a:endParaRPr lang="en-US" sz="1050" dirty="0"/>
          </a:p>
        </p:txBody>
      </p:sp>
      <p:sp>
        <p:nvSpPr>
          <p:cNvPr id="112" name="Text 112"/>
          <p:cNvSpPr/>
          <p:nvPr/>
        </p:nvSpPr>
        <p:spPr>
          <a:xfrm>
            <a:off x="502920" y="3227832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0EA5E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113" name="Text 113"/>
          <p:cNvSpPr/>
          <p:nvPr/>
        </p:nvSpPr>
        <p:spPr>
          <a:xfrm>
            <a:off x="960120" y="319125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Small-n guard</a:t>
            </a:r>
            <a:endParaRPr lang="en-US" sz="1400" dirty="0"/>
          </a:p>
        </p:txBody>
      </p:sp>
      <p:sp>
        <p:nvSpPr>
          <p:cNvPr id="114" name="Text 114"/>
          <p:cNvSpPr/>
          <p:nvPr/>
        </p:nvSpPr>
        <p:spPr>
          <a:xfrm>
            <a:off x="960120" y="3465576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than 10 matches behind a stat, and the app refuses to make a claim.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PadelLens · DV4S Exam · Politecnico Milano · AY 2025/2026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0"/>
            <a:ext cx="54864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&amp; Conclusions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154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walkthrough · Future work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84048"/>
            <a:ext cx="64008" cy="29260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12064" y="347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 DEMO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Five-step walkthrough I'll show you next</a:t>
            </a:r>
            <a:endParaRPr lang="en-US" sz="2600" dirty="0"/>
          </a:p>
        </p:txBody>
      </p:sp>
      <p:pic>
        <p:nvPicPr>
          <p:cNvPr id="5" name="Image 0" descr="/sessions/jolly-nifty-archimedes/mnt/Padel-Project/06_Presentation/assets/01_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63040"/>
            <a:ext cx="1627632" cy="1005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51460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</a:rPr>
              <a:t>1 · Home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2770632"/>
            <a:ext cx="1627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Open the app. Last 10: 7-3. Partner card shows Luca on top, Davide red.</a:t>
            </a:r>
            <a:endParaRPr lang="en-US" sz="900" dirty="0"/>
          </a:p>
        </p:txBody>
      </p:sp>
      <p:pic>
        <p:nvPicPr>
          <p:cNvPr id="8" name="Image 1" descr="/sessions/jolly-nifty-archimedes/mnt/Padel-Project/06_Presentation/assets/04_log_mat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8840" y="1463040"/>
            <a:ext cx="1627632" cy="10058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148840" y="251460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</a:rPr>
              <a:t>2 · Log Match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2148840" y="2770632"/>
            <a:ext cx="1627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Add today's match in 30 seconds. Watch the auto-result update.</a:t>
            </a:r>
            <a:endParaRPr lang="en-US" sz="900" dirty="0"/>
          </a:p>
        </p:txBody>
      </p:sp>
      <p:pic>
        <p:nvPicPr>
          <p:cNvPr id="11" name="Image 2" descr="/sessions/jolly-nifty-archimedes/mnt/Padel-Project/06_Presentation/assets/03_my_sta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0" y="1463040"/>
            <a:ext cx="1627632" cy="10058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840480" y="251460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</a:rPr>
              <a:t>3 · My Stats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3840480" y="2770632"/>
            <a:ext cx="1627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Filter to last 60 days. Read the partner &amp; fatigue panels.</a:t>
            </a:r>
            <a:endParaRPr lang="en-US" sz="900" dirty="0"/>
          </a:p>
        </p:txBody>
      </p:sp>
      <p:pic>
        <p:nvPicPr>
          <p:cNvPr id="14" name="Image 3" descr="/sessions/jolly-nifty-archimedes/mnt/Padel-Project/06_Presentation/assets/05_compa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2120" y="1463040"/>
            <a:ext cx="1627632" cy="10058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532120" y="251460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</a:rPr>
              <a:t>4 · Compare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5532120" y="2770632"/>
            <a:ext cx="1627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Toggle to a specific pro. See the radar gap on the smash.</a:t>
            </a:r>
            <a:endParaRPr lang="en-US" sz="900" dirty="0"/>
          </a:p>
        </p:txBody>
      </p:sp>
      <p:pic>
        <p:nvPicPr>
          <p:cNvPr id="17" name="Image 4" descr="/sessions/jolly-nifty-archimedes/mnt/Padel-Project/06_Presentation/assets/02_pro_tou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3760" y="1463040"/>
            <a:ext cx="1627632" cy="100584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223760" y="251460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</a:rPr>
              <a:t>5 · Insights</a:t>
            </a:r>
            <a:endParaRPr lang="en-US" sz="1100" dirty="0"/>
          </a:p>
        </p:txBody>
      </p:sp>
      <p:sp>
        <p:nvSpPr>
          <p:cNvPr id="19" name="Text 12"/>
          <p:cNvSpPr/>
          <p:nvPr/>
        </p:nvSpPr>
        <p:spPr>
          <a:xfrm>
            <a:off x="7223760" y="2770632"/>
            <a:ext cx="1627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Land on the new Insights page: 7 discovery cards, each with its method note.</a:t>
            </a:r>
            <a:endParaRPr lang="en-US" sz="900" dirty="0"/>
          </a:p>
        </p:txBody>
      </p:sp>
      <p:sp>
        <p:nvSpPr>
          <p:cNvPr id="20" name="Shape 13"/>
          <p:cNvSpPr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Synthetic Note"/>
          <p:cNvSpPr/>
          <p:nvPr/>
        </p:nvSpPr>
        <p:spPr>
          <a:xfrm>
            <a:off x="457200" y="464058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personal page shows a visible SYNTHETIC DEMO DATA badge.</a:t>
            </a:r>
            <a:endParaRPr lang="en-US" sz="950" dirty="0"/>
          </a:p>
        </p:txBody>
      </p:sp>
      <p:sp>
        <p:nvSpPr>
          <p:cNvPr id="21" name="Text 14"/>
          <p:cNvSpPr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 err="1">
                <a:hlinkClick r:id="rId8"/>
              </a:rPr>
              <a:t>PadelLens</a:t>
            </a:r>
            <a:r>
              <a:rPr lang="en-US" sz="1400" dirty="0">
                <a:hlinkClick r:id="rId8"/>
              </a:rPr>
              <a:t> - Dashboard · </a:t>
            </a:r>
            <a:r>
              <a:rPr lang="en-US" sz="1400" dirty="0" err="1">
                <a:hlinkClick r:id="rId8"/>
              </a:rPr>
              <a:t>Streamlit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PadelLens · DV4S Exam · Politecnico Milano · AY 2025/2026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84048"/>
            <a:ext cx="64008" cy="29260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12064" y="347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 FUTURE DEVELOPMENTS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064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next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0EA5E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138074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scheduled user tests + SUS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655064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with real club players are booked; SUS scoring sheet is ready. No score is invented ahead of time.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202082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0EA5E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19842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personal logging, replacing the synthetic layer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2258568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match I actually play gets logged from now on, retiring the seeded demo data match by match.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62432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0EA5E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25877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Full-history ingestion (paid API tier)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862072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month at €19 unlocks multi-season history: 2,000+ matches and ranking evolution over time.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227832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0EA5E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319125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Cloud deployment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3465576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 public link so Marco and Luca can use PadelLens without installing anything.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383133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0EA5E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37947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LLM-generated weekly digest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4069080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week your bandeja was on; your smash bled 12 points. Drill X."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PadelLens · DV4S Exam · Politecnico Milano · AY 2025/2026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554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35780" y="2966185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repo: </a:t>
            </a:r>
            <a:r>
              <a:rPr lang="en-US" sz="1200" dirty="0">
                <a:hlinkClick r:id="rId3"/>
              </a:rPr>
              <a:t>Abdullahsaeed10/</a:t>
            </a:r>
            <a:r>
              <a:rPr lang="en-US" sz="1200" dirty="0" err="1">
                <a:hlinkClick r:id="rId3"/>
              </a:rPr>
              <a:t>PadelLens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97280" y="38404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don't have to feel your game - you can see it."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AF1FB5D3107E7408D5F23931A3F94F5" ma:contentTypeVersion="14" ma:contentTypeDescription="Create a new document." ma:contentTypeScope="" ma:versionID="fc96dcf1a8f5c64d0e6a1a72b76d422f">
  <xsd:schema xmlns:xsd="http://www.w3.org/2001/XMLSchema" xmlns:xs="http://www.w3.org/2001/XMLSchema" xmlns:p="http://schemas.microsoft.com/office/2006/metadata/properties" xmlns:ns3="a86ae8af-4702-4c98-a1d1-be13efd82698" xmlns:ns4="8face71c-f606-4986-9791-21ca3fde1bd7" targetNamespace="http://schemas.microsoft.com/office/2006/metadata/properties" ma:root="true" ma:fieldsID="e6acee3497a701afa13b08cc7dae00a9" ns3:_="" ns4:_="">
    <xsd:import namespace="a86ae8af-4702-4c98-a1d1-be13efd82698"/>
    <xsd:import namespace="8face71c-f606-4986-9791-21ca3fde1bd7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6ae8af-4702-4c98-a1d1-be13efd82698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ace71c-f606-4986-9791-21ca3fde1bd7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86ae8af-4702-4c98-a1d1-be13efd82698" xsi:nil="true"/>
  </documentManagement>
</p:properties>
</file>

<file path=customXml/itemProps1.xml><?xml version="1.0" encoding="utf-8"?>
<ds:datastoreItem xmlns:ds="http://schemas.openxmlformats.org/officeDocument/2006/customXml" ds:itemID="{2F6CDB6A-D4D8-44B2-8226-1BAB33740F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86ae8af-4702-4c98-a1d1-be13efd82698"/>
    <ds:schemaRef ds:uri="8face71c-f606-4986-9791-21ca3fde1bd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3143489-F2F4-46B0-A513-D639784C94A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6318C98-7AA7-4349-AD65-A052C0E8EF40}">
  <ds:schemaRefs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purl.org/dc/elements/1.1/"/>
    <ds:schemaRef ds:uri="http://purl.org/dc/terms/"/>
    <ds:schemaRef ds:uri="a86ae8af-4702-4c98-a1d1-be13efd82698"/>
    <ds:schemaRef ds:uri="http://schemas.microsoft.com/office/2006/metadata/properties"/>
    <ds:schemaRef ds:uri="http://schemas.openxmlformats.org/package/2006/metadata/core-properties"/>
    <ds:schemaRef ds:uri="8face71c-f606-4986-9791-21ca3fde1bd7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4246</Words>
  <Application>Microsoft Office PowerPoint</Application>
  <PresentationFormat>On-screen Show (16:9)</PresentationFormat>
  <Paragraphs>495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PadelLens - DV4S Exam Presentation</dc:title>
  <dc:subject>PptxGenJS Presentation</dc:subject>
  <dc:creator>Sensei</dc:creator>
  <cp:lastModifiedBy>Abdullah Saeed [Application Developer]</cp:lastModifiedBy>
  <cp:revision>4</cp:revision>
  <dcterms:created xsi:type="dcterms:W3CDTF">2026-06-25T06:31:33Z</dcterms:created>
  <dcterms:modified xsi:type="dcterms:W3CDTF">2026-06-25T09:29:35Z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0x0101005AF1FB5D3107E7408D5F23931A3F94F5</vt:lpwstr>
  </property>
</Properties>
</file>