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3"/>
  </p:notesMasterIdLst>
  <p:sldIdLst>
    <p:sldId id="256" r:id="rId5"/>
    <p:sldId id="257" r:id="rId6"/>
    <p:sldId id="284" r:id="rId38"/>
    <p:sldId id="258" r:id="rId7"/>
    <p:sldId id="259" r:id="rId8"/>
    <p:sldId id="260" r:id="rId9"/>
    <p:sldId id="261" r:id="rId10"/>
    <p:sldId id="262" r:id="rId11"/>
    <p:sldId id="263" r:id="rId12"/>
    <p:sldId id="264" r:id="rId13"/>
    <p:sldId id="265" r:id="rId14"/>
    <p:sldId id="266" r:id="rId15"/>
    <p:sldId id="267" r:id="rId16"/>
    <p:sldId id="293" r:id="rId47"/>
    <p:sldId id="294" r:id="rId48"/>
    <p:sldId id="295" r:id="rId49"/>
    <p:sldId id="287" r:id="rId41"/>
    <p:sldId id="288" r:id="rId42"/>
    <p:sldId id="289" r:id="rId43"/>
    <p:sldId id="268" r:id="rId17"/>
    <p:sldId id="269" r:id="rId18"/>
    <p:sldId id="270" r:id="rId19"/>
    <p:sldId id="271" r:id="rId20"/>
    <p:sldId id="272" r:id="rId21"/>
    <p:sldId id="285" r:id="rId39"/>
    <p:sldId id="273" r:id="rId24"/>
    <p:sldId id="274" r:id="rId25"/>
    <p:sldId id="275" r:id="rId26"/>
    <p:sldId id="290" r:id="rId44"/>
    <p:sldId id="291" r:id="rId45"/>
    <p:sldId id="292" r:id="rId46"/>
    <p:sldId id="276" r:id="rId27"/>
    <p:sldId id="277" r:id="rId28"/>
    <p:sldId id="278" r:id="rId22"/>
    <p:sldId id="279" r:id="rId23"/>
    <p:sldId id="286" r:id="rId40"/>
    <p:sldId id="280" r:id="rId29"/>
    <p:sldId id="281" r:id="rId30"/>
    <p:sldId id="282" r:id="rId31"/>
    <p:sldId id="283" r:id="rId3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003" autoAdjust="0"/>
    <p:restoredTop sz="84779" autoAdjust="0"/>
  </p:normalViewPr>
  <p:slideViewPr>
    <p:cSldViewPr snapToGrid="0" snapToObjects="1">
      <p:cViewPr>
        <p:scale>
          <a:sx n="132" d="100"/>
          <a:sy n="132" d="100"/>
        </p:scale>
        <p:origin x="76" y="-1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34.xml"/><Relationship Id="rId23" Type="http://schemas.openxmlformats.org/officeDocument/2006/relationships/slide" Target="slides/slide3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2.xml"/><Relationship Id="rId28" Type="http://schemas.openxmlformats.org/officeDocument/2006/relationships/slide" Target="slides/slide33.xml"/><Relationship Id="rId29" Type="http://schemas.openxmlformats.org/officeDocument/2006/relationships/slide" Target="slides/slide37.xml"/><Relationship Id="rId30" Type="http://schemas.openxmlformats.org/officeDocument/2006/relationships/slide" Target="slides/slide38.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xml"/><Relationship Id="rId39" Type="http://schemas.openxmlformats.org/officeDocument/2006/relationships/slide" Target="slides/slide25.xml"/><Relationship Id="rId40" Type="http://schemas.openxmlformats.org/officeDocument/2006/relationships/slide" Target="slides/slide36.xml"/><Relationship Id="rId41" Type="http://schemas.openxmlformats.org/officeDocument/2006/relationships/slide" Target="slides/slide17.xml"/><Relationship Id="rId42" Type="http://schemas.openxmlformats.org/officeDocument/2006/relationships/slide" Target="slides/slide18.xml"/><Relationship Id="rId43" Type="http://schemas.openxmlformats.org/officeDocument/2006/relationships/slide" Target="slides/slide19.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14.xml"/><Relationship Id="rId48" Type="http://schemas.openxmlformats.org/officeDocument/2006/relationships/slide" Target="slides/slide15.xml"/><Relationship Id="rId49"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5004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confidence. "Good evening. My name is Sensei, this is my final project for Data Visualization for Sport. I'll walk you through the whole process, from the brief all the way to the live demo. The application is called PadelLens. It's a data viz tool for amateur padel players, with a real-data pro tour layer underneath."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restructured this talk to tell the whole story from the beginning, not just what changed. You'll see the same six parts as my first submission, but now Part 2 and Part 4 carry real discovered findings instead of assumptions, and validation has moved from absent to scheduled. Every slide that's new or different carries a small badge -- blue for new content, gray for updated -- so you can see exactly where the improvements landed without me having to tell you twice. I'd rather you evaluate the whole project fresh, with the changes clearly marked, than jump straight to a diff.</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The brief - what am I building, for whom, and why. This is the most important part of the whole project. Everything that follows traces back to a decision made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picked padel because the gap is the right size. It's exploding in Italy - over a million federated players - but the analytical tools available stop at the pro tier. Amateurs have gut feelings - 'I always lose in the third set' - but no way to confirm any of them. The whole project is built around closing that gap."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Marco and Luca haven't changed -- the problem and the two personas are still exactly what I pitched originally. What's different is how I'm grounding them. Instead of inventing plausible-sounding personas from my own assumptions, I've built a real survey and interview guide in 07_Validation, ready to run with actual club players and coaches. That's a direct response to the criticism that personas had no research foundation. I haven't run the sessions yet -- I'm not going to pretend I have -- but the instruments exist and Marco and Luca will be replaced by real respondent data very soon.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Kirk's editorial-thinking framework from the lecture, the angle is reflective self-analysis over time. The framing keeps only what an amateur can actually log on a phone after a match - no sensor data, no biometrics, no opponent scouting. The focus is one number above the fold: your last 10 matches. That's what Marco opens the app to see.“</a:t>
            </a:r>
          </a:p>
          <a:p>
            <a:endParaRPr lang="en-US" dirty="0"/>
          </a:p>
          <a:p>
            <a:r>
              <a:rPr lang="en-US" b="1" dirty="0"/>
              <a:t>- </a:t>
            </a:r>
            <a:r>
              <a:rPr lang="en-US" dirty="0"/>
              <a:t>helping a player look back at their own game </a:t>
            </a:r>
            <a:r>
              <a:rPr lang="en-US" b="1" dirty="0"/>
              <a:t>temporal</a:t>
            </a:r>
            <a:r>
              <a:rPr lang="en-US" dirty="0"/>
              <a:t> (trends across matches over time), </a:t>
            </a:r>
            <a:r>
              <a:rPr lang="en-US" b="1" dirty="0"/>
              <a:t>categorical</a:t>
            </a:r>
            <a:r>
              <a:rPr lang="en-US" dirty="0"/>
              <a:t> (by partner, shot type, surface), and </a:t>
            </a:r>
            <a:r>
              <a:rPr lang="en-US" b="1" dirty="0"/>
              <a:t>comparative</a:t>
            </a:r>
            <a:r>
              <a:rPr lang="en-US" dirty="0"/>
              <a:t> (this period vs. another, or you vs. a pro)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relevance on Kirk's four factors - timeliness, interestingness, pertinence and sufficiency - the project hits maximum on the first three and intentionally trades off on sufficiency. I'd rather show less and have it land, than show everything and have the user bounce. The core message of the whole project boils down to one line: you don't have to feel your game - you can see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Where the data comes from, what shape it's in, and what it told me before I drew a single chart."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change in the whole project. The pro data used to be a small demo pull -- thirty players, two hundred seventy-six matches. Now it's the real thing: padelapi.org, a REST API, called with my own API key, covering the entire 2026 Premier Padel season so far -- seven hundred seventy-six completed matches, twenty-six tournaments, full draws from round of sixty-four to the final, both tours, twenty-one sixty-five ranked players. Everything downstream -- the exploration, the findings, the calibration case study -- is built on this real dataset, not a curated sample.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Acquiring this data meant designing around real constraints, not an idealized API. The free tier caps me at ten requests a minute, so the fetcher throttles itself and backs off properly on a 429. It's restartable by tournament, which mattered because the full pull took over ten minutes and I didn't want to lose progress on an interruption. And every single raw response gets archived to disk before I touch it with any cleaning logic -- that archive is what let me fix a real bug later without re-fetching a single byte. The synthetic personal log is still here, but now it's honestly labeled.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honest about the one real bug I hit. I wrote my first score parser assuming the API returned a comma-separated string, like what you'd see on a results page. It doesn't -- it's a JSON array of set objects. I only caught that by actually reading the raw archived responses during examination, not by trusting my own assumption. Because acquisition and transformation are separate scripts, fixing the parser cost me one file and zero re-fetching. That separation is the entire argument for keeping these stages apart instead of one script that does everything in a single pass.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method, not results -- the findings themselves come next. I ran ten hypotheses against the real dataset, every one of them a two-sided test at the standard alpha of point-oh-five, and every proportion in the report carries a Wilson ninety-five percent confidence interval, not just a bare number. Critically, I built in three possible verdicts, not two: a finding can be a signal, a null, or genuinely insufficient data. That third option is what separates real exploratory analysis from cherry-picking -- I'm about to show you results from all three categories, including the ones that didn't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How the app is laid out, why those choices, and what I changed after a heuristic evaluation."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design process was deliberately short. I sketched on paper, moved to low-fi Figma wireframes, did a mid-fi pass with the actual chart shapes drawn in, then jumped directly to the Streamlit build. I did not do a full click-prototype because the deliverable is a working app - building a click-prototype that nobody will demo is wasted time. The Streamlit build is the high-fi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pages. Home is the landing - the last-10 KPI plus the partner-effect and shot-DNA cards. Pro Tour is the rankings explorer with the always-visible filter sidebar. My Stats is the personal deep-dive. Log Match is the data entry form, deliberately frictionless - under 90 seconds to log a match. Compare is the radar overlay of your shot mix against the pro reference. Each page is built around exactly one user task."</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drove the design. One number above the fold because users open the app in bursts. Recognition over recall - filters are always visible in the sidebar. Default to action - the log-a-match button is the most prominent CTA. Reduce friction in data entry - shot tallies are optional, score plus partner is enough. Honest visual hierarchy - red is reserved for negative signal. And annotate, don't decorate - every chart has an in-canvas callout. That last one ties directly back to the focus principle from the editorial thinking lecture."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ran Nielsen's ten heuristics against my first paper sketches. Two of them flagged real problems. Number five - error prevention - my original log form let me enter a third-set score even when sets one and two were already decided. I added input gating. Number six - recognition over recall - I'd originally hidden filters behind a button. I moved them to an always-visible sidebar. These two changes are the difference between the paper sketch and the wireframe you just saw."</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five, quickly - what's under the hood."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stack itself -- Python, Streamlit, Pandas, Plotly -- hasn't changed. What's underneath it has. CSV reads are replaced by a SQLite database with a users table, so the schema is multi-user-ready even though today it still runs single-user. There's a brand-new analytics.py module -- Elo ratings, a win-probability model, confidence intervals -- backed by twelve out of twelve passing unit tests. Every pro-tour view now captions its data source, so nothing pretends to be more authoritative than it is. And run_app.bat installs dependencies, builds the database, and launches the app in one step, tested end to end on this machine.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How the data is shown. Chart by chart."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inventory itself hasn't been rebuilt from scratch -- it's still the same nine chart types, each mapped to a specific place in the app and a specific finding. What's new is scope: the Insights page adds seven more purpose-built charts on top of that nine, bringing the working inventory to sixteen. I've listed those seven at the bottom rather than expanding the table itself, because they follow the same principle as everything above -- one chart type, one finding, chosen and defended against real alternatives, not decoration.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one chart choice as a case study. The shot DNA question is signed - bandeja is net-positive, smash is net-negative. A pie chart shows proportions, not signs. Stacked bars hide the zero line. Two bar charts force eye traversal. A diverging bar puts the zero line dead center, lets winners go right and errors go left, and the sign is readable at a glance. Every chart in the app went through this kind of head-to-head choice."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slide's content hasn't changed at all -- the color system, the accessibility checks, all of it is exactly what I presented the first time and it held up well in the evaluation. What changed is purely the label: this used to sit under a divider mislabeled 'Part 5,' when it's actually Part 4 content. Fixing the section numbering throughout the deck was one of the concrete, mechanical criticisms from the first submission, and this is one of the two renumbered slides -- simple to fix, but worth doing properly and verifying end to end.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interactivity and annotation layers are the same ones I presented before -- sidebar filters, drill-downs, hover tooltips, and the layered annotation rule of static headline plus dynamic hover detail. What's new is the sixth bullet: every one of the new Insights-page cards follows that same annotation discipline, but adds something the first submission didn't have -- a method note under the chart stating the test, the sample size, and the p-value. Interactivity earns trust when the reader can verify a claim without leaving the chart, and that's exactly what these method notes are for.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part. I'll switch to the live app now and walk through a real use case, then close with what would come next."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walkthrough itself follows the same five-step structure as before -- Home, Log Match, My Stats, Compare -- but I've swapped the final stop. Instead of ending on Pro Tour, I now land on the brand-new Insights page: seven discovery cards, each with its own purpose-built chart, an in-canvas headline, and a method note underneath. I also want to flag something you'll see directly on screen during the demo: every personal page now carries a visible synthetic-demo-data badge, so there's no ambiguity about which parts of the app are running on real data and which are still the seeded log.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of these five items are genuinely new priorities, not aspirational leftovers. Running the scheduled user tests and getting a real SUS score is first -- that's the validation loop closing for real. Second, I start logging my own matches immediately, retiring the synthetic layer piece by piece instead of all at once. Third, one month of the API's paid tier for nineteen euros unlocks the full multi-season history, over two thousand matches. And fourth, a public Streamlit Cloud deployment means Marco and Luca could actually use this without installing anything. The weekly digest idea survives from the original list.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PadelLens. Thank you -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I walk through the whole story again from the beginning, here's the honest summary of what actually changed since my first submission, which scored twenty-one out of thirty. Six things: a real seven hundred seventy-six match dataset instead of a small demo pull; genuine data exploration that surfaced seven findings, including an honest null; a new analytics layer with Elo ratings, a win model, and confidence intervals; an upgraded SQLite-backed multi-user app with a new Insights page; validation instruments that are ready with real sessions scheduled; and a polished, machine-verified deliverable -- this deck. Every badge you see from here on marks exactly where.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most direct criticism I got -- validation was essentially absent. Here's what exists now: a persona-grounding survey in English and Italian, an interview guide, a full SUS questionnaire with its scoring sheet, a task-based user-testing protocol, and a second round of heuristic evaluation for external evaluators to run. What I want to be completely honest about is status: sessions with real club players are scheduled, not yet run. I will not stand up here and give you an invented SUS score. The instruments are ready and rigorous -- the numbers will come from real people, not from 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module didn't exist in the first submission at all -- the project had no modelling or analytical tooling, which was a direct criticism.There's also a small-sample guard: if fewer than ten matches back a stat, the app refuses to make a claim rather than show a misleadingly precise number. This is the analytical backbone the evaluation asked for.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real discoveries here. First, momentum: win the first set and you win the match eighty-six percent of the time -- a huge, real signal across genders and levels. But narrow that to matches that actually reach a third set, and the set-one winner's edge completely disappears, down to forty-nine percent, a coin flip. Second, chemistry: pairs win about forty percent of matches in their first three together, climbing to sixty-seven percent past sixteen matches. I want to flag the catch immediately -- that's survivorship as much as chemistry, since losing pairs simply stop playing together. I'll come back to that caveat in the chart design.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discovered findings. Rankings genuinely predict: the team with more combined points wins seventy-eight and a half percent of the time, and a logistic model on that gap gets an AUC of point eight eight -- a real, strong signal, though I treat it as an upper bound because the points snapshot has some look-ahead bias. Upsets are rarer than they feel -- only twenty-two percent of seeded matches -- and non-monotonic by round, spiking to a coin flip in the final. And efficiency matters: teams that win their previous round in fewer games have a real edge next match, fifty-nine point seven percent.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my ten questions came back null or insufficient, and I'm showing them to you on purpose. Home advantage: teams playing in their own country won only forty-three percent of home-versus-away matches -- not significant, no real edge. Age gap between winners and losers: statistically indistinguishable from zero. And handedness and height simply don't have enough data coverage -- under the sixty percent threshold I set before I'd trust a comparison -- so I labeled them insufficient rather than forcing a conclusion. A project that only shows you the findings that worked isn't doing exploratory analysis, it's doing marketing.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Winning set one looks like it decides the match -- eighty-six percent of the time it does. But I didn't want to stop there, because that number hides every two-set blowout along with the close matches. So I asked a sharper question: of the matches that actually went the distance, does the set-one winner still have the edge? The answer is no -- forty-nine percent, a coin flip. I drew that as two connected dots instead of two bars, because the point isn't the two numbers, it's the drop between them. A slope chart puts that collapse directly in the ink.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who play more matches together win a lot more -- forty percent early on, sixty-eight percent past sixteen matches. It's tempting to read that as practice making a pair better. But only thirty-nine percent of pairs ever reach five matches together, and the obvious rival explanation is survivorship: winning pairs keep getting picked again, losing pairs get split up. I didn't want that caveat to live in a sentence half the room skips, so I put it directly in the chart -- the confidence band narrows as you move right, and a callout spells out exactly why.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Rankings do predict outcomes -- favorites win seventy-eight and a half percent of the time, with an AUC of point eight eight. I checked that with an ROC curve and a calibration plot, and both looked good, but neither one went anywhere near this final design, because they answer 'is this model honest,' not the question my audience actually has. What I built instead shows the same finding sliced by how big the ranking gap is: barely better than a coin flip in the closest quintile, near a sure thing in the widest. Rankings predict -- they don't decide.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honest headline before the methods get technical. The dataset is a full 2026 Premier Padel season from padelapi.org, called with my own API key -- seven hundred seventy-six completed matches, twenty-six tournaments, twenty-one sixty-five ranked players, full draws round of sixty-four to the final. Everything downstream runs on this, not a curated sample. One honesty note: statistics use the seven hundred sixty-three matches that finished normally -- thirteen retirements and walkovers are excluded so they don't distort win rates. Every raw API response is archived as JSONL before any cleaning, which is what makes the pipeline reproducible end to end.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findings, here's how I tested them. Everything is two-sided at alpha zero point zero five, with every proportion carrying a ninety-five percent Wilson interval -- said aloud: p-hat plus z-squared over two n, plus or minus z times the square root of p-hat times one minus p-hat over n, plus z-squared over four n-squared, all over one plus z-squared over n, z equal to one point nine six. It never leaves zero to one. Binomial test asks if a rate differs from a coin flip -- momentum, favorites, upsets. Chi-squared checks the chemistry buckets, and Welch's t-test compares duration means without assuming equal variance.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models turn tests into predictions. The logistic win model: probability team one wins equals one over one plus e to the negative of beta-zero plus beta-one times the log of the points ratio, because ranking advantages multiply. AUC is zero point eighty-eight -- it ranked the winner higher in most pairs. The Elo engine: expected score is one over one plus ten to the rating difference over four hundred; rating updates by K times actual minus expected score, K equal to thirty-two, unit-tested zero-sum. That gap flags over- and under-rated players. both in analytics.py, twelve of twelve tests passing.</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hyperlink" Target="https://www.figma.com/design/Kyqnt8CnTDmD9yWxxcK4Ec/"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hyperlink" Target="https://padellens.streamlit.app/"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github.com/Abdullahsaeed10/PadelLens"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463040"/>
            <a:ext cx="548640" cy="54864"/>
          </a:xfrm>
          <a:prstGeom prst="rect">
            <a:avLst/>
          </a:prstGeom>
          <a:solidFill>
            <a:srgbClr val="0EA5E9"/>
          </a:solidFill>
          <a:ln/>
        </p:spPr>
        <p:txBody>
          <a:bodyPr/>
          <a:lstStyle/>
          <a:p>
            <a:endParaRPr lang="en-US"/>
          </a:p>
        </p:txBody>
      </p:sp>
      <p:sp>
        <p:nvSpPr>
          <p:cNvPr id="3" name="Text 1"/>
          <p:cNvSpPr/>
          <p:nvPr/>
        </p:nvSpPr>
        <p:spPr>
          <a:xfrm>
            <a:off x="457200" y="1600200"/>
            <a:ext cx="8229600" cy="1005840"/>
          </a:xfrm>
          <a:prstGeom prst="rect">
            <a:avLst/>
          </a:prstGeom>
          <a:noFill/>
          <a:ln/>
        </p:spPr>
        <p:txBody>
          <a:bodyPr wrap="square" lIns="0" tIns="0" rIns="0" bIns="0" rtlCol="0" anchor="ctr"/>
          <a:lstStyle/>
          <a:p>
            <a:pPr marL="0" indent="0">
              <a:buNone/>
            </a:pPr>
            <a:r>
              <a:rPr lang="en-US" sz="6000" b="1" kern="0" spc="200" dirty="0">
                <a:solidFill>
                  <a:srgbClr val="FFFFFF"/>
                </a:solidFill>
                <a:latin typeface="Calibri" pitchFamily="34" charset="0"/>
                <a:ea typeface="Calibri" pitchFamily="34" charset="-122"/>
                <a:cs typeface="Calibri" pitchFamily="34" charset="-120"/>
              </a:rPr>
              <a:t>PADELLENS</a:t>
            </a:r>
            <a:endParaRPr lang="en-US" sz="6000" dirty="0"/>
          </a:p>
        </p:txBody>
      </p:sp>
      <p:sp>
        <p:nvSpPr>
          <p:cNvPr id="4" name="Text 2"/>
          <p:cNvSpPr/>
          <p:nvPr/>
        </p:nvSpPr>
        <p:spPr>
          <a:xfrm>
            <a:off x="457200" y="2606040"/>
            <a:ext cx="8229600" cy="365760"/>
          </a:xfrm>
          <a:prstGeom prst="rect">
            <a:avLst/>
          </a:prstGeom>
          <a:noFill/>
          <a:ln/>
        </p:spPr>
        <p:txBody>
          <a:bodyPr wrap="square" lIns="0" tIns="0" rIns="0" bIns="0" rtlCol="0" anchor="ctr"/>
          <a:lstStyle/>
          <a:p>
            <a:pPr marL="0" indent="0">
              <a:buNone/>
            </a:pPr>
            <a:r>
              <a:rPr lang="en-US" sz="2000" i="1" dirty="0">
                <a:solidFill>
                  <a:srgbClr val="0EA5E9"/>
                </a:solidFill>
                <a:latin typeface="Calibri" pitchFamily="34" charset="0"/>
                <a:ea typeface="Calibri" pitchFamily="34" charset="-122"/>
                <a:cs typeface="Calibri" pitchFamily="34" charset="-120"/>
              </a:rPr>
              <a:t>Pro Tour Insights + My Match Log</a:t>
            </a:r>
            <a:endParaRPr lang="en-US" sz="2000" dirty="0"/>
          </a:p>
        </p:txBody>
      </p:sp>
      <p:sp>
        <p:nvSpPr>
          <p:cNvPr id="5" name="Text 3"/>
          <p:cNvSpPr/>
          <p:nvPr/>
        </p:nvSpPr>
        <p:spPr>
          <a:xfrm>
            <a:off x="457200" y="3108960"/>
            <a:ext cx="8229600" cy="365760"/>
          </a:xfrm>
          <a:prstGeom prst="rect">
            <a:avLst/>
          </a:prstGeom>
          <a:noFill/>
          <a:ln/>
        </p:spPr>
        <p:txBody>
          <a:bodyPr wrap="square" lIns="0" tIns="0" rIns="0" bIns="0" rtlCol="0" anchor="ctr"/>
          <a:lstStyle/>
          <a:p>
            <a:pPr marL="0" indent="0">
              <a:buNone/>
            </a:pPr>
            <a:r>
              <a:rPr lang="en-US" sz="1400" dirty="0">
                <a:solidFill>
                  <a:srgbClr val="CBD5E1"/>
                </a:solidFill>
                <a:latin typeface="Calibri" pitchFamily="34" charset="0"/>
                <a:ea typeface="Calibri" pitchFamily="34" charset="-122"/>
                <a:cs typeface="Calibri" pitchFamily="34" charset="-120"/>
              </a:rPr>
              <a:t>A data visualization tool for amateur padel players.</a:t>
            </a:r>
            <a:endParaRPr lang="en-US" sz="1400" dirty="0"/>
          </a:p>
        </p:txBody>
      </p:sp>
      <p:sp>
        <p:nvSpPr>
          <p:cNvPr id="9" name="Text Resub Subtitle"/>
          <p:cNvSpPr/>
          <p:nvPr/>
        </p:nvSpPr>
        <p:spPr>
          <a:xfrm>
            <a:off x="457200" y="3520440"/>
            <a:ext cx="8229600" cy="292608"/>
          </a:xfrm>
          <a:prstGeom prst="rect">
            <a:avLst/>
          </a:prstGeom>
          <a:noFill/>
          <a:ln/>
        </p:spPr>
        <p:txBody>
          <a:bodyPr wrap="square" lIns="0" tIns="0" rIns="0" bIns="0" rtlCol="0" anchor="ctr"/>
          <a:lstStyle/>
          <a:p>
            <a:pPr marL="0" indent="0">
              <a:buNone/>
            </a:pPr>
            <a:r>
              <a:rPr lang="en-US" sz="1300" b="1" i="1" dirty="0">
                <a:solidFill>
                  <a:srgbClr val="0EA5E9"/>
                </a:solidFill>
                <a:latin typeface="Calibri" pitchFamily="34" charset="0"/>
                <a:ea typeface="Calibri" pitchFamily="34" charset="-122"/>
                <a:cs typeface="Calibri" pitchFamily="34" charset="-120"/>
              </a:rPr>
              <a:t>Resubmission — with real data &amp; discovered insights</a:t>
            </a:r>
            <a:endParaRPr lang="en-US" sz="1300" dirty="0"/>
          </a:p>
        </p:txBody>
      </p:sp>
      <p:sp>
        <p:nvSpPr>
          <p:cNvPr id="6" name="Shape 4"/>
          <p:cNvSpPr/>
          <p:nvPr/>
        </p:nvSpPr>
        <p:spPr>
          <a:xfrm>
            <a:off x="457200" y="4160520"/>
            <a:ext cx="54864" cy="548640"/>
          </a:xfrm>
          <a:prstGeom prst="rect">
            <a:avLst/>
          </a:prstGeom>
          <a:solidFill>
            <a:srgbClr val="0EA5E9"/>
          </a:solidFill>
          <a:ln/>
        </p:spPr>
        <p:txBody>
          <a:bodyPr/>
          <a:lstStyle/>
          <a:p>
            <a:endParaRPr lang="en-US"/>
          </a:p>
        </p:txBody>
      </p:sp>
      <p:sp>
        <p:nvSpPr>
          <p:cNvPr id="7" name="Text 5"/>
          <p:cNvSpPr/>
          <p:nvPr/>
        </p:nvSpPr>
        <p:spPr>
          <a:xfrm>
            <a:off x="640080" y="4160520"/>
            <a:ext cx="7315200" cy="548640"/>
          </a:xfrm>
          <a:prstGeom prst="rect">
            <a:avLst/>
          </a:prstGeom>
          <a:noFill/>
          <a:ln/>
        </p:spPr>
        <p:txBody>
          <a:bodyPr wrap="square" lIns="0" tIns="0" rIns="0" bIns="0" rtlCol="0" anchor="ctr"/>
          <a:lstStyle/>
          <a:p>
            <a:pPr marL="0" indent="0">
              <a:buNone/>
            </a:pPr>
            <a:r>
              <a:rPr lang="en-US" sz="1200" dirty="0">
                <a:solidFill>
                  <a:srgbClr val="CBD5E1"/>
                </a:solidFill>
                <a:latin typeface="Calibri" pitchFamily="34" charset="0"/>
                <a:ea typeface="Calibri" pitchFamily="34" charset="-122"/>
                <a:cs typeface="Calibri" pitchFamily="34" charset="-120"/>
              </a:rPr>
              <a:t>Data Visualization for Sport  ·  Sports Engineering MSc</a:t>
            </a:r>
            <a:endParaRPr lang="en-US" sz="1200" dirty="0"/>
          </a:p>
          <a:p>
            <a:pPr marL="0" indent="0">
              <a:buNone/>
            </a:pPr>
            <a:r>
              <a:rPr lang="en-US" sz="1200" dirty="0">
                <a:solidFill>
                  <a:srgbClr val="94A3B8"/>
                </a:solidFill>
                <a:latin typeface="Calibri" pitchFamily="34" charset="0"/>
                <a:ea typeface="Calibri" pitchFamily="34" charset="-122"/>
                <a:cs typeface="Calibri" pitchFamily="34" charset="-120"/>
              </a:rPr>
              <a:t>Politecnico di Milano  ·  AY 2025/2026</a:t>
            </a:r>
            <a:endParaRPr lang="en-US" sz="1200" dirty="0"/>
          </a:p>
        </p:txBody>
      </p:sp>
      <p:pic>
        <p:nvPicPr>
          <p:cNvPr id="8" name="Picture 7" descr="Plus de 20 images de Pádel et de Padel - Pixabay">
            <a:extLst>
              <a:ext uri="{FF2B5EF4-FFF2-40B4-BE49-F238E27FC236}">
                <a16:creationId xmlns:a16="http://schemas.microsoft.com/office/drawing/2014/main" id="{DCC3CE6F-1640-3499-9954-2CA8F6F95017}"/>
              </a:ext>
            </a:extLst>
          </p:cNvPr>
          <p:cNvPicPr>
            <a:picLocks noChangeAspect="1"/>
          </p:cNvPicPr>
          <p:nvPr/>
        </p:nvPicPr>
        <p:blipFill>
          <a:blip r:embed="rId3"/>
          <a:stretch>
            <a:fillRect/>
          </a:stretch>
        </p:blipFill>
        <p:spPr>
          <a:xfrm>
            <a:off x="4478739" y="0"/>
            <a:ext cx="4665262" cy="3108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OVERVIEW</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How this talk is organized</a:t>
            </a:r>
            <a:endParaRPr lang="en-US" sz="2600" dirty="0"/>
          </a:p>
        </p:txBody>
      </p:sp>
      <p:sp>
        <p:nvSpPr>
          <p:cNvPr id="5" name="Shape 3"/>
          <p:cNvSpPr/>
          <p:nvPr/>
        </p:nvSpPr>
        <p:spPr>
          <a:xfrm>
            <a:off x="457200" y="1371600"/>
            <a:ext cx="365760" cy="365760"/>
          </a:xfrm>
          <a:prstGeom prst="ellipse">
            <a:avLst/>
          </a:prstGeom>
          <a:solidFill>
            <a:srgbClr val="0EA5E9"/>
          </a:solidFill>
          <a:ln/>
        </p:spPr>
        <p:txBody>
          <a:bodyPr/>
          <a:lstStyle/>
          <a:p>
            <a:endParaRPr lang="en-US"/>
          </a:p>
        </p:txBody>
      </p:sp>
      <p:sp>
        <p:nvSpPr>
          <p:cNvPr id="6" name="Text 4"/>
          <p:cNvSpPr/>
          <p:nvPr/>
        </p:nvSpPr>
        <p:spPr>
          <a:xfrm>
            <a:off x="457200" y="13716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7" name="Text 5"/>
          <p:cNvSpPr/>
          <p:nvPr/>
        </p:nvSpPr>
        <p:spPr>
          <a:xfrm>
            <a:off x="1005840" y="1389888"/>
            <a:ext cx="2377440" cy="365760"/>
          </a:xfrm>
          <a:prstGeom prst="rect">
            <a:avLst/>
          </a:prstGeom>
          <a:noFill/>
          <a:ln/>
        </p:spPr>
        <p:txBody>
          <a:bodyPr wrap="square" lIns="0" tIns="0" rIns="0" bIns="0" rtlCol="0" anchor="ctr"/>
          <a:lstStyle/>
          <a:p>
            <a:pPr marL="0" indent="0">
              <a:buNone/>
            </a:pPr>
            <a:r>
              <a:rPr lang="en-US" sz="1500" b="1" dirty="0">
                <a:solidFill>
                  <a:srgbClr val="1F2937"/>
                </a:solidFill>
                <a:latin typeface="Calibri" pitchFamily="34" charset="0"/>
                <a:ea typeface="Calibri" pitchFamily="34" charset="-122"/>
                <a:cs typeface="Calibri" pitchFamily="34" charset="-120"/>
              </a:rPr>
              <a:t>The Brief</a:t>
            </a:r>
            <a:endParaRPr lang="en-US" sz="1500" dirty="0"/>
          </a:p>
        </p:txBody>
      </p:sp>
      <p:sp>
        <p:nvSpPr>
          <p:cNvPr id="8" name="Text 6"/>
          <p:cNvSpPr/>
          <p:nvPr/>
        </p:nvSpPr>
        <p:spPr>
          <a:xfrm>
            <a:off x="3383280" y="1389888"/>
            <a:ext cx="5303520" cy="36576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Sport domain, audience, editorial angle</a:t>
            </a:r>
            <a:endParaRPr lang="en-US" sz="1200" dirty="0"/>
          </a:p>
        </p:txBody>
      </p:sp>
      <p:sp>
        <p:nvSpPr>
          <p:cNvPr id="9" name="Shape 7"/>
          <p:cNvSpPr/>
          <p:nvPr/>
        </p:nvSpPr>
        <p:spPr>
          <a:xfrm>
            <a:off x="457200" y="1874520"/>
            <a:ext cx="365760" cy="365760"/>
          </a:xfrm>
          <a:prstGeom prst="ellipse">
            <a:avLst/>
          </a:prstGeom>
          <a:solidFill>
            <a:srgbClr val="0EA5E9"/>
          </a:solidFill>
          <a:ln/>
        </p:spPr>
        <p:txBody>
          <a:bodyPr/>
          <a:lstStyle/>
          <a:p>
            <a:endParaRPr lang="en-US"/>
          </a:p>
        </p:txBody>
      </p:sp>
      <p:sp>
        <p:nvSpPr>
          <p:cNvPr id="10" name="Text 8"/>
          <p:cNvSpPr/>
          <p:nvPr/>
        </p:nvSpPr>
        <p:spPr>
          <a:xfrm>
            <a:off x="457200" y="187452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1" name="Text 9"/>
          <p:cNvSpPr/>
          <p:nvPr/>
        </p:nvSpPr>
        <p:spPr>
          <a:xfrm>
            <a:off x="1005840" y="1892808"/>
            <a:ext cx="2377440" cy="365760"/>
          </a:xfrm>
          <a:prstGeom prst="rect">
            <a:avLst/>
          </a:prstGeom>
          <a:noFill/>
          <a:ln/>
        </p:spPr>
        <p:txBody>
          <a:bodyPr wrap="square" lIns="0" tIns="0" rIns="0" bIns="0" rtlCol="0" anchor="ctr"/>
          <a:lstStyle/>
          <a:p>
            <a:pPr marL="0" indent="0">
              <a:buNone/>
            </a:pPr>
            <a:r>
              <a:rPr lang="en-US" sz="1500" b="1" dirty="0">
                <a:solidFill>
                  <a:srgbClr val="1F2937"/>
                </a:solidFill>
                <a:latin typeface="Calibri" pitchFamily="34" charset="0"/>
                <a:ea typeface="Calibri" pitchFamily="34" charset="-122"/>
                <a:cs typeface="Calibri" pitchFamily="34" charset="-120"/>
              </a:rPr>
              <a:t>Working with Data</a:t>
            </a:r>
            <a:endParaRPr lang="en-US" sz="1500" dirty="0"/>
          </a:p>
        </p:txBody>
      </p:sp>
      <p:sp>
        <p:nvSpPr>
          <p:cNvPr id="12" name="Text 10"/>
          <p:cNvSpPr/>
          <p:nvPr/>
        </p:nvSpPr>
        <p:spPr>
          <a:xfrm>
            <a:off x="3383280" y="1892808"/>
            <a:ext cx="5303520" cy="36576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Sources, schema, exploration</a:t>
            </a:r>
            <a:endParaRPr lang="en-US" sz="1200" dirty="0"/>
          </a:p>
        </p:txBody>
      </p:sp>
      <p:sp>
        <p:nvSpPr>
          <p:cNvPr id="13" name="Shape 11"/>
          <p:cNvSpPr/>
          <p:nvPr/>
        </p:nvSpPr>
        <p:spPr>
          <a:xfrm>
            <a:off x="457200" y="2377440"/>
            <a:ext cx="365760" cy="365760"/>
          </a:xfrm>
          <a:prstGeom prst="ellipse">
            <a:avLst/>
          </a:prstGeom>
          <a:solidFill>
            <a:srgbClr val="0EA5E9"/>
          </a:solidFill>
          <a:ln/>
        </p:spPr>
        <p:txBody>
          <a:bodyPr/>
          <a:lstStyle/>
          <a:p>
            <a:endParaRPr lang="en-US"/>
          </a:p>
        </p:txBody>
      </p:sp>
      <p:sp>
        <p:nvSpPr>
          <p:cNvPr id="14" name="Text 12"/>
          <p:cNvSpPr/>
          <p:nvPr/>
        </p:nvSpPr>
        <p:spPr>
          <a:xfrm>
            <a:off x="457200" y="237744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5" name="Text 13"/>
          <p:cNvSpPr/>
          <p:nvPr/>
        </p:nvSpPr>
        <p:spPr>
          <a:xfrm>
            <a:off x="1005840" y="2395728"/>
            <a:ext cx="2377440" cy="365760"/>
          </a:xfrm>
          <a:prstGeom prst="rect">
            <a:avLst/>
          </a:prstGeom>
          <a:noFill/>
          <a:ln/>
        </p:spPr>
        <p:txBody>
          <a:bodyPr wrap="square" lIns="0" tIns="0" rIns="0" bIns="0" rtlCol="0" anchor="ctr"/>
          <a:lstStyle/>
          <a:p>
            <a:pPr marL="0" indent="0">
              <a:buNone/>
            </a:pPr>
            <a:r>
              <a:rPr lang="en-US" sz="1500" b="1" dirty="0">
                <a:solidFill>
                  <a:srgbClr val="1F2937"/>
                </a:solidFill>
                <a:latin typeface="Calibri" pitchFamily="34" charset="0"/>
                <a:ea typeface="Calibri" pitchFamily="34" charset="-122"/>
                <a:cs typeface="Calibri" pitchFamily="34" charset="-120"/>
              </a:rPr>
              <a:t>UX Design</a:t>
            </a:r>
            <a:endParaRPr lang="en-US" sz="1500" dirty="0"/>
          </a:p>
        </p:txBody>
      </p:sp>
      <p:sp>
        <p:nvSpPr>
          <p:cNvPr id="16" name="Text 14"/>
          <p:cNvSpPr/>
          <p:nvPr/>
        </p:nvSpPr>
        <p:spPr>
          <a:xfrm>
            <a:off x="3383280" y="2395728"/>
            <a:ext cx="5303520" cy="36576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Wireframes, principles, heuristic eval</a:t>
            </a:r>
            <a:endParaRPr lang="en-US" sz="1200" dirty="0"/>
          </a:p>
        </p:txBody>
      </p:sp>
      <p:sp>
        <p:nvSpPr>
          <p:cNvPr id="17" name="Shape 15"/>
          <p:cNvSpPr/>
          <p:nvPr/>
        </p:nvSpPr>
        <p:spPr>
          <a:xfrm>
            <a:off x="457200" y="2880360"/>
            <a:ext cx="365760" cy="365760"/>
          </a:xfrm>
          <a:prstGeom prst="ellipse">
            <a:avLst/>
          </a:prstGeom>
          <a:solidFill>
            <a:srgbClr val="0EA5E9"/>
          </a:solidFill>
          <a:ln/>
        </p:spPr>
        <p:txBody>
          <a:bodyPr/>
          <a:lstStyle/>
          <a:p>
            <a:endParaRPr lang="en-US"/>
          </a:p>
        </p:txBody>
      </p:sp>
      <p:sp>
        <p:nvSpPr>
          <p:cNvPr id="18" name="Text 16"/>
          <p:cNvSpPr/>
          <p:nvPr/>
        </p:nvSpPr>
        <p:spPr>
          <a:xfrm>
            <a:off x="457200" y="288036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1" name="Shape 19"/>
          <p:cNvSpPr/>
          <p:nvPr/>
        </p:nvSpPr>
        <p:spPr>
          <a:xfrm>
            <a:off x="457200" y="3383280"/>
            <a:ext cx="365760" cy="365760"/>
          </a:xfrm>
          <a:prstGeom prst="ellipse">
            <a:avLst/>
          </a:prstGeom>
          <a:solidFill>
            <a:srgbClr val="0EA5E9"/>
          </a:solidFill>
          <a:ln/>
        </p:spPr>
        <p:txBody>
          <a:bodyPr/>
          <a:lstStyle/>
          <a:p>
            <a:endParaRPr lang="en-US"/>
          </a:p>
        </p:txBody>
      </p:sp>
      <p:sp>
        <p:nvSpPr>
          <p:cNvPr id="22" name="Text 20"/>
          <p:cNvSpPr/>
          <p:nvPr/>
        </p:nvSpPr>
        <p:spPr>
          <a:xfrm>
            <a:off x="457200" y="338328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25" name="Shape 23"/>
          <p:cNvSpPr/>
          <p:nvPr/>
        </p:nvSpPr>
        <p:spPr>
          <a:xfrm>
            <a:off x="457200" y="3886200"/>
            <a:ext cx="365760" cy="365760"/>
          </a:xfrm>
          <a:prstGeom prst="ellipse">
            <a:avLst/>
          </a:prstGeom>
          <a:solidFill>
            <a:srgbClr val="0EA5E9"/>
          </a:solidFill>
          <a:ln/>
        </p:spPr>
        <p:txBody>
          <a:bodyPr/>
          <a:lstStyle/>
          <a:p>
            <a:endParaRPr lang="en-US"/>
          </a:p>
        </p:txBody>
      </p:sp>
      <p:sp>
        <p:nvSpPr>
          <p:cNvPr id="26" name="Text 24"/>
          <p:cNvSpPr/>
          <p:nvPr/>
        </p:nvSpPr>
        <p:spPr>
          <a:xfrm>
            <a:off x="457200" y="3886200"/>
            <a:ext cx="365760" cy="365760"/>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40" name="Text Updated Note"/>
          <p:cNvSpPr/>
          <p:nvPr/>
        </p:nvSpPr>
        <p:spPr>
          <a:xfrm>
            <a:off x="457200" y="4389120"/>
            <a:ext cx="8229600" cy="292608"/>
          </a:xfrm>
          <a:prstGeom prst="rect">
            <a:avLst/>
          </a:prstGeom>
          <a:noFill/>
          <a:ln/>
        </p:spPr>
        <p:txBody>
          <a:bodyPr wrap="square" lIns="0" tIns="0" rIns="0" bIns="0" rtlCol="0" anchor="ctr"/>
          <a:lstStyle/>
          <a:p>
            <a:pPr marL="0" indent="0">
              <a:buNone/>
            </a:pPr>
            <a:r>
              <a:rPr lang="en-US" sz="1100" i="1" dirty="0">
                <a:solidFill>
                  <a:srgbClr val="0EA5E9"/>
                </a:solidFill>
                <a:latin typeface="Calibri" pitchFamily="34" charset="0"/>
                <a:ea typeface="Calibri" pitchFamily="34" charset="-122"/>
                <a:cs typeface="Calibri" pitchFamily="34" charset="-120"/>
              </a:rPr>
              <a:t>Slides marked NEW/UPDATED show what changed since the first submission.</a:t>
            </a:r>
            <a:endParaRPr lang="en-US" sz="1100" dirty="0"/>
          </a:p>
        </p:txBody>
      </p:sp>
      <p:sp>
        <p:nvSpPr>
          <p:cNvPr id="27" name="Text 25"/>
          <p:cNvSpPr/>
          <p:nvPr/>
        </p:nvSpPr>
        <p:spPr>
          <a:xfrm>
            <a:off x="1005840" y="3904488"/>
            <a:ext cx="2377440" cy="365760"/>
          </a:xfrm>
          <a:prstGeom prst="rect">
            <a:avLst/>
          </a:prstGeom>
          <a:noFill/>
          <a:ln/>
        </p:spPr>
        <p:txBody>
          <a:bodyPr wrap="square" lIns="0" tIns="0" rIns="0" bIns="0" rtlCol="0" anchor="ctr"/>
          <a:lstStyle/>
          <a:p>
            <a:pPr marL="0" indent="0">
              <a:buNone/>
            </a:pPr>
            <a:r>
              <a:rPr lang="en-US" sz="1500" b="1" dirty="0">
                <a:solidFill>
                  <a:srgbClr val="1F2937"/>
                </a:solidFill>
                <a:latin typeface="Calibri" pitchFamily="34" charset="0"/>
                <a:ea typeface="Calibri" pitchFamily="34" charset="-122"/>
                <a:cs typeface="Calibri" pitchFamily="34" charset="-120"/>
              </a:rPr>
              <a:t>Demo &amp; Conclusions</a:t>
            </a:r>
            <a:endParaRPr lang="en-US" sz="1500" dirty="0"/>
          </a:p>
        </p:txBody>
      </p:sp>
      <p:sp>
        <p:nvSpPr>
          <p:cNvPr id="28" name="Text 26"/>
          <p:cNvSpPr/>
          <p:nvPr/>
        </p:nvSpPr>
        <p:spPr>
          <a:xfrm>
            <a:off x="3383280" y="3904488"/>
            <a:ext cx="5303520" cy="36576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Live walkthrough, future work</a:t>
            </a:r>
            <a:endParaRPr lang="en-US" sz="1200" dirty="0"/>
          </a:p>
        </p:txBody>
      </p:sp>
      <p:sp>
        <p:nvSpPr>
          <p:cNvPr id="29" name="Text 27"/>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0" name="Text 28"/>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
        <p:nvSpPr>
          <p:cNvPr id="31" name="Text 17">
            <a:extLst>
              <a:ext uri="{FF2B5EF4-FFF2-40B4-BE49-F238E27FC236}">
                <a16:creationId xmlns:a16="http://schemas.microsoft.com/office/drawing/2014/main" id="{808A806C-C4DA-3B76-1339-D21350B7B912}"/>
              </a:ext>
            </a:extLst>
          </p:cNvPr>
          <p:cNvSpPr>
            <a:spLocks/>
          </p:cNvSpPr>
          <p:nvPr/>
        </p:nvSpPr>
        <p:spPr>
          <a:xfrm>
            <a:off x="1005840" y="3401930"/>
            <a:ext cx="2377440" cy="365760"/>
          </a:xfrm>
          <a:prstGeom prst="rect">
            <a:avLst/>
          </a:prstGeom>
          <a:noFill/>
          <a:ln/>
        </p:spPr>
        <p:txBody>
          <a:bodyPr wrap="square" lIns="0" tIns="0" rIns="0" bIns="0" rtlCol="0" anchor="ctr"/>
          <a:lstStyle/>
          <a:p>
            <a:pPr marL="0" indent="0">
              <a:buNone/>
            </a:pPr>
            <a:r>
              <a:rPr lang="en-US" sz="1500" b="1" dirty="0">
                <a:solidFill>
                  <a:srgbClr val="1F2937"/>
                </a:solidFill>
                <a:latin typeface="Calibri" pitchFamily="34" charset="0"/>
                <a:ea typeface="Calibri" pitchFamily="34" charset="-122"/>
                <a:cs typeface="Calibri" pitchFamily="34" charset="-120"/>
              </a:rPr>
              <a:t>Technical Implementation</a:t>
            </a:r>
            <a:endParaRPr lang="en-US" sz="1500" dirty="0"/>
          </a:p>
        </p:txBody>
      </p:sp>
      <p:sp>
        <p:nvSpPr>
          <p:cNvPr id="32" name="Text 18">
            <a:extLst>
              <a:ext uri="{FF2B5EF4-FFF2-40B4-BE49-F238E27FC236}">
                <a16:creationId xmlns:a16="http://schemas.microsoft.com/office/drawing/2014/main" id="{32636B9A-A187-86A6-DBB9-83BF23A76B3A}"/>
              </a:ext>
            </a:extLst>
          </p:cNvPr>
          <p:cNvSpPr>
            <a:spLocks/>
          </p:cNvSpPr>
          <p:nvPr/>
        </p:nvSpPr>
        <p:spPr>
          <a:xfrm>
            <a:off x="3383280" y="3391583"/>
            <a:ext cx="5303520" cy="36576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Python, Streamlit, architecture</a:t>
            </a:r>
            <a:endParaRPr lang="en-US" sz="1200" dirty="0"/>
          </a:p>
        </p:txBody>
      </p:sp>
      <p:sp>
        <p:nvSpPr>
          <p:cNvPr id="33" name="Text 21">
            <a:extLst>
              <a:ext uri="{FF2B5EF4-FFF2-40B4-BE49-F238E27FC236}">
                <a16:creationId xmlns:a16="http://schemas.microsoft.com/office/drawing/2014/main" id="{7F301614-53E2-0DF7-BB5D-59D7B12DABF7}"/>
              </a:ext>
            </a:extLst>
          </p:cNvPr>
          <p:cNvSpPr>
            <a:spLocks/>
          </p:cNvSpPr>
          <p:nvPr/>
        </p:nvSpPr>
        <p:spPr>
          <a:xfrm>
            <a:off x="1005840" y="2882407"/>
            <a:ext cx="2377440" cy="365760"/>
          </a:xfrm>
          <a:prstGeom prst="rect">
            <a:avLst/>
          </a:prstGeom>
          <a:noFill/>
          <a:ln/>
        </p:spPr>
        <p:txBody>
          <a:bodyPr wrap="square" lIns="0" tIns="0" rIns="0" bIns="0" rtlCol="0" anchor="ctr"/>
          <a:lstStyle/>
          <a:p>
            <a:pPr marL="0" indent="0">
              <a:buNone/>
            </a:pPr>
            <a:r>
              <a:rPr lang="en-US" sz="1500" b="1" dirty="0">
                <a:solidFill>
                  <a:srgbClr val="1F2937"/>
                </a:solidFill>
                <a:latin typeface="Calibri" pitchFamily="34" charset="0"/>
                <a:ea typeface="Calibri" pitchFamily="34" charset="-122"/>
                <a:cs typeface="Calibri" pitchFamily="34" charset="-120"/>
              </a:rPr>
              <a:t>Data Representation</a:t>
            </a:r>
            <a:endParaRPr lang="en-US" sz="1500" dirty="0"/>
          </a:p>
        </p:txBody>
      </p:sp>
      <p:sp>
        <p:nvSpPr>
          <p:cNvPr id="34" name="Text 22">
            <a:extLst>
              <a:ext uri="{FF2B5EF4-FFF2-40B4-BE49-F238E27FC236}">
                <a16:creationId xmlns:a16="http://schemas.microsoft.com/office/drawing/2014/main" id="{A8AFDB81-9206-0977-FE59-4A29A7A805B2}"/>
              </a:ext>
            </a:extLst>
          </p:cNvPr>
          <p:cNvSpPr>
            <a:spLocks/>
          </p:cNvSpPr>
          <p:nvPr/>
        </p:nvSpPr>
        <p:spPr>
          <a:xfrm>
            <a:off x="3383280" y="2926923"/>
            <a:ext cx="5303520" cy="36576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Chart choices, color, interactivity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WHAT CHANGED</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What changed since the first submission — at a glance</a:t>
            </a:r>
            <a:endParaRPr lang="en-US" sz="2600" dirty="0"/>
          </a:p>
        </p:txBody>
      </p:sp>
      <p:sp>
        <p:nvSpPr>
          <p:cNvPr id="100" name="Text 100"/>
          <p:cNvSpPr/>
          <p:nvPr/>
        </p:nvSpPr>
        <p:spPr>
          <a:xfrm>
            <a:off x="502920" y="137769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1" name="Text 101"/>
          <p:cNvSpPr/>
          <p:nvPr/>
        </p:nvSpPr>
        <p:spPr>
          <a:xfrm>
            <a:off x="960120" y="1341120"/>
            <a:ext cx="768096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A real 776-match dataset</a:t>
            </a:r>
            <a:endParaRPr lang="en-US" sz="1300" dirty="0"/>
          </a:p>
        </p:txBody>
      </p:sp>
      <p:sp>
        <p:nvSpPr>
          <p:cNvPr id="102" name="Text 102"/>
          <p:cNvSpPr/>
          <p:nvPr/>
        </p:nvSpPr>
        <p:spPr>
          <a:xfrm>
            <a:off x="960120" y="1615440"/>
            <a:ext cx="7680960" cy="310896"/>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padelapi.org, 2026 season — 26 tournaments, 2,165 ranked players, my own API key.</a:t>
            </a:r>
            <a:endParaRPr lang="en-US" sz="1000" dirty="0"/>
          </a:p>
        </p:txBody>
      </p:sp>
      <p:sp>
        <p:nvSpPr>
          <p:cNvPr id="103" name="Text 103"/>
          <p:cNvSpPr/>
          <p:nvPr/>
        </p:nvSpPr>
        <p:spPr>
          <a:xfrm>
            <a:off x="502920" y="189585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4" name="Text 104"/>
          <p:cNvSpPr/>
          <p:nvPr/>
        </p:nvSpPr>
        <p:spPr>
          <a:xfrm>
            <a:off x="960120" y="1859280"/>
            <a:ext cx="768096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Genuine data exploration</a:t>
            </a:r>
            <a:endParaRPr lang="en-US" sz="1300" dirty="0"/>
          </a:p>
        </p:txBody>
      </p:sp>
      <p:sp>
        <p:nvSpPr>
          <p:cNvPr id="105" name="Text 105"/>
          <p:cNvSpPr/>
          <p:nvPr/>
        </p:nvSpPr>
        <p:spPr>
          <a:xfrm>
            <a:off x="960120" y="2133600"/>
            <a:ext cx="7680960" cy="310896"/>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Ten hypotheses tested; seven discovered findings, including an honest null.</a:t>
            </a:r>
            <a:endParaRPr lang="en-US" sz="1000" dirty="0"/>
          </a:p>
        </p:txBody>
      </p:sp>
      <p:sp>
        <p:nvSpPr>
          <p:cNvPr id="106" name="Text 106"/>
          <p:cNvSpPr/>
          <p:nvPr/>
        </p:nvSpPr>
        <p:spPr>
          <a:xfrm>
            <a:off x="502920" y="241401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7" name="Text 107"/>
          <p:cNvSpPr/>
          <p:nvPr/>
        </p:nvSpPr>
        <p:spPr>
          <a:xfrm>
            <a:off x="960120" y="2377440"/>
            <a:ext cx="768096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A new analytics layer</a:t>
            </a:r>
            <a:endParaRPr lang="en-US" sz="1300" dirty="0"/>
          </a:p>
        </p:txBody>
      </p:sp>
      <p:sp>
        <p:nvSpPr>
          <p:cNvPr id="108" name="Text 108"/>
          <p:cNvSpPr/>
          <p:nvPr/>
        </p:nvSpPr>
        <p:spPr>
          <a:xfrm>
            <a:off x="960120" y="2651760"/>
            <a:ext cx="7680960" cy="310896"/>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Elo ratings, a logistic win-probability model, and confidence intervals on every statistic</a:t>
            </a:r>
            <a:endParaRPr lang="en-US" sz="1000" dirty="0"/>
          </a:p>
        </p:txBody>
      </p:sp>
      <p:sp>
        <p:nvSpPr>
          <p:cNvPr id="109" name="Text 109"/>
          <p:cNvSpPr/>
          <p:nvPr/>
        </p:nvSpPr>
        <p:spPr>
          <a:xfrm>
            <a:off x="502920" y="293217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0" name="Text 110"/>
          <p:cNvSpPr/>
          <p:nvPr/>
        </p:nvSpPr>
        <p:spPr>
          <a:xfrm>
            <a:off x="960120" y="2895600"/>
            <a:ext cx="768096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An upgraded application</a:t>
            </a:r>
            <a:endParaRPr lang="en-US" sz="1300" dirty="0"/>
          </a:p>
        </p:txBody>
      </p:sp>
      <p:sp>
        <p:nvSpPr>
          <p:cNvPr id="111" name="Text 111"/>
          <p:cNvSpPr/>
          <p:nvPr/>
        </p:nvSpPr>
        <p:spPr>
          <a:xfrm>
            <a:off x="960120" y="3169920"/>
            <a:ext cx="7680960" cy="310896"/>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SQLite-backed, multi-user-ready, with a new Insights page (seven discovery cards).</a:t>
            </a:r>
            <a:endParaRPr lang="en-US" sz="1000" dirty="0"/>
          </a:p>
        </p:txBody>
      </p:sp>
      <p:sp>
        <p:nvSpPr>
          <p:cNvPr id="112" name="Text 112"/>
          <p:cNvSpPr/>
          <p:nvPr/>
        </p:nvSpPr>
        <p:spPr>
          <a:xfrm>
            <a:off x="502920" y="345033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3" name="Text 113"/>
          <p:cNvSpPr/>
          <p:nvPr/>
        </p:nvSpPr>
        <p:spPr>
          <a:xfrm>
            <a:off x="960120" y="3413760"/>
            <a:ext cx="768096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Validation, honestly reported</a:t>
            </a:r>
            <a:endParaRPr lang="en-US" sz="1300" dirty="0"/>
          </a:p>
        </p:txBody>
      </p:sp>
      <p:sp>
        <p:nvSpPr>
          <p:cNvPr id="114" name="Text 114"/>
          <p:cNvSpPr/>
          <p:nvPr/>
        </p:nvSpPr>
        <p:spPr>
          <a:xfrm>
            <a:off x="960120" y="3688080"/>
            <a:ext cx="7680960" cy="310896"/>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Instruments ready (survey, SUS, protocols); sessions with real club players scheduled.</a:t>
            </a:r>
            <a:endParaRPr lang="en-US" sz="1000" dirty="0"/>
          </a:p>
        </p:txBody>
      </p:sp>
      <p:sp>
        <p:nvSpPr>
          <p:cNvPr id="115" name="Text 115"/>
          <p:cNvSpPr/>
          <p:nvPr/>
        </p:nvSpPr>
        <p:spPr>
          <a:xfrm>
            <a:off x="502920" y="396849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6" name="Text 116"/>
          <p:cNvSpPr/>
          <p:nvPr/>
        </p:nvSpPr>
        <p:spPr>
          <a:xfrm>
            <a:off x="960120" y="3931920"/>
            <a:ext cx="7680960" cy="274320"/>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A polished, verified deliverable</a:t>
            </a:r>
            <a:endParaRPr lang="en-US" sz="1300" dirty="0"/>
          </a:p>
        </p:txBody>
      </p:sp>
      <p:sp>
        <p:nvSpPr>
          <p:cNvPr id="117" name="Text 117"/>
          <p:cNvSpPr/>
          <p:nvPr/>
        </p:nvSpPr>
        <p:spPr>
          <a:xfrm>
            <a:off x="960120" y="4206240"/>
            <a:ext cx="7680960" cy="310896"/>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This deck: consistent numbering, zero placeholders, speaker notes on every slide.</a:t>
            </a:r>
            <a:endParaRPr lang="en-US" sz="1000" dirty="0"/>
          </a:p>
        </p:txBody>
      </p:sp>
      <p:sp>
        <p:nvSpPr>
          <p:cNvPr id="20" name="Text 18"/>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1" name="Text 19"/>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828800"/>
            <a:ext cx="548640" cy="54864"/>
          </a:xfrm>
          <a:prstGeom prst="rect">
            <a:avLst/>
          </a:prstGeom>
          <a:solidFill>
            <a:srgbClr val="0EA5E9"/>
          </a:solidFill>
          <a:ln/>
        </p:spPr>
        <p:txBody>
          <a:bodyPr/>
          <a:lstStyle/>
          <a:p>
            <a:endParaRPr lang="en-US"/>
          </a:p>
        </p:txBody>
      </p:sp>
      <p:sp>
        <p:nvSpPr>
          <p:cNvPr id="3" name="Text 1"/>
          <p:cNvSpPr/>
          <p:nvPr/>
        </p:nvSpPr>
        <p:spPr>
          <a:xfrm>
            <a:off x="457200" y="1965960"/>
            <a:ext cx="7315200" cy="365760"/>
          </a:xfrm>
          <a:prstGeom prst="rect">
            <a:avLst/>
          </a:prstGeom>
          <a:noFill/>
          <a:ln/>
        </p:spPr>
        <p:txBody>
          <a:bodyPr wrap="square" lIns="0" tIns="0" rIns="0" bIns="0" rtlCol="0" anchor="ctr"/>
          <a:lstStyle/>
          <a:p>
            <a:pPr marL="0" indent="0">
              <a:buNone/>
            </a:pPr>
            <a:r>
              <a:rPr lang="en-US" sz="1200" b="1" kern="0" spc="600" dirty="0">
                <a:solidFill>
                  <a:srgbClr val="0EA5E9"/>
                </a:solidFill>
                <a:latin typeface="Calibri" pitchFamily="34" charset="0"/>
                <a:ea typeface="Calibri" pitchFamily="34" charset="-122"/>
                <a:cs typeface="Calibri" pitchFamily="34" charset="-120"/>
              </a:rPr>
              <a:t>PART 1</a:t>
            </a:r>
            <a:endParaRPr lang="en-US" sz="1200" dirty="0"/>
          </a:p>
        </p:txBody>
      </p:sp>
      <p:sp>
        <p:nvSpPr>
          <p:cNvPr id="4" name="Text 2"/>
          <p:cNvSpPr/>
          <p:nvPr/>
        </p:nvSpPr>
        <p:spPr>
          <a:xfrm>
            <a:off x="457200" y="2331720"/>
            <a:ext cx="822960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Brief</a:t>
            </a:r>
            <a:endParaRPr lang="en-US" sz="4400" dirty="0"/>
          </a:p>
        </p:txBody>
      </p:sp>
      <p:sp>
        <p:nvSpPr>
          <p:cNvPr id="5" name="Text 3"/>
          <p:cNvSpPr/>
          <p:nvPr/>
        </p:nvSpPr>
        <p:spPr>
          <a:xfrm>
            <a:off x="457200" y="3154680"/>
            <a:ext cx="822960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Context &amp; Vision · Stage 1 of Kirk's data visualization process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1.1 SPORT DOMAIN</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Why padel?</a:t>
            </a:r>
            <a:endParaRPr lang="en-US" sz="2600" dirty="0"/>
          </a:p>
        </p:txBody>
      </p:sp>
      <p:sp>
        <p:nvSpPr>
          <p:cNvPr id="5" name="Shape 3"/>
          <p:cNvSpPr/>
          <p:nvPr/>
        </p:nvSpPr>
        <p:spPr>
          <a:xfrm>
            <a:off x="457200" y="1371600"/>
            <a:ext cx="4114800" cy="310896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749040" cy="457200"/>
          </a:xfrm>
          <a:prstGeom prst="rect">
            <a:avLst/>
          </a:prstGeom>
          <a:noFill/>
          <a:ln/>
        </p:spPr>
        <p:txBody>
          <a:bodyPr wrap="square" lIns="0" tIns="0" rIns="0" bIns="0" rtlCol="0" anchor="ctr"/>
          <a:lstStyle/>
          <a:p>
            <a:pPr marL="0" indent="0">
              <a:buNone/>
            </a:pPr>
            <a:r>
              <a:rPr lang="en-US" sz="1800" b="1" dirty="0">
                <a:solidFill>
                  <a:srgbClr val="1F2937"/>
                </a:solidFill>
              </a:rPr>
              <a:t>Padel is exploding.</a:t>
            </a:r>
            <a:endParaRPr lang="en-US" sz="1800" dirty="0"/>
          </a:p>
        </p:txBody>
      </p:sp>
      <p:sp>
        <p:nvSpPr>
          <p:cNvPr id="7" name="Text 5"/>
          <p:cNvSpPr/>
          <p:nvPr/>
        </p:nvSpPr>
        <p:spPr>
          <a:xfrm>
            <a:off x="640080" y="2011680"/>
            <a:ext cx="3749040" cy="640080"/>
          </a:xfrm>
          <a:prstGeom prst="rect">
            <a:avLst/>
          </a:prstGeom>
          <a:noFill/>
          <a:ln/>
        </p:spPr>
        <p:txBody>
          <a:bodyPr wrap="square" lIns="0" tIns="0" rIns="0" bIns="0" rtlCol="0" anchor="ctr"/>
          <a:lstStyle/>
          <a:p>
            <a:pPr marL="0" indent="0">
              <a:buNone/>
            </a:pPr>
            <a:r>
              <a:rPr lang="en-US" sz="3600" b="1" dirty="0">
                <a:solidFill>
                  <a:srgbClr val="0EA5E9"/>
                </a:solidFill>
              </a:rPr>
              <a:t>1.1M+</a:t>
            </a:r>
            <a:r>
              <a:rPr lang="en-US" sz="1300" dirty="0">
                <a:solidFill>
                  <a:srgbClr val="64748B"/>
                </a:solidFill>
              </a:rPr>
              <a:t>  federated players in Italy (2024)</a:t>
            </a:r>
            <a:endParaRPr lang="en-US" sz="3600" dirty="0"/>
          </a:p>
        </p:txBody>
      </p:sp>
      <p:sp>
        <p:nvSpPr>
          <p:cNvPr id="8" name="Text 6"/>
          <p:cNvSpPr/>
          <p:nvPr/>
        </p:nvSpPr>
        <p:spPr>
          <a:xfrm>
            <a:off x="640080" y="2606040"/>
            <a:ext cx="3749040" cy="274320"/>
          </a:xfrm>
          <a:prstGeom prst="rect">
            <a:avLst/>
          </a:prstGeom>
          <a:noFill/>
          <a:ln/>
        </p:spPr>
        <p:txBody>
          <a:bodyPr wrap="square" lIns="0" tIns="0" rIns="0" bIns="0" rtlCol="0" anchor="ctr"/>
          <a:lstStyle/>
          <a:p>
            <a:pPr marL="0" indent="0">
              <a:buNone/>
            </a:pPr>
            <a:r>
              <a:rPr lang="en-US" sz="1100" i="1" dirty="0">
                <a:solidFill>
                  <a:srgbClr val="64748B"/>
                </a:solidFill>
              </a:rPr>
              <a:t>Up from ~30,000 in 2019 (FIP data).</a:t>
            </a:r>
            <a:endParaRPr lang="en-US" sz="1100" dirty="0"/>
          </a:p>
        </p:txBody>
      </p:sp>
      <p:sp>
        <p:nvSpPr>
          <p:cNvPr id="9" name="Text 7"/>
          <p:cNvSpPr/>
          <p:nvPr/>
        </p:nvSpPr>
        <p:spPr>
          <a:xfrm>
            <a:off x="640080" y="3017520"/>
            <a:ext cx="3749040" cy="640080"/>
          </a:xfrm>
          <a:prstGeom prst="rect">
            <a:avLst/>
          </a:prstGeom>
          <a:noFill/>
          <a:ln/>
        </p:spPr>
        <p:txBody>
          <a:bodyPr wrap="square" lIns="0" tIns="0" rIns="0" bIns="0" rtlCol="0" anchor="ctr"/>
          <a:lstStyle/>
          <a:p>
            <a:pPr marL="0" indent="0">
              <a:buNone/>
            </a:pPr>
            <a:r>
              <a:rPr lang="en-US" sz="1300" b="1" dirty="0">
                <a:solidFill>
                  <a:srgbClr val="1F2937"/>
                </a:solidFill>
              </a:rPr>
              <a:t>Pros have analytics. </a:t>
            </a:r>
            <a:endParaRPr lang="en-US" sz="1300" dirty="0"/>
          </a:p>
          <a:p>
            <a:pPr marL="0" indent="0">
              <a:buNone/>
            </a:pPr>
            <a:r>
              <a:rPr lang="en-US" sz="1300" dirty="0">
                <a:solidFill>
                  <a:srgbClr val="64748B"/>
                </a:solidFill>
              </a:rPr>
              <a:t>Amateurs have a group chat.</a:t>
            </a:r>
            <a:endParaRPr lang="en-US" sz="1300" dirty="0"/>
          </a:p>
        </p:txBody>
      </p:sp>
      <p:sp>
        <p:nvSpPr>
          <p:cNvPr id="10" name="Text 8"/>
          <p:cNvSpPr/>
          <p:nvPr/>
        </p:nvSpPr>
        <p:spPr>
          <a:xfrm>
            <a:off x="640080" y="3703320"/>
            <a:ext cx="3749040" cy="640080"/>
          </a:xfrm>
          <a:prstGeom prst="rect">
            <a:avLst/>
          </a:prstGeom>
          <a:noFill/>
          <a:ln/>
        </p:spPr>
        <p:txBody>
          <a:bodyPr wrap="square" lIns="0" tIns="0" rIns="0" bIns="0" rtlCol="0" anchor="ctr"/>
          <a:lstStyle/>
          <a:p>
            <a:pPr marL="0" indent="0">
              <a:buNone/>
            </a:pPr>
            <a:r>
              <a:rPr lang="en-US" sz="1200" dirty="0">
                <a:solidFill>
                  <a:srgbClr val="64748B"/>
                </a:solidFill>
              </a:rPr>
              <a:t>Premier Padel rankings, ball-tracking, broadcast overlays - none of that reaches the club player.</a:t>
            </a:r>
            <a:endParaRPr lang="en-US" sz="1200" dirty="0"/>
          </a:p>
        </p:txBody>
      </p:sp>
      <p:sp>
        <p:nvSpPr>
          <p:cNvPr id="11" name="Shape 9"/>
          <p:cNvSpPr/>
          <p:nvPr/>
        </p:nvSpPr>
        <p:spPr>
          <a:xfrm>
            <a:off x="4846320" y="1371600"/>
            <a:ext cx="3840480" cy="3108960"/>
          </a:xfrm>
          <a:prstGeom prst="rect">
            <a:avLst/>
          </a:prstGeom>
          <a:solidFill>
            <a:srgbClr val="FFFFFF"/>
          </a:solidFill>
          <a:ln w="9525">
            <a:solidFill>
              <a:srgbClr val="CFD6DD"/>
            </a:solidFill>
            <a:prstDash val="solid"/>
          </a:ln>
        </p:spPr>
        <p:txBody>
          <a:bodyPr/>
          <a:lstStyle/>
          <a:p>
            <a:endParaRPr lang="en-US"/>
          </a:p>
        </p:txBody>
      </p:sp>
      <p:sp>
        <p:nvSpPr>
          <p:cNvPr id="12" name="Text 10"/>
          <p:cNvSpPr/>
          <p:nvPr/>
        </p:nvSpPr>
        <p:spPr>
          <a:xfrm>
            <a:off x="5029200" y="1508760"/>
            <a:ext cx="3474720" cy="274320"/>
          </a:xfrm>
          <a:prstGeom prst="rect">
            <a:avLst/>
          </a:prstGeom>
          <a:noFill/>
          <a:ln/>
        </p:spPr>
        <p:txBody>
          <a:bodyPr wrap="square" lIns="0" tIns="0" rIns="0" bIns="0" rtlCol="0" anchor="ctr"/>
          <a:lstStyle/>
          <a:p>
            <a:pPr marL="0" indent="0">
              <a:buNone/>
            </a:pPr>
            <a:r>
              <a:rPr lang="en-US" sz="1000" b="1" kern="0" spc="400" dirty="0">
                <a:solidFill>
                  <a:srgbClr val="64748B"/>
                </a:solidFill>
              </a:rPr>
              <a:t>THE GAP</a:t>
            </a:r>
            <a:endParaRPr lang="en-US" sz="1000" dirty="0"/>
          </a:p>
        </p:txBody>
      </p:sp>
      <p:sp>
        <p:nvSpPr>
          <p:cNvPr id="13" name="Text 11"/>
          <p:cNvSpPr/>
          <p:nvPr/>
        </p:nvSpPr>
        <p:spPr>
          <a:xfrm>
            <a:off x="5029200" y="1783080"/>
            <a:ext cx="3474720" cy="365760"/>
          </a:xfrm>
          <a:prstGeom prst="rect">
            <a:avLst/>
          </a:prstGeom>
          <a:noFill/>
          <a:ln/>
        </p:spPr>
        <p:txBody>
          <a:bodyPr wrap="square" lIns="0" tIns="0" rIns="0" bIns="0" rtlCol="0" anchor="ctr"/>
          <a:lstStyle/>
          <a:p>
            <a:pPr marL="0" indent="0">
              <a:buNone/>
            </a:pPr>
            <a:r>
              <a:rPr lang="en-US" sz="1400" b="1" dirty="0">
                <a:solidFill>
                  <a:srgbClr val="1F2937"/>
                </a:solidFill>
              </a:rPr>
              <a:t>What amateurs feel</a:t>
            </a:r>
            <a:endParaRPr lang="en-US" sz="1400" dirty="0"/>
          </a:p>
        </p:txBody>
      </p:sp>
      <p:sp>
        <p:nvSpPr>
          <p:cNvPr id="14" name="Text 12"/>
          <p:cNvSpPr/>
          <p:nvPr/>
        </p:nvSpPr>
        <p:spPr>
          <a:xfrm>
            <a:off x="5029200" y="2148840"/>
            <a:ext cx="3474720" cy="914400"/>
          </a:xfrm>
          <a:prstGeom prst="rect">
            <a:avLst/>
          </a:prstGeom>
          <a:noFill/>
          <a:ln/>
        </p:spPr>
        <p:txBody>
          <a:bodyPr wrap="square" lIns="0" tIns="0" rIns="0" bIns="0" rtlCol="0" anchor="ctr"/>
          <a:lstStyle/>
          <a:p>
            <a:pPr marL="0" indent="0">
              <a:spcAft>
                <a:spcPts val="400"/>
              </a:spcAft>
              <a:buNone/>
            </a:pPr>
            <a:r>
              <a:rPr lang="en-US" sz="1200" i="1" dirty="0">
                <a:solidFill>
                  <a:srgbClr val="64748B"/>
                </a:solidFill>
              </a:rPr>
              <a:t>"I always lose in the third set."</a:t>
            </a:r>
            <a:endParaRPr lang="en-US" sz="1200" dirty="0"/>
          </a:p>
          <a:p>
            <a:pPr marL="0" indent="0">
              <a:spcAft>
                <a:spcPts val="400"/>
              </a:spcAft>
              <a:buNone/>
            </a:pPr>
            <a:r>
              <a:rPr lang="en-US" sz="1200" i="1" dirty="0">
                <a:solidFill>
                  <a:srgbClr val="64748B"/>
                </a:solidFill>
              </a:rPr>
              <a:t>"I play better with Luca."</a:t>
            </a:r>
            <a:endParaRPr lang="en-US" sz="1200" dirty="0"/>
          </a:p>
          <a:p>
            <a:pPr marL="0" indent="0">
              <a:spcAft>
                <a:spcPts val="400"/>
              </a:spcAft>
              <a:buNone/>
            </a:pPr>
            <a:r>
              <a:rPr lang="en-US" sz="1200" i="1" dirty="0">
                <a:solidFill>
                  <a:srgbClr val="64748B"/>
                </a:solidFill>
              </a:rPr>
              <a:t>"My bandeja is OK, my smash isn't."</a:t>
            </a:r>
            <a:endParaRPr lang="en-US" sz="1200" dirty="0"/>
          </a:p>
        </p:txBody>
      </p:sp>
      <p:sp>
        <p:nvSpPr>
          <p:cNvPr id="15" name="Text 13"/>
          <p:cNvSpPr/>
          <p:nvPr/>
        </p:nvSpPr>
        <p:spPr>
          <a:xfrm>
            <a:off x="5029200" y="3200400"/>
            <a:ext cx="3474720" cy="365760"/>
          </a:xfrm>
          <a:prstGeom prst="rect">
            <a:avLst/>
          </a:prstGeom>
          <a:noFill/>
          <a:ln/>
        </p:spPr>
        <p:txBody>
          <a:bodyPr wrap="square" lIns="0" tIns="0" rIns="0" bIns="0" rtlCol="0" anchor="ctr"/>
          <a:lstStyle/>
          <a:p>
            <a:pPr marL="0" indent="0">
              <a:buNone/>
            </a:pPr>
            <a:r>
              <a:rPr lang="en-US" sz="1400" b="1" dirty="0">
                <a:solidFill>
                  <a:srgbClr val="1F2937"/>
                </a:solidFill>
              </a:rPr>
              <a:t>What they can confirm</a:t>
            </a:r>
            <a:endParaRPr lang="en-US" sz="1400" dirty="0"/>
          </a:p>
        </p:txBody>
      </p:sp>
      <p:sp>
        <p:nvSpPr>
          <p:cNvPr id="16" name="Text 14"/>
          <p:cNvSpPr/>
          <p:nvPr/>
        </p:nvSpPr>
        <p:spPr>
          <a:xfrm>
            <a:off x="5029200" y="3566160"/>
            <a:ext cx="3474720" cy="365760"/>
          </a:xfrm>
          <a:prstGeom prst="rect">
            <a:avLst/>
          </a:prstGeom>
          <a:noFill/>
          <a:ln/>
        </p:spPr>
        <p:txBody>
          <a:bodyPr wrap="square" lIns="0" tIns="0" rIns="0" bIns="0" rtlCol="0" anchor="ctr"/>
          <a:lstStyle/>
          <a:p>
            <a:pPr marL="0" indent="0">
              <a:buNone/>
            </a:pPr>
            <a:r>
              <a:rPr lang="en-US" sz="2200" b="1" dirty="0">
                <a:solidFill>
                  <a:srgbClr val="EF4444"/>
                </a:solidFill>
              </a:rPr>
              <a:t>Nothing.</a:t>
            </a:r>
            <a:endParaRPr lang="en-US" sz="2200" dirty="0"/>
          </a:p>
        </p:txBody>
      </p:sp>
      <p:sp>
        <p:nvSpPr>
          <p:cNvPr id="17" name="Text 15"/>
          <p:cNvSpPr/>
          <p:nvPr/>
        </p:nvSpPr>
        <p:spPr>
          <a:xfrm>
            <a:off x="5029200" y="4023360"/>
            <a:ext cx="3474720" cy="365760"/>
          </a:xfrm>
          <a:prstGeom prst="rect">
            <a:avLst/>
          </a:prstGeom>
          <a:noFill/>
          <a:ln/>
        </p:spPr>
        <p:txBody>
          <a:bodyPr wrap="square" lIns="0" tIns="0" rIns="0" bIns="0" rtlCol="0" anchor="ctr"/>
          <a:lstStyle/>
          <a:p>
            <a:pPr marL="0" indent="0">
              <a:buNone/>
            </a:pPr>
            <a:r>
              <a:rPr lang="en-US" sz="1200" i="1" dirty="0">
                <a:solidFill>
                  <a:srgbClr val="64748B"/>
                </a:solidFill>
              </a:rPr>
              <a:t>That gap is the project.</a:t>
            </a:r>
            <a:endParaRPr lang="en-US" sz="1200" dirty="0"/>
          </a:p>
        </p:txBody>
      </p:sp>
      <p:sp>
        <p:nvSpPr>
          <p:cNvPr id="18" name="Text 16"/>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19" name="Text 17"/>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1.2 PROBLEM &amp; USER</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Who's at the other end of the screen?</a:t>
            </a:r>
            <a:endParaRPr lang="en-US" sz="2600" dirty="0"/>
          </a:p>
        </p:txBody>
      </p:sp>
      <p:sp>
        <p:nvSpPr>
          <p:cNvPr id="5" name="Shape 3"/>
          <p:cNvSpPr/>
          <p:nvPr/>
        </p:nvSpPr>
        <p:spPr>
          <a:xfrm>
            <a:off x="457200" y="1371600"/>
            <a:ext cx="8229600" cy="822960"/>
          </a:xfrm>
          <a:prstGeom prst="rect">
            <a:avLst/>
          </a:prstGeom>
          <a:solidFill>
            <a:srgbClr val="1E293B"/>
          </a:solidFill>
          <a:ln/>
        </p:spPr>
        <p:txBody>
          <a:bodyPr/>
          <a:lstStyle/>
          <a:p>
            <a:endParaRPr lang="en-US"/>
          </a:p>
        </p:txBody>
      </p:sp>
      <p:sp>
        <p:nvSpPr>
          <p:cNvPr id="6" name="Text 4"/>
          <p:cNvSpPr/>
          <p:nvPr/>
        </p:nvSpPr>
        <p:spPr>
          <a:xfrm>
            <a:off x="731520" y="1463040"/>
            <a:ext cx="7680960" cy="640080"/>
          </a:xfrm>
          <a:prstGeom prst="rect">
            <a:avLst/>
          </a:prstGeom>
          <a:noFill/>
          <a:ln/>
        </p:spPr>
        <p:txBody>
          <a:bodyPr wrap="square" lIns="0" tIns="0" rIns="0" bIns="0" rtlCol="0" anchor="ctr"/>
          <a:lstStyle/>
          <a:p>
            <a:pPr marL="0" indent="0">
              <a:spcAft>
                <a:spcPts val="400"/>
              </a:spcAft>
              <a:buNone/>
            </a:pPr>
            <a:r>
              <a:rPr lang="en-US" sz="900" b="1" kern="0" spc="400" dirty="0">
                <a:solidFill>
                  <a:srgbClr val="0EA5E9"/>
                </a:solidFill>
              </a:rPr>
              <a:t>PROBLEM STATEMENT</a:t>
            </a:r>
            <a:endParaRPr lang="en-US" sz="900" dirty="0"/>
          </a:p>
          <a:p>
            <a:pPr marL="0" indent="0">
              <a:spcAft>
                <a:spcPts val="400"/>
              </a:spcAft>
              <a:buNone/>
            </a:pPr>
            <a:r>
              <a:rPr lang="en-US" sz="1300" dirty="0">
                <a:solidFill>
                  <a:srgbClr val="FFFFFF"/>
                </a:solidFill>
              </a:rPr>
              <a:t>Amateur padel players want to see patterns in their own game that they can't feel - but no simple tool turns a player's match log into honest visual feedback.</a:t>
            </a:r>
            <a:endParaRPr lang="en-US" sz="900" dirty="0"/>
          </a:p>
        </p:txBody>
      </p:sp>
      <p:sp>
        <p:nvSpPr>
          <p:cNvPr id="30" name="Text Validation Note"/>
          <p:cNvSpPr/>
          <p:nvPr/>
        </p:nvSpPr>
        <p:spPr>
          <a:xfrm>
            <a:off x="457200" y="2213610"/>
            <a:ext cx="8229600" cy="182880"/>
          </a:xfrm>
          <a:prstGeom prst="rect">
            <a:avLst/>
          </a:prstGeom>
          <a:noFill/>
          <a:ln/>
        </p:spPr>
        <p:txBody>
          <a:bodyPr wrap="square" lIns="0" tIns="0" rIns="0" bIns="0" rtlCol="0" anchor="ctr"/>
          <a:lstStyle/>
          <a:p>
            <a:pPr marL="0" indent="0">
              <a:buNone/>
            </a:pPr>
            <a:r>
              <a:rPr lang="en-US" sz="1000" b="1" i="1" dirty="0">
                <a:solidFill>
                  <a:srgbClr val="0EA5E9"/>
                </a:solidFill>
                <a:latin typeface="Calibri" pitchFamily="34" charset="0"/>
                <a:ea typeface="Calibri" pitchFamily="34" charset="-122"/>
                <a:cs typeface="Calibri" pitchFamily="34" charset="-120"/>
              </a:rPr>
              <a:t>Personas now being grounded in a real survey + interviews (07_Validation)</a:t>
            </a:r>
            <a:endParaRPr lang="en-US" sz="1000" dirty="0"/>
          </a:p>
        </p:txBody>
      </p:sp>
      <p:sp>
        <p:nvSpPr>
          <p:cNvPr id="7" name="Shape 5"/>
          <p:cNvSpPr/>
          <p:nvPr/>
        </p:nvSpPr>
        <p:spPr>
          <a:xfrm>
            <a:off x="457200" y="2423160"/>
            <a:ext cx="4023360" cy="2194560"/>
          </a:xfrm>
          <a:prstGeom prst="rect">
            <a:avLst/>
          </a:prstGeom>
          <a:solidFill>
            <a:srgbClr val="FFFFFF"/>
          </a:solidFill>
          <a:ln w="9525">
            <a:solidFill>
              <a:srgbClr val="CFD6DD"/>
            </a:solidFill>
            <a:prstDash val="solid"/>
          </a:ln>
        </p:spPr>
        <p:txBody>
          <a:bodyPr/>
          <a:lstStyle/>
          <a:p>
            <a:endParaRPr lang="en-US"/>
          </a:p>
        </p:txBody>
      </p:sp>
      <p:sp>
        <p:nvSpPr>
          <p:cNvPr id="8" name="Text 6"/>
          <p:cNvSpPr/>
          <p:nvPr/>
        </p:nvSpPr>
        <p:spPr>
          <a:xfrm>
            <a:off x="640080" y="2542032"/>
            <a:ext cx="3657600" cy="274320"/>
          </a:xfrm>
          <a:prstGeom prst="rect">
            <a:avLst/>
          </a:prstGeom>
          <a:noFill/>
          <a:ln/>
        </p:spPr>
        <p:txBody>
          <a:bodyPr wrap="square" lIns="0" tIns="0" rIns="0" bIns="0" rtlCol="0" anchor="ctr"/>
          <a:lstStyle/>
          <a:p>
            <a:pPr marL="0" indent="0">
              <a:buNone/>
            </a:pPr>
            <a:r>
              <a:rPr lang="en-US" sz="900" b="1" kern="0" spc="400" dirty="0">
                <a:solidFill>
                  <a:srgbClr val="0EA5E9"/>
                </a:solidFill>
              </a:rPr>
              <a:t>PRIMARY USER</a:t>
            </a:r>
            <a:endParaRPr lang="en-US" sz="900" dirty="0"/>
          </a:p>
        </p:txBody>
      </p:sp>
      <p:sp>
        <p:nvSpPr>
          <p:cNvPr id="9" name="Text 7"/>
          <p:cNvSpPr/>
          <p:nvPr/>
        </p:nvSpPr>
        <p:spPr>
          <a:xfrm>
            <a:off x="640080" y="2788920"/>
            <a:ext cx="3657600" cy="365760"/>
          </a:xfrm>
          <a:prstGeom prst="rect">
            <a:avLst/>
          </a:prstGeom>
          <a:noFill/>
          <a:ln/>
        </p:spPr>
        <p:txBody>
          <a:bodyPr wrap="square" lIns="0" tIns="0" rIns="0" bIns="0" rtlCol="0" anchor="ctr"/>
          <a:lstStyle/>
          <a:p>
            <a:pPr marL="0" indent="0">
              <a:buNone/>
            </a:pPr>
            <a:r>
              <a:rPr lang="en-US" sz="1600" b="1" dirty="0">
                <a:solidFill>
                  <a:srgbClr val="1F2937"/>
                </a:solidFill>
              </a:rPr>
              <a:t>Marco · the club player</a:t>
            </a:r>
            <a:endParaRPr lang="en-US" sz="1600" dirty="0"/>
          </a:p>
        </p:txBody>
      </p:sp>
      <p:sp>
        <p:nvSpPr>
          <p:cNvPr id="10" name="Text 8"/>
          <p:cNvSpPr/>
          <p:nvPr/>
        </p:nvSpPr>
        <p:spPr>
          <a:xfrm>
            <a:off x="640080" y="3154680"/>
            <a:ext cx="3657600" cy="1417320"/>
          </a:xfrm>
          <a:prstGeom prst="rect">
            <a:avLst/>
          </a:prstGeom>
          <a:noFill/>
          <a:ln/>
        </p:spPr>
        <p:txBody>
          <a:bodyPr wrap="square" lIns="0" tIns="0" rIns="0" bIns="0" rtlCol="0" anchor="ctr"/>
          <a:lstStyle/>
          <a:p>
            <a:pPr marL="342900" indent="-342900">
              <a:spcAft>
                <a:spcPts val="200"/>
              </a:spcAft>
              <a:buSzPct val="100000"/>
              <a:buChar char="●"/>
            </a:pPr>
            <a:r>
              <a:rPr lang="en-US" sz="1150" dirty="0">
                <a:solidFill>
                  <a:srgbClr val="64748B"/>
                </a:solidFill>
              </a:rPr>
              <a:t>22-40 years old</a:t>
            </a:r>
            <a:endParaRPr lang="en-US" sz="1150" dirty="0"/>
          </a:p>
          <a:p>
            <a:pPr marL="342900" indent="-342900">
              <a:spcAft>
                <a:spcPts val="200"/>
              </a:spcAft>
              <a:buSzPct val="100000"/>
              <a:buChar char="●"/>
            </a:pPr>
            <a:r>
              <a:rPr lang="en-US" sz="1150" dirty="0">
                <a:solidFill>
                  <a:srgbClr val="64748B"/>
                </a:solidFill>
              </a:rPr>
              <a:t>Plays 1-5 times per week at his local club</a:t>
            </a:r>
            <a:endParaRPr lang="en-US" sz="1150" dirty="0"/>
          </a:p>
          <a:p>
            <a:pPr marL="342900" indent="-342900">
              <a:spcAft>
                <a:spcPts val="200"/>
              </a:spcAft>
              <a:buSzPct val="100000"/>
              <a:buChar char="●"/>
            </a:pPr>
            <a:r>
              <a:rPr lang="en-US" sz="1150" dirty="0">
                <a:solidFill>
                  <a:srgbClr val="64748B"/>
                </a:solidFill>
              </a:rPr>
              <a:t>6 months to 5 years of experience</a:t>
            </a:r>
            <a:endParaRPr lang="en-US" sz="1150" dirty="0"/>
          </a:p>
          <a:p>
            <a:pPr marL="342900" indent="-342900">
              <a:spcAft>
                <a:spcPts val="200"/>
              </a:spcAft>
              <a:buSzPct val="100000"/>
              <a:buChar char="●"/>
            </a:pPr>
            <a:r>
              <a:rPr lang="en-US" sz="1150" dirty="0">
                <a:solidFill>
                  <a:srgbClr val="64748B"/>
                </a:solidFill>
              </a:rPr>
              <a:t>Will spend 90 seconds logging on his phone</a:t>
            </a:r>
            <a:endParaRPr lang="en-US" sz="1150" dirty="0"/>
          </a:p>
          <a:p>
            <a:pPr marL="342900" indent="-342900">
              <a:spcAft>
                <a:spcPts val="200"/>
              </a:spcAft>
              <a:buSzPct val="100000"/>
              <a:buChar char="●"/>
            </a:pPr>
            <a:r>
              <a:rPr lang="en-US" sz="1150" dirty="0">
                <a:solidFill>
                  <a:srgbClr val="64748B"/>
                </a:solidFill>
              </a:rPr>
              <a:t>Wants to improve · is not a pro </a:t>
            </a:r>
            <a:endParaRPr lang="en-US" sz="1150" dirty="0"/>
          </a:p>
        </p:txBody>
      </p:sp>
      <p:sp>
        <p:nvSpPr>
          <p:cNvPr id="11" name="Shape 9"/>
          <p:cNvSpPr/>
          <p:nvPr/>
        </p:nvSpPr>
        <p:spPr>
          <a:xfrm>
            <a:off x="4663440" y="2423160"/>
            <a:ext cx="4023360" cy="2194560"/>
          </a:xfrm>
          <a:prstGeom prst="rect">
            <a:avLst/>
          </a:prstGeom>
          <a:solidFill>
            <a:srgbClr val="FFFFFF"/>
          </a:solidFill>
          <a:ln w="9525">
            <a:solidFill>
              <a:srgbClr val="CFD6DD"/>
            </a:solidFill>
            <a:prstDash val="solid"/>
          </a:ln>
        </p:spPr>
        <p:txBody>
          <a:bodyPr/>
          <a:lstStyle/>
          <a:p>
            <a:endParaRPr lang="en-US"/>
          </a:p>
        </p:txBody>
      </p:sp>
      <p:sp>
        <p:nvSpPr>
          <p:cNvPr id="12" name="Text 10"/>
          <p:cNvSpPr/>
          <p:nvPr/>
        </p:nvSpPr>
        <p:spPr>
          <a:xfrm>
            <a:off x="4846320" y="2542032"/>
            <a:ext cx="3657600" cy="274320"/>
          </a:xfrm>
          <a:prstGeom prst="rect">
            <a:avLst/>
          </a:prstGeom>
          <a:noFill/>
          <a:ln/>
        </p:spPr>
        <p:txBody>
          <a:bodyPr wrap="square" lIns="0" tIns="0" rIns="0" bIns="0" rtlCol="0" anchor="ctr"/>
          <a:lstStyle/>
          <a:p>
            <a:pPr marL="0" indent="0">
              <a:buNone/>
            </a:pPr>
            <a:r>
              <a:rPr lang="en-US" sz="900" b="1" kern="0" spc="400" dirty="0">
                <a:solidFill>
                  <a:srgbClr val="0EA5E9"/>
                </a:solidFill>
              </a:rPr>
              <a:t>SECONDARY USER</a:t>
            </a:r>
            <a:endParaRPr lang="en-US" sz="900" dirty="0"/>
          </a:p>
        </p:txBody>
      </p:sp>
      <p:sp>
        <p:nvSpPr>
          <p:cNvPr id="13" name="Text 11"/>
          <p:cNvSpPr/>
          <p:nvPr/>
        </p:nvSpPr>
        <p:spPr>
          <a:xfrm>
            <a:off x="4846320" y="2788920"/>
            <a:ext cx="3657600" cy="365760"/>
          </a:xfrm>
          <a:prstGeom prst="rect">
            <a:avLst/>
          </a:prstGeom>
          <a:noFill/>
          <a:ln/>
        </p:spPr>
        <p:txBody>
          <a:bodyPr wrap="square" lIns="0" tIns="0" rIns="0" bIns="0" rtlCol="0" anchor="ctr"/>
          <a:lstStyle/>
          <a:p>
            <a:pPr marL="0" indent="0">
              <a:buNone/>
            </a:pPr>
            <a:r>
              <a:rPr lang="en-US" sz="1600" b="1" dirty="0">
                <a:solidFill>
                  <a:srgbClr val="1F2937"/>
                </a:solidFill>
              </a:rPr>
              <a:t>Luca · the amateur coach</a:t>
            </a:r>
            <a:endParaRPr lang="en-US" sz="1600" dirty="0"/>
          </a:p>
        </p:txBody>
      </p:sp>
      <p:sp>
        <p:nvSpPr>
          <p:cNvPr id="14" name="Text 12"/>
          <p:cNvSpPr/>
          <p:nvPr/>
        </p:nvSpPr>
        <p:spPr>
          <a:xfrm>
            <a:off x="4846320" y="3154680"/>
            <a:ext cx="3657600" cy="1417320"/>
          </a:xfrm>
          <a:prstGeom prst="rect">
            <a:avLst/>
          </a:prstGeom>
          <a:noFill/>
          <a:ln/>
        </p:spPr>
        <p:txBody>
          <a:bodyPr wrap="square" lIns="0" tIns="0" rIns="0" bIns="0" rtlCol="0" anchor="ctr"/>
          <a:lstStyle/>
          <a:p>
            <a:pPr marL="342900" indent="-342900">
              <a:spcAft>
                <a:spcPts val="200"/>
              </a:spcAft>
              <a:buSzPct val="100000"/>
              <a:buChar char="●"/>
            </a:pPr>
            <a:r>
              <a:rPr lang="en-US" sz="1150" dirty="0">
                <a:solidFill>
                  <a:srgbClr val="64748B"/>
                </a:solidFill>
              </a:rPr>
              <a:t>Gives weekly 1-hour lessons</a:t>
            </a:r>
            <a:endParaRPr lang="en-US" sz="1150" dirty="0"/>
          </a:p>
          <a:p>
            <a:pPr marL="342900" indent="-342900">
              <a:spcAft>
                <a:spcPts val="200"/>
              </a:spcAft>
              <a:buSzPct val="100000"/>
              <a:buChar char="●"/>
            </a:pPr>
            <a:r>
              <a:rPr lang="en-US" sz="1150" dirty="0">
                <a:solidFill>
                  <a:srgbClr val="64748B"/>
                </a:solidFill>
              </a:rPr>
              <a:t>Needs a 2-min summary of each student before training</a:t>
            </a:r>
            <a:endParaRPr lang="en-US" sz="1150" dirty="0"/>
          </a:p>
          <a:p>
            <a:pPr marL="342900" indent="-342900">
              <a:spcAft>
                <a:spcPts val="200"/>
              </a:spcAft>
              <a:buSzPct val="100000"/>
              <a:buChar char="●"/>
            </a:pPr>
            <a:r>
              <a:rPr lang="en-US" sz="1150" dirty="0">
                <a:solidFill>
                  <a:srgbClr val="64748B"/>
                </a:solidFill>
              </a:rPr>
              <a:t>Cares about shot balance, error trends, partner effect</a:t>
            </a:r>
            <a:endParaRPr lang="en-US" sz="1150" dirty="0"/>
          </a:p>
          <a:p>
            <a:pPr marL="342900" indent="-342900">
              <a:spcAft>
                <a:spcPts val="200"/>
              </a:spcAft>
              <a:buSzPct val="100000"/>
              <a:buChar char="●"/>
            </a:pPr>
            <a:r>
              <a:rPr lang="en-US" sz="1150" dirty="0">
                <a:solidFill>
                  <a:srgbClr val="64748B"/>
                </a:solidFill>
              </a:rPr>
              <a:t>Reads on a laptop, not a phone</a:t>
            </a:r>
            <a:endParaRPr lang="en-US" sz="1150" dirty="0"/>
          </a:p>
        </p:txBody>
      </p:sp>
      <p:sp>
        <p:nvSpPr>
          <p:cNvPr id="15" name="Text 13"/>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16" name="Text 14"/>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1.3 EDITORIAL THINKING</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Angle · Framing · Focus (Kirk)</a:t>
            </a:r>
            <a:endParaRPr lang="en-US" sz="2600" dirty="0"/>
          </a:p>
        </p:txBody>
      </p:sp>
      <p:sp>
        <p:nvSpPr>
          <p:cNvPr id="5" name="Shape 3"/>
          <p:cNvSpPr/>
          <p:nvPr/>
        </p:nvSpPr>
        <p:spPr>
          <a:xfrm>
            <a:off x="457200" y="1371600"/>
            <a:ext cx="2697480" cy="320040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640080" y="1508760"/>
            <a:ext cx="1097280" cy="256032"/>
          </a:xfrm>
          <a:prstGeom prst="rect">
            <a:avLst/>
          </a:prstGeom>
          <a:solidFill>
            <a:srgbClr val="EF4444"/>
          </a:solidFill>
          <a:ln/>
        </p:spPr>
        <p:txBody>
          <a:bodyPr/>
          <a:lstStyle/>
          <a:p>
            <a:endParaRPr lang="en-US"/>
          </a:p>
        </p:txBody>
      </p:sp>
      <p:sp>
        <p:nvSpPr>
          <p:cNvPr id="7" name="Text 5"/>
          <p:cNvSpPr/>
          <p:nvPr/>
        </p:nvSpPr>
        <p:spPr>
          <a:xfrm>
            <a:off x="640080" y="1508760"/>
            <a:ext cx="1097280" cy="256032"/>
          </a:xfrm>
          <a:prstGeom prst="rect">
            <a:avLst/>
          </a:prstGeom>
          <a:noFill/>
          <a:ln/>
        </p:spPr>
        <p:txBody>
          <a:bodyPr wrap="square" lIns="0" tIns="0" rIns="0" bIns="0" rtlCol="0" anchor="ctr"/>
          <a:lstStyle/>
          <a:p>
            <a:pPr marL="0" indent="0" algn="ctr">
              <a:buNone/>
            </a:pPr>
            <a:r>
              <a:rPr lang="en-US" sz="1000" b="1" kern="0" spc="300" dirty="0">
                <a:solidFill>
                  <a:srgbClr val="FFFFFF"/>
                </a:solidFill>
              </a:rPr>
              <a:t>ANGLE</a:t>
            </a:r>
            <a:endParaRPr lang="en-US" sz="1000" dirty="0"/>
          </a:p>
        </p:txBody>
      </p:sp>
      <p:sp>
        <p:nvSpPr>
          <p:cNvPr id="8" name="Text 6"/>
          <p:cNvSpPr/>
          <p:nvPr/>
        </p:nvSpPr>
        <p:spPr>
          <a:xfrm>
            <a:off x="640080" y="1920240"/>
            <a:ext cx="2331720" cy="731520"/>
          </a:xfrm>
          <a:prstGeom prst="rect">
            <a:avLst/>
          </a:prstGeom>
          <a:noFill/>
          <a:ln/>
        </p:spPr>
        <p:txBody>
          <a:bodyPr wrap="square" lIns="0" tIns="0" rIns="0" bIns="0" rtlCol="0" anchor="ctr"/>
          <a:lstStyle/>
          <a:p>
            <a:pPr marL="0" indent="0">
              <a:buNone/>
            </a:pPr>
            <a:r>
              <a:rPr lang="en-US" sz="1600" b="1" dirty="0">
                <a:solidFill>
                  <a:srgbClr val="1F2937"/>
                </a:solidFill>
              </a:rPr>
              <a:t>Reflective self-analysis over time</a:t>
            </a:r>
            <a:endParaRPr lang="en-US" sz="1600" dirty="0"/>
          </a:p>
        </p:txBody>
      </p:sp>
      <p:sp>
        <p:nvSpPr>
          <p:cNvPr id="9" name="Text 7"/>
          <p:cNvSpPr/>
          <p:nvPr/>
        </p:nvSpPr>
        <p:spPr>
          <a:xfrm>
            <a:off x="640080" y="2743200"/>
            <a:ext cx="2331720" cy="640080"/>
          </a:xfrm>
          <a:prstGeom prst="rect">
            <a:avLst/>
          </a:prstGeom>
          <a:noFill/>
          <a:ln/>
        </p:spPr>
        <p:txBody>
          <a:bodyPr wrap="square" lIns="0" tIns="0" rIns="0" bIns="0" rtlCol="0" anchor="ctr"/>
          <a:lstStyle/>
          <a:p>
            <a:pPr marL="0" indent="0">
              <a:buNone/>
            </a:pPr>
            <a:r>
              <a:rPr lang="en-US" sz="1200" i="1" dirty="0">
                <a:solidFill>
                  <a:srgbClr val="64748B"/>
                </a:solidFill>
              </a:rPr>
              <a:t>Temporal · Categorical · Comparative.</a:t>
            </a:r>
            <a:endParaRPr lang="en-US" sz="1200" dirty="0"/>
          </a:p>
        </p:txBody>
      </p:sp>
      <p:sp>
        <p:nvSpPr>
          <p:cNvPr id="10" name="Text 8"/>
          <p:cNvSpPr/>
          <p:nvPr/>
        </p:nvSpPr>
        <p:spPr>
          <a:xfrm>
            <a:off x="640080" y="3520440"/>
            <a:ext cx="2331720" cy="914400"/>
          </a:xfrm>
          <a:prstGeom prst="rect">
            <a:avLst/>
          </a:prstGeom>
          <a:noFill/>
          <a:ln/>
        </p:spPr>
        <p:txBody>
          <a:bodyPr wrap="square" lIns="0" tIns="0" rIns="0" bIns="0" rtlCol="0" anchor="ctr"/>
          <a:lstStyle/>
          <a:p>
            <a:pPr marL="0" indent="0">
              <a:buNone/>
            </a:pPr>
            <a:r>
              <a:rPr lang="en-US" sz="1100" dirty="0">
                <a:solidFill>
                  <a:srgbClr val="64748B"/>
                </a:solidFill>
              </a:rPr>
              <a:t>Spatial overlays (court heatmaps) deliberately excluded - we don't have sensor data.</a:t>
            </a:r>
            <a:endParaRPr lang="en-US" sz="1100" dirty="0"/>
          </a:p>
        </p:txBody>
      </p:sp>
      <p:sp>
        <p:nvSpPr>
          <p:cNvPr id="11" name="Shape 9"/>
          <p:cNvSpPr/>
          <p:nvPr/>
        </p:nvSpPr>
        <p:spPr>
          <a:xfrm>
            <a:off x="3246120" y="1371600"/>
            <a:ext cx="2697480" cy="3200400"/>
          </a:xfrm>
          <a:prstGeom prst="rect">
            <a:avLst/>
          </a:prstGeom>
          <a:solidFill>
            <a:srgbClr val="FFFFFF"/>
          </a:solidFill>
          <a:ln w="9525">
            <a:solidFill>
              <a:srgbClr val="CFD6DD"/>
            </a:solidFill>
            <a:prstDash val="solid"/>
          </a:ln>
        </p:spPr>
        <p:txBody>
          <a:bodyPr/>
          <a:lstStyle/>
          <a:p>
            <a:endParaRPr lang="en-US"/>
          </a:p>
        </p:txBody>
      </p:sp>
      <p:sp>
        <p:nvSpPr>
          <p:cNvPr id="12" name="Shape 10"/>
          <p:cNvSpPr/>
          <p:nvPr/>
        </p:nvSpPr>
        <p:spPr>
          <a:xfrm>
            <a:off x="3429000" y="1508760"/>
            <a:ext cx="1097280" cy="256032"/>
          </a:xfrm>
          <a:prstGeom prst="rect">
            <a:avLst/>
          </a:prstGeom>
          <a:solidFill>
            <a:srgbClr val="10B981"/>
          </a:solidFill>
          <a:ln/>
        </p:spPr>
        <p:txBody>
          <a:bodyPr/>
          <a:lstStyle/>
          <a:p>
            <a:endParaRPr lang="en-US"/>
          </a:p>
        </p:txBody>
      </p:sp>
      <p:sp>
        <p:nvSpPr>
          <p:cNvPr id="13" name="Text 11"/>
          <p:cNvSpPr/>
          <p:nvPr/>
        </p:nvSpPr>
        <p:spPr>
          <a:xfrm>
            <a:off x="3429000" y="1508760"/>
            <a:ext cx="1097280" cy="256032"/>
          </a:xfrm>
          <a:prstGeom prst="rect">
            <a:avLst/>
          </a:prstGeom>
          <a:noFill/>
          <a:ln/>
        </p:spPr>
        <p:txBody>
          <a:bodyPr wrap="square" lIns="0" tIns="0" rIns="0" bIns="0" rtlCol="0" anchor="ctr"/>
          <a:lstStyle/>
          <a:p>
            <a:pPr marL="0" indent="0" algn="ctr">
              <a:buNone/>
            </a:pPr>
            <a:r>
              <a:rPr lang="en-US" sz="1000" b="1" kern="0" spc="300" dirty="0">
                <a:solidFill>
                  <a:srgbClr val="FFFFFF"/>
                </a:solidFill>
              </a:rPr>
              <a:t>FRAMING</a:t>
            </a:r>
            <a:endParaRPr lang="en-US" sz="1000" dirty="0"/>
          </a:p>
        </p:txBody>
      </p:sp>
      <p:sp>
        <p:nvSpPr>
          <p:cNvPr id="14" name="Text 12"/>
          <p:cNvSpPr/>
          <p:nvPr/>
        </p:nvSpPr>
        <p:spPr>
          <a:xfrm>
            <a:off x="3429000" y="1920240"/>
            <a:ext cx="2331720" cy="731520"/>
          </a:xfrm>
          <a:prstGeom prst="rect">
            <a:avLst/>
          </a:prstGeom>
          <a:noFill/>
          <a:ln/>
        </p:spPr>
        <p:txBody>
          <a:bodyPr wrap="square" lIns="0" tIns="0" rIns="0" bIns="0" rtlCol="0" anchor="ctr"/>
          <a:lstStyle/>
          <a:p>
            <a:pPr marL="0" indent="0">
              <a:buNone/>
            </a:pPr>
            <a:r>
              <a:rPr lang="en-US" sz="1600" b="1" dirty="0">
                <a:solidFill>
                  <a:srgbClr val="1F2937"/>
                </a:solidFill>
              </a:rPr>
              <a:t>What an amateur can log on a phone</a:t>
            </a:r>
            <a:endParaRPr lang="en-US" sz="1600" dirty="0"/>
          </a:p>
        </p:txBody>
      </p:sp>
      <p:sp>
        <p:nvSpPr>
          <p:cNvPr id="15" name="Text 13"/>
          <p:cNvSpPr/>
          <p:nvPr/>
        </p:nvSpPr>
        <p:spPr>
          <a:xfrm>
            <a:off x="3429000" y="2743200"/>
            <a:ext cx="2331720" cy="640080"/>
          </a:xfrm>
          <a:prstGeom prst="rect">
            <a:avLst/>
          </a:prstGeom>
          <a:noFill/>
          <a:ln/>
        </p:spPr>
        <p:txBody>
          <a:bodyPr wrap="square" lIns="0" tIns="0" rIns="0" bIns="0" rtlCol="0" anchor="ctr"/>
          <a:lstStyle/>
          <a:p>
            <a:pPr marL="0" indent="0">
              <a:buNone/>
            </a:pPr>
            <a:r>
              <a:rPr lang="en-US" sz="1200" i="1" dirty="0">
                <a:solidFill>
                  <a:srgbClr val="64748B"/>
                </a:solidFill>
              </a:rPr>
              <a:t>Inside: matches, sets, shot tallies, partners, surface.</a:t>
            </a:r>
            <a:endParaRPr lang="en-US" sz="1200" dirty="0"/>
          </a:p>
        </p:txBody>
      </p:sp>
      <p:sp>
        <p:nvSpPr>
          <p:cNvPr id="16" name="Text 14"/>
          <p:cNvSpPr/>
          <p:nvPr/>
        </p:nvSpPr>
        <p:spPr>
          <a:xfrm>
            <a:off x="3429000" y="3520440"/>
            <a:ext cx="2331720" cy="914400"/>
          </a:xfrm>
          <a:prstGeom prst="rect">
            <a:avLst/>
          </a:prstGeom>
          <a:noFill/>
          <a:ln/>
        </p:spPr>
        <p:txBody>
          <a:bodyPr wrap="square" lIns="0" tIns="0" rIns="0" bIns="0" rtlCol="0" anchor="ctr"/>
          <a:lstStyle/>
          <a:p>
            <a:pPr marL="0" indent="0">
              <a:buNone/>
            </a:pPr>
            <a:r>
              <a:rPr lang="en-US" sz="1100" dirty="0">
                <a:solidFill>
                  <a:srgbClr val="64748B"/>
                </a:solidFill>
              </a:rPr>
              <a:t>Outside: ball-trajectory, biometrics, opponent scouting.</a:t>
            </a:r>
            <a:endParaRPr lang="en-US" sz="1100" dirty="0"/>
          </a:p>
        </p:txBody>
      </p:sp>
      <p:sp>
        <p:nvSpPr>
          <p:cNvPr id="17" name="Shape 15"/>
          <p:cNvSpPr/>
          <p:nvPr/>
        </p:nvSpPr>
        <p:spPr>
          <a:xfrm>
            <a:off x="6035040" y="1371600"/>
            <a:ext cx="2697480" cy="3200400"/>
          </a:xfrm>
          <a:prstGeom prst="rect">
            <a:avLst/>
          </a:prstGeom>
          <a:solidFill>
            <a:srgbClr val="FFFFFF"/>
          </a:solidFill>
          <a:ln w="9525">
            <a:solidFill>
              <a:srgbClr val="CFD6DD"/>
            </a:solidFill>
            <a:prstDash val="solid"/>
          </a:ln>
        </p:spPr>
        <p:txBody>
          <a:bodyPr/>
          <a:lstStyle/>
          <a:p>
            <a:endParaRPr lang="en-US"/>
          </a:p>
        </p:txBody>
      </p:sp>
      <p:sp>
        <p:nvSpPr>
          <p:cNvPr id="18" name="Shape 16"/>
          <p:cNvSpPr/>
          <p:nvPr/>
        </p:nvSpPr>
        <p:spPr>
          <a:xfrm>
            <a:off x="6217920" y="1508760"/>
            <a:ext cx="1097280" cy="256032"/>
          </a:xfrm>
          <a:prstGeom prst="rect">
            <a:avLst/>
          </a:prstGeom>
          <a:solidFill>
            <a:srgbClr val="0EA5E9"/>
          </a:solidFill>
          <a:ln/>
        </p:spPr>
        <p:txBody>
          <a:bodyPr/>
          <a:lstStyle/>
          <a:p>
            <a:endParaRPr lang="en-US"/>
          </a:p>
        </p:txBody>
      </p:sp>
      <p:sp>
        <p:nvSpPr>
          <p:cNvPr id="19" name="Text 17"/>
          <p:cNvSpPr/>
          <p:nvPr/>
        </p:nvSpPr>
        <p:spPr>
          <a:xfrm>
            <a:off x="6217920" y="1508760"/>
            <a:ext cx="1097280" cy="256032"/>
          </a:xfrm>
          <a:prstGeom prst="rect">
            <a:avLst/>
          </a:prstGeom>
          <a:noFill/>
          <a:ln/>
        </p:spPr>
        <p:txBody>
          <a:bodyPr wrap="square" lIns="0" tIns="0" rIns="0" bIns="0" rtlCol="0" anchor="ctr"/>
          <a:lstStyle/>
          <a:p>
            <a:pPr marL="0" indent="0" algn="ctr">
              <a:buNone/>
            </a:pPr>
            <a:r>
              <a:rPr lang="en-US" sz="1000" b="1" kern="0" spc="300" dirty="0">
                <a:solidFill>
                  <a:srgbClr val="FFFFFF"/>
                </a:solidFill>
              </a:rPr>
              <a:t>FOCUS</a:t>
            </a:r>
            <a:endParaRPr lang="en-US" sz="1000" dirty="0"/>
          </a:p>
        </p:txBody>
      </p:sp>
      <p:sp>
        <p:nvSpPr>
          <p:cNvPr id="20" name="Text 18"/>
          <p:cNvSpPr/>
          <p:nvPr/>
        </p:nvSpPr>
        <p:spPr>
          <a:xfrm>
            <a:off x="6217920" y="1920240"/>
            <a:ext cx="2331720" cy="731520"/>
          </a:xfrm>
          <a:prstGeom prst="rect">
            <a:avLst/>
          </a:prstGeom>
          <a:noFill/>
          <a:ln/>
        </p:spPr>
        <p:txBody>
          <a:bodyPr wrap="square" lIns="0" tIns="0" rIns="0" bIns="0" rtlCol="0" anchor="ctr"/>
          <a:lstStyle/>
          <a:p>
            <a:pPr marL="0" indent="0">
              <a:buNone/>
            </a:pPr>
            <a:r>
              <a:rPr lang="en-US" sz="1600" b="1" dirty="0">
                <a:solidFill>
                  <a:srgbClr val="1F2937"/>
                </a:solidFill>
              </a:rPr>
              <a:t>One number above the fold</a:t>
            </a:r>
            <a:endParaRPr lang="en-US" sz="1600" dirty="0"/>
          </a:p>
        </p:txBody>
      </p:sp>
      <p:sp>
        <p:nvSpPr>
          <p:cNvPr id="21" name="Text 19"/>
          <p:cNvSpPr/>
          <p:nvPr/>
        </p:nvSpPr>
        <p:spPr>
          <a:xfrm>
            <a:off x="6217920" y="2743200"/>
            <a:ext cx="2331720" cy="640080"/>
          </a:xfrm>
          <a:prstGeom prst="rect">
            <a:avLst/>
          </a:prstGeom>
          <a:noFill/>
          <a:ln/>
        </p:spPr>
        <p:txBody>
          <a:bodyPr wrap="square" lIns="0" tIns="0" rIns="0" bIns="0" rtlCol="0" anchor="ctr"/>
          <a:lstStyle/>
          <a:p>
            <a:pPr marL="0" indent="0">
              <a:buNone/>
            </a:pPr>
            <a:r>
              <a:rPr lang="en-US" sz="1200" i="1" dirty="0">
                <a:solidFill>
                  <a:srgbClr val="64748B"/>
                </a:solidFill>
              </a:rPr>
              <a:t>Last-10-matches win rate.</a:t>
            </a:r>
            <a:endParaRPr lang="en-US" sz="1200" dirty="0"/>
          </a:p>
        </p:txBody>
      </p:sp>
      <p:sp>
        <p:nvSpPr>
          <p:cNvPr id="22" name="Text 20"/>
          <p:cNvSpPr/>
          <p:nvPr/>
        </p:nvSpPr>
        <p:spPr>
          <a:xfrm>
            <a:off x="6217920" y="3520440"/>
            <a:ext cx="2331720" cy="914400"/>
          </a:xfrm>
          <a:prstGeom prst="rect">
            <a:avLst/>
          </a:prstGeom>
          <a:noFill/>
          <a:ln/>
        </p:spPr>
        <p:txBody>
          <a:bodyPr wrap="square" lIns="0" tIns="0" rIns="0" bIns="0" rtlCol="0" anchor="ctr"/>
          <a:lstStyle/>
          <a:p>
            <a:pPr marL="0" indent="0">
              <a:buNone/>
            </a:pPr>
            <a:r>
              <a:rPr lang="en-US" sz="1100" dirty="0">
                <a:solidFill>
                  <a:srgbClr val="64748B"/>
                </a:solidFill>
              </a:rPr>
              <a:t>Plus: net shot balance, plain-language insight ("You win 80% with Luca").</a:t>
            </a:r>
            <a:endParaRPr lang="en-US" sz="1100" dirty="0"/>
          </a:p>
        </p:txBody>
      </p:sp>
      <p:sp>
        <p:nvSpPr>
          <p:cNvPr id="23" name="Text 21"/>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2"/>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1.4 RELEVANCE</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Scored on Kirk's four factors</a:t>
            </a:r>
            <a:endParaRPr lang="en-US" sz="2600" dirty="0"/>
          </a:p>
        </p:txBody>
      </p:sp>
      <p:sp>
        <p:nvSpPr>
          <p:cNvPr id="5" name="Shape 3"/>
          <p:cNvSpPr/>
          <p:nvPr/>
        </p:nvSpPr>
        <p:spPr>
          <a:xfrm>
            <a:off x="457200" y="1371600"/>
            <a:ext cx="8229600" cy="50292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371600"/>
            <a:ext cx="1645920" cy="502920"/>
          </a:xfrm>
          <a:prstGeom prst="rect">
            <a:avLst/>
          </a:prstGeom>
          <a:noFill/>
          <a:ln/>
        </p:spPr>
        <p:txBody>
          <a:bodyPr wrap="square" lIns="0" tIns="0" rIns="0" bIns="0" rtlCol="0" anchor="ctr"/>
          <a:lstStyle/>
          <a:p>
            <a:pPr marL="0" indent="0">
              <a:buNone/>
            </a:pPr>
            <a:r>
              <a:rPr lang="en-US" sz="1300" b="1" dirty="0">
                <a:solidFill>
                  <a:srgbClr val="1F2937"/>
                </a:solidFill>
              </a:rPr>
              <a:t>Timeliness</a:t>
            </a:r>
            <a:endParaRPr lang="en-US" sz="1300" dirty="0"/>
          </a:p>
        </p:txBody>
      </p:sp>
      <p:sp>
        <p:nvSpPr>
          <p:cNvPr id="7" name="Shape 5"/>
          <p:cNvSpPr/>
          <p:nvPr/>
        </p:nvSpPr>
        <p:spPr>
          <a:xfrm>
            <a:off x="2286000" y="1490472"/>
            <a:ext cx="274320" cy="274320"/>
          </a:xfrm>
          <a:prstGeom prst="ellipse">
            <a:avLst/>
          </a:prstGeom>
          <a:solidFill>
            <a:srgbClr val="10B981"/>
          </a:solidFill>
          <a:ln/>
        </p:spPr>
        <p:txBody>
          <a:bodyPr/>
          <a:lstStyle/>
          <a:p>
            <a:endParaRPr lang="en-US"/>
          </a:p>
        </p:txBody>
      </p:sp>
      <p:sp>
        <p:nvSpPr>
          <p:cNvPr id="8" name="Text 6"/>
          <p:cNvSpPr/>
          <p:nvPr/>
        </p:nvSpPr>
        <p:spPr>
          <a:xfrm>
            <a:off x="2286000" y="149047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rPr>
              <a:t>3/3</a:t>
            </a:r>
            <a:endParaRPr lang="en-US" sz="900" dirty="0"/>
          </a:p>
        </p:txBody>
      </p:sp>
      <p:sp>
        <p:nvSpPr>
          <p:cNvPr id="9" name="Text 7"/>
          <p:cNvSpPr/>
          <p:nvPr/>
        </p:nvSpPr>
        <p:spPr>
          <a:xfrm>
            <a:off x="2743200" y="1371600"/>
            <a:ext cx="5852160" cy="502920"/>
          </a:xfrm>
          <a:prstGeom prst="rect">
            <a:avLst/>
          </a:prstGeom>
          <a:noFill/>
          <a:ln/>
        </p:spPr>
        <p:txBody>
          <a:bodyPr wrap="square" lIns="0" tIns="0" rIns="0" bIns="0" rtlCol="0" anchor="ctr"/>
          <a:lstStyle/>
          <a:p>
            <a:pPr marL="0" indent="0">
              <a:buNone/>
            </a:pPr>
            <a:r>
              <a:rPr lang="en-US" sz="1100" dirty="0">
                <a:solidFill>
                  <a:srgbClr val="64748B"/>
                </a:solidFill>
              </a:rPr>
              <a:t>Opens after a match or before the next one - actionable now.</a:t>
            </a:r>
            <a:endParaRPr lang="en-US" sz="1100" dirty="0"/>
          </a:p>
        </p:txBody>
      </p:sp>
      <p:sp>
        <p:nvSpPr>
          <p:cNvPr id="10" name="Shape 8"/>
          <p:cNvSpPr/>
          <p:nvPr/>
        </p:nvSpPr>
        <p:spPr>
          <a:xfrm>
            <a:off x="457200" y="1965960"/>
            <a:ext cx="8229600" cy="502920"/>
          </a:xfrm>
          <a:prstGeom prst="rect">
            <a:avLst/>
          </a:prstGeom>
          <a:solidFill>
            <a:srgbClr val="FFFFFF"/>
          </a:solidFill>
          <a:ln w="9525">
            <a:solidFill>
              <a:srgbClr val="CFD6DD"/>
            </a:solidFill>
            <a:prstDash val="solid"/>
          </a:ln>
        </p:spPr>
        <p:txBody>
          <a:bodyPr/>
          <a:lstStyle/>
          <a:p>
            <a:endParaRPr lang="en-US"/>
          </a:p>
        </p:txBody>
      </p:sp>
      <p:sp>
        <p:nvSpPr>
          <p:cNvPr id="11" name="Text 9"/>
          <p:cNvSpPr/>
          <p:nvPr/>
        </p:nvSpPr>
        <p:spPr>
          <a:xfrm>
            <a:off x="640080" y="1965960"/>
            <a:ext cx="1645920" cy="502920"/>
          </a:xfrm>
          <a:prstGeom prst="rect">
            <a:avLst/>
          </a:prstGeom>
          <a:noFill/>
          <a:ln/>
        </p:spPr>
        <p:txBody>
          <a:bodyPr wrap="square" lIns="0" tIns="0" rIns="0" bIns="0" rtlCol="0" anchor="ctr"/>
          <a:lstStyle/>
          <a:p>
            <a:pPr marL="0" indent="0">
              <a:buNone/>
            </a:pPr>
            <a:r>
              <a:rPr lang="en-US" sz="1300" b="1" dirty="0">
                <a:solidFill>
                  <a:srgbClr val="1F2937"/>
                </a:solidFill>
              </a:rPr>
              <a:t>Interestingness</a:t>
            </a:r>
            <a:endParaRPr lang="en-US" sz="1300" dirty="0"/>
          </a:p>
        </p:txBody>
      </p:sp>
      <p:sp>
        <p:nvSpPr>
          <p:cNvPr id="12" name="Shape 10"/>
          <p:cNvSpPr/>
          <p:nvPr/>
        </p:nvSpPr>
        <p:spPr>
          <a:xfrm>
            <a:off x="2286000" y="2084832"/>
            <a:ext cx="274320" cy="274320"/>
          </a:xfrm>
          <a:prstGeom prst="ellipse">
            <a:avLst/>
          </a:prstGeom>
          <a:solidFill>
            <a:srgbClr val="10B981"/>
          </a:solidFill>
          <a:ln/>
        </p:spPr>
        <p:txBody>
          <a:bodyPr/>
          <a:lstStyle/>
          <a:p>
            <a:endParaRPr lang="en-US"/>
          </a:p>
        </p:txBody>
      </p:sp>
      <p:sp>
        <p:nvSpPr>
          <p:cNvPr id="13" name="Text 11"/>
          <p:cNvSpPr/>
          <p:nvPr/>
        </p:nvSpPr>
        <p:spPr>
          <a:xfrm>
            <a:off x="2286000" y="208483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rPr>
              <a:t>3/3</a:t>
            </a:r>
            <a:endParaRPr lang="en-US" sz="900" dirty="0"/>
          </a:p>
        </p:txBody>
      </p:sp>
      <p:sp>
        <p:nvSpPr>
          <p:cNvPr id="14" name="Text 12"/>
          <p:cNvSpPr/>
          <p:nvPr/>
        </p:nvSpPr>
        <p:spPr>
          <a:xfrm>
            <a:off x="2743200" y="1965960"/>
            <a:ext cx="5852160" cy="502920"/>
          </a:xfrm>
          <a:prstGeom prst="rect">
            <a:avLst/>
          </a:prstGeom>
          <a:noFill/>
          <a:ln/>
        </p:spPr>
        <p:txBody>
          <a:bodyPr wrap="square" lIns="0" tIns="0" rIns="0" bIns="0" rtlCol="0" anchor="ctr"/>
          <a:lstStyle/>
          <a:p>
            <a:pPr marL="0" indent="0">
              <a:buNone/>
            </a:pPr>
            <a:r>
              <a:rPr lang="en-US" sz="1100" dirty="0">
                <a:solidFill>
                  <a:srgbClr val="64748B"/>
                </a:solidFill>
              </a:rPr>
              <a:t>Confirms or contradicts gut feelings - both outcomes are interesting.</a:t>
            </a:r>
            <a:endParaRPr lang="en-US" sz="1100" dirty="0"/>
          </a:p>
        </p:txBody>
      </p:sp>
      <p:sp>
        <p:nvSpPr>
          <p:cNvPr id="15" name="Shape 13"/>
          <p:cNvSpPr/>
          <p:nvPr/>
        </p:nvSpPr>
        <p:spPr>
          <a:xfrm>
            <a:off x="457200" y="2560320"/>
            <a:ext cx="8229600" cy="502920"/>
          </a:xfrm>
          <a:prstGeom prst="rect">
            <a:avLst/>
          </a:prstGeom>
          <a:solidFill>
            <a:srgbClr val="FFFFFF"/>
          </a:solidFill>
          <a:ln w="9525">
            <a:solidFill>
              <a:srgbClr val="CFD6DD"/>
            </a:solidFill>
            <a:prstDash val="solid"/>
          </a:ln>
        </p:spPr>
        <p:txBody>
          <a:bodyPr/>
          <a:lstStyle/>
          <a:p>
            <a:endParaRPr lang="en-US"/>
          </a:p>
        </p:txBody>
      </p:sp>
      <p:sp>
        <p:nvSpPr>
          <p:cNvPr id="16" name="Text 14"/>
          <p:cNvSpPr/>
          <p:nvPr/>
        </p:nvSpPr>
        <p:spPr>
          <a:xfrm>
            <a:off x="640080" y="2560320"/>
            <a:ext cx="1645920" cy="502920"/>
          </a:xfrm>
          <a:prstGeom prst="rect">
            <a:avLst/>
          </a:prstGeom>
          <a:noFill/>
          <a:ln/>
        </p:spPr>
        <p:txBody>
          <a:bodyPr wrap="square" lIns="0" tIns="0" rIns="0" bIns="0" rtlCol="0" anchor="ctr"/>
          <a:lstStyle/>
          <a:p>
            <a:pPr marL="0" indent="0">
              <a:buNone/>
            </a:pPr>
            <a:r>
              <a:rPr lang="en-US" sz="1300" b="1" dirty="0">
                <a:solidFill>
                  <a:srgbClr val="1F2937"/>
                </a:solidFill>
              </a:rPr>
              <a:t>Pertinence</a:t>
            </a:r>
            <a:endParaRPr lang="en-US" sz="1300" dirty="0"/>
          </a:p>
        </p:txBody>
      </p:sp>
      <p:sp>
        <p:nvSpPr>
          <p:cNvPr id="17" name="Shape 15"/>
          <p:cNvSpPr/>
          <p:nvPr/>
        </p:nvSpPr>
        <p:spPr>
          <a:xfrm>
            <a:off x="2286000" y="2679192"/>
            <a:ext cx="274320" cy="274320"/>
          </a:xfrm>
          <a:prstGeom prst="ellipse">
            <a:avLst/>
          </a:prstGeom>
          <a:solidFill>
            <a:srgbClr val="10B981"/>
          </a:solidFill>
          <a:ln/>
        </p:spPr>
        <p:txBody>
          <a:bodyPr/>
          <a:lstStyle/>
          <a:p>
            <a:endParaRPr lang="en-US"/>
          </a:p>
        </p:txBody>
      </p:sp>
      <p:sp>
        <p:nvSpPr>
          <p:cNvPr id="18" name="Text 16"/>
          <p:cNvSpPr/>
          <p:nvPr/>
        </p:nvSpPr>
        <p:spPr>
          <a:xfrm>
            <a:off x="2286000" y="267919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rPr>
              <a:t>3/3</a:t>
            </a:r>
            <a:endParaRPr lang="en-US" sz="900" dirty="0"/>
          </a:p>
        </p:txBody>
      </p:sp>
      <p:sp>
        <p:nvSpPr>
          <p:cNvPr id="19" name="Text 17"/>
          <p:cNvSpPr/>
          <p:nvPr/>
        </p:nvSpPr>
        <p:spPr>
          <a:xfrm>
            <a:off x="2743200" y="2560320"/>
            <a:ext cx="5852160" cy="502920"/>
          </a:xfrm>
          <a:prstGeom prst="rect">
            <a:avLst/>
          </a:prstGeom>
          <a:noFill/>
          <a:ln/>
        </p:spPr>
        <p:txBody>
          <a:bodyPr wrap="square" lIns="0" tIns="0" rIns="0" bIns="0" rtlCol="0" anchor="ctr"/>
          <a:lstStyle/>
          <a:p>
            <a:pPr marL="0" indent="0">
              <a:buNone/>
            </a:pPr>
            <a:r>
              <a:rPr lang="en-US" sz="1100" dirty="0">
                <a:solidFill>
                  <a:srgbClr val="64748B"/>
                </a:solidFill>
              </a:rPr>
              <a:t>Literally the user's own data - maximum personal connection.</a:t>
            </a:r>
            <a:endParaRPr lang="en-US" sz="1100" dirty="0"/>
          </a:p>
        </p:txBody>
      </p:sp>
      <p:sp>
        <p:nvSpPr>
          <p:cNvPr id="20" name="Shape 18"/>
          <p:cNvSpPr/>
          <p:nvPr/>
        </p:nvSpPr>
        <p:spPr>
          <a:xfrm>
            <a:off x="457200" y="3154680"/>
            <a:ext cx="8229600" cy="502920"/>
          </a:xfrm>
          <a:prstGeom prst="rect">
            <a:avLst/>
          </a:prstGeom>
          <a:solidFill>
            <a:srgbClr val="FFFFFF"/>
          </a:solidFill>
          <a:ln w="9525">
            <a:solidFill>
              <a:srgbClr val="CFD6DD"/>
            </a:solidFill>
            <a:prstDash val="solid"/>
          </a:ln>
        </p:spPr>
        <p:txBody>
          <a:bodyPr/>
          <a:lstStyle/>
          <a:p>
            <a:endParaRPr lang="en-US"/>
          </a:p>
        </p:txBody>
      </p:sp>
      <p:sp>
        <p:nvSpPr>
          <p:cNvPr id="21" name="Text 19"/>
          <p:cNvSpPr/>
          <p:nvPr/>
        </p:nvSpPr>
        <p:spPr>
          <a:xfrm>
            <a:off x="640080" y="3154680"/>
            <a:ext cx="1645920" cy="502920"/>
          </a:xfrm>
          <a:prstGeom prst="rect">
            <a:avLst/>
          </a:prstGeom>
          <a:noFill/>
          <a:ln/>
        </p:spPr>
        <p:txBody>
          <a:bodyPr wrap="square" lIns="0" tIns="0" rIns="0" bIns="0" rtlCol="0" anchor="ctr"/>
          <a:lstStyle/>
          <a:p>
            <a:pPr marL="0" indent="0">
              <a:buNone/>
            </a:pPr>
            <a:r>
              <a:rPr lang="en-US" sz="1300" b="1" dirty="0">
                <a:solidFill>
                  <a:srgbClr val="1F2937"/>
                </a:solidFill>
              </a:rPr>
              <a:t>Sufficiency</a:t>
            </a:r>
            <a:endParaRPr lang="en-US" sz="1300" dirty="0"/>
          </a:p>
        </p:txBody>
      </p:sp>
      <p:sp>
        <p:nvSpPr>
          <p:cNvPr id="22" name="Shape 20"/>
          <p:cNvSpPr/>
          <p:nvPr/>
        </p:nvSpPr>
        <p:spPr>
          <a:xfrm>
            <a:off x="2286000" y="3273552"/>
            <a:ext cx="274320" cy="274320"/>
          </a:xfrm>
          <a:prstGeom prst="ellipse">
            <a:avLst/>
          </a:prstGeom>
          <a:solidFill>
            <a:srgbClr val="F59E0B"/>
          </a:solidFill>
          <a:ln/>
        </p:spPr>
        <p:txBody>
          <a:bodyPr/>
          <a:lstStyle/>
          <a:p>
            <a:endParaRPr lang="en-US"/>
          </a:p>
        </p:txBody>
      </p:sp>
      <p:sp>
        <p:nvSpPr>
          <p:cNvPr id="23" name="Text 21"/>
          <p:cNvSpPr/>
          <p:nvPr/>
        </p:nvSpPr>
        <p:spPr>
          <a:xfrm>
            <a:off x="2286000" y="327355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rPr>
              <a:t>2/3</a:t>
            </a:r>
            <a:endParaRPr lang="en-US" sz="900" dirty="0"/>
          </a:p>
        </p:txBody>
      </p:sp>
      <p:sp>
        <p:nvSpPr>
          <p:cNvPr id="24" name="Text 22"/>
          <p:cNvSpPr/>
          <p:nvPr/>
        </p:nvSpPr>
        <p:spPr>
          <a:xfrm>
            <a:off x="2743200" y="3154680"/>
            <a:ext cx="5852160" cy="502920"/>
          </a:xfrm>
          <a:prstGeom prst="rect">
            <a:avLst/>
          </a:prstGeom>
          <a:noFill/>
          <a:ln/>
        </p:spPr>
        <p:txBody>
          <a:bodyPr wrap="square" lIns="0" tIns="0" rIns="0" bIns="0" rtlCol="0" anchor="ctr"/>
          <a:lstStyle/>
          <a:p>
            <a:pPr marL="0" indent="0">
              <a:buNone/>
            </a:pPr>
            <a:r>
              <a:rPr lang="en-US" sz="1100" dirty="0">
                <a:solidFill>
                  <a:srgbClr val="64748B"/>
                </a:solidFill>
              </a:rPr>
              <a:t>Deliberate trade-off: enough to inform, not so much it overwhelms.</a:t>
            </a:r>
            <a:endParaRPr lang="en-US" sz="1100" dirty="0"/>
          </a:p>
        </p:txBody>
      </p:sp>
      <p:sp>
        <p:nvSpPr>
          <p:cNvPr id="25" name="Shape 23"/>
          <p:cNvSpPr/>
          <p:nvPr/>
        </p:nvSpPr>
        <p:spPr>
          <a:xfrm>
            <a:off x="457200" y="4023360"/>
            <a:ext cx="8229600" cy="548640"/>
          </a:xfrm>
          <a:prstGeom prst="rect">
            <a:avLst/>
          </a:prstGeom>
          <a:solidFill>
            <a:srgbClr val="0EA5E9"/>
          </a:solidFill>
          <a:ln/>
        </p:spPr>
        <p:txBody>
          <a:bodyPr/>
          <a:lstStyle/>
          <a:p>
            <a:endParaRPr lang="en-US"/>
          </a:p>
        </p:txBody>
      </p:sp>
      <p:sp>
        <p:nvSpPr>
          <p:cNvPr id="26" name="Text 24"/>
          <p:cNvSpPr/>
          <p:nvPr/>
        </p:nvSpPr>
        <p:spPr>
          <a:xfrm>
            <a:off x="457200" y="4023360"/>
            <a:ext cx="8229600" cy="548640"/>
          </a:xfrm>
          <a:prstGeom prst="rect">
            <a:avLst/>
          </a:prstGeom>
          <a:noFill/>
          <a:ln/>
        </p:spPr>
        <p:txBody>
          <a:bodyPr wrap="square" lIns="0" tIns="0" rIns="0" bIns="0" rtlCol="0" anchor="ctr"/>
          <a:lstStyle/>
          <a:p>
            <a:pPr marL="0" indent="0" algn="ctr">
              <a:buNone/>
            </a:pPr>
            <a:r>
              <a:rPr lang="en-US" sz="1800" b="1" i="1" dirty="0">
                <a:solidFill>
                  <a:srgbClr val="FFFFFF"/>
                </a:solidFill>
              </a:rPr>
              <a:t>“You don't have to feel your game - you can see it.”</a:t>
            </a:r>
            <a:endParaRPr lang="en-US" sz="1800" dirty="0"/>
          </a:p>
        </p:txBody>
      </p:sp>
      <p:sp>
        <p:nvSpPr>
          <p:cNvPr id="27" name="Text 25"/>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8" name="Text 26"/>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828800"/>
            <a:ext cx="548640" cy="54864"/>
          </a:xfrm>
          <a:prstGeom prst="rect">
            <a:avLst/>
          </a:prstGeom>
          <a:solidFill>
            <a:srgbClr val="0EA5E9"/>
          </a:solidFill>
          <a:ln/>
        </p:spPr>
        <p:txBody>
          <a:bodyPr/>
          <a:lstStyle/>
          <a:p>
            <a:endParaRPr lang="en-US"/>
          </a:p>
        </p:txBody>
      </p:sp>
      <p:sp>
        <p:nvSpPr>
          <p:cNvPr id="3" name="Text 1"/>
          <p:cNvSpPr/>
          <p:nvPr/>
        </p:nvSpPr>
        <p:spPr>
          <a:xfrm>
            <a:off x="457200" y="1965960"/>
            <a:ext cx="7315200" cy="365760"/>
          </a:xfrm>
          <a:prstGeom prst="rect">
            <a:avLst/>
          </a:prstGeom>
          <a:noFill/>
          <a:ln/>
        </p:spPr>
        <p:txBody>
          <a:bodyPr wrap="square" lIns="0" tIns="0" rIns="0" bIns="0" rtlCol="0" anchor="ctr"/>
          <a:lstStyle/>
          <a:p>
            <a:pPr marL="0" indent="0">
              <a:buNone/>
            </a:pPr>
            <a:r>
              <a:rPr lang="en-US" sz="1200" b="1" kern="0" spc="600" dirty="0">
                <a:solidFill>
                  <a:srgbClr val="0EA5E9"/>
                </a:solidFill>
                <a:latin typeface="Calibri" pitchFamily="34" charset="0"/>
                <a:ea typeface="Calibri" pitchFamily="34" charset="-122"/>
                <a:cs typeface="Calibri" pitchFamily="34" charset="-120"/>
              </a:rPr>
              <a:t>PART 2</a:t>
            </a:r>
            <a:endParaRPr lang="en-US" sz="1200" dirty="0"/>
          </a:p>
        </p:txBody>
      </p:sp>
      <p:sp>
        <p:nvSpPr>
          <p:cNvPr id="4" name="Text 2"/>
          <p:cNvSpPr/>
          <p:nvPr/>
        </p:nvSpPr>
        <p:spPr>
          <a:xfrm>
            <a:off x="457200" y="2331720"/>
            <a:ext cx="822960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Working with Data</a:t>
            </a:r>
            <a:endParaRPr lang="en-US" sz="4400" dirty="0"/>
          </a:p>
        </p:txBody>
      </p:sp>
      <p:sp>
        <p:nvSpPr>
          <p:cNvPr id="5" name="Text 3"/>
          <p:cNvSpPr/>
          <p:nvPr/>
        </p:nvSpPr>
        <p:spPr>
          <a:xfrm>
            <a:off x="457200" y="3154680"/>
            <a:ext cx="822960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Acquisition · Transformation · Exploration</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2.0 PRO DATA SOURCE</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Premier Padel: the elite circuit behind our data</a:t>
            </a:r>
            <a:endParaRPr lang="en-US" sz="2600" dirty="0"/>
          </a:p>
        </p:txBody>
      </p:sp>
      <p:sp>
        <p:nvSpPr>
          <p:cNvPr id="5" name="Text 3"/>
          <p:cNvSpPr/>
          <p:nvPr/>
        </p:nvSpPr>
        <p:spPr>
          <a:xfrm>
            <a:off x="512064" y="1152144"/>
            <a:ext cx="8229600" cy="50292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The official global professional padel tour (launched 2022, run by the FIP and Qatar Sports Investments). Data comes from padelapi.org, a real REST API called with my own API key, covering the full 2026 season: 776 completed matches and 2,165 ranked players.</a:t>
            </a:r>
            <a:endParaRPr lang="en-US" sz="1150" dirty="0"/>
          </a:p>
        </p:txBody>
      </p:sp>
      <p:pic>
        <p:nvPicPr>
          <p:cNvPr id="6" name="Image 0" descr="/sessions/jolly-nifty-archimedes/mnt/Padel-Project/06_Presentation/assets/premier_padel_court.png"/>
          <p:cNvPicPr>
            <a:picLocks noChangeAspect="1"/>
          </p:cNvPicPr>
          <p:nvPr/>
        </p:nvPicPr>
        <p:blipFill>
          <a:blip r:embed="rId3"/>
          <a:stretch>
            <a:fillRect/>
          </a:stretch>
        </p:blipFill>
        <p:spPr>
          <a:xfrm>
            <a:off x="457200" y="1783080"/>
            <a:ext cx="2743200" cy="2743200"/>
          </a:xfrm>
          <a:prstGeom prst="rect">
            <a:avLst/>
          </a:prstGeom>
        </p:spPr>
      </p:pic>
      <p:sp>
        <p:nvSpPr>
          <p:cNvPr id="7" name="Text 4"/>
          <p:cNvSpPr/>
          <p:nvPr/>
        </p:nvSpPr>
        <p:spPr>
          <a:xfrm>
            <a:off x="457200" y="4553712"/>
            <a:ext cx="2743200" cy="274320"/>
          </a:xfrm>
          <a:prstGeom prst="rect">
            <a:avLst/>
          </a:prstGeom>
          <a:noFill/>
          <a:ln/>
        </p:spPr>
        <p:txBody>
          <a:bodyPr wrap="square" lIns="0" tIns="0" rIns="0" bIns="0" rtlCol="0" anchor="ctr"/>
          <a:lstStyle/>
          <a:p>
            <a:pPr marL="0" indent="0">
              <a:buNone/>
            </a:pPr>
            <a:r>
              <a:rPr lang="en-US" sz="1000" i="1" dirty="0">
                <a:solidFill>
                  <a:srgbClr val="9AA3AD"/>
                </a:solidFill>
                <a:latin typeface="Calibri" pitchFamily="34" charset="0"/>
                <a:ea typeface="Calibri" pitchFamily="34" charset="-122"/>
                <a:cs typeface="Calibri" pitchFamily="34" charset="-120"/>
              </a:rPr>
              <a:t>Premier Padel court (top-down). Swap in an official photo if you have rights.</a:t>
            </a:r>
            <a:endParaRPr lang="en-US" sz="1000" dirty="0"/>
          </a:p>
        </p:txBody>
      </p:sp>
      <p:sp>
        <p:nvSpPr>
          <p:cNvPr id="8" name="Shape 5"/>
          <p:cNvSpPr/>
          <p:nvPr/>
        </p:nvSpPr>
        <p:spPr>
          <a:xfrm>
            <a:off x="3520440" y="1783080"/>
            <a:ext cx="5257800" cy="658368"/>
          </a:xfrm>
          <a:prstGeom prst="roundRect">
            <a:avLst>
              <a:gd name="adj" fmla="val 8333"/>
            </a:avLst>
          </a:prstGeom>
          <a:solidFill>
            <a:srgbClr val="EAF6FD"/>
          </a:solidFill>
          <a:ln w="9525">
            <a:solidFill>
              <a:srgbClr val="0EA5E9"/>
            </a:solidFill>
            <a:prstDash val="solid"/>
          </a:ln>
        </p:spPr>
        <p:txBody>
          <a:bodyPr/>
          <a:lstStyle/>
          <a:p>
            <a:endParaRPr lang="en-US"/>
          </a:p>
        </p:txBody>
      </p:sp>
      <p:sp>
        <p:nvSpPr>
          <p:cNvPr id="9" name="Text 6"/>
          <p:cNvSpPr/>
          <p:nvPr/>
        </p:nvSpPr>
        <p:spPr>
          <a:xfrm>
            <a:off x="3703320" y="1783080"/>
            <a:ext cx="4937760" cy="658368"/>
          </a:xfrm>
          <a:prstGeom prst="rect">
            <a:avLst/>
          </a:prstGeom>
          <a:noFill/>
          <a:ln/>
        </p:spPr>
        <p:txBody>
          <a:bodyPr wrap="square" lIns="0" tIns="0" rIns="0" bIns="0" rtlCol="0" anchor="ctr"/>
          <a:lstStyle/>
          <a:p>
            <a:pPr marL="0" indent="0">
              <a:buNone/>
            </a:pPr>
            <a:r>
              <a:rPr lang="en-US" sz="2600" b="1" dirty="0">
                <a:solidFill>
                  <a:srgbClr val="0369A1"/>
                </a:solidFill>
                <a:latin typeface="Calibri" pitchFamily="34" charset="0"/>
                <a:ea typeface="Calibri" pitchFamily="34" charset="-122"/>
                <a:cs typeface="Calibri" pitchFamily="34" charset="-120"/>
              </a:rPr>
              <a:t>~26  </a:t>
            </a:r>
            <a:r>
              <a:rPr lang="en-US" sz="1200" dirty="0">
                <a:solidFill>
                  <a:srgbClr val="1F2937"/>
                </a:solidFill>
                <a:latin typeface="Calibri" pitchFamily="34" charset="0"/>
                <a:ea typeface="Calibri" pitchFamily="34" charset="-122"/>
                <a:cs typeface="Calibri" pitchFamily="34" charset="-120"/>
              </a:rPr>
              <a:t>tournaments per season, on 5 continents (Majors + P1 + P2 + Finals)</a:t>
            </a:r>
            <a:endParaRPr lang="en-US" sz="2600" dirty="0"/>
          </a:p>
        </p:txBody>
      </p:sp>
      <p:sp>
        <p:nvSpPr>
          <p:cNvPr id="10" name="Text 7"/>
          <p:cNvSpPr/>
          <p:nvPr/>
        </p:nvSpPr>
        <p:spPr>
          <a:xfrm>
            <a:off x="3566160" y="2606040"/>
            <a:ext cx="1051560" cy="384048"/>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Majors</a:t>
            </a:r>
            <a:endParaRPr lang="en-US" sz="1400" dirty="0"/>
          </a:p>
        </p:txBody>
      </p:sp>
      <p:sp>
        <p:nvSpPr>
          <p:cNvPr id="11" name="Text 8"/>
          <p:cNvSpPr/>
          <p:nvPr/>
        </p:nvSpPr>
        <p:spPr>
          <a:xfrm>
            <a:off x="4617720" y="2642616"/>
            <a:ext cx="960120"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2,000 pts</a:t>
            </a:r>
            <a:endParaRPr lang="en-US" sz="1100" dirty="0"/>
          </a:p>
        </p:txBody>
      </p:sp>
      <p:sp>
        <p:nvSpPr>
          <p:cNvPr id="12" name="Text 9"/>
          <p:cNvSpPr/>
          <p:nvPr/>
        </p:nvSpPr>
        <p:spPr>
          <a:xfrm>
            <a:off x="5715000" y="2606040"/>
            <a:ext cx="3063240" cy="38404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Top tier - 4 a year (Qatar, Italy, France, Mexico)</a:t>
            </a:r>
            <a:endParaRPr lang="en-US" sz="1100" dirty="0"/>
          </a:p>
        </p:txBody>
      </p:sp>
      <p:sp>
        <p:nvSpPr>
          <p:cNvPr id="13" name="Text 10"/>
          <p:cNvSpPr/>
          <p:nvPr/>
        </p:nvSpPr>
        <p:spPr>
          <a:xfrm>
            <a:off x="3566160" y="3063240"/>
            <a:ext cx="1051560" cy="384048"/>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P1</a:t>
            </a:r>
            <a:endParaRPr lang="en-US" sz="1400" dirty="0"/>
          </a:p>
        </p:txBody>
      </p:sp>
      <p:sp>
        <p:nvSpPr>
          <p:cNvPr id="14" name="Text 11"/>
          <p:cNvSpPr/>
          <p:nvPr/>
        </p:nvSpPr>
        <p:spPr>
          <a:xfrm>
            <a:off x="4617720" y="3099816"/>
            <a:ext cx="960120"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1,000 pts</a:t>
            </a:r>
            <a:endParaRPr lang="en-US" sz="1100" dirty="0"/>
          </a:p>
        </p:txBody>
      </p:sp>
      <p:sp>
        <p:nvSpPr>
          <p:cNvPr id="15" name="Text 12"/>
          <p:cNvSpPr/>
          <p:nvPr/>
        </p:nvSpPr>
        <p:spPr>
          <a:xfrm>
            <a:off x="5715000" y="3063240"/>
            <a:ext cx="3063240" cy="38404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Second tier - e.g. Madrid, Milano, Dubai, London</a:t>
            </a:r>
            <a:endParaRPr lang="en-US" sz="1100" dirty="0"/>
          </a:p>
        </p:txBody>
      </p:sp>
      <p:sp>
        <p:nvSpPr>
          <p:cNvPr id="16" name="Text 13"/>
          <p:cNvSpPr/>
          <p:nvPr/>
        </p:nvSpPr>
        <p:spPr>
          <a:xfrm>
            <a:off x="3566160" y="3520440"/>
            <a:ext cx="1051560" cy="384048"/>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P2</a:t>
            </a:r>
            <a:endParaRPr lang="en-US" sz="1400" dirty="0"/>
          </a:p>
        </p:txBody>
      </p:sp>
      <p:sp>
        <p:nvSpPr>
          <p:cNvPr id="17" name="Text 14"/>
          <p:cNvSpPr/>
          <p:nvPr/>
        </p:nvSpPr>
        <p:spPr>
          <a:xfrm>
            <a:off x="4617720" y="3557016"/>
            <a:ext cx="960120" cy="310896"/>
          </a:xfrm>
          <a:prstGeom prst="roundRect">
            <a:avLst>
              <a:gd name="adj" fmla="val 14706"/>
            </a:avLst>
          </a:prstGeom>
          <a:solidFill>
            <a:srgbClr val="64748B"/>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~500 pts</a:t>
            </a:r>
            <a:endParaRPr lang="en-US" sz="1100" dirty="0"/>
          </a:p>
        </p:txBody>
      </p:sp>
      <p:sp>
        <p:nvSpPr>
          <p:cNvPr id="18" name="Text 15"/>
          <p:cNvSpPr/>
          <p:nvPr/>
        </p:nvSpPr>
        <p:spPr>
          <a:xfrm>
            <a:off x="5715000" y="3520440"/>
            <a:ext cx="3063240" cy="38404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Entry tier - e.g. Brussels, Rotterdam, Germany</a:t>
            </a:r>
            <a:endParaRPr lang="en-US" sz="1100" dirty="0"/>
          </a:p>
        </p:txBody>
      </p:sp>
      <p:sp>
        <p:nvSpPr>
          <p:cNvPr id="19" name="Text 16"/>
          <p:cNvSpPr/>
          <p:nvPr/>
        </p:nvSpPr>
        <p:spPr>
          <a:xfrm>
            <a:off x="3566160" y="3977640"/>
            <a:ext cx="1051560" cy="384048"/>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Finals</a:t>
            </a:r>
            <a:endParaRPr lang="en-US" sz="1400" dirty="0"/>
          </a:p>
        </p:txBody>
      </p:sp>
      <p:sp>
        <p:nvSpPr>
          <p:cNvPr id="20" name="Text 17"/>
          <p:cNvSpPr/>
          <p:nvPr/>
        </p:nvSpPr>
        <p:spPr>
          <a:xfrm>
            <a:off x="4617720" y="4014216"/>
            <a:ext cx="960120" cy="310896"/>
          </a:xfrm>
          <a:prstGeom prst="roundRect">
            <a:avLst>
              <a:gd name="adj" fmla="val 14706"/>
            </a:avLst>
          </a:prstGeom>
          <a:solidFill>
            <a:srgbClr val="0369A1"/>
          </a:solid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1,500 pts</a:t>
            </a:r>
            <a:endParaRPr lang="en-US" sz="1100" dirty="0"/>
          </a:p>
        </p:txBody>
      </p:sp>
      <p:sp>
        <p:nvSpPr>
          <p:cNvPr id="21" name="Text 18"/>
          <p:cNvSpPr/>
          <p:nvPr/>
        </p:nvSpPr>
        <p:spPr>
          <a:xfrm>
            <a:off x="5715000" y="3977640"/>
            <a:ext cx="3063240" cy="384048"/>
          </a:xfrm>
          <a:prstGeom prst="rect">
            <a:avLst/>
          </a:prstGeom>
          <a:noFill/>
          <a:ln/>
        </p:spPr>
        <p:txBody>
          <a:bodyPr wrap="square" lIns="0" tIns="0" rIns="0" bIns="0" rtlCol="0" anchor="ctr"/>
          <a:lstStyle/>
          <a:p>
            <a:pPr marL="0" indent="0">
              <a:buNone/>
            </a:pPr>
            <a:r>
              <a:rPr lang="en-US" sz="1100" dirty="0">
                <a:solidFill>
                  <a:srgbClr val="64748B"/>
                </a:solidFill>
                <a:latin typeface="Calibri" pitchFamily="34" charset="0"/>
                <a:ea typeface="Calibri" pitchFamily="34" charset="-122"/>
                <a:cs typeface="Calibri" pitchFamily="34" charset="-120"/>
              </a:rPr>
              <a:t>Season finale - top 16 pairs, Barcelona</a:t>
            </a:r>
            <a:endParaRPr lang="en-US" sz="1100" dirty="0"/>
          </a:p>
        </p:txBody>
      </p:sp>
      <p:sp>
        <p:nvSpPr>
          <p:cNvPr id="22" name="Text 19"/>
          <p:cNvSpPr/>
          <p:nvPr/>
        </p:nvSpPr>
        <p:spPr>
          <a:xfrm>
            <a:off x="3566160" y="4526280"/>
            <a:ext cx="5212080" cy="457200"/>
          </a:xfrm>
          <a:prstGeom prst="rect">
            <a:avLst/>
          </a:prstGeom>
          <a:noFill/>
          <a:ln/>
        </p:spPr>
        <p:txBody>
          <a:bodyPr wrap="square" lIns="0" tIns="0" rIns="0" bIns="0" rtlCol="0" anchor="ctr"/>
          <a:lstStyle/>
          <a:p>
            <a:pPr marL="0" indent="0">
              <a:buNone/>
            </a:pPr>
            <a:r>
              <a:rPr lang="en-US" sz="1050" b="1" dirty="0">
                <a:solidFill>
                  <a:srgbClr val="1F2937"/>
                </a:solidFill>
                <a:latin typeface="Calibri" pitchFamily="34" charset="0"/>
                <a:ea typeface="Calibri" pitchFamily="34" charset="-122"/>
                <a:cs typeface="Calibri" pitchFamily="34" charset="-120"/>
              </a:rPr>
              <a:t>2026 season, real data: </a:t>
            </a:r>
            <a:r>
              <a:rPr lang="en-US" sz="1050" dirty="0">
                <a:solidFill>
                  <a:srgbClr val="64748B"/>
                </a:solidFill>
                <a:latin typeface="Calibri" pitchFamily="34" charset="0"/>
                <a:ea typeface="Calibri" pitchFamily="34" charset="-122"/>
                <a:cs typeface="Calibri" pitchFamily="34" charset="-120"/>
              </a:rPr>
              <a:t>776 completed matches, 26 tournaments, full draws Round-of-64 to Final, men's and women's competitions, 2,165 ranked players.</a:t>
            </a:r>
            <a:endParaRPr lang="en-US" sz="1050" dirty="0"/>
          </a:p>
        </p:txBody>
      </p:sp>
      <p:sp>
        <p:nvSpPr>
          <p:cNvPr id="23" name="Text 20"/>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1"/>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2.1 ACQUISITION</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Two layers, two sources</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73152" cy="3200400"/>
          </a:xfrm>
          <a:prstGeom prst="rect">
            <a:avLst/>
          </a:prstGeom>
          <a:solidFill>
            <a:srgbClr val="0EA5E9"/>
          </a:solidFill>
          <a:ln/>
        </p:spPr>
        <p:txBody>
          <a:bodyPr/>
          <a:lstStyle/>
          <a:p>
            <a:endParaRPr lang="en-US"/>
          </a:p>
        </p:txBody>
      </p:sp>
      <p:sp>
        <p:nvSpPr>
          <p:cNvPr id="7" name="Text 5"/>
          <p:cNvSpPr/>
          <p:nvPr/>
        </p:nvSpPr>
        <p:spPr>
          <a:xfrm>
            <a:off x="685800" y="1508760"/>
            <a:ext cx="3657600" cy="274320"/>
          </a:xfrm>
          <a:prstGeom prst="rect">
            <a:avLst/>
          </a:prstGeom>
          <a:noFill/>
          <a:ln/>
        </p:spPr>
        <p:txBody>
          <a:bodyPr wrap="square" lIns="0" tIns="0" rIns="0" bIns="0" rtlCol="0" anchor="ctr"/>
          <a:lstStyle/>
          <a:p>
            <a:pPr marL="0" indent="0">
              <a:buNone/>
            </a:pPr>
            <a:r>
              <a:rPr lang="en-US" sz="1000" b="1" kern="0" spc="300" dirty="0">
                <a:solidFill>
                  <a:srgbClr val="0EA5E9"/>
                </a:solidFill>
              </a:rPr>
              <a:t>LAYER A · PRO TOUR (REAL)</a:t>
            </a:r>
            <a:endParaRPr lang="en-US" sz="1000" dirty="0"/>
          </a:p>
        </p:txBody>
      </p:sp>
      <p:sp>
        <p:nvSpPr>
          <p:cNvPr id="8" name="Text 6"/>
          <p:cNvSpPr/>
          <p:nvPr/>
        </p:nvSpPr>
        <p:spPr>
          <a:xfrm>
            <a:off x="685800" y="1783080"/>
            <a:ext cx="3657600" cy="365760"/>
          </a:xfrm>
          <a:prstGeom prst="rect">
            <a:avLst/>
          </a:prstGeom>
          <a:noFill/>
          <a:ln/>
        </p:spPr>
        <p:txBody>
          <a:bodyPr wrap="square" lIns="0" tIns="0" rIns="0" bIns="0" rtlCol="0" anchor="ctr"/>
          <a:lstStyle/>
          <a:p>
            <a:pPr marL="0" indent="0">
              <a:buNone/>
            </a:pPr>
            <a:r>
              <a:rPr lang="en-US" sz="1500" b="1" dirty="0">
                <a:solidFill>
                  <a:srgbClr val="1F2937"/>
                </a:solidFill>
              </a:rPr>
              <a:t>Padel API · padelapi.org</a:t>
            </a:r>
            <a:endParaRPr lang="en-US" sz="1500" dirty="0"/>
          </a:p>
        </p:txBody>
      </p:sp>
      <p:sp>
        <p:nvSpPr>
          <p:cNvPr id="9" name="Text 7"/>
          <p:cNvSpPr/>
          <p:nvPr/>
        </p:nvSpPr>
        <p:spPr>
          <a:xfrm>
            <a:off x="685800" y="2148840"/>
            <a:ext cx="3657600" cy="914400"/>
          </a:xfrm>
          <a:prstGeom prst="rect">
            <a:avLst/>
          </a:prstGeom>
          <a:noFill/>
          <a:ln/>
        </p:spPr>
        <p:txBody>
          <a:bodyPr wrap="square" lIns="0" tIns="0" rIns="0" bIns="0" rtlCol="0" anchor="ctr"/>
          <a:lstStyle/>
          <a:p>
            <a:pPr marL="342900" indent="-342900">
              <a:spcAft>
                <a:spcPts val="300"/>
              </a:spcAft>
              <a:buSzPct val="100000"/>
              <a:buChar char="●"/>
            </a:pPr>
            <a:r>
              <a:rPr lang="en-US" sz="1150" dirty="0">
                <a:solidFill>
                  <a:srgbClr val="64748B"/>
                </a:solidFill>
              </a:rPr>
              <a:t>Rankings + real 2026-season match results</a:t>
            </a:r>
            <a:endParaRPr lang="en-US" sz="1150" dirty="0"/>
          </a:p>
          <a:p>
            <a:pPr marL="342900" indent="-342900">
              <a:spcAft>
                <a:spcPts val="300"/>
              </a:spcAft>
              <a:buSzPct val="100000"/>
              <a:buChar char="●"/>
            </a:pPr>
            <a:r>
              <a:rPr lang="en-US" sz="1150" dirty="0">
                <a:solidFill>
                  <a:srgbClr val="64748B"/>
                </a:solidFill>
              </a:rPr>
              <a:t>10 req/min throttle, under the free-tier cap</a:t>
            </a:r>
            <a:endParaRPr lang="en-US" sz="1150" dirty="0"/>
          </a:p>
          <a:p>
            <a:pPr marL="342900" indent="-342900">
              <a:spcAft>
                <a:spcPts val="300"/>
              </a:spcAft>
              <a:buSzPct val="100000"/>
              <a:buChar char="●"/>
            </a:pPr>
            <a:r>
              <a:rPr lang="en-US" sz="1150" dirty="0">
                <a:solidFill>
                  <a:srgbClr val="64748B"/>
                </a:solidFill>
              </a:rPr>
              <a:t>Restartable: one file per tournament</a:t>
            </a:r>
            <a:endParaRPr lang="en-US" sz="1150" dirty="0"/>
          </a:p>
          <a:p>
            <a:pPr marL="342900" indent="-342900">
              <a:spcAft>
                <a:spcPts val="300"/>
              </a:spcAft>
              <a:buSzPct val="100000"/>
              <a:buChar char="○"/>
            </a:pPr>
            <a:r>
              <a:rPr lang="en-US" sz="1150" i="1" dirty="0">
                <a:solidFill>
                  <a:srgbClr val="1F2937"/>
                </a:solidFill>
              </a:rPr>
              <a:t>Archives every raw response first</a:t>
            </a:r>
            <a:endParaRPr lang="en-US" sz="1150" dirty="0"/>
          </a:p>
        </p:txBody>
      </p:sp>
      <p:sp>
        <p:nvSpPr>
          <p:cNvPr id="10" name="Text 8"/>
          <p:cNvSpPr/>
          <p:nvPr/>
        </p:nvSpPr>
        <p:spPr>
          <a:xfrm>
            <a:off x="685800" y="3200400"/>
            <a:ext cx="3657600" cy="274320"/>
          </a:xfrm>
          <a:prstGeom prst="rect">
            <a:avLst/>
          </a:prstGeom>
          <a:noFill/>
          <a:ln/>
        </p:spPr>
        <p:txBody>
          <a:bodyPr wrap="square" lIns="0" tIns="0" rIns="0" bIns="0" rtlCol="0" anchor="ctr"/>
          <a:lstStyle/>
          <a:p>
            <a:pPr marL="0" indent="0">
              <a:buNone/>
            </a:pPr>
            <a:r>
              <a:rPr lang="en-US" sz="900" b="1" kern="0" spc="300" dirty="0">
                <a:solidFill>
                  <a:srgbClr val="64748B"/>
                </a:solidFill>
              </a:rPr>
              <a:t>SAFEGUARDS</a:t>
            </a:r>
            <a:endParaRPr lang="en-US" sz="900" dirty="0"/>
          </a:p>
        </p:txBody>
      </p:sp>
      <p:sp>
        <p:nvSpPr>
          <p:cNvPr id="11" name="Text 9"/>
          <p:cNvSpPr/>
          <p:nvPr/>
        </p:nvSpPr>
        <p:spPr>
          <a:xfrm>
            <a:off x="685800" y="3474720"/>
            <a:ext cx="3657600" cy="100584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64748B"/>
                </a:solidFill>
              </a:rPr>
              <a:t>429 backoff, up to 4 retries</a:t>
            </a:r>
            <a:endParaRPr lang="en-US" sz="1100" dirty="0"/>
          </a:p>
          <a:p>
            <a:pPr marL="342900" indent="-342900">
              <a:spcAft>
                <a:spcPts val="200"/>
              </a:spcAft>
              <a:buSzPct val="100000"/>
              <a:buChar char="●"/>
            </a:pPr>
            <a:r>
              <a:rPr lang="en-US" sz="1100" dirty="0">
                <a:solidFill>
                  <a:srgbClr val="64748B"/>
                </a:solidFill>
              </a:rPr>
              <a:t>hidden_free_plan values are skipped</a:t>
            </a:r>
            <a:endParaRPr lang="en-US" sz="1100" dirty="0"/>
          </a:p>
        </p:txBody>
      </p:sp>
      <p:sp>
        <p:nvSpPr>
          <p:cNvPr id="12" name="Shape 10"/>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13" name="Shape 11"/>
          <p:cNvSpPr/>
          <p:nvPr/>
        </p:nvSpPr>
        <p:spPr>
          <a:xfrm>
            <a:off x="4663440" y="1371600"/>
            <a:ext cx="73152" cy="3200400"/>
          </a:xfrm>
          <a:prstGeom prst="rect">
            <a:avLst/>
          </a:prstGeom>
          <a:solidFill>
            <a:srgbClr val="F59E0B"/>
          </a:solidFill>
          <a:ln/>
        </p:spPr>
        <p:txBody>
          <a:bodyPr/>
          <a:lstStyle/>
          <a:p>
            <a:endParaRPr lang="en-US"/>
          </a:p>
        </p:txBody>
      </p:sp>
      <p:sp>
        <p:nvSpPr>
          <p:cNvPr id="14" name="Text 12"/>
          <p:cNvSpPr/>
          <p:nvPr/>
        </p:nvSpPr>
        <p:spPr>
          <a:xfrm>
            <a:off x="4892040" y="1508760"/>
            <a:ext cx="3657600" cy="274320"/>
          </a:xfrm>
          <a:prstGeom prst="rect">
            <a:avLst/>
          </a:prstGeom>
          <a:noFill/>
          <a:ln/>
        </p:spPr>
        <p:txBody>
          <a:bodyPr wrap="square" lIns="0" tIns="0" rIns="0" bIns="0" rtlCol="0" anchor="ctr"/>
          <a:lstStyle/>
          <a:p>
            <a:pPr marL="0" indent="0">
              <a:buNone/>
            </a:pPr>
            <a:r>
              <a:rPr lang="en-US" sz="1000" b="1" kern="0" spc="300" dirty="0">
                <a:solidFill>
                  <a:srgbClr val="F59E0B"/>
                </a:solidFill>
              </a:rPr>
              <a:t>LAYER B · PERSONAL LOG</a:t>
            </a:r>
            <a:endParaRPr lang="en-US" sz="1000" dirty="0"/>
          </a:p>
        </p:txBody>
      </p:sp>
      <p:sp>
        <p:nvSpPr>
          <p:cNvPr id="15" name="Text 13"/>
          <p:cNvSpPr/>
          <p:nvPr/>
        </p:nvSpPr>
        <p:spPr>
          <a:xfrm>
            <a:off x="4892040" y="1783080"/>
            <a:ext cx="3657600" cy="365760"/>
          </a:xfrm>
          <a:prstGeom prst="rect">
            <a:avLst/>
          </a:prstGeom>
          <a:noFill/>
          <a:ln/>
        </p:spPr>
        <p:txBody>
          <a:bodyPr wrap="square" lIns="0" tIns="0" rIns="0" bIns="0" rtlCol="0" anchor="ctr"/>
          <a:lstStyle/>
          <a:p>
            <a:pPr marL="0" indent="0">
              <a:buNone/>
            </a:pPr>
            <a:r>
              <a:rPr lang="en-US" sz="1500" b="1" dirty="0">
                <a:solidFill>
                  <a:srgbClr val="1F2937"/>
                </a:solidFill>
              </a:rPr>
              <a:t>Seed data + user-generated</a:t>
            </a:r>
            <a:endParaRPr lang="en-US" sz="1500" dirty="0"/>
          </a:p>
        </p:txBody>
      </p:sp>
      <p:sp>
        <p:nvSpPr>
          <p:cNvPr id="16" name="Text 14"/>
          <p:cNvSpPr/>
          <p:nvPr/>
        </p:nvSpPr>
        <p:spPr>
          <a:xfrm>
            <a:off x="4892040" y="2148840"/>
            <a:ext cx="3657600" cy="685800"/>
          </a:xfrm>
          <a:prstGeom prst="rect">
            <a:avLst/>
          </a:prstGeom>
          <a:noFill/>
          <a:ln/>
        </p:spPr>
        <p:txBody>
          <a:bodyPr wrap="square" lIns="0" tIns="0" rIns="0" bIns="0" rtlCol="0" anchor="ctr"/>
          <a:lstStyle/>
          <a:p>
            <a:pPr marL="0" indent="0">
              <a:buNone/>
            </a:pPr>
            <a:r>
              <a:rPr lang="en-US" sz="1100" b="1" dirty="0">
                <a:solidFill>
                  <a:srgbClr val="1F2937"/>
                </a:solidFill>
              </a:rPr>
              <a:t>No public amateur padel match data exists.</a:t>
            </a:r>
            <a:endParaRPr lang="en-US" sz="1100" dirty="0"/>
          </a:p>
          <a:p>
            <a:pPr marL="0" indent="0">
              <a:buNone/>
            </a:pPr>
            <a:r>
              <a:rPr lang="en-US" sz="1100" i="1" dirty="0">
                <a:solidFill>
                  <a:srgbClr val="64748B"/>
                </a:solidFill>
              </a:rPr>
              <a:t>That absence is part of why this project exists.</a:t>
            </a:r>
            <a:endParaRPr lang="en-US" sz="1100" dirty="0"/>
          </a:p>
        </p:txBody>
      </p:sp>
      <p:sp>
        <p:nvSpPr>
          <p:cNvPr id="17" name="Text 15"/>
          <p:cNvSpPr/>
          <p:nvPr/>
        </p:nvSpPr>
        <p:spPr>
          <a:xfrm>
            <a:off x="4892040" y="2926080"/>
            <a:ext cx="3657600" cy="274320"/>
          </a:xfrm>
          <a:prstGeom prst="rect">
            <a:avLst/>
          </a:prstGeom>
          <a:noFill/>
          <a:ln/>
        </p:spPr>
        <p:txBody>
          <a:bodyPr wrap="square" lIns="0" tIns="0" rIns="0" bIns="0" rtlCol="0" anchor="ctr"/>
          <a:lstStyle/>
          <a:p>
            <a:pPr marL="0" indent="0">
              <a:buNone/>
            </a:pPr>
            <a:r>
              <a:rPr lang="en-US" sz="900" b="1" kern="0" spc="300" dirty="0">
                <a:solidFill>
                  <a:srgbClr val="64748B"/>
                </a:solidFill>
              </a:rPr>
              <a:t>APPROACH</a:t>
            </a:r>
            <a:endParaRPr lang="en-US" sz="900" dirty="0"/>
          </a:p>
        </p:txBody>
      </p:sp>
      <p:sp>
        <p:nvSpPr>
          <p:cNvPr id="18" name="Text 16"/>
          <p:cNvSpPr/>
          <p:nvPr/>
        </p:nvSpPr>
        <p:spPr>
          <a:xfrm>
            <a:off x="4892040" y="3200400"/>
            <a:ext cx="3657600" cy="1280160"/>
          </a:xfrm>
          <a:prstGeom prst="rect">
            <a:avLst/>
          </a:prstGeom>
          <a:noFill/>
          <a:ln/>
        </p:spPr>
        <p:txBody>
          <a:bodyPr wrap="square" lIns="0" tIns="0" rIns="0" bIns="0" rtlCol="0" anchor="ctr"/>
          <a:lstStyle/>
          <a:p>
            <a:pPr marL="342900" indent="-342900">
              <a:spcAft>
                <a:spcPts val="300"/>
              </a:spcAft>
              <a:buSzPct val="100000"/>
              <a:buChar char="●"/>
            </a:pPr>
            <a:r>
              <a:rPr lang="en-US" sz="1150" dirty="0">
                <a:solidFill>
                  <a:srgbClr val="64748B"/>
                </a:solidFill>
              </a:rPr>
              <a:t>Realistic seed log demonstrates the app</a:t>
            </a:r>
            <a:endParaRPr lang="en-US" sz="1150" dirty="0"/>
          </a:p>
          <a:p>
            <a:pPr marL="342900" indent="-342900">
              <a:spcAft>
                <a:spcPts val="300"/>
              </a:spcAft>
              <a:buSzPct val="100000"/>
              <a:buChar char="●"/>
            </a:pPr>
            <a:r>
              <a:rPr lang="en-US" sz="1150" dirty="0">
                <a:solidFill>
                  <a:srgbClr val="64748B"/>
                </a:solidFill>
              </a:rPr>
              <a:t>Real users replace it via Log Match form</a:t>
            </a:r>
            <a:endParaRPr lang="en-US" sz="1150" dirty="0"/>
          </a:p>
          <a:p>
            <a:pPr marL="342900" indent="-342900">
              <a:spcAft>
                <a:spcPts val="300"/>
              </a:spcAft>
              <a:buSzPct val="100000"/>
              <a:buChar char="●"/>
            </a:pPr>
            <a:r>
              <a:rPr lang="en-US" sz="1150" dirty="0">
                <a:solidFill>
                  <a:srgbClr val="64748B"/>
                </a:solidFill>
              </a:rPr>
              <a:t>Every personal page shows a visible SYNTHETIC DEMO DATA badge</a:t>
            </a:r>
            <a:endParaRPr lang="en-US" sz="1150" dirty="0"/>
          </a:p>
        </p:txBody>
      </p:sp>
      <p:sp>
        <p:nvSpPr>
          <p:cNvPr id="19" name="Text 17"/>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0" name="Text 18"/>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2.2 EXAMINATION &amp; TRANSFORMATION</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Two real CSVs — and the bug I caught</a:t>
            </a:r>
            <a:endParaRPr lang="en-US" sz="2600" dirty="0"/>
          </a:p>
        </p:txBody>
      </p:sp>
      <p:sp>
        <p:nvSpPr>
          <p:cNvPr id="5" name="Shape 3"/>
          <p:cNvSpPr/>
          <p:nvPr/>
        </p:nvSpPr>
        <p:spPr>
          <a:xfrm>
            <a:off x="457200" y="1371600"/>
            <a:ext cx="2697480" cy="310896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2697480" cy="292608"/>
          </a:xfrm>
          <a:prstGeom prst="rect">
            <a:avLst/>
          </a:prstGeom>
          <a:solidFill>
            <a:srgbClr val="0EA5E9"/>
          </a:solidFill>
          <a:ln/>
        </p:spPr>
        <p:txBody>
          <a:bodyPr/>
          <a:lstStyle/>
          <a:p>
            <a:endParaRPr lang="en-US"/>
          </a:p>
        </p:txBody>
      </p:sp>
      <p:sp>
        <p:nvSpPr>
          <p:cNvPr id="7" name="Text 5"/>
          <p:cNvSpPr/>
          <p:nvPr/>
        </p:nvSpPr>
        <p:spPr>
          <a:xfrm>
            <a:off x="594360" y="1371600"/>
            <a:ext cx="1645920" cy="292608"/>
          </a:xfrm>
          <a:prstGeom prst="rect">
            <a:avLst/>
          </a:prstGeom>
          <a:noFill/>
          <a:ln/>
        </p:spPr>
        <p:txBody>
          <a:bodyPr wrap="square" lIns="0" tIns="0" rIns="0" bIns="0" rtlCol="0" anchor="ctr"/>
          <a:lstStyle/>
          <a:p>
            <a:pPr marL="0" indent="0">
              <a:buNone/>
            </a:pPr>
            <a:r>
              <a:rPr lang="en-US" sz="1100" b="1" dirty="0">
                <a:solidFill>
                  <a:srgbClr val="FFFFFF"/>
                </a:solidFill>
              </a:rPr>
              <a:t>pro_players_real.csv</a:t>
            </a:r>
            <a:endParaRPr lang="en-US" sz="1100" dirty="0"/>
          </a:p>
        </p:txBody>
      </p:sp>
      <p:sp>
        <p:nvSpPr>
          <p:cNvPr id="8" name="Text 6"/>
          <p:cNvSpPr/>
          <p:nvPr/>
        </p:nvSpPr>
        <p:spPr>
          <a:xfrm>
            <a:off x="2194560" y="1371600"/>
            <a:ext cx="914400" cy="292608"/>
          </a:xfrm>
          <a:prstGeom prst="rect">
            <a:avLst/>
          </a:prstGeom>
          <a:noFill/>
          <a:ln/>
        </p:spPr>
        <p:txBody>
          <a:bodyPr wrap="square" lIns="0" tIns="0" rIns="0" bIns="0" rtlCol="0" anchor="ctr"/>
          <a:lstStyle/>
          <a:p>
            <a:pPr marL="0" indent="0" algn="r">
              <a:buNone/>
            </a:pPr>
            <a:r>
              <a:rPr lang="en-US" sz="1000" dirty="0">
                <a:solidFill>
                  <a:srgbClr val="FFFFFF"/>
                </a:solidFill>
              </a:rPr>
              <a:t>2,165 rows</a:t>
            </a:r>
            <a:endParaRPr lang="en-US" sz="1000" dirty="0"/>
          </a:p>
        </p:txBody>
      </p:sp>
      <p:sp>
        <p:nvSpPr>
          <p:cNvPr id="9" name="Text 7"/>
          <p:cNvSpPr/>
          <p:nvPr/>
        </p:nvSpPr>
        <p:spPr>
          <a:xfrm>
            <a:off x="640080" y="1783080"/>
            <a:ext cx="2377440" cy="2560320"/>
          </a:xfrm>
          <a:prstGeom prst="rect">
            <a:avLst/>
          </a:prstGeom>
          <a:noFill/>
          <a:ln/>
        </p:spPr>
        <p:txBody>
          <a:bodyPr wrap="square" lIns="0" tIns="0" rIns="0" bIns="0" rtlCol="0" anchor="ctr"/>
          <a:lstStyle/>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player_id</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name</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country</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age</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ranking_points</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+ 2 more (hand/height, patchy)</a:t>
            </a:r>
            <a:endParaRPr lang="en-US" sz="1100" dirty="0"/>
          </a:p>
        </p:txBody>
      </p:sp>
      <p:sp>
        <p:nvSpPr>
          <p:cNvPr id="10" name="Shape 8"/>
          <p:cNvSpPr/>
          <p:nvPr/>
        </p:nvSpPr>
        <p:spPr>
          <a:xfrm>
            <a:off x="3246120" y="1371600"/>
            <a:ext cx="2697480" cy="3108960"/>
          </a:xfrm>
          <a:prstGeom prst="rect">
            <a:avLst/>
          </a:prstGeom>
          <a:solidFill>
            <a:srgbClr val="FFFFFF"/>
          </a:solidFill>
          <a:ln w="9525">
            <a:solidFill>
              <a:srgbClr val="CFD6DD"/>
            </a:solidFill>
            <a:prstDash val="solid"/>
          </a:ln>
        </p:spPr>
        <p:txBody>
          <a:bodyPr/>
          <a:lstStyle/>
          <a:p>
            <a:endParaRPr lang="en-US"/>
          </a:p>
        </p:txBody>
      </p:sp>
      <p:sp>
        <p:nvSpPr>
          <p:cNvPr id="11" name="Shape 9"/>
          <p:cNvSpPr/>
          <p:nvPr/>
        </p:nvSpPr>
        <p:spPr>
          <a:xfrm>
            <a:off x="3246120" y="1371600"/>
            <a:ext cx="2697480" cy="292608"/>
          </a:xfrm>
          <a:prstGeom prst="rect">
            <a:avLst/>
          </a:prstGeom>
          <a:solidFill>
            <a:srgbClr val="0EA5E9"/>
          </a:solidFill>
          <a:ln/>
        </p:spPr>
        <p:txBody>
          <a:bodyPr/>
          <a:lstStyle/>
          <a:p>
            <a:endParaRPr lang="en-US"/>
          </a:p>
        </p:txBody>
      </p:sp>
      <p:sp>
        <p:nvSpPr>
          <p:cNvPr id="12" name="Text 10"/>
          <p:cNvSpPr/>
          <p:nvPr/>
        </p:nvSpPr>
        <p:spPr>
          <a:xfrm>
            <a:off x="3383280" y="1371600"/>
            <a:ext cx="1645920" cy="292608"/>
          </a:xfrm>
          <a:prstGeom prst="rect">
            <a:avLst/>
          </a:prstGeom>
          <a:noFill/>
          <a:ln/>
        </p:spPr>
        <p:txBody>
          <a:bodyPr wrap="square" lIns="0" tIns="0" rIns="0" bIns="0" rtlCol="0" anchor="ctr"/>
          <a:lstStyle/>
          <a:p>
            <a:pPr marL="0" indent="0">
              <a:buNone/>
            </a:pPr>
            <a:r>
              <a:rPr lang="en-US" sz="1100" b="1" dirty="0">
                <a:solidFill>
                  <a:srgbClr val="FFFFFF"/>
                </a:solidFill>
              </a:rPr>
              <a:t>pro_matches_real.csv</a:t>
            </a:r>
            <a:endParaRPr lang="en-US" sz="1100" dirty="0"/>
          </a:p>
        </p:txBody>
      </p:sp>
      <p:sp>
        <p:nvSpPr>
          <p:cNvPr id="13" name="Text 11"/>
          <p:cNvSpPr/>
          <p:nvPr/>
        </p:nvSpPr>
        <p:spPr>
          <a:xfrm>
            <a:off x="4983480" y="1371600"/>
            <a:ext cx="914400" cy="292608"/>
          </a:xfrm>
          <a:prstGeom prst="rect">
            <a:avLst/>
          </a:prstGeom>
          <a:noFill/>
          <a:ln/>
        </p:spPr>
        <p:txBody>
          <a:bodyPr wrap="square" lIns="0" tIns="0" rIns="0" bIns="0" rtlCol="0" anchor="ctr"/>
          <a:lstStyle/>
          <a:p>
            <a:pPr marL="0" indent="0" algn="r">
              <a:buNone/>
            </a:pPr>
            <a:r>
              <a:rPr lang="en-US" sz="1000" dirty="0">
                <a:solidFill>
                  <a:srgbClr val="FFFFFF"/>
                </a:solidFill>
              </a:rPr>
              <a:t>776 rows</a:t>
            </a:r>
            <a:endParaRPr lang="en-US" sz="1000" dirty="0"/>
          </a:p>
        </p:txBody>
      </p:sp>
      <p:sp>
        <p:nvSpPr>
          <p:cNvPr id="14" name="Text 12"/>
          <p:cNvSpPr/>
          <p:nvPr/>
        </p:nvSpPr>
        <p:spPr>
          <a:xfrm>
            <a:off x="3429000" y="1783080"/>
            <a:ext cx="2377440" cy="2560320"/>
          </a:xfrm>
          <a:prstGeom prst="rect">
            <a:avLst/>
          </a:prstGeom>
          <a:noFill/>
          <a:ln/>
        </p:spPr>
        <p:txBody>
          <a:bodyPr wrap="square" lIns="0" tIns="0" rIns="0" bIns="0" rtlCol="0" anchor="ctr"/>
          <a:lstStyle/>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match_id</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date · tournament</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round</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team1_p{1,2}</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team2_p{1,2}</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winner_team</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set{1,2,3}</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source (API record id)</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duration_min</a:t>
            </a:r>
            <a:endParaRPr lang="en-US" sz="1100" dirty="0"/>
          </a:p>
        </p:txBody>
      </p:sp>
      <p:sp>
        <p:nvSpPr>
          <p:cNvPr id="15" name="Shape 13"/>
          <p:cNvSpPr/>
          <p:nvPr/>
        </p:nvSpPr>
        <p:spPr>
          <a:xfrm>
            <a:off x="6035040" y="1371600"/>
            <a:ext cx="2697480" cy="3108960"/>
          </a:xfrm>
          <a:prstGeom prst="rect">
            <a:avLst/>
          </a:prstGeom>
          <a:solidFill>
            <a:srgbClr val="FFFFFF"/>
          </a:solidFill>
          <a:ln w="9525">
            <a:solidFill>
              <a:srgbClr val="CFD6DD"/>
            </a:solidFill>
            <a:prstDash val="solid"/>
          </a:ln>
        </p:spPr>
        <p:txBody>
          <a:bodyPr/>
          <a:lstStyle/>
          <a:p>
            <a:endParaRPr lang="en-US"/>
          </a:p>
        </p:txBody>
      </p:sp>
      <p:sp>
        <p:nvSpPr>
          <p:cNvPr id="16" name="Shape 14"/>
          <p:cNvSpPr/>
          <p:nvPr/>
        </p:nvSpPr>
        <p:spPr>
          <a:xfrm>
            <a:off x="6035040" y="1371600"/>
            <a:ext cx="2697480" cy="292608"/>
          </a:xfrm>
          <a:prstGeom prst="rect">
            <a:avLst/>
          </a:prstGeom>
          <a:solidFill>
            <a:srgbClr val="F59E0B"/>
          </a:solidFill>
          <a:ln/>
        </p:spPr>
        <p:txBody>
          <a:bodyPr/>
          <a:lstStyle/>
          <a:p>
            <a:endParaRPr lang="en-US"/>
          </a:p>
        </p:txBody>
      </p:sp>
      <p:sp>
        <p:nvSpPr>
          <p:cNvPr id="17" name="Text 15"/>
          <p:cNvSpPr/>
          <p:nvPr/>
        </p:nvSpPr>
        <p:spPr>
          <a:xfrm>
            <a:off x="6172200" y="1371600"/>
            <a:ext cx="1645920" cy="292608"/>
          </a:xfrm>
          <a:prstGeom prst="rect">
            <a:avLst/>
          </a:prstGeom>
          <a:noFill/>
          <a:ln/>
        </p:spPr>
        <p:txBody>
          <a:bodyPr wrap="square" lIns="0" tIns="0" rIns="0" bIns="0" rtlCol="0" anchor="ctr"/>
          <a:lstStyle/>
          <a:p>
            <a:pPr marL="0" indent="0">
              <a:buNone/>
            </a:pPr>
            <a:r>
              <a:rPr lang="en-US" sz="1100" b="1" dirty="0">
                <a:solidFill>
                  <a:srgbClr val="FFFFFF"/>
                </a:solidFill>
              </a:rPr>
              <a:t>my_matches.csv (demo)</a:t>
            </a:r>
            <a:endParaRPr lang="en-US" sz="1100" dirty="0"/>
          </a:p>
        </p:txBody>
      </p:sp>
      <p:sp>
        <p:nvSpPr>
          <p:cNvPr id="18" name="Text 16"/>
          <p:cNvSpPr/>
          <p:nvPr/>
        </p:nvSpPr>
        <p:spPr>
          <a:xfrm>
            <a:off x="7772400" y="1371600"/>
            <a:ext cx="914400" cy="292608"/>
          </a:xfrm>
          <a:prstGeom prst="rect">
            <a:avLst/>
          </a:prstGeom>
          <a:noFill/>
          <a:ln/>
        </p:spPr>
        <p:txBody>
          <a:bodyPr wrap="square" lIns="0" tIns="0" rIns="0" bIns="0" rtlCol="0" anchor="ctr"/>
          <a:lstStyle/>
          <a:p>
            <a:pPr marL="0" indent="0" algn="r">
              <a:buNone/>
            </a:pPr>
            <a:r>
              <a:rPr lang="en-US" sz="1000" dirty="0">
                <a:solidFill>
                  <a:srgbClr val="FFFFFF"/>
                </a:solidFill>
              </a:rPr>
              <a:t>40+ rows</a:t>
            </a:r>
            <a:endParaRPr lang="en-US" sz="1000" dirty="0"/>
          </a:p>
        </p:txBody>
      </p:sp>
      <p:sp>
        <p:nvSpPr>
          <p:cNvPr id="19" name="Text 17"/>
          <p:cNvSpPr/>
          <p:nvPr/>
        </p:nvSpPr>
        <p:spPr>
          <a:xfrm>
            <a:off x="6217920" y="1783080"/>
            <a:ext cx="2377440" cy="2560320"/>
          </a:xfrm>
          <a:prstGeom prst="rect">
            <a:avLst/>
          </a:prstGeom>
          <a:noFill/>
          <a:ln/>
        </p:spPr>
        <p:txBody>
          <a:bodyPr wrap="square" lIns="0" tIns="0" rIns="0" bIns="0" rtlCol="0" anchor="ctr"/>
          <a:lstStyle/>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match_id · date</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partner · opponents</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club · surface</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set scores (per set)</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winners_{shot} · errors_{shot}</a:t>
            </a:r>
            <a:endParaRPr lang="en-US" sz="1100" dirty="0"/>
          </a:p>
          <a:p>
            <a:pPr marL="0" indent="0">
              <a:spcAft>
                <a:spcPts val="300"/>
              </a:spcAft>
              <a:buNone/>
            </a:pPr>
            <a:r>
              <a:rPr lang="en-US" sz="1100" dirty="0">
                <a:solidFill>
                  <a:srgbClr val="1F2937"/>
                </a:solidFill>
                <a:latin typeface="Courier New" pitchFamily="34" charset="0"/>
                <a:ea typeface="Courier New" pitchFamily="34" charset="-122"/>
                <a:cs typeface="Courier New" pitchFamily="34" charset="-120"/>
              </a:rPr>
              <a:t>result · duration · notes</a:t>
            </a:r>
            <a:endParaRPr lang="en-US" sz="1100" dirty="0"/>
          </a:p>
        </p:txBody>
      </p:sp>
      <p:sp>
        <p:nvSpPr>
          <p:cNvPr id="50" name="Text Score Bug Callout"/>
          <p:cNvSpPr/>
          <p:nvPr/>
        </p:nvSpPr>
        <p:spPr>
          <a:xfrm>
            <a:off x="457200" y="4525963"/>
            <a:ext cx="8229600" cy="256032"/>
          </a:xfrm>
          <a:prstGeom prst="rect">
            <a:avLst/>
          </a:prstGeom>
          <a:noFill/>
          <a:ln/>
        </p:spPr>
        <p:txBody>
          <a:bodyPr wrap="square" lIns="0" tIns="0" rIns="0" bIns="0" rtlCol="0" anchor="ctr"/>
          <a:lstStyle/>
          <a:p>
            <a:pPr marL="0" indent="0">
              <a:buNone/>
            </a:pPr>
            <a:r>
              <a:rPr lang="en-US" sz="1000" b="1" dirty="0">
                <a:solidFill>
                  <a:srgbClr val="0369A1"/>
                </a:solidFill>
                <a:latin typeface="Calibri" pitchFamily="34" charset="0"/>
                <a:ea typeface="Calibri" pitchFamily="34" charset="-122"/>
                <a:cs typeface="Calibri" pitchFamily="34" charset="-120"/>
              </a:rPr>
              <a:t>Examination caught a real bug: </a:t>
            </a:r>
            <a:r>
              <a:rPr lang="en-US" sz="1000" dirty="0">
                <a:solidFill>
                  <a:srgbClr val="64748B"/>
                </a:solidFill>
                <a:latin typeface="Calibri" pitchFamily="34" charset="0"/>
                <a:ea typeface="Calibri" pitchFamily="34" charset="-122"/>
                <a:cs typeface="Calibri" pitchFamily="34" charset="-120"/>
              </a:rPr>
              <a:t>the API returns scores as a JSON array of sets, not the comma-string my first parser assumed — fixed in build_real_csv.py, zero re-fetching.</a:t>
            </a:r>
            <a:endParaRPr lang="en-US" sz="1000" dirty="0"/>
          </a:p>
        </p:txBody>
      </p:sp>
      <p:sp>
        <p:nvSpPr>
          <p:cNvPr id="21" name="Text 19"/>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2" name="Text 20"/>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2.3 EXPLORATION — HOW</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How I explored, before I trusted a single number</a:t>
            </a:r>
            <a:endParaRPr lang="en-US" sz="2600" dirty="0"/>
          </a:p>
        </p:txBody>
      </p:sp>
      <p:sp>
        <p:nvSpPr>
          <p:cNvPr id="5" name="Shape 3"/>
          <p:cNvSpPr/>
          <p:nvPr/>
        </p:nvSpPr>
        <p:spPr>
          <a:xfrm>
            <a:off x="457200" y="1371600"/>
            <a:ext cx="8229600" cy="96012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73152" cy="960120"/>
          </a:xfrm>
          <a:prstGeom prst="rect">
            <a:avLst/>
          </a:prstGeom>
          <a:solidFill>
            <a:srgbClr val="0EA5E9"/>
          </a:solidFill>
          <a:ln/>
        </p:spPr>
        <p:txBody>
          <a:bodyPr/>
          <a:lstStyle/>
          <a:p>
            <a:endParaRPr lang="en-US"/>
          </a:p>
        </p:txBody>
      </p:sp>
      <p:sp>
        <p:nvSpPr>
          <p:cNvPr id="7" name="Text 5"/>
          <p:cNvSpPr/>
          <p:nvPr/>
        </p:nvSpPr>
        <p:spPr>
          <a:xfrm>
            <a:off x="685800" y="1463040"/>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SCOPE</a:t>
            </a:r>
            <a:endParaRPr lang="en-US" sz="900" dirty="0"/>
          </a:p>
        </p:txBody>
      </p:sp>
      <p:sp>
        <p:nvSpPr>
          <p:cNvPr id="8" name="Text 6"/>
          <p:cNvSpPr/>
          <p:nvPr/>
        </p:nvSpPr>
        <p:spPr>
          <a:xfrm>
            <a:off x="685800" y="1691640"/>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10 tests</a:t>
            </a:r>
            <a:endParaRPr lang="en-US" sz="2800" dirty="0"/>
          </a:p>
        </p:txBody>
      </p:sp>
      <p:sp>
        <p:nvSpPr>
          <p:cNvPr id="9" name="Text 7"/>
          <p:cNvSpPr/>
          <p:nvPr/>
        </p:nvSpPr>
        <p:spPr>
          <a:xfrm>
            <a:off x="685800" y="2148840"/>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hypotheses, E1-E10</a:t>
            </a:r>
            <a:endParaRPr lang="en-US" sz="1000" dirty="0"/>
          </a:p>
        </p:txBody>
      </p:sp>
      <p:sp>
        <p:nvSpPr>
          <p:cNvPr id="10" name="Text 8"/>
          <p:cNvSpPr/>
          <p:nvPr/>
        </p:nvSpPr>
        <p:spPr>
          <a:xfrm>
            <a:off x="2834640" y="1371600"/>
            <a:ext cx="5669280" cy="960120"/>
          </a:xfrm>
          <a:prstGeom prst="rect">
            <a:avLst/>
          </a:prstGeom>
          <a:noFill/>
          <a:ln/>
        </p:spPr>
        <p:txBody>
          <a:bodyPr wrap="square" lIns="0" tIns="0" rIns="0" bIns="0" rtlCol="0" anchor="ctr"/>
          <a:lstStyle/>
          <a:p>
            <a:pPr marL="0" indent="0">
              <a:buNone/>
            </a:pPr>
            <a:r>
              <a:rPr lang="en-US" sz="1250" dirty="0">
                <a:solidFill>
                  <a:srgbClr val="1F2937"/>
                </a:solidFill>
              </a:rPr>
              <a:t>All ten run against the real 776-match dataset, two-sided tests at alpha=0.05 — nothing cherry-picked.</a:t>
            </a:r>
            <a:endParaRPr lang="en-US" sz="1250" dirty="0"/>
          </a:p>
        </p:txBody>
      </p:sp>
      <p:sp>
        <p:nvSpPr>
          <p:cNvPr id="11" name="Shape 9"/>
          <p:cNvSpPr/>
          <p:nvPr/>
        </p:nvSpPr>
        <p:spPr>
          <a:xfrm>
            <a:off x="457200" y="2450592"/>
            <a:ext cx="8229600" cy="960120"/>
          </a:xfrm>
          <a:prstGeom prst="rect">
            <a:avLst/>
          </a:prstGeom>
          <a:solidFill>
            <a:srgbClr val="FFFFFF"/>
          </a:solidFill>
          <a:ln w="9525">
            <a:solidFill>
              <a:srgbClr val="CFD6DD"/>
            </a:solidFill>
            <a:prstDash val="solid"/>
          </a:ln>
        </p:spPr>
        <p:txBody>
          <a:bodyPr/>
          <a:lstStyle/>
          <a:p>
            <a:endParaRPr lang="en-US"/>
          </a:p>
        </p:txBody>
      </p:sp>
      <p:sp>
        <p:nvSpPr>
          <p:cNvPr id="12" name="Shape 10"/>
          <p:cNvSpPr/>
          <p:nvPr/>
        </p:nvSpPr>
        <p:spPr>
          <a:xfrm>
            <a:off x="457200" y="2450592"/>
            <a:ext cx="73152" cy="960120"/>
          </a:xfrm>
          <a:prstGeom prst="rect">
            <a:avLst/>
          </a:prstGeom>
          <a:solidFill>
            <a:srgbClr val="0EA5E9"/>
          </a:solidFill>
          <a:ln/>
        </p:spPr>
        <p:txBody>
          <a:bodyPr/>
          <a:lstStyle/>
          <a:p>
            <a:endParaRPr lang="en-US"/>
          </a:p>
        </p:txBody>
      </p:sp>
      <p:sp>
        <p:nvSpPr>
          <p:cNvPr id="13" name="Text 11"/>
          <p:cNvSpPr/>
          <p:nvPr/>
        </p:nvSpPr>
        <p:spPr>
          <a:xfrm>
            <a:off x="685800" y="2542032"/>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CONFIDENCE</a:t>
            </a:r>
            <a:endParaRPr lang="en-US" sz="900" dirty="0"/>
          </a:p>
        </p:txBody>
      </p:sp>
      <p:sp>
        <p:nvSpPr>
          <p:cNvPr id="14" name="Text 12"/>
          <p:cNvSpPr/>
          <p:nvPr/>
        </p:nvSpPr>
        <p:spPr>
          <a:xfrm>
            <a:off x="685800" y="2830000"/>
            <a:ext cx="2011680" cy="360000"/>
          </a:xfrm>
          <a:prstGeom prst="rect">
            <a:avLst/>
          </a:prstGeom>
          <a:noFill/>
          <a:ln/>
        </p:spPr>
        <p:txBody>
          <a:bodyPr wrap="square" lIns="0" tIns="0" rIns="0" bIns="0" rtlCol="0" anchor="ctr"/>
          <a:lstStyle/>
          <a:p>
            <a:pPr marL="0" indent="0">
              <a:buNone/>
            </a:pPr>
            <a:r>
              <a:rPr lang="en-US" sz="1900" b="1" dirty="0">
                <a:solidFill>
                  <a:srgbClr val="1F2937"/>
                </a:solidFill>
              </a:rPr>
              <a:t>Wilson 95% CI</a:t>
            </a:r>
            <a:endParaRPr lang="en-US" sz="2800" dirty="0"/>
          </a:p>
        </p:txBody>
      </p:sp>
      <p:sp>
        <p:nvSpPr>
          <p:cNvPr id="15" name="Text 13"/>
          <p:cNvSpPr/>
          <p:nvPr/>
        </p:nvSpPr>
        <p:spPr>
          <a:xfrm>
            <a:off x="685800" y="3227832"/>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on every proportion</a:t>
            </a:r>
            <a:endParaRPr lang="en-US" sz="1000" dirty="0"/>
          </a:p>
        </p:txBody>
      </p:sp>
      <p:sp>
        <p:nvSpPr>
          <p:cNvPr id="16" name="Text 14"/>
          <p:cNvSpPr/>
          <p:nvPr/>
        </p:nvSpPr>
        <p:spPr>
          <a:xfrm>
            <a:off x="2834640" y="2450592"/>
            <a:ext cx="5669280" cy="960120"/>
          </a:xfrm>
          <a:prstGeom prst="rect">
            <a:avLst/>
          </a:prstGeom>
          <a:noFill/>
          <a:ln/>
        </p:spPr>
        <p:txBody>
          <a:bodyPr wrap="square" lIns="0" tIns="0" rIns="0" bIns="0" rtlCol="0" anchor="ctr"/>
          <a:lstStyle/>
          <a:p>
            <a:pPr marL="0" indent="0">
              <a:buNone/>
            </a:pPr>
            <a:r>
              <a:rPr lang="en-US" sz="1250" dirty="0">
                <a:solidFill>
                  <a:srgbClr val="1F2937"/>
                </a:solidFill>
              </a:rPr>
              <a:t>Every win rate in this report ships with a confidence interval, never a bare point estimate.</a:t>
            </a:r>
            <a:endParaRPr lang="en-US" sz="1250" dirty="0"/>
          </a:p>
        </p:txBody>
      </p:sp>
      <p:sp>
        <p:nvSpPr>
          <p:cNvPr id="17" name="Shape 15"/>
          <p:cNvSpPr/>
          <p:nvPr/>
        </p:nvSpPr>
        <p:spPr>
          <a:xfrm>
            <a:off x="457200" y="3529584"/>
            <a:ext cx="8229600" cy="960120"/>
          </a:xfrm>
          <a:prstGeom prst="rect">
            <a:avLst/>
          </a:prstGeom>
          <a:solidFill>
            <a:srgbClr val="FFFFFF"/>
          </a:solidFill>
          <a:ln w="9525">
            <a:solidFill>
              <a:srgbClr val="CFD6DD"/>
            </a:solidFill>
            <a:prstDash val="solid"/>
          </a:ln>
        </p:spPr>
        <p:txBody>
          <a:bodyPr/>
          <a:lstStyle/>
          <a:p>
            <a:endParaRPr lang="en-US"/>
          </a:p>
        </p:txBody>
      </p:sp>
      <p:sp>
        <p:nvSpPr>
          <p:cNvPr id="18" name="Shape 16"/>
          <p:cNvSpPr/>
          <p:nvPr/>
        </p:nvSpPr>
        <p:spPr>
          <a:xfrm>
            <a:off x="457200" y="3529584"/>
            <a:ext cx="73152" cy="960120"/>
          </a:xfrm>
          <a:prstGeom prst="rect">
            <a:avLst/>
          </a:prstGeom>
          <a:solidFill>
            <a:srgbClr val="0EA5E9"/>
          </a:solidFill>
          <a:ln/>
        </p:spPr>
        <p:txBody>
          <a:bodyPr/>
          <a:lstStyle/>
          <a:p>
            <a:endParaRPr lang="en-US"/>
          </a:p>
        </p:txBody>
      </p:sp>
      <p:sp>
        <p:nvSpPr>
          <p:cNvPr id="19" name="Text 17"/>
          <p:cNvSpPr/>
          <p:nvPr/>
        </p:nvSpPr>
        <p:spPr>
          <a:xfrm>
            <a:off x="685800" y="3621024"/>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VERDICTS</a:t>
            </a:r>
            <a:endParaRPr lang="en-US" sz="900" dirty="0"/>
          </a:p>
        </p:txBody>
      </p:sp>
      <p:sp>
        <p:nvSpPr>
          <p:cNvPr id="20" name="Text 18"/>
          <p:cNvSpPr/>
          <p:nvPr/>
        </p:nvSpPr>
        <p:spPr>
          <a:xfrm>
            <a:off x="685800" y="3909000"/>
            <a:ext cx="2011680" cy="360000"/>
          </a:xfrm>
          <a:prstGeom prst="rect">
            <a:avLst/>
          </a:prstGeom>
          <a:noFill/>
          <a:ln/>
        </p:spPr>
        <p:txBody>
          <a:bodyPr wrap="square" lIns="0" tIns="0" rIns="0" bIns="0" rtlCol="0" anchor="ctr"/>
          <a:lstStyle/>
          <a:p>
            <a:pPr marL="0" indent="0">
              <a:buNone/>
            </a:pPr>
            <a:r>
              <a:rPr lang="en-US" sz="1900" b="1" dirty="0">
                <a:solidFill>
                  <a:srgbClr val="1F2937"/>
                </a:solidFill>
              </a:rPr>
              <a:t>3 honest labels</a:t>
            </a:r>
            <a:endParaRPr lang="en-US" sz="2800" dirty="0"/>
          </a:p>
        </p:txBody>
      </p:sp>
      <p:sp>
        <p:nvSpPr>
          <p:cNvPr id="21" name="Text 19"/>
          <p:cNvSpPr/>
          <p:nvPr/>
        </p:nvSpPr>
        <p:spPr>
          <a:xfrm>
            <a:off x="685800" y="4306824"/>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signal · null · insufficient</a:t>
            </a:r>
            <a:endParaRPr lang="en-US" sz="1000" dirty="0"/>
          </a:p>
        </p:txBody>
      </p:sp>
      <p:sp>
        <p:nvSpPr>
          <p:cNvPr id="22" name="Text 20"/>
          <p:cNvSpPr/>
          <p:nvPr/>
        </p:nvSpPr>
        <p:spPr>
          <a:xfrm>
            <a:off x="2834640" y="3529584"/>
            <a:ext cx="5669280" cy="960120"/>
          </a:xfrm>
          <a:prstGeom prst="rect">
            <a:avLst/>
          </a:prstGeom>
          <a:noFill/>
          <a:ln/>
        </p:spPr>
        <p:txBody>
          <a:bodyPr wrap="square" lIns="0" tIns="0" rIns="0" bIns="0" rtlCol="0" anchor="ctr"/>
          <a:lstStyle/>
          <a:p>
            <a:pPr marL="0" indent="0">
              <a:buNone/>
            </a:pPr>
            <a:r>
              <a:rPr lang="en-US" sz="1250" dirty="0">
                <a:solidFill>
                  <a:srgbClr val="1F2937"/>
                </a:solidFill>
              </a:rPr>
              <a:t>A finding that fails a test is reported as a null or insufficient — never hidden or rounded up.</a:t>
            </a:r>
            <a:endParaRPr lang="en-US" sz="1250" dirty="0"/>
          </a:p>
        </p:txBody>
      </p:sp>
      <p:sp>
        <p:nvSpPr>
          <p:cNvPr id="23" name="Text 21"/>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2"/>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2"/>
          <p:cNvSpPr/>
          <p:nvPr/>
        </p:nvSpPr>
        <p:spPr>
          <a:xfrm>
            <a:off x="365760" y="384048"/>
            <a:ext cx="64008" cy="292608"/>
          </a:xfrm>
          <a:prstGeom prst="rect">
            <a:avLst/>
          </a:prstGeom>
          <a:solidFill>
            <a:srgbClr val="0EA5E9"/>
          </a:solidFill>
          <a:ln/>
        </p:spPr>
        <p:txBody>
          <a:bodyPr/>
          <a:lstStyle/>
          <a:p>
            <a:endParaRPr lang="en-US"/>
          </a:p>
        </p:txBody>
      </p:sp>
      <p:sp>
        <p:nvSpPr>
          <p:cNvPr id="3" name="Text 3"/>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i="0" kern="0" spc="400" dirty="0">
                <a:solidFill>
                  <a:srgbClr val="64748B"/>
                </a:solidFill>
                <a:latin typeface="Calibri" pitchFamily="34" charset="0"/>
                <a:ea typeface="Calibri" pitchFamily="34" charset="-122"/>
                <a:cs typeface="Calibri" pitchFamily="34" charset="-120"/>
              </a:rPr>
              <a:t>2.4 THE DATASET IN NUMBERS</a:t>
            </a:r>
            <a:endParaRPr lang="en-US" sz="1000" dirty="0"/>
          </a:p>
        </p:txBody>
      </p:sp>
      <p:sp>
        <p:nvSpPr>
          <p:cNvPr id="4" name="Text 4"/>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i="0" kern="0" dirty="0">
                <a:solidFill>
                  <a:srgbClr val="1E293B"/>
                </a:solidFill>
                <a:latin typeface="Calibri" pitchFamily="34" charset="0"/>
                <a:ea typeface="Calibri" pitchFamily="34" charset="-122"/>
                <a:cs typeface="Calibri" pitchFamily="34" charset="-120"/>
              </a:rPr>
              <a:t>A full professional season, captured end to end</a:t>
            </a:r>
            <a:endParaRPr lang="en-US" sz="2600" dirty="0"/>
          </a:p>
        </p:txBody>
      </p:sp>
      <p:sp>
        <p:nvSpPr>
          <p:cNvPr id="5" name="Text 5"/>
          <p:cNvSpPr/>
          <p:nvPr/>
        </p:nvSpPr>
        <p:spPr>
          <a:xfrm>
            <a:off x="457200" y="1173480"/>
            <a:ext cx="8229600" cy="246888"/>
          </a:xfrm>
          <a:prstGeom prst="rect">
            <a:avLst/>
          </a:prstGeom>
          <a:noFill/>
          <a:ln/>
        </p:spPr>
        <p:txBody>
          <a:bodyPr wrap="square" lIns="0" tIns="0" rIns="0" bIns="0" rtlCol="0" anchor="ctr"/>
          <a:lstStyle/>
          <a:p>
            <a:pPr marL="0" indent="0">
              <a:buNone/>
            </a:pPr>
            <a:r>
              <a:rPr lang="en-US" sz="1100" b="0" i="1" kern="0" dirty="0">
                <a:solidFill>
                  <a:srgbClr val="64748B"/>
                </a:solidFill>
                <a:latin typeface="Calibri" pitchFamily="34" charset="0"/>
                <a:ea typeface="Calibri" pitchFamily="34" charset="-122"/>
                <a:cs typeface="Calibri" pitchFamily="34" charset="-120"/>
              </a:rPr>
              <a:t>Source: padelapi.org REST API (official professional padel data service) · personal API key · season window Feb–Jul 2026</a:t>
            </a:r>
            <a:endParaRPr lang="en-US" sz="1100" dirty="0"/>
          </a:p>
        </p:txBody>
      </p:sp>
      <p:sp>
        <p:nvSpPr>
          <p:cNvPr id="6" name="Shape 6"/>
          <p:cNvSpPr/>
          <p:nvPr/>
        </p:nvSpPr>
        <p:spPr>
          <a:xfrm>
            <a:off x="457200" y="1572768"/>
            <a:ext cx="2621280" cy="1150000"/>
          </a:xfrm>
          <a:prstGeom prst="rect">
            <a:avLst/>
          </a:prstGeom>
          <a:solidFill>
            <a:srgbClr val="FFFFFF"/>
          </a:solidFill>
          <a:ln w="9525">
            <a:solidFill>
              <a:srgbClr val="CFD6DD"/>
            </a:solidFill>
            <a:prstDash val="solid"/>
          </a:ln>
        </p:spPr>
        <p:txBody>
          <a:bodyPr/>
          <a:lstStyle/>
          <a:p>
            <a:endParaRPr lang="en-US"/>
          </a:p>
        </p:txBody>
      </p:sp>
      <p:sp>
        <p:nvSpPr>
          <p:cNvPr id="7" name="Shape 7"/>
          <p:cNvSpPr/>
          <p:nvPr/>
        </p:nvSpPr>
        <p:spPr>
          <a:xfrm>
            <a:off x="457200" y="1572768"/>
            <a:ext cx="73152" cy="1150000"/>
          </a:xfrm>
          <a:prstGeom prst="rect">
            <a:avLst/>
          </a:prstGeom>
          <a:solidFill>
            <a:srgbClr val="0EA5E9"/>
          </a:solidFill>
          <a:ln/>
        </p:spPr>
        <p:txBody>
          <a:bodyPr/>
          <a:lstStyle/>
          <a:p>
            <a:endParaRPr lang="en-US"/>
          </a:p>
        </p:txBody>
      </p:sp>
      <p:sp>
        <p:nvSpPr>
          <p:cNvPr id="8" name="Text 8"/>
          <p:cNvSpPr/>
          <p:nvPr/>
        </p:nvSpPr>
        <p:spPr>
          <a:xfrm>
            <a:off x="685800" y="1664208"/>
            <a:ext cx="2301240" cy="228600"/>
          </a:xfrm>
          <a:prstGeom prst="rect">
            <a:avLst/>
          </a:prstGeom>
          <a:noFill/>
          <a:ln/>
        </p:spPr>
        <p:txBody>
          <a:bodyPr wrap="square" lIns="0" tIns="0" rIns="0" bIns="0" rtlCol="0" anchor="ctr"/>
          <a:lstStyle/>
          <a:p>
            <a:pPr marL="0" indent="0">
              <a:buNone/>
            </a:pPr>
            <a:r>
              <a:rPr lang="en-US" sz="900" b="1" i="0" kern="0" spc="300" dirty="0">
                <a:solidFill>
                  <a:srgbClr val="64748B"/>
                </a:solidFill>
                <a:latin typeface="Calibri" pitchFamily="34" charset="0"/>
                <a:ea typeface="Calibri" pitchFamily="34" charset="-122"/>
                <a:cs typeface="Calibri" pitchFamily="34" charset="-120"/>
              </a:rPr>
              <a:t>MATCHES</a:t>
            </a:r>
            <a:endParaRPr lang="en-US" sz="900" dirty="0"/>
          </a:p>
        </p:txBody>
      </p:sp>
      <p:sp>
        <p:nvSpPr>
          <p:cNvPr id="9" name="Text 9"/>
          <p:cNvSpPr/>
          <p:nvPr/>
        </p:nvSpPr>
        <p:spPr>
          <a:xfrm>
            <a:off x="685800" y="1912768"/>
            <a:ext cx="2301240" cy="520000"/>
          </a:xfrm>
          <a:prstGeom prst="rect">
            <a:avLst/>
          </a:prstGeom>
          <a:noFill/>
          <a:ln/>
        </p:spPr>
        <p:txBody>
          <a:bodyPr wrap="square" lIns="0" tIns="0" rIns="0" bIns="0" rtlCol="0" anchor="ctr"/>
          <a:lstStyle/>
          <a:p>
            <a:pPr marL="0" indent="0">
              <a:buNone/>
            </a:pPr>
            <a:r>
              <a:rPr lang="en-US" sz="3600" b="1" i="0" kern="0" dirty="0">
                <a:solidFill>
                  <a:srgbClr val="1F2937"/>
                </a:solidFill>
                <a:latin typeface="Calibri" pitchFamily="34" charset="0"/>
                <a:ea typeface="Calibri" pitchFamily="34" charset="-122"/>
                <a:cs typeface="Calibri" pitchFamily="34" charset="-120"/>
              </a:rPr>
              <a:t>776</a:t>
            </a:r>
            <a:endParaRPr lang="en-US" sz="3600" dirty="0"/>
          </a:p>
        </p:txBody>
      </p:sp>
      <p:sp>
        <p:nvSpPr>
          <p:cNvPr id="10" name="Text 10"/>
          <p:cNvSpPr/>
          <p:nvPr/>
        </p:nvSpPr>
        <p:spPr>
          <a:xfrm>
            <a:off x="685800" y="2452768"/>
            <a:ext cx="2301240" cy="2286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completed, 2026 season</a:t>
            </a:r>
            <a:endParaRPr lang="en-US" sz="1000" dirty="0"/>
          </a:p>
        </p:txBody>
      </p:sp>
      <p:sp>
        <p:nvSpPr>
          <p:cNvPr id="11" name="Shape 11"/>
          <p:cNvSpPr/>
          <p:nvPr/>
        </p:nvSpPr>
        <p:spPr>
          <a:xfrm>
            <a:off x="3261360" y="1572768"/>
            <a:ext cx="2621280" cy="1150000"/>
          </a:xfrm>
          <a:prstGeom prst="rect">
            <a:avLst/>
          </a:prstGeom>
          <a:solidFill>
            <a:srgbClr val="FFFFFF"/>
          </a:solidFill>
          <a:ln w="9525">
            <a:solidFill>
              <a:srgbClr val="CFD6DD"/>
            </a:solidFill>
            <a:prstDash val="solid"/>
          </a:ln>
        </p:spPr>
        <p:txBody>
          <a:bodyPr/>
          <a:lstStyle/>
          <a:p>
            <a:endParaRPr lang="en-US"/>
          </a:p>
        </p:txBody>
      </p:sp>
      <p:sp>
        <p:nvSpPr>
          <p:cNvPr id="12" name="Shape 12"/>
          <p:cNvSpPr/>
          <p:nvPr/>
        </p:nvSpPr>
        <p:spPr>
          <a:xfrm>
            <a:off x="3261360" y="1572768"/>
            <a:ext cx="73152" cy="1150000"/>
          </a:xfrm>
          <a:prstGeom prst="rect">
            <a:avLst/>
          </a:prstGeom>
          <a:solidFill>
            <a:srgbClr val="0EA5E9"/>
          </a:solidFill>
          <a:ln/>
        </p:spPr>
        <p:txBody>
          <a:bodyPr/>
          <a:lstStyle/>
          <a:p>
            <a:endParaRPr lang="en-US"/>
          </a:p>
        </p:txBody>
      </p:sp>
      <p:sp>
        <p:nvSpPr>
          <p:cNvPr id="13" name="Text 13"/>
          <p:cNvSpPr/>
          <p:nvPr/>
        </p:nvSpPr>
        <p:spPr>
          <a:xfrm>
            <a:off x="3489960" y="1664208"/>
            <a:ext cx="2301240" cy="228600"/>
          </a:xfrm>
          <a:prstGeom prst="rect">
            <a:avLst/>
          </a:prstGeom>
          <a:noFill/>
          <a:ln/>
        </p:spPr>
        <p:txBody>
          <a:bodyPr wrap="square" lIns="0" tIns="0" rIns="0" bIns="0" rtlCol="0" anchor="ctr"/>
          <a:lstStyle/>
          <a:p>
            <a:pPr marL="0" indent="0">
              <a:buNone/>
            </a:pPr>
            <a:r>
              <a:rPr lang="en-US" sz="900" b="1" i="0" kern="0" spc="300" dirty="0">
                <a:solidFill>
                  <a:srgbClr val="64748B"/>
                </a:solidFill>
                <a:latin typeface="Calibri" pitchFamily="34" charset="0"/>
                <a:ea typeface="Calibri" pitchFamily="34" charset="-122"/>
                <a:cs typeface="Calibri" pitchFamily="34" charset="-120"/>
              </a:rPr>
              <a:t>TOURNAMENTS</a:t>
            </a:r>
            <a:endParaRPr lang="en-US" sz="900" dirty="0"/>
          </a:p>
        </p:txBody>
      </p:sp>
      <p:sp>
        <p:nvSpPr>
          <p:cNvPr id="14" name="Text 14"/>
          <p:cNvSpPr/>
          <p:nvPr/>
        </p:nvSpPr>
        <p:spPr>
          <a:xfrm>
            <a:off x="3489960" y="1912768"/>
            <a:ext cx="2301240" cy="520000"/>
          </a:xfrm>
          <a:prstGeom prst="rect">
            <a:avLst/>
          </a:prstGeom>
          <a:noFill/>
          <a:ln/>
        </p:spPr>
        <p:txBody>
          <a:bodyPr wrap="square" lIns="0" tIns="0" rIns="0" bIns="0" rtlCol="0" anchor="ctr"/>
          <a:lstStyle/>
          <a:p>
            <a:pPr marL="0" indent="0">
              <a:buNone/>
            </a:pPr>
            <a:r>
              <a:rPr lang="en-US" sz="3600" b="1" i="0" kern="0" dirty="0">
                <a:solidFill>
                  <a:srgbClr val="1F2937"/>
                </a:solidFill>
                <a:latin typeface="Calibri" pitchFamily="34" charset="0"/>
                <a:ea typeface="Calibri" pitchFamily="34" charset="-122"/>
                <a:cs typeface="Calibri" pitchFamily="34" charset="-120"/>
              </a:rPr>
              <a:t>26</a:t>
            </a:r>
            <a:endParaRPr lang="en-US" sz="3600" dirty="0"/>
          </a:p>
        </p:txBody>
      </p:sp>
      <p:sp>
        <p:nvSpPr>
          <p:cNvPr id="15" name="Text 15"/>
          <p:cNvSpPr/>
          <p:nvPr/>
        </p:nvSpPr>
        <p:spPr>
          <a:xfrm>
            <a:off x="3489960" y="2452768"/>
            <a:ext cx="2301240" cy="2286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Feb–Jul 2026, 5 continents</a:t>
            </a:r>
            <a:endParaRPr lang="en-US" sz="1000" dirty="0"/>
          </a:p>
        </p:txBody>
      </p:sp>
      <p:sp>
        <p:nvSpPr>
          <p:cNvPr id="16" name="Shape 16"/>
          <p:cNvSpPr/>
          <p:nvPr/>
        </p:nvSpPr>
        <p:spPr>
          <a:xfrm>
            <a:off x="6065520" y="1572768"/>
            <a:ext cx="2621280" cy="1150000"/>
          </a:xfrm>
          <a:prstGeom prst="rect">
            <a:avLst/>
          </a:prstGeom>
          <a:solidFill>
            <a:srgbClr val="FFFFFF"/>
          </a:solidFill>
          <a:ln w="9525">
            <a:solidFill>
              <a:srgbClr val="CFD6DD"/>
            </a:solidFill>
            <a:prstDash val="solid"/>
          </a:ln>
        </p:spPr>
        <p:txBody>
          <a:bodyPr/>
          <a:lstStyle/>
          <a:p>
            <a:endParaRPr lang="en-US"/>
          </a:p>
        </p:txBody>
      </p:sp>
      <p:sp>
        <p:nvSpPr>
          <p:cNvPr id="17" name="Shape 17"/>
          <p:cNvSpPr/>
          <p:nvPr/>
        </p:nvSpPr>
        <p:spPr>
          <a:xfrm>
            <a:off x="6065520" y="1572768"/>
            <a:ext cx="73152" cy="1150000"/>
          </a:xfrm>
          <a:prstGeom prst="rect">
            <a:avLst/>
          </a:prstGeom>
          <a:solidFill>
            <a:srgbClr val="0EA5E9"/>
          </a:solidFill>
          <a:ln/>
        </p:spPr>
        <p:txBody>
          <a:bodyPr/>
          <a:lstStyle/>
          <a:p>
            <a:endParaRPr lang="en-US"/>
          </a:p>
        </p:txBody>
      </p:sp>
      <p:sp>
        <p:nvSpPr>
          <p:cNvPr id="18" name="Text 18"/>
          <p:cNvSpPr/>
          <p:nvPr/>
        </p:nvSpPr>
        <p:spPr>
          <a:xfrm>
            <a:off x="6294120" y="1664208"/>
            <a:ext cx="2301240" cy="228600"/>
          </a:xfrm>
          <a:prstGeom prst="rect">
            <a:avLst/>
          </a:prstGeom>
          <a:noFill/>
          <a:ln/>
        </p:spPr>
        <p:txBody>
          <a:bodyPr wrap="square" lIns="0" tIns="0" rIns="0" bIns="0" rtlCol="0" anchor="ctr"/>
          <a:lstStyle/>
          <a:p>
            <a:pPr marL="0" indent="0">
              <a:buNone/>
            </a:pPr>
            <a:r>
              <a:rPr lang="en-US" sz="900" b="1" i="0" kern="0" spc="300" dirty="0">
                <a:solidFill>
                  <a:srgbClr val="64748B"/>
                </a:solidFill>
                <a:latin typeface="Calibri" pitchFamily="34" charset="0"/>
                <a:ea typeface="Calibri" pitchFamily="34" charset="-122"/>
                <a:cs typeface="Calibri" pitchFamily="34" charset="-120"/>
              </a:rPr>
              <a:t>PLAYERS</a:t>
            </a:r>
            <a:endParaRPr lang="en-US" sz="900" dirty="0"/>
          </a:p>
        </p:txBody>
      </p:sp>
      <p:sp>
        <p:nvSpPr>
          <p:cNvPr id="19" name="Text 19"/>
          <p:cNvSpPr/>
          <p:nvPr/>
        </p:nvSpPr>
        <p:spPr>
          <a:xfrm>
            <a:off x="6294120" y="1912768"/>
            <a:ext cx="2301240" cy="520000"/>
          </a:xfrm>
          <a:prstGeom prst="rect">
            <a:avLst/>
          </a:prstGeom>
          <a:noFill/>
          <a:ln/>
        </p:spPr>
        <p:txBody>
          <a:bodyPr wrap="square" lIns="0" tIns="0" rIns="0" bIns="0" rtlCol="0" anchor="ctr"/>
          <a:lstStyle/>
          <a:p>
            <a:pPr marL="0" indent="0">
              <a:buNone/>
            </a:pPr>
            <a:r>
              <a:rPr lang="en-US" sz="3600" b="1" i="0" kern="0" dirty="0">
                <a:solidFill>
                  <a:srgbClr val="1F2937"/>
                </a:solidFill>
                <a:latin typeface="Calibri" pitchFamily="34" charset="0"/>
                <a:ea typeface="Calibri" pitchFamily="34" charset="-122"/>
                <a:cs typeface="Calibri" pitchFamily="34" charset="-120"/>
              </a:rPr>
              <a:t>2,165</a:t>
            </a:r>
            <a:endParaRPr lang="en-US" sz="3600" dirty="0"/>
          </a:p>
        </p:txBody>
      </p:sp>
      <p:sp>
        <p:nvSpPr>
          <p:cNvPr id="20" name="Text 20"/>
          <p:cNvSpPr/>
          <p:nvPr/>
        </p:nvSpPr>
        <p:spPr>
          <a:xfrm>
            <a:off x="6294120" y="2452768"/>
            <a:ext cx="2301240" cy="2286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ranked, men + women</a:t>
            </a:r>
            <a:endParaRPr lang="en-US" sz="1000" dirty="0"/>
          </a:p>
        </p:txBody>
      </p:sp>
      <p:sp>
        <p:nvSpPr>
          <p:cNvPr id="21" name="Shape 21"/>
          <p:cNvSpPr/>
          <p:nvPr/>
        </p:nvSpPr>
        <p:spPr>
          <a:xfrm>
            <a:off x="457200" y="2875168"/>
            <a:ext cx="2621280" cy="1150000"/>
          </a:xfrm>
          <a:prstGeom prst="rect">
            <a:avLst/>
          </a:prstGeom>
          <a:solidFill>
            <a:srgbClr val="FFFFFF"/>
          </a:solidFill>
          <a:ln w="9525">
            <a:solidFill>
              <a:srgbClr val="CFD6DD"/>
            </a:solidFill>
            <a:prstDash val="solid"/>
          </a:ln>
        </p:spPr>
        <p:txBody>
          <a:bodyPr/>
          <a:lstStyle/>
          <a:p>
            <a:endParaRPr lang="en-US"/>
          </a:p>
        </p:txBody>
      </p:sp>
      <p:sp>
        <p:nvSpPr>
          <p:cNvPr id="22" name="Shape 22"/>
          <p:cNvSpPr/>
          <p:nvPr/>
        </p:nvSpPr>
        <p:spPr>
          <a:xfrm>
            <a:off x="457200" y="2875168"/>
            <a:ext cx="2621280" cy="292608"/>
          </a:xfrm>
          <a:prstGeom prst="rect">
            <a:avLst/>
          </a:prstGeom>
          <a:solidFill>
            <a:srgbClr val="0EA5E9"/>
          </a:solidFill>
          <a:ln/>
        </p:spPr>
        <p:txBody>
          <a:bodyPr/>
          <a:lstStyle/>
          <a:p>
            <a:endParaRPr lang="en-US"/>
          </a:p>
        </p:txBody>
      </p:sp>
      <p:sp>
        <p:nvSpPr>
          <p:cNvPr id="23" name="Text 23"/>
          <p:cNvSpPr/>
          <p:nvPr/>
        </p:nvSpPr>
        <p:spPr>
          <a:xfrm>
            <a:off x="594360" y="2875168"/>
            <a:ext cx="2346960" cy="292608"/>
          </a:xfrm>
          <a:prstGeom prst="rect">
            <a:avLst/>
          </a:prstGeom>
          <a:noFill/>
          <a:ln/>
        </p:spPr>
        <p:txBody>
          <a:bodyPr wrap="square" lIns="0" tIns="0" rIns="0" bIns="0" rtlCol="0" anchor="ctr"/>
          <a:lstStyle/>
          <a:p>
            <a:pPr marL="0" indent="0">
              <a:buNone/>
            </a:pPr>
            <a:r>
              <a:rPr lang="en-US" sz="1000" b="1" i="0" kern="0" dirty="0">
                <a:solidFill>
                  <a:srgbClr val="FFFFFF"/>
                </a:solidFill>
                <a:latin typeface="Calibri" pitchFamily="34" charset="0"/>
                <a:ea typeface="Calibri" pitchFamily="34" charset="-122"/>
                <a:cs typeface="Calibri" pitchFamily="34" charset="-120"/>
              </a:rPr>
              <a:t>COVERAGE</a:t>
            </a:r>
            <a:endParaRPr lang="en-US" sz="1000" dirty="0"/>
          </a:p>
        </p:txBody>
      </p:sp>
      <p:sp>
        <p:nvSpPr>
          <p:cNvPr id="24" name="Text 24"/>
          <p:cNvSpPr/>
          <p:nvPr/>
        </p:nvSpPr>
        <p:spPr>
          <a:xfrm>
            <a:off x="594360" y="3213496"/>
            <a:ext cx="2346960" cy="765952"/>
          </a:xfrm>
          <a:prstGeom prst="rect">
            <a:avLst/>
          </a:prstGeom>
          <a:noFill/>
          <a:ln/>
        </p:spPr>
        <p:txBody>
          <a:bodyPr wrap="square" lIns="0" tIns="0" rIns="0" bIns="0" rtlCol="0" anchor="ctr"/>
          <a:lstStyle/>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Round-of-64 → Final</a:t>
            </a:r>
            <a:endParaRPr lang="en-US" sz="1000" dirty="0"/>
          </a:p>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Men 456 · Women 320</a:t>
            </a:r>
            <a:endParaRPr lang="en-US" sz="1000" dirty="0"/>
          </a:p>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P2 350 · P1 340 · Major 86</a:t>
            </a:r>
            <a:endParaRPr lang="en-US" sz="1000" dirty="0"/>
          </a:p>
        </p:txBody>
      </p:sp>
      <p:sp>
        <p:nvSpPr>
          <p:cNvPr id="25" name="Shape 25"/>
          <p:cNvSpPr/>
          <p:nvPr/>
        </p:nvSpPr>
        <p:spPr>
          <a:xfrm>
            <a:off x="3261360" y="2875168"/>
            <a:ext cx="2621280" cy="1150000"/>
          </a:xfrm>
          <a:prstGeom prst="rect">
            <a:avLst/>
          </a:prstGeom>
          <a:solidFill>
            <a:srgbClr val="FFFFFF"/>
          </a:solidFill>
          <a:ln w="9525">
            <a:solidFill>
              <a:srgbClr val="CFD6DD"/>
            </a:solidFill>
            <a:prstDash val="solid"/>
          </a:ln>
        </p:spPr>
        <p:txBody>
          <a:bodyPr/>
          <a:lstStyle/>
          <a:p>
            <a:endParaRPr lang="en-US"/>
          </a:p>
        </p:txBody>
      </p:sp>
      <p:sp>
        <p:nvSpPr>
          <p:cNvPr id="26" name="Shape 26"/>
          <p:cNvSpPr/>
          <p:nvPr/>
        </p:nvSpPr>
        <p:spPr>
          <a:xfrm>
            <a:off x="3261360" y="2875168"/>
            <a:ext cx="2621280" cy="292608"/>
          </a:xfrm>
          <a:prstGeom prst="rect">
            <a:avLst/>
          </a:prstGeom>
          <a:solidFill>
            <a:srgbClr val="0EA5E9"/>
          </a:solidFill>
          <a:ln/>
        </p:spPr>
        <p:txBody>
          <a:bodyPr/>
          <a:lstStyle/>
          <a:p>
            <a:endParaRPr lang="en-US"/>
          </a:p>
        </p:txBody>
      </p:sp>
      <p:sp>
        <p:nvSpPr>
          <p:cNvPr id="27" name="Text 27"/>
          <p:cNvSpPr/>
          <p:nvPr/>
        </p:nvSpPr>
        <p:spPr>
          <a:xfrm>
            <a:off x="3398520" y="2875168"/>
            <a:ext cx="2346960" cy="292608"/>
          </a:xfrm>
          <a:prstGeom prst="rect">
            <a:avLst/>
          </a:prstGeom>
          <a:noFill/>
          <a:ln/>
        </p:spPr>
        <p:txBody>
          <a:bodyPr wrap="square" lIns="0" tIns="0" rIns="0" bIns="0" rtlCol="0" anchor="ctr"/>
          <a:lstStyle/>
          <a:p>
            <a:pPr marL="0" indent="0">
              <a:buNone/>
            </a:pPr>
            <a:r>
              <a:rPr lang="en-US" sz="1000" b="1" i="0" kern="0" dirty="0">
                <a:solidFill>
                  <a:srgbClr val="FFFFFF"/>
                </a:solidFill>
                <a:latin typeface="Calibri" pitchFamily="34" charset="0"/>
                <a:ea typeface="Calibri" pitchFamily="34" charset="-122"/>
                <a:cs typeface="Calibri" pitchFamily="34" charset="-120"/>
              </a:rPr>
              <a:t>PER-MATCH FIELDS</a:t>
            </a:r>
            <a:endParaRPr lang="en-US" sz="1000" dirty="0"/>
          </a:p>
        </p:txBody>
      </p:sp>
      <p:sp>
        <p:nvSpPr>
          <p:cNvPr id="28" name="Text 28"/>
          <p:cNvSpPr/>
          <p:nvPr/>
        </p:nvSpPr>
        <p:spPr>
          <a:xfrm>
            <a:off x="3398520" y="3213496"/>
            <a:ext cx="2346960" cy="765952"/>
          </a:xfrm>
          <a:prstGeom prst="rect">
            <a:avLst/>
          </a:prstGeom>
          <a:noFill/>
          <a:ln/>
        </p:spPr>
        <p:txBody>
          <a:bodyPr wrap="square" lIns="0" tIns="0" rIns="0" bIns="0" rtlCol="0" anchor="ctr"/>
          <a:lstStyle/>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date, round, seeds</a:t>
            </a:r>
            <a:endParaRPr lang="en-US" sz="1000" dirty="0"/>
          </a:p>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player IDs, court sides</a:t>
            </a:r>
            <a:endParaRPr lang="en-US" sz="1000" dirty="0"/>
          </a:p>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set scores, duration</a:t>
            </a:r>
            <a:endParaRPr lang="en-US" sz="1000" dirty="0"/>
          </a:p>
        </p:txBody>
      </p:sp>
      <p:sp>
        <p:nvSpPr>
          <p:cNvPr id="29" name="Shape 29"/>
          <p:cNvSpPr/>
          <p:nvPr/>
        </p:nvSpPr>
        <p:spPr>
          <a:xfrm>
            <a:off x="6065520" y="2875168"/>
            <a:ext cx="2621280" cy="1150000"/>
          </a:xfrm>
          <a:prstGeom prst="rect">
            <a:avLst/>
          </a:prstGeom>
          <a:solidFill>
            <a:srgbClr val="FFFFFF"/>
          </a:solidFill>
          <a:ln w="9525">
            <a:solidFill>
              <a:srgbClr val="CFD6DD"/>
            </a:solidFill>
            <a:prstDash val="solid"/>
          </a:ln>
        </p:spPr>
        <p:txBody>
          <a:bodyPr/>
          <a:lstStyle/>
          <a:p>
            <a:endParaRPr lang="en-US"/>
          </a:p>
        </p:txBody>
      </p:sp>
      <p:sp>
        <p:nvSpPr>
          <p:cNvPr id="30" name="Shape 30"/>
          <p:cNvSpPr/>
          <p:nvPr/>
        </p:nvSpPr>
        <p:spPr>
          <a:xfrm>
            <a:off x="6065520" y="2875168"/>
            <a:ext cx="2621280" cy="292608"/>
          </a:xfrm>
          <a:prstGeom prst="rect">
            <a:avLst/>
          </a:prstGeom>
          <a:solidFill>
            <a:srgbClr val="0EA5E9"/>
          </a:solidFill>
          <a:ln/>
        </p:spPr>
        <p:txBody>
          <a:bodyPr/>
          <a:lstStyle/>
          <a:p>
            <a:endParaRPr lang="en-US"/>
          </a:p>
        </p:txBody>
      </p:sp>
      <p:sp>
        <p:nvSpPr>
          <p:cNvPr id="31" name="Text 31"/>
          <p:cNvSpPr/>
          <p:nvPr/>
        </p:nvSpPr>
        <p:spPr>
          <a:xfrm>
            <a:off x="6202680" y="2875168"/>
            <a:ext cx="2346960" cy="292608"/>
          </a:xfrm>
          <a:prstGeom prst="rect">
            <a:avLst/>
          </a:prstGeom>
          <a:noFill/>
          <a:ln/>
        </p:spPr>
        <p:txBody>
          <a:bodyPr wrap="square" lIns="0" tIns="0" rIns="0" bIns="0" rtlCol="0" anchor="ctr"/>
          <a:lstStyle/>
          <a:p>
            <a:pPr marL="0" indent="0">
              <a:buNone/>
            </a:pPr>
            <a:r>
              <a:rPr lang="en-US" sz="1000" b="1" i="0" kern="0" dirty="0">
                <a:solidFill>
                  <a:srgbClr val="FFFFFF"/>
                </a:solidFill>
                <a:latin typeface="Calibri" pitchFamily="34" charset="0"/>
                <a:ea typeface="Calibri" pitchFamily="34" charset="-122"/>
                <a:cs typeface="Calibri" pitchFamily="34" charset="-120"/>
              </a:rPr>
              <a:t>PER-PLAYER FIELDS</a:t>
            </a:r>
            <a:endParaRPr lang="en-US" sz="1000" dirty="0"/>
          </a:p>
        </p:txBody>
      </p:sp>
      <p:sp>
        <p:nvSpPr>
          <p:cNvPr id="32" name="Text 32"/>
          <p:cNvSpPr/>
          <p:nvPr/>
        </p:nvSpPr>
        <p:spPr>
          <a:xfrm>
            <a:off x="6202680" y="3213496"/>
            <a:ext cx="2346960" cy="765952"/>
          </a:xfrm>
          <a:prstGeom prst="rect">
            <a:avLst/>
          </a:prstGeom>
          <a:noFill/>
          <a:ln/>
        </p:spPr>
        <p:txBody>
          <a:bodyPr wrap="square" lIns="0" tIns="0" rIns="0" bIns="0" rtlCol="0" anchor="ctr"/>
          <a:lstStyle/>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ranking, points</a:t>
            </a:r>
            <a:endParaRPr lang="en-US" sz="1000" dirty="0"/>
          </a:p>
          <a:p>
            <a:pPr marL="0" indent="0">
              <a:spcAft>
                <a:spcPts val="200"/>
              </a:spcAft>
              <a:buNone/>
            </a:pPr>
            <a:r>
              <a:rPr lang="en-US" sz="1000" b="0" dirty="0">
                <a:solidFill>
                  <a:srgbClr val="1F2937"/>
                </a:solidFill>
                <a:latin typeface="Courier New" pitchFamily="34" charset="0"/>
                <a:ea typeface="Courier New" pitchFamily="34" charset="-122"/>
                <a:cs typeface="Courier New" pitchFamily="34" charset="-120"/>
              </a:rPr>
              <a:t>age, nationality</a:t>
            </a:r>
            <a:endParaRPr lang="en-US" sz="1000" dirty="0"/>
          </a:p>
        </p:txBody>
      </p:sp>
      <p:sp>
        <p:nvSpPr>
          <p:cNvPr id="33" name="Text 33"/>
          <p:cNvSpPr/>
          <p:nvPr/>
        </p:nvSpPr>
        <p:spPr>
          <a:xfrm>
            <a:off x="457200" y="4460600"/>
            <a:ext cx="8229600" cy="340000"/>
          </a:xfrm>
          <a:prstGeom prst="rect">
            <a:avLst/>
          </a:prstGeom>
          <a:noFill/>
          <a:ln/>
        </p:spPr>
        <p:txBody>
          <a:bodyPr wrap="square" lIns="0" tIns="0" rIns="0" bIns="0" rtlCol="0" anchor="ctr"/>
          <a:lstStyle/>
          <a:p>
            <a:pPr marL="0" indent="0">
              <a:buNone/>
            </a:pPr>
            <a:r>
              <a:rPr lang="en-US" sz="1000" b="1" i="0" kern="0" dirty="0">
                <a:solidFill>
                  <a:srgbClr val="1E293B"/>
                </a:solidFill>
                <a:latin typeface="Calibri" pitchFamily="34" charset="0"/>
                <a:ea typeface="Calibri" pitchFamily="34" charset="-122"/>
                <a:cs typeface="Calibri" pitchFamily="34" charset="-120"/>
              </a:rPr>
              <a:t>Data hygiene: </a:t>
            </a:r>
            <a:r>
              <a:rPr lang="en-US" sz="1000" b="0" i="0" kern="0" dirty="0">
                <a:solidFill>
                  <a:srgbClr val="64748B"/>
                </a:solidFill>
                <a:latin typeface="Calibri" pitchFamily="34" charset="0"/>
                <a:ea typeface="Calibri" pitchFamily="34" charset="-122"/>
                <a:cs typeface="Calibri" pitchFamily="34" charset="-120"/>
              </a:rPr>
              <a:t>statistics use the 763 matches that finished normally — 13 retired/walkovers excluded. Every raw API response is archived as JSONL before transformation (fetch → archive → clean → SQLite).</a:t>
            </a:r>
            <a:endParaRPr lang="en-US" sz="1000" dirty="0"/>
          </a:p>
        </p:txBody>
      </p:sp>
      <p:sp>
        <p:nvSpPr>
          <p:cNvPr id="34" name="Text 34"/>
          <p:cNvSpPr/>
          <p:nvPr/>
        </p:nvSpPr>
        <p:spPr>
          <a:xfrm>
            <a:off x="365760" y="4846320"/>
            <a:ext cx="7315200" cy="228600"/>
          </a:xfrm>
          <a:prstGeom prst="rect">
            <a:avLst/>
          </a:prstGeom>
          <a:noFill/>
          <a:ln/>
        </p:spPr>
        <p:txBody>
          <a:bodyPr wrap="square" lIns="0" tIns="0" rIns="0" bIns="0" rtlCol="0" anchor="ctr"/>
          <a:lstStyle/>
          <a:p>
            <a:pPr marL="0" indent="0">
              <a:buNone/>
            </a:pPr>
            <a:r>
              <a:rPr lang="en-US" sz="900" b="0" i="0" kern="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5" name="Text 35"/>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b="0" i="0" kern="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36" name="Shape 36"/>
          <p:cNvSpPr/>
          <p:nvPr/>
        </p:nvSpPr>
        <p:spPr>
          <a:xfrm>
            <a:off x="365760" y="384048"/>
            <a:ext cx="64008" cy="292608"/>
          </a:xfrm>
          <a:prstGeom prst="rect">
            <a:avLst/>
          </a:prstGeom>
          <a:solidFill>
            <a:srgbClr val="0EA5E9"/>
          </a:solidFill>
          <a:ln/>
        </p:spPr>
        <p:txBody>
          <a:bodyPr/>
          <a:lstStyle/>
          <a:p>
            <a:endParaRPr lang="en-US"/>
          </a:p>
        </p:txBody>
      </p:sp>
      <p:sp>
        <p:nvSpPr>
          <p:cNvPr id="37" name="Text 37"/>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i="0" kern="0" spc="400" dirty="0">
                <a:solidFill>
                  <a:srgbClr val="64748B"/>
                </a:solidFill>
                <a:latin typeface="Calibri" pitchFamily="34" charset="0"/>
                <a:ea typeface="Calibri" pitchFamily="34" charset="-122"/>
                <a:cs typeface="Calibri" pitchFamily="34" charset="-120"/>
              </a:rPr>
              <a:t>2.5 STATISTICAL TOOLKIT — TESTS</a:t>
            </a:r>
            <a:endParaRPr lang="en-US" sz="1000" dirty="0"/>
          </a:p>
        </p:txBody>
      </p:sp>
      <p:sp>
        <p:nvSpPr>
          <p:cNvPr id="38" name="Text 38"/>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i="0" kern="0" dirty="0">
                <a:solidFill>
                  <a:srgbClr val="1E293B"/>
                </a:solidFill>
                <a:latin typeface="Calibri" pitchFamily="34" charset="0"/>
                <a:ea typeface="Calibri" pitchFamily="34" charset="-122"/>
                <a:cs typeface="Calibri" pitchFamily="34" charset="-120"/>
              </a:rPr>
              <a:t>Four tools, applied the same way every time</a:t>
            </a:r>
            <a:endParaRPr lang="en-US" sz="2600" dirty="0"/>
          </a:p>
        </p:txBody>
      </p:sp>
      <p:sp>
        <p:nvSpPr>
          <p:cNvPr id="39" name="Text 39"/>
          <p:cNvSpPr/>
          <p:nvPr/>
        </p:nvSpPr>
        <p:spPr>
          <a:xfrm>
            <a:off x="457200" y="1180000"/>
            <a:ext cx="8229600" cy="1764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All tests two-sided, α = 0.05 · every proportion carries a 95% Wilson confidence interval · win rates with n &lt; 10 are never shown as claims</a:t>
            </a:r>
            <a:endParaRPr lang="en-US" sz="1000" dirty="0"/>
          </a:p>
        </p:txBody>
      </p:sp>
      <p:sp>
        <p:nvSpPr>
          <p:cNvPr id="40" name="Shape 40"/>
          <p:cNvSpPr/>
          <p:nvPr/>
        </p:nvSpPr>
        <p:spPr>
          <a:xfrm>
            <a:off x="457200" y="1371600"/>
            <a:ext cx="8229600" cy="710000"/>
          </a:xfrm>
          <a:prstGeom prst="rect">
            <a:avLst/>
          </a:prstGeom>
          <a:solidFill>
            <a:srgbClr val="FFFFFF"/>
          </a:solidFill>
          <a:ln w="9525">
            <a:solidFill>
              <a:srgbClr val="CFD6DD"/>
            </a:solidFill>
            <a:prstDash val="solid"/>
          </a:ln>
        </p:spPr>
        <p:txBody>
          <a:bodyPr/>
          <a:lstStyle/>
          <a:p>
            <a:endParaRPr lang="en-US"/>
          </a:p>
        </p:txBody>
      </p:sp>
      <p:sp>
        <p:nvSpPr>
          <p:cNvPr id="41" name="Shape 41"/>
          <p:cNvSpPr/>
          <p:nvPr/>
        </p:nvSpPr>
        <p:spPr>
          <a:xfrm>
            <a:off x="457200" y="1371600"/>
            <a:ext cx="73152" cy="710000"/>
          </a:xfrm>
          <a:prstGeom prst="rect">
            <a:avLst/>
          </a:prstGeom>
          <a:solidFill>
            <a:srgbClr val="0EA5E9"/>
          </a:solidFill>
          <a:ln/>
        </p:spPr>
        <p:txBody>
          <a:bodyPr/>
          <a:lstStyle/>
          <a:p>
            <a:endParaRPr lang="en-US"/>
          </a:p>
        </p:txBody>
      </p:sp>
      <p:sp>
        <p:nvSpPr>
          <p:cNvPr id="42" name="Text 42"/>
          <p:cNvSpPr/>
          <p:nvPr/>
        </p:nvSpPr>
        <p:spPr>
          <a:xfrm>
            <a:off x="685800" y="1436600"/>
            <a:ext cx="7772400" cy="260000"/>
          </a:xfrm>
          <a:prstGeom prst="rect">
            <a:avLst/>
          </a:prstGeom>
          <a:noFill/>
          <a:ln/>
        </p:spPr>
        <p:txBody>
          <a:bodyPr wrap="square" lIns="0" tIns="0" rIns="0" bIns="0" rtlCol="0" anchor="ctr"/>
          <a:lstStyle/>
          <a:p>
            <a:pPr marL="0" indent="0">
              <a:buNone/>
            </a:pPr>
            <a:r>
              <a:rPr lang="en-US" sz="1150" b="1" i="0" kern="0" dirty="0">
                <a:solidFill>
                  <a:srgbClr val="1E293B"/>
                </a:solidFill>
                <a:latin typeface="Calibri" pitchFamily="34" charset="0"/>
                <a:ea typeface="Calibri" pitchFamily="34" charset="-122"/>
                <a:cs typeface="Calibri" pitchFamily="34" charset="-120"/>
              </a:rPr>
              <a:t>Wilson 95% CI  —  </a:t>
            </a:r>
            <a:r>
              <a:rPr lang="en-US" sz="1150" b="1" i="0" kern="0" dirty="0">
                <a:solidFill>
                  <a:srgbClr val="1E293B"/>
                </a:solidFill>
                <a:latin typeface="Cambria" pitchFamily="34" charset="0"/>
                <a:ea typeface="Cambria" pitchFamily="34" charset="-122"/>
                <a:cs typeface="Cambria" pitchFamily="34" charset="-120"/>
              </a:rPr>
              <a:t>(p̂ + z²/2n ± z·√(p̂(1−p̂)/n + z²/4n²)) / (1 + z²/n),  z = 1.96</a:t>
            </a:r>
            <a:endParaRPr lang="en-US" sz="1150" dirty="0"/>
          </a:p>
        </p:txBody>
      </p:sp>
      <p:sp>
        <p:nvSpPr>
          <p:cNvPr id="43" name="Text 43"/>
          <p:cNvSpPr/>
          <p:nvPr/>
        </p:nvSpPr>
        <p:spPr>
          <a:xfrm>
            <a:off x="685800" y="1736600"/>
            <a:ext cx="7772400" cy="2600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Unlike the naive interval it stays inside [0,1] and is reliable for small n.</a:t>
            </a:r>
            <a:endParaRPr lang="en-US" sz="1000" dirty="0"/>
          </a:p>
        </p:txBody>
      </p:sp>
      <p:sp>
        <p:nvSpPr>
          <p:cNvPr id="44" name="Shape 44"/>
          <p:cNvSpPr/>
          <p:nvPr/>
        </p:nvSpPr>
        <p:spPr>
          <a:xfrm>
            <a:off x="457200" y="2173040"/>
            <a:ext cx="8229600" cy="710000"/>
          </a:xfrm>
          <a:prstGeom prst="rect">
            <a:avLst/>
          </a:prstGeom>
          <a:solidFill>
            <a:srgbClr val="FFFFFF"/>
          </a:solidFill>
          <a:ln w="9525">
            <a:solidFill>
              <a:srgbClr val="CFD6DD"/>
            </a:solidFill>
            <a:prstDash val="solid"/>
          </a:ln>
        </p:spPr>
        <p:txBody>
          <a:bodyPr/>
          <a:lstStyle/>
          <a:p>
            <a:endParaRPr lang="en-US"/>
          </a:p>
        </p:txBody>
      </p:sp>
      <p:sp>
        <p:nvSpPr>
          <p:cNvPr id="45" name="Shape 45"/>
          <p:cNvSpPr/>
          <p:nvPr/>
        </p:nvSpPr>
        <p:spPr>
          <a:xfrm>
            <a:off x="457200" y="2173040"/>
            <a:ext cx="73152" cy="710000"/>
          </a:xfrm>
          <a:prstGeom prst="rect">
            <a:avLst/>
          </a:prstGeom>
          <a:solidFill>
            <a:srgbClr val="0EA5E9"/>
          </a:solidFill>
          <a:ln/>
        </p:spPr>
        <p:txBody>
          <a:bodyPr/>
          <a:lstStyle/>
          <a:p>
            <a:endParaRPr lang="en-US"/>
          </a:p>
        </p:txBody>
      </p:sp>
      <p:sp>
        <p:nvSpPr>
          <p:cNvPr id="46" name="Text 46"/>
          <p:cNvSpPr/>
          <p:nvPr/>
        </p:nvSpPr>
        <p:spPr>
          <a:xfrm>
            <a:off x="685800" y="2238040"/>
            <a:ext cx="7772400" cy="260000"/>
          </a:xfrm>
          <a:prstGeom prst="rect">
            <a:avLst/>
          </a:prstGeom>
          <a:noFill/>
          <a:ln/>
        </p:spPr>
        <p:txBody>
          <a:bodyPr wrap="square" lIns="0" tIns="0" rIns="0" bIns="0" rtlCol="0" anchor="ctr"/>
          <a:lstStyle/>
          <a:p>
            <a:pPr marL="0" indent="0">
              <a:buNone/>
            </a:pPr>
            <a:r>
              <a:rPr lang="en-US" sz="1150" b="1" i="0" kern="0" dirty="0">
                <a:solidFill>
                  <a:srgbClr val="1E293B"/>
                </a:solidFill>
                <a:latin typeface="Calibri" pitchFamily="34" charset="0"/>
                <a:ea typeface="Calibri" pitchFamily="34" charset="-122"/>
                <a:cs typeface="Calibri" pitchFamily="34" charset="-120"/>
              </a:rPr>
              <a:t>Binomial test  —  </a:t>
            </a:r>
            <a:r>
              <a:rPr lang="en-US" sz="1150" b="0" i="0" kern="0" dirty="0">
                <a:solidFill>
                  <a:srgbClr val="1E293B"/>
                </a:solidFill>
                <a:latin typeface="Calibri" pitchFamily="34" charset="0"/>
                <a:ea typeface="Calibri" pitchFamily="34" charset="-122"/>
                <a:cs typeface="Calibri" pitchFamily="34" charset="-120"/>
              </a:rPr>
              <a:t>is an observed proportion different from 50/50?</a:t>
            </a:r>
            <a:endParaRPr lang="en-US" sz="1150" dirty="0"/>
          </a:p>
        </p:txBody>
      </p:sp>
      <p:sp>
        <p:nvSpPr>
          <p:cNvPr id="47" name="Text 47"/>
          <p:cNvSpPr/>
          <p:nvPr/>
        </p:nvSpPr>
        <p:spPr>
          <a:xfrm>
            <a:off x="685800" y="2538040"/>
            <a:ext cx="7772400" cy="2600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Used for momentum (86%), favorites (78.5%), upsets (22.4%).</a:t>
            </a:r>
            <a:endParaRPr lang="en-US" sz="1000" dirty="0"/>
          </a:p>
        </p:txBody>
      </p:sp>
      <p:sp>
        <p:nvSpPr>
          <p:cNvPr id="48" name="Shape 48"/>
          <p:cNvSpPr/>
          <p:nvPr/>
        </p:nvSpPr>
        <p:spPr>
          <a:xfrm>
            <a:off x="457200" y="2974480"/>
            <a:ext cx="8229600" cy="710000"/>
          </a:xfrm>
          <a:prstGeom prst="rect">
            <a:avLst/>
          </a:prstGeom>
          <a:solidFill>
            <a:srgbClr val="FFFFFF"/>
          </a:solidFill>
          <a:ln w="9525">
            <a:solidFill>
              <a:srgbClr val="CFD6DD"/>
            </a:solidFill>
            <a:prstDash val="solid"/>
          </a:ln>
        </p:spPr>
        <p:txBody>
          <a:bodyPr/>
          <a:lstStyle/>
          <a:p>
            <a:endParaRPr lang="en-US"/>
          </a:p>
        </p:txBody>
      </p:sp>
      <p:sp>
        <p:nvSpPr>
          <p:cNvPr id="49" name="Shape 49"/>
          <p:cNvSpPr/>
          <p:nvPr/>
        </p:nvSpPr>
        <p:spPr>
          <a:xfrm>
            <a:off x="457200" y="2974480"/>
            <a:ext cx="73152" cy="710000"/>
          </a:xfrm>
          <a:prstGeom prst="rect">
            <a:avLst/>
          </a:prstGeom>
          <a:solidFill>
            <a:srgbClr val="0EA5E9"/>
          </a:solidFill>
          <a:ln/>
        </p:spPr>
        <p:txBody>
          <a:bodyPr/>
          <a:lstStyle/>
          <a:p>
            <a:endParaRPr lang="en-US"/>
          </a:p>
        </p:txBody>
      </p:sp>
      <p:sp>
        <p:nvSpPr>
          <p:cNvPr id="50" name="Text 50"/>
          <p:cNvSpPr/>
          <p:nvPr/>
        </p:nvSpPr>
        <p:spPr>
          <a:xfrm>
            <a:off x="685800" y="3039480"/>
            <a:ext cx="7772400" cy="260000"/>
          </a:xfrm>
          <a:prstGeom prst="rect">
            <a:avLst/>
          </a:prstGeom>
          <a:noFill/>
          <a:ln/>
        </p:spPr>
        <p:txBody>
          <a:bodyPr wrap="square" lIns="0" tIns="0" rIns="0" bIns="0" rtlCol="0" anchor="ctr"/>
          <a:lstStyle/>
          <a:p>
            <a:pPr marL="0" indent="0">
              <a:buNone/>
            </a:pPr>
            <a:r>
              <a:rPr lang="en-US" sz="1150" b="1" i="0" kern="0" dirty="0">
                <a:solidFill>
                  <a:srgbClr val="1E293B"/>
                </a:solidFill>
                <a:latin typeface="Calibri" pitchFamily="34" charset="0"/>
                <a:ea typeface="Calibri" pitchFamily="34" charset="-122"/>
                <a:cs typeface="Calibri" pitchFamily="34" charset="-120"/>
              </a:rPr>
              <a:t>Chi-square test  —  </a:t>
            </a:r>
            <a:r>
              <a:rPr lang="en-US" sz="1150" b="1" i="0" kern="0" dirty="0">
                <a:solidFill>
                  <a:srgbClr val="1E293B"/>
                </a:solidFill>
                <a:latin typeface="Cambria" pitchFamily="34" charset="0"/>
                <a:ea typeface="Cambria" pitchFamily="34" charset="-122"/>
                <a:cs typeface="Cambria" pitchFamily="34" charset="-120"/>
              </a:rPr>
              <a:t>χ² = Σ (O−E)²/E</a:t>
            </a:r>
            <a:r>
              <a:rPr lang="en-US" sz="1150" b="0" i="0" kern="0" dirty="0">
                <a:solidFill>
                  <a:srgbClr val="1E293B"/>
                </a:solidFill>
                <a:latin typeface="Calibri" pitchFamily="34" charset="0"/>
                <a:ea typeface="Calibri" pitchFamily="34" charset="-122"/>
                <a:cs typeface="Calibri" pitchFamily="34" charset="-120"/>
              </a:rPr>
              <a:t>   — are win rates equal across groups?</a:t>
            </a:r>
            <a:endParaRPr lang="en-US" sz="1150" dirty="0"/>
          </a:p>
        </p:txBody>
      </p:sp>
      <p:sp>
        <p:nvSpPr>
          <p:cNvPr id="51" name="Text 51"/>
          <p:cNvSpPr/>
          <p:nvPr/>
        </p:nvSpPr>
        <p:spPr>
          <a:xfrm>
            <a:off x="685800" y="3339480"/>
            <a:ext cx="7772400" cy="2600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Used for the 4 chemistry buckets (1-3, 4-7, 8-15, 16+ matches together).</a:t>
            </a:r>
            <a:endParaRPr lang="en-US" sz="1000" dirty="0"/>
          </a:p>
        </p:txBody>
      </p:sp>
      <p:sp>
        <p:nvSpPr>
          <p:cNvPr id="52" name="Shape 52"/>
          <p:cNvSpPr/>
          <p:nvPr/>
        </p:nvSpPr>
        <p:spPr>
          <a:xfrm>
            <a:off x="457200" y="3775920"/>
            <a:ext cx="8229600" cy="710000"/>
          </a:xfrm>
          <a:prstGeom prst="rect">
            <a:avLst/>
          </a:prstGeom>
          <a:solidFill>
            <a:srgbClr val="FFFFFF"/>
          </a:solidFill>
          <a:ln w="9525">
            <a:solidFill>
              <a:srgbClr val="CFD6DD"/>
            </a:solidFill>
            <a:prstDash val="solid"/>
          </a:ln>
        </p:spPr>
        <p:txBody>
          <a:bodyPr/>
          <a:lstStyle/>
          <a:p>
            <a:endParaRPr lang="en-US"/>
          </a:p>
        </p:txBody>
      </p:sp>
      <p:sp>
        <p:nvSpPr>
          <p:cNvPr id="53" name="Shape 53"/>
          <p:cNvSpPr/>
          <p:nvPr/>
        </p:nvSpPr>
        <p:spPr>
          <a:xfrm>
            <a:off x="457200" y="3775920"/>
            <a:ext cx="73152" cy="710000"/>
          </a:xfrm>
          <a:prstGeom prst="rect">
            <a:avLst/>
          </a:prstGeom>
          <a:solidFill>
            <a:srgbClr val="0EA5E9"/>
          </a:solidFill>
          <a:ln/>
        </p:spPr>
        <p:txBody>
          <a:bodyPr/>
          <a:lstStyle/>
          <a:p>
            <a:endParaRPr lang="en-US"/>
          </a:p>
        </p:txBody>
      </p:sp>
      <p:sp>
        <p:nvSpPr>
          <p:cNvPr id="54" name="Text 54"/>
          <p:cNvSpPr/>
          <p:nvPr/>
        </p:nvSpPr>
        <p:spPr>
          <a:xfrm>
            <a:off x="685800" y="3840920"/>
            <a:ext cx="7772400" cy="260000"/>
          </a:xfrm>
          <a:prstGeom prst="rect">
            <a:avLst/>
          </a:prstGeom>
          <a:noFill/>
          <a:ln/>
        </p:spPr>
        <p:txBody>
          <a:bodyPr wrap="square" lIns="0" tIns="0" rIns="0" bIns="0" rtlCol="0" anchor="ctr"/>
          <a:lstStyle/>
          <a:p>
            <a:pPr marL="0" indent="0">
              <a:buNone/>
            </a:pPr>
            <a:r>
              <a:rPr lang="en-US" sz="1150" b="1" i="0" kern="0" dirty="0">
                <a:solidFill>
                  <a:srgbClr val="1E293B"/>
                </a:solidFill>
                <a:latin typeface="Calibri" pitchFamily="34" charset="0"/>
                <a:ea typeface="Calibri" pitchFamily="34" charset="-122"/>
                <a:cs typeface="Calibri" pitchFamily="34" charset="-120"/>
              </a:rPr>
              <a:t>Welch t-test  —  </a:t>
            </a:r>
            <a:r>
              <a:rPr lang="en-US" sz="1150" b="1" i="0" kern="0" dirty="0">
                <a:solidFill>
                  <a:srgbClr val="1E293B"/>
                </a:solidFill>
                <a:latin typeface="Cambria" pitchFamily="34" charset="0"/>
                <a:ea typeface="Cambria" pitchFamily="34" charset="-122"/>
                <a:cs typeface="Cambria" pitchFamily="34" charset="-120"/>
              </a:rPr>
              <a:t>t = (x̄₁−x̄₂) / √(s₁²/n₁ + s₂²/n₂)</a:t>
            </a:r>
            <a:endParaRPr lang="en-US" sz="1150" dirty="0"/>
          </a:p>
        </p:txBody>
      </p:sp>
      <p:sp>
        <p:nvSpPr>
          <p:cNvPr id="55" name="Text 55"/>
          <p:cNvSpPr/>
          <p:nvPr/>
        </p:nvSpPr>
        <p:spPr>
          <a:xfrm>
            <a:off x="685800" y="4140920"/>
            <a:ext cx="7772400" cy="2600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Difference of means without assuming equal variance — used for match durations.</a:t>
            </a:r>
            <a:endParaRPr lang="en-US" sz="1000" dirty="0"/>
          </a:p>
        </p:txBody>
      </p:sp>
      <p:sp>
        <p:nvSpPr>
          <p:cNvPr id="56" name="Text 56"/>
          <p:cNvSpPr/>
          <p:nvPr/>
        </p:nvSpPr>
        <p:spPr>
          <a:xfrm>
            <a:off x="365760" y="4846320"/>
            <a:ext cx="7315200" cy="228600"/>
          </a:xfrm>
          <a:prstGeom prst="rect">
            <a:avLst/>
          </a:prstGeom>
          <a:noFill/>
          <a:ln/>
        </p:spPr>
        <p:txBody>
          <a:bodyPr wrap="square" lIns="0" tIns="0" rIns="0" bIns="0" rtlCol="0" anchor="ctr"/>
          <a:lstStyle/>
          <a:p>
            <a:pPr marL="0" indent="0">
              <a:buNone/>
            </a:pPr>
            <a:r>
              <a:rPr lang="en-US" sz="900" b="0" i="0" kern="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57" name="Text 57"/>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b="0" i="0" kern="0" dirty="0">
                <a:solidFill>
                  <a:srgbClr val="64748B"/>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58" name="Shape 58"/>
          <p:cNvSpPr/>
          <p:nvPr/>
        </p:nvSpPr>
        <p:spPr>
          <a:xfrm>
            <a:off x="365760" y="384048"/>
            <a:ext cx="64008" cy="292608"/>
          </a:xfrm>
          <a:prstGeom prst="rect">
            <a:avLst/>
          </a:prstGeom>
          <a:solidFill>
            <a:srgbClr val="0EA5E9"/>
          </a:solidFill>
          <a:ln/>
        </p:spPr>
        <p:txBody>
          <a:bodyPr/>
          <a:lstStyle/>
          <a:p>
            <a:endParaRPr lang="en-US"/>
          </a:p>
        </p:txBody>
      </p:sp>
      <p:sp>
        <p:nvSpPr>
          <p:cNvPr id="59" name="Text 59"/>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i="0" kern="0" spc="400" dirty="0">
                <a:solidFill>
                  <a:srgbClr val="64748B"/>
                </a:solidFill>
                <a:latin typeface="Calibri" pitchFamily="34" charset="0"/>
                <a:ea typeface="Calibri" pitchFamily="34" charset="-122"/>
                <a:cs typeface="Calibri" pitchFamily="34" charset="-120"/>
              </a:rPr>
              <a:t>2.6 STATISTICAL TOOLKIT — MODELS</a:t>
            </a:r>
            <a:endParaRPr lang="en-US" sz="1000" dirty="0"/>
          </a:p>
        </p:txBody>
      </p:sp>
      <p:sp>
        <p:nvSpPr>
          <p:cNvPr id="60" name="Text 60"/>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i="0" kern="0" dirty="0">
                <a:solidFill>
                  <a:srgbClr val="1E293B"/>
                </a:solidFill>
                <a:latin typeface="Calibri" pitchFamily="34" charset="0"/>
                <a:ea typeface="Calibri" pitchFamily="34" charset="-122"/>
                <a:cs typeface="Calibri" pitchFamily="34" charset="-120"/>
              </a:rPr>
              <a:t>Two models turn tests into predictions</a:t>
            </a:r>
            <a:endParaRPr lang="en-US" sz="2600" dirty="0"/>
          </a:p>
        </p:txBody>
      </p:sp>
      <p:sp>
        <p:nvSpPr>
          <p:cNvPr id="61" name="Shape 61"/>
          <p:cNvSpPr/>
          <p:nvPr/>
        </p:nvSpPr>
        <p:spPr>
          <a:xfrm>
            <a:off x="457200" y="1371600"/>
            <a:ext cx="8229600" cy="960120"/>
          </a:xfrm>
          <a:prstGeom prst="rect">
            <a:avLst/>
          </a:prstGeom>
          <a:solidFill>
            <a:srgbClr val="FFFFFF"/>
          </a:solidFill>
          <a:ln w="9525">
            <a:solidFill>
              <a:srgbClr val="CFD6DD"/>
            </a:solidFill>
            <a:prstDash val="solid"/>
          </a:ln>
        </p:spPr>
        <p:txBody>
          <a:bodyPr/>
          <a:lstStyle/>
          <a:p>
            <a:endParaRPr lang="en-US"/>
          </a:p>
        </p:txBody>
      </p:sp>
      <p:sp>
        <p:nvSpPr>
          <p:cNvPr id="62" name="Shape 62"/>
          <p:cNvSpPr/>
          <p:nvPr/>
        </p:nvSpPr>
        <p:spPr>
          <a:xfrm>
            <a:off x="457200" y="1371600"/>
            <a:ext cx="73152" cy="960120"/>
          </a:xfrm>
          <a:prstGeom prst="rect">
            <a:avLst/>
          </a:prstGeom>
          <a:solidFill>
            <a:srgbClr val="0EA5E9"/>
          </a:solidFill>
          <a:ln/>
        </p:spPr>
        <p:txBody>
          <a:bodyPr/>
          <a:lstStyle/>
          <a:p>
            <a:endParaRPr lang="en-US"/>
          </a:p>
        </p:txBody>
      </p:sp>
      <p:sp>
        <p:nvSpPr>
          <p:cNvPr id="63" name="Text 63"/>
          <p:cNvSpPr/>
          <p:nvPr/>
        </p:nvSpPr>
        <p:spPr>
          <a:xfrm>
            <a:off x="685800" y="1463040"/>
            <a:ext cx="2011680" cy="274320"/>
          </a:xfrm>
          <a:prstGeom prst="rect">
            <a:avLst/>
          </a:prstGeom>
          <a:noFill/>
          <a:ln/>
        </p:spPr>
        <p:txBody>
          <a:bodyPr wrap="square" lIns="0" tIns="0" rIns="0" bIns="0" rtlCol="0" anchor="ctr"/>
          <a:lstStyle/>
          <a:p>
            <a:pPr marL="0" indent="0">
              <a:buNone/>
            </a:pPr>
            <a:r>
              <a:rPr lang="en-US" sz="900" b="1" i="0" kern="0" spc="300" dirty="0">
                <a:solidFill>
                  <a:srgbClr val="64748B"/>
                </a:solidFill>
                <a:latin typeface="Calibri" pitchFamily="34" charset="0"/>
                <a:ea typeface="Calibri" pitchFamily="34" charset="-122"/>
                <a:cs typeface="Calibri" pitchFamily="34" charset="-120"/>
              </a:rPr>
              <a:t>LOGISTIC MODEL</a:t>
            </a:r>
            <a:endParaRPr lang="en-US" sz="900" dirty="0"/>
          </a:p>
        </p:txBody>
      </p:sp>
      <p:sp>
        <p:nvSpPr>
          <p:cNvPr id="64" name="Text 64"/>
          <p:cNvSpPr/>
          <p:nvPr/>
        </p:nvSpPr>
        <p:spPr>
          <a:xfrm>
            <a:off x="685800" y="1691640"/>
            <a:ext cx="2300000" cy="340000"/>
          </a:xfrm>
          <a:prstGeom prst="rect">
            <a:avLst/>
          </a:prstGeom>
          <a:noFill/>
          <a:ln/>
        </p:spPr>
        <p:txBody>
          <a:bodyPr wrap="square" lIns="0" tIns="0" rIns="0" bIns="0" rtlCol="0" anchor="ctr"/>
          <a:lstStyle/>
          <a:p>
            <a:pPr marL="0" indent="0">
              <a:buNone/>
            </a:pPr>
            <a:r>
              <a:rPr lang="en-US" sz="2800" b="1" i="0" kern="0" dirty="0">
                <a:solidFill>
                  <a:srgbClr val="1F2937"/>
                </a:solidFill>
                <a:latin typeface="Calibri" pitchFamily="34" charset="0"/>
                <a:ea typeface="Calibri" pitchFamily="34" charset="-122"/>
                <a:cs typeface="Calibri" pitchFamily="34" charset="-120"/>
              </a:rPr>
              <a:t>AUC 0.88</a:t>
            </a:r>
            <a:endParaRPr lang="en-US" sz="2800" dirty="0"/>
          </a:p>
        </p:txBody>
      </p:sp>
      <p:sp>
        <p:nvSpPr>
          <p:cNvPr id="65" name="Text 65"/>
          <p:cNvSpPr/>
          <p:nvPr/>
        </p:nvSpPr>
        <p:spPr>
          <a:xfrm>
            <a:off x="685800" y="2071720"/>
            <a:ext cx="2300000" cy="2286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decile calib. vs y = x</a:t>
            </a:r>
            <a:endParaRPr lang="en-US" sz="1000" dirty="0"/>
          </a:p>
        </p:txBody>
      </p:sp>
      <p:sp>
        <p:nvSpPr>
          <p:cNvPr id="66" name="Text 66"/>
          <p:cNvSpPr/>
          <p:nvPr/>
        </p:nvSpPr>
        <p:spPr>
          <a:xfrm>
            <a:off x="2834640" y="1371600"/>
            <a:ext cx="5669280" cy="960120"/>
          </a:xfrm>
          <a:prstGeom prst="rect">
            <a:avLst/>
          </a:prstGeom>
          <a:noFill/>
          <a:ln/>
        </p:spPr>
        <p:txBody>
          <a:bodyPr wrap="square" lIns="0" tIns="0" rIns="0" bIns="0" rtlCol="0" anchor="ctr"/>
          <a:lstStyle/>
          <a:p>
            <a:pPr marL="0" indent="0">
              <a:buNone/>
            </a:pPr>
            <a:r>
              <a:rPr lang="en-US" sz="1200" b="0" i="0" kern="0" dirty="0">
                <a:solidFill>
                  <a:srgbClr val="1F2937"/>
                </a:solidFill>
                <a:latin typeface="Calibri" pitchFamily="34" charset="0"/>
                <a:ea typeface="Calibri" pitchFamily="34" charset="-122"/>
                <a:cs typeface="Calibri" pitchFamily="34" charset="-120"/>
              </a:rPr>
              <a:t>P(team1 wins) = 1 / (1 + e^−(β₀ + β₁·log(pts₁/pts₂))) — log of the points ratio, because ranking advantages act multiplicatively. In 88% of winner-loser pairs the model ranked the winner higher.</a:t>
            </a:r>
            <a:endParaRPr lang="en-US" sz="1200" dirty="0"/>
          </a:p>
        </p:txBody>
      </p:sp>
      <p:sp>
        <p:nvSpPr>
          <p:cNvPr id="67" name="Shape 67"/>
          <p:cNvSpPr/>
          <p:nvPr/>
        </p:nvSpPr>
        <p:spPr>
          <a:xfrm>
            <a:off x="457200" y="2450592"/>
            <a:ext cx="8229600" cy="960120"/>
          </a:xfrm>
          <a:prstGeom prst="rect">
            <a:avLst/>
          </a:prstGeom>
          <a:solidFill>
            <a:srgbClr val="FFFFFF"/>
          </a:solidFill>
          <a:ln w="9525">
            <a:solidFill>
              <a:srgbClr val="CFD6DD"/>
            </a:solidFill>
            <a:prstDash val="solid"/>
          </a:ln>
        </p:spPr>
        <p:txBody>
          <a:bodyPr/>
          <a:lstStyle/>
          <a:p>
            <a:endParaRPr lang="en-US"/>
          </a:p>
        </p:txBody>
      </p:sp>
      <p:sp>
        <p:nvSpPr>
          <p:cNvPr id="68" name="Shape 68"/>
          <p:cNvSpPr/>
          <p:nvPr/>
        </p:nvSpPr>
        <p:spPr>
          <a:xfrm>
            <a:off x="457200" y="2450592"/>
            <a:ext cx="73152" cy="960120"/>
          </a:xfrm>
          <a:prstGeom prst="rect">
            <a:avLst/>
          </a:prstGeom>
          <a:solidFill>
            <a:srgbClr val="0EA5E9"/>
          </a:solidFill>
          <a:ln/>
        </p:spPr>
        <p:txBody>
          <a:bodyPr/>
          <a:lstStyle/>
          <a:p>
            <a:endParaRPr lang="en-US"/>
          </a:p>
        </p:txBody>
      </p:sp>
      <p:sp>
        <p:nvSpPr>
          <p:cNvPr id="69" name="Text 69"/>
          <p:cNvSpPr/>
          <p:nvPr/>
        </p:nvSpPr>
        <p:spPr>
          <a:xfrm>
            <a:off x="685800" y="2542032"/>
            <a:ext cx="2011680" cy="274320"/>
          </a:xfrm>
          <a:prstGeom prst="rect">
            <a:avLst/>
          </a:prstGeom>
          <a:noFill/>
          <a:ln/>
        </p:spPr>
        <p:txBody>
          <a:bodyPr wrap="square" lIns="0" tIns="0" rIns="0" bIns="0" rtlCol="0" anchor="ctr"/>
          <a:lstStyle/>
          <a:p>
            <a:pPr marL="0" indent="0">
              <a:buNone/>
            </a:pPr>
            <a:r>
              <a:rPr lang="en-US" sz="900" b="1" i="0" kern="0" spc="300" dirty="0">
                <a:solidFill>
                  <a:srgbClr val="64748B"/>
                </a:solidFill>
                <a:latin typeface="Calibri" pitchFamily="34" charset="0"/>
                <a:ea typeface="Calibri" pitchFamily="34" charset="-122"/>
                <a:cs typeface="Calibri" pitchFamily="34" charset="-120"/>
              </a:rPr>
              <a:t>ELO ENGINE</a:t>
            </a:r>
            <a:endParaRPr lang="en-US" sz="900" dirty="0"/>
          </a:p>
        </p:txBody>
      </p:sp>
      <p:sp>
        <p:nvSpPr>
          <p:cNvPr id="70" name="Text 70"/>
          <p:cNvSpPr/>
          <p:nvPr/>
        </p:nvSpPr>
        <p:spPr>
          <a:xfrm>
            <a:off x="685800" y="2770632"/>
            <a:ext cx="2300000" cy="340000"/>
          </a:xfrm>
          <a:prstGeom prst="rect">
            <a:avLst/>
          </a:prstGeom>
          <a:noFill/>
          <a:ln/>
        </p:spPr>
        <p:txBody>
          <a:bodyPr wrap="square" lIns="0" tIns="0" rIns="0" bIns="0" rtlCol="0" anchor="ctr"/>
          <a:lstStyle/>
          <a:p>
            <a:pPr marL="0" indent="0">
              <a:buNone/>
            </a:pPr>
            <a:r>
              <a:rPr lang="en-US" sz="2800" b="1" i="0" kern="0" dirty="0">
                <a:solidFill>
                  <a:srgbClr val="1F2937"/>
                </a:solidFill>
                <a:latin typeface="Calibri" pitchFamily="34" charset="0"/>
                <a:ea typeface="Calibri" pitchFamily="34" charset="-122"/>
                <a:cs typeface="Calibri" pitchFamily="34" charset="-120"/>
              </a:rPr>
              <a:t>K = 32</a:t>
            </a:r>
            <a:endParaRPr lang="en-US" sz="2800" dirty="0"/>
          </a:p>
        </p:txBody>
      </p:sp>
      <p:sp>
        <p:nvSpPr>
          <p:cNvPr id="71" name="Text 71"/>
          <p:cNvSpPr/>
          <p:nvPr/>
        </p:nvSpPr>
        <p:spPr>
          <a:xfrm>
            <a:off x="685800" y="3150712"/>
            <a:ext cx="2300000" cy="228600"/>
          </a:xfrm>
          <a:prstGeom prst="rect">
            <a:avLst/>
          </a:prstGeom>
          <a:noFill/>
          <a:ln/>
        </p:spPr>
        <p:txBody>
          <a:bodyPr wrap="square" lIns="0" tIns="0" rIns="0" bIns="0" rtlCol="0" anchor="ctr"/>
          <a:lstStyle/>
          <a:p>
            <a:pPr marL="0" indent="0">
              <a:buNone/>
            </a:pPr>
            <a:r>
              <a:rPr lang="en-US" sz="1000" b="0" i="1" kern="0" dirty="0">
                <a:solidFill>
                  <a:srgbClr val="64748B"/>
                </a:solidFill>
                <a:latin typeface="Calibri" pitchFamily="34" charset="0"/>
                <a:ea typeface="Calibri" pitchFamily="34" charset="-122"/>
                <a:cs typeface="Calibri" pitchFamily="34" charset="-120"/>
              </a:rPr>
              <a:t>start 1500, chronological</a:t>
            </a:r>
            <a:endParaRPr lang="en-US" sz="1000" dirty="0"/>
          </a:p>
        </p:txBody>
      </p:sp>
      <p:sp>
        <p:nvSpPr>
          <p:cNvPr id="72" name="Text 72"/>
          <p:cNvSpPr/>
          <p:nvPr/>
        </p:nvSpPr>
        <p:spPr>
          <a:xfrm>
            <a:off x="2834640" y="2450592"/>
            <a:ext cx="5669280" cy="960120"/>
          </a:xfrm>
          <a:prstGeom prst="rect">
            <a:avLst/>
          </a:prstGeom>
          <a:noFill/>
          <a:ln/>
        </p:spPr>
        <p:txBody>
          <a:bodyPr wrap="square" lIns="0" tIns="0" rIns="0" bIns="0" rtlCol="0" anchor="ctr"/>
          <a:lstStyle/>
          <a:p>
            <a:pPr marL="0" indent="0">
              <a:buNone/>
            </a:pPr>
            <a:r>
              <a:rPr lang="en-US" sz="1200" b="0" i="0" kern="0" dirty="0">
                <a:solidFill>
                  <a:srgbClr val="1F2937"/>
                </a:solidFill>
                <a:latin typeface="Calibri" pitchFamily="34" charset="0"/>
                <a:ea typeface="Calibri" pitchFamily="34" charset="-122"/>
                <a:cs typeface="Calibri" pitchFamily="34" charset="-120"/>
              </a:rPr>
              <a:t>Expected score E_A = 1/(1+10^((R_B−R_A)/400)); update R′_A = R_A + K·(S_A−E_A), zero-sum and unit-tested. Disagreement between Elo and official points is the over/under-rated-players insight.</a:t>
            </a:r>
            <a:endParaRPr lang="en-US" sz="1200" dirty="0"/>
          </a:p>
        </p:txBody>
      </p:sp>
      <p:sp>
        <p:nvSpPr>
          <p:cNvPr id="79" name="Text 79"/>
          <p:cNvSpPr/>
          <p:nvPr/>
        </p:nvSpPr>
        <p:spPr>
          <a:xfrm>
            <a:off x="457200" y="3712000"/>
            <a:ext cx="8229600" cy="256032"/>
          </a:xfrm>
          <a:prstGeom prst="rect">
            <a:avLst/>
          </a:prstGeom>
          <a:noFill/>
          <a:ln/>
        </p:spPr>
        <p:txBody>
          <a:bodyPr wrap="square" lIns="0" tIns="0" rIns="0" bIns="0" rtlCol="0" anchor="ctr"/>
          <a:lstStyle/>
          <a:p>
            <a:pPr marL="0" indent="0">
              <a:buNone/>
            </a:pPr>
            <a:r>
              <a:rPr lang="en-US" sz="1000" b="0" i="0" kern="0" dirty="0">
                <a:solidFill>
                  <a:srgbClr val="64748B"/>
                </a:solidFill>
                <a:latin typeface="Calibri" pitchFamily="34" charset="0"/>
                <a:ea typeface="Calibri" pitchFamily="34" charset="-122"/>
                <a:cs typeface="Calibri" pitchFamily="34" charset="-120"/>
              </a:rPr>
              <a:t>All implemented in analytics.py — 12/12 unit tests passing.</a:t>
            </a:r>
            <a:endParaRPr lang="en-US" sz="1000" dirty="0"/>
          </a:p>
        </p:txBody>
      </p:sp>
      <p:sp>
        <p:nvSpPr>
          <p:cNvPr id="80" name="Text 80"/>
          <p:cNvSpPr/>
          <p:nvPr/>
        </p:nvSpPr>
        <p:spPr>
          <a:xfrm>
            <a:off x="365760" y="4846320"/>
            <a:ext cx="7315200" cy="228600"/>
          </a:xfrm>
          <a:prstGeom prst="rect">
            <a:avLst/>
          </a:prstGeom>
          <a:noFill/>
          <a:ln/>
        </p:spPr>
        <p:txBody>
          <a:bodyPr wrap="square" lIns="0" tIns="0" rIns="0" bIns="0" rtlCol="0" anchor="ctr"/>
          <a:lstStyle/>
          <a:p>
            <a:pPr marL="0" indent="0">
              <a:buNone/>
            </a:pPr>
            <a:r>
              <a:rPr lang="en-US" sz="900" b="0" i="0" kern="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81" name="Text 81"/>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b="0" i="0" kern="0" dirty="0">
                <a:solidFill>
                  <a:srgbClr val="64748B"/>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2.7 FINDINGS — MOMENTUM &amp; CHEMISTRY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The first set decides a lot. Chemistry takes longer.</a:t>
            </a:r>
            <a:endParaRPr lang="en-US" sz="2600" dirty="0"/>
          </a:p>
        </p:txBody>
      </p:sp>
      <p:sp>
        <p:nvSpPr>
          <p:cNvPr id="5" name="Shape 3"/>
          <p:cNvSpPr/>
          <p:nvPr/>
        </p:nvSpPr>
        <p:spPr>
          <a:xfrm>
            <a:off x="457200" y="1371600"/>
            <a:ext cx="8229600" cy="96012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73152" cy="960120"/>
          </a:xfrm>
          <a:prstGeom prst="rect">
            <a:avLst/>
          </a:prstGeom>
          <a:solidFill>
            <a:srgbClr val="0EA5E9"/>
          </a:solidFill>
          <a:ln/>
        </p:spPr>
        <p:txBody>
          <a:bodyPr/>
          <a:lstStyle/>
          <a:p>
            <a:endParaRPr lang="en-US"/>
          </a:p>
        </p:txBody>
      </p:sp>
      <p:sp>
        <p:nvSpPr>
          <p:cNvPr id="7" name="Text 5"/>
          <p:cNvSpPr/>
          <p:nvPr/>
        </p:nvSpPr>
        <p:spPr>
          <a:xfrm>
            <a:off x="685800" y="1463040"/>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MOMENTUM</a:t>
            </a:r>
            <a:endParaRPr lang="en-US" sz="900" dirty="0"/>
          </a:p>
        </p:txBody>
      </p:sp>
      <p:sp>
        <p:nvSpPr>
          <p:cNvPr id="8" name="Text 6"/>
          <p:cNvSpPr/>
          <p:nvPr/>
        </p:nvSpPr>
        <p:spPr>
          <a:xfrm>
            <a:off x="685800" y="1691640"/>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86%</a:t>
            </a:r>
            <a:endParaRPr lang="en-US" sz="2800" dirty="0"/>
          </a:p>
        </p:txBody>
      </p:sp>
      <p:sp>
        <p:nvSpPr>
          <p:cNvPr id="9" name="Text 7"/>
          <p:cNvSpPr/>
          <p:nvPr/>
        </p:nvSpPr>
        <p:spPr>
          <a:xfrm>
            <a:off x="685800" y="2148840"/>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win match after set 1</a:t>
            </a:r>
            <a:endParaRPr lang="en-US" sz="1000" dirty="0"/>
          </a:p>
        </p:txBody>
      </p:sp>
      <p:sp>
        <p:nvSpPr>
          <p:cNvPr id="10" name="Text 8"/>
          <p:cNvSpPr/>
          <p:nvPr/>
        </p:nvSpPr>
        <p:spPr>
          <a:xfrm>
            <a:off x="2834640" y="1371600"/>
            <a:ext cx="5669280" cy="960120"/>
          </a:xfrm>
          <a:prstGeom prst="rect">
            <a:avLst/>
          </a:prstGeom>
          <a:noFill/>
          <a:ln/>
        </p:spPr>
        <p:txBody>
          <a:bodyPr wrap="square" lIns="0" tIns="0" rIns="0" bIns="0" rtlCol="0" anchor="ctr"/>
          <a:lstStyle/>
          <a:p>
            <a:pPr marL="0" indent="0">
              <a:buNone/>
            </a:pPr>
            <a:r>
              <a:rPr lang="en-US" sz="1250" dirty="0">
                <a:solidFill>
                  <a:srgbClr val="1F2937"/>
                </a:solidFill>
              </a:rPr>
              <a:t>n=668, p&lt;0.001 — consistent across gender and level. A near-decisive early lead.</a:t>
            </a:r>
            <a:endParaRPr lang="en-US" sz="1250" dirty="0"/>
          </a:p>
        </p:txBody>
      </p:sp>
      <p:sp>
        <p:nvSpPr>
          <p:cNvPr id="11" name="Shape 9"/>
          <p:cNvSpPr/>
          <p:nvPr/>
        </p:nvSpPr>
        <p:spPr>
          <a:xfrm>
            <a:off x="457200" y="2450592"/>
            <a:ext cx="8229600" cy="960120"/>
          </a:xfrm>
          <a:prstGeom prst="rect">
            <a:avLst/>
          </a:prstGeom>
          <a:solidFill>
            <a:srgbClr val="FFFFFF"/>
          </a:solidFill>
          <a:ln w="9525">
            <a:solidFill>
              <a:srgbClr val="CFD6DD"/>
            </a:solidFill>
            <a:prstDash val="solid"/>
          </a:ln>
        </p:spPr>
        <p:txBody>
          <a:bodyPr/>
          <a:lstStyle/>
          <a:p>
            <a:endParaRPr lang="en-US"/>
          </a:p>
        </p:txBody>
      </p:sp>
      <p:sp>
        <p:nvSpPr>
          <p:cNvPr id="12" name="Shape 10"/>
          <p:cNvSpPr/>
          <p:nvPr/>
        </p:nvSpPr>
        <p:spPr>
          <a:xfrm>
            <a:off x="457200" y="2450592"/>
            <a:ext cx="73152" cy="960120"/>
          </a:xfrm>
          <a:prstGeom prst="rect">
            <a:avLst/>
          </a:prstGeom>
          <a:solidFill>
            <a:srgbClr val="0EA5E9"/>
          </a:solidFill>
          <a:ln/>
        </p:spPr>
        <p:txBody>
          <a:bodyPr/>
          <a:lstStyle/>
          <a:p>
            <a:endParaRPr lang="en-US"/>
          </a:p>
        </p:txBody>
      </p:sp>
      <p:sp>
        <p:nvSpPr>
          <p:cNvPr id="13" name="Text 11"/>
          <p:cNvSpPr/>
          <p:nvPr/>
        </p:nvSpPr>
        <p:spPr>
          <a:xfrm>
            <a:off x="685800" y="2542032"/>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DECIDING SET</a:t>
            </a:r>
            <a:endParaRPr lang="en-US" sz="900" dirty="0"/>
          </a:p>
        </p:txBody>
      </p:sp>
      <p:sp>
        <p:nvSpPr>
          <p:cNvPr id="14" name="Text 12"/>
          <p:cNvSpPr/>
          <p:nvPr/>
        </p:nvSpPr>
        <p:spPr>
          <a:xfrm>
            <a:off x="685800" y="2770632"/>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~49%</a:t>
            </a:r>
            <a:endParaRPr lang="en-US" sz="2800" dirty="0"/>
          </a:p>
        </p:txBody>
      </p:sp>
      <p:sp>
        <p:nvSpPr>
          <p:cNvPr id="15" name="Text 13"/>
          <p:cNvSpPr/>
          <p:nvPr/>
        </p:nvSpPr>
        <p:spPr>
          <a:xfrm>
            <a:off x="685800" y="3227832"/>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coin flip in a decider</a:t>
            </a:r>
            <a:endParaRPr lang="en-US" sz="1000" dirty="0"/>
          </a:p>
        </p:txBody>
      </p:sp>
      <p:sp>
        <p:nvSpPr>
          <p:cNvPr id="16" name="Text 14"/>
          <p:cNvSpPr/>
          <p:nvPr/>
        </p:nvSpPr>
        <p:spPr>
          <a:xfrm>
            <a:off x="2834640" y="2450592"/>
            <a:ext cx="5669280" cy="960120"/>
          </a:xfrm>
          <a:prstGeom prst="rect">
            <a:avLst/>
          </a:prstGeom>
          <a:noFill/>
          <a:ln/>
        </p:spPr>
        <p:txBody>
          <a:bodyPr wrap="square" lIns="0" tIns="0" rIns="0" bIns="0" rtlCol="0" anchor="ctr"/>
          <a:lstStyle/>
          <a:p>
            <a:pPr marL="0" indent="0">
              <a:buNone/>
            </a:pPr>
            <a:r>
              <a:rPr lang="en-US" sz="1250" dirty="0">
                <a:solidFill>
                  <a:srgbClr val="1F2937"/>
                </a:solidFill>
              </a:rPr>
              <a:t>Once a match actually reaches a 3rd set, the set-1 winner's edge evaporates (n=207).</a:t>
            </a:r>
            <a:endParaRPr lang="en-US" sz="1250" dirty="0"/>
          </a:p>
        </p:txBody>
      </p:sp>
      <p:sp>
        <p:nvSpPr>
          <p:cNvPr id="17" name="Shape 15"/>
          <p:cNvSpPr/>
          <p:nvPr/>
        </p:nvSpPr>
        <p:spPr>
          <a:xfrm>
            <a:off x="457200" y="3529584"/>
            <a:ext cx="8229600" cy="960120"/>
          </a:xfrm>
          <a:prstGeom prst="rect">
            <a:avLst/>
          </a:prstGeom>
          <a:solidFill>
            <a:srgbClr val="FFFFFF"/>
          </a:solidFill>
          <a:ln w="9525">
            <a:solidFill>
              <a:srgbClr val="CFD6DD"/>
            </a:solidFill>
            <a:prstDash val="solid"/>
          </a:ln>
        </p:spPr>
        <p:txBody>
          <a:bodyPr/>
          <a:lstStyle/>
          <a:p>
            <a:endParaRPr lang="en-US"/>
          </a:p>
        </p:txBody>
      </p:sp>
      <p:sp>
        <p:nvSpPr>
          <p:cNvPr id="18" name="Shape 16"/>
          <p:cNvSpPr/>
          <p:nvPr/>
        </p:nvSpPr>
        <p:spPr>
          <a:xfrm>
            <a:off x="457200" y="3529584"/>
            <a:ext cx="73152" cy="960120"/>
          </a:xfrm>
          <a:prstGeom prst="rect">
            <a:avLst/>
          </a:prstGeom>
          <a:solidFill>
            <a:srgbClr val="0EA5E9"/>
          </a:solidFill>
          <a:ln/>
        </p:spPr>
        <p:txBody>
          <a:bodyPr/>
          <a:lstStyle/>
          <a:p>
            <a:endParaRPr lang="en-US"/>
          </a:p>
        </p:txBody>
      </p:sp>
      <p:sp>
        <p:nvSpPr>
          <p:cNvPr id="19" name="Text 17"/>
          <p:cNvSpPr/>
          <p:nvPr/>
        </p:nvSpPr>
        <p:spPr>
          <a:xfrm>
            <a:off x="685800" y="3621024"/>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CHEMISTRY</a:t>
            </a:r>
            <a:endParaRPr lang="en-US" sz="900" dirty="0"/>
          </a:p>
        </p:txBody>
      </p:sp>
      <p:sp>
        <p:nvSpPr>
          <p:cNvPr id="20" name="Text 18"/>
          <p:cNvSpPr/>
          <p:nvPr/>
        </p:nvSpPr>
        <p:spPr>
          <a:xfrm>
            <a:off x="685800" y="3849624"/>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40% → 67%</a:t>
            </a:r>
            <a:endParaRPr lang="en-US" sz="2800" dirty="0"/>
          </a:p>
        </p:txBody>
      </p:sp>
      <p:sp>
        <p:nvSpPr>
          <p:cNvPr id="21" name="Text 19"/>
          <p:cNvSpPr/>
          <p:nvPr/>
        </p:nvSpPr>
        <p:spPr>
          <a:xfrm>
            <a:off x="685800" y="4306824"/>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win rate, 1-3 vs 16+ matches together</a:t>
            </a:r>
            <a:endParaRPr lang="en-US" sz="1000" dirty="0"/>
          </a:p>
        </p:txBody>
      </p:sp>
      <p:sp>
        <p:nvSpPr>
          <p:cNvPr id="22" name="Text 20"/>
          <p:cNvSpPr/>
          <p:nvPr/>
        </p:nvSpPr>
        <p:spPr>
          <a:xfrm>
            <a:off x="2834640" y="3529584"/>
            <a:ext cx="5669280" cy="960120"/>
          </a:xfrm>
          <a:prstGeom prst="rect">
            <a:avLst/>
          </a:prstGeom>
          <a:noFill/>
          <a:ln/>
        </p:spPr>
        <p:txBody>
          <a:bodyPr wrap="square" lIns="0" tIns="0" rIns="0" bIns="0" rtlCol="0" anchor="ctr"/>
          <a:lstStyle/>
          <a:p>
            <a:pPr marL="0" indent="0">
              <a:buNone/>
            </a:pPr>
            <a:r>
              <a:rPr lang="en-US" sz="1250" dirty="0">
                <a:solidFill>
                  <a:srgbClr val="1F2937"/>
                </a:solidFill>
              </a:rPr>
              <a:t>p&lt;0.001 across buckets. Caveat: survivorship — winning pairs simply get more reps together.</a:t>
            </a:r>
            <a:endParaRPr lang="en-US" sz="1250" dirty="0"/>
          </a:p>
        </p:txBody>
      </p:sp>
      <p:sp>
        <p:nvSpPr>
          <p:cNvPr id="23" name="Text 21"/>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2"/>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2.8 FINDINGS — RANKING, UPSETS, EFFICIENCY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Rankings predict. They just don’t decide.</a:t>
            </a:r>
            <a:endParaRPr lang="en-US" sz="2600" dirty="0"/>
          </a:p>
        </p:txBody>
      </p:sp>
      <p:sp>
        <p:nvSpPr>
          <p:cNvPr id="5" name="Shape 3"/>
          <p:cNvSpPr/>
          <p:nvPr/>
        </p:nvSpPr>
        <p:spPr>
          <a:xfrm>
            <a:off x="457200" y="1371600"/>
            <a:ext cx="8229600" cy="96012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73152" cy="960120"/>
          </a:xfrm>
          <a:prstGeom prst="rect">
            <a:avLst/>
          </a:prstGeom>
          <a:solidFill>
            <a:srgbClr val="0EA5E9"/>
          </a:solidFill>
          <a:ln/>
        </p:spPr>
        <p:txBody>
          <a:bodyPr/>
          <a:lstStyle/>
          <a:p>
            <a:endParaRPr lang="en-US"/>
          </a:p>
        </p:txBody>
      </p:sp>
      <p:sp>
        <p:nvSpPr>
          <p:cNvPr id="7" name="Text 5"/>
          <p:cNvSpPr/>
          <p:nvPr/>
        </p:nvSpPr>
        <p:spPr>
          <a:xfrm>
            <a:off x="685800" y="1463040"/>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RANKING</a:t>
            </a:r>
            <a:endParaRPr lang="en-US" sz="900" dirty="0"/>
          </a:p>
        </p:txBody>
      </p:sp>
      <p:sp>
        <p:nvSpPr>
          <p:cNvPr id="8" name="Text 6"/>
          <p:cNvSpPr/>
          <p:nvPr/>
        </p:nvSpPr>
        <p:spPr>
          <a:xfrm>
            <a:off x="685800" y="1691640"/>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78.5%</a:t>
            </a:r>
            <a:endParaRPr lang="en-US" sz="2800" dirty="0"/>
          </a:p>
        </p:txBody>
      </p:sp>
      <p:sp>
        <p:nvSpPr>
          <p:cNvPr id="9" name="Text 7"/>
          <p:cNvSpPr/>
          <p:nvPr/>
        </p:nvSpPr>
        <p:spPr>
          <a:xfrm>
            <a:off x="685800" y="2148840"/>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favorite (by points) wins</a:t>
            </a:r>
            <a:endParaRPr lang="en-US" sz="1000" dirty="0"/>
          </a:p>
        </p:txBody>
      </p:sp>
      <p:sp>
        <p:nvSpPr>
          <p:cNvPr id="10" name="Text 8"/>
          <p:cNvSpPr/>
          <p:nvPr/>
        </p:nvSpPr>
        <p:spPr>
          <a:xfrm>
            <a:off x="2834640" y="1371600"/>
            <a:ext cx="5669280" cy="960120"/>
          </a:xfrm>
          <a:prstGeom prst="rect">
            <a:avLst/>
          </a:prstGeom>
          <a:noFill/>
          <a:ln/>
        </p:spPr>
        <p:txBody>
          <a:bodyPr wrap="square" lIns="0" tIns="0" rIns="0" bIns="0" rtlCol="0" anchor="ctr"/>
          <a:lstStyle/>
          <a:p>
            <a:pPr marL="0" indent="0">
              <a:buNone/>
            </a:pPr>
            <a:r>
              <a:rPr lang="en-US" sz="1250" dirty="0">
                <a:solidFill>
                  <a:srgbClr val="1F2937"/>
                </a:solidFill>
              </a:rPr>
              <a:t>Logistic model AUC 0.88. Caveat: points are a single end-of-window snapshot, not match-date values.</a:t>
            </a:r>
            <a:endParaRPr lang="en-US" sz="1250" dirty="0"/>
          </a:p>
        </p:txBody>
      </p:sp>
      <p:sp>
        <p:nvSpPr>
          <p:cNvPr id="11" name="Shape 9"/>
          <p:cNvSpPr/>
          <p:nvPr/>
        </p:nvSpPr>
        <p:spPr>
          <a:xfrm>
            <a:off x="457200" y="2450592"/>
            <a:ext cx="8229600" cy="960120"/>
          </a:xfrm>
          <a:prstGeom prst="rect">
            <a:avLst/>
          </a:prstGeom>
          <a:solidFill>
            <a:srgbClr val="FFFFFF"/>
          </a:solidFill>
          <a:ln w="9525">
            <a:solidFill>
              <a:srgbClr val="CFD6DD"/>
            </a:solidFill>
            <a:prstDash val="solid"/>
          </a:ln>
        </p:spPr>
        <p:txBody>
          <a:bodyPr/>
          <a:lstStyle/>
          <a:p>
            <a:endParaRPr lang="en-US"/>
          </a:p>
        </p:txBody>
      </p:sp>
      <p:sp>
        <p:nvSpPr>
          <p:cNvPr id="12" name="Shape 10"/>
          <p:cNvSpPr/>
          <p:nvPr/>
        </p:nvSpPr>
        <p:spPr>
          <a:xfrm>
            <a:off x="457200" y="2450592"/>
            <a:ext cx="73152" cy="960120"/>
          </a:xfrm>
          <a:prstGeom prst="rect">
            <a:avLst/>
          </a:prstGeom>
          <a:solidFill>
            <a:srgbClr val="0EA5E9"/>
          </a:solidFill>
          <a:ln/>
        </p:spPr>
        <p:txBody>
          <a:bodyPr/>
          <a:lstStyle/>
          <a:p>
            <a:endParaRPr lang="en-US"/>
          </a:p>
        </p:txBody>
      </p:sp>
      <p:sp>
        <p:nvSpPr>
          <p:cNvPr id="13" name="Text 11"/>
          <p:cNvSpPr/>
          <p:nvPr/>
        </p:nvSpPr>
        <p:spPr>
          <a:xfrm>
            <a:off x="685800" y="2542032"/>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UPSETS</a:t>
            </a:r>
            <a:endParaRPr lang="en-US" sz="900" dirty="0"/>
          </a:p>
        </p:txBody>
      </p:sp>
      <p:sp>
        <p:nvSpPr>
          <p:cNvPr id="14" name="Text 12"/>
          <p:cNvSpPr/>
          <p:nvPr/>
        </p:nvSpPr>
        <p:spPr>
          <a:xfrm>
            <a:off x="685800" y="2770632"/>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22.4%</a:t>
            </a:r>
            <a:endParaRPr lang="en-US" sz="2800" dirty="0"/>
          </a:p>
        </p:txBody>
      </p:sp>
      <p:sp>
        <p:nvSpPr>
          <p:cNvPr id="15" name="Text 13"/>
          <p:cNvSpPr/>
          <p:nvPr/>
        </p:nvSpPr>
        <p:spPr>
          <a:xfrm>
            <a:off x="685800" y="3227832"/>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of seeded matches</a:t>
            </a:r>
            <a:endParaRPr lang="en-US" sz="1000" dirty="0"/>
          </a:p>
        </p:txBody>
      </p:sp>
      <p:sp>
        <p:nvSpPr>
          <p:cNvPr id="16" name="Text 14"/>
          <p:cNvSpPr/>
          <p:nvPr/>
        </p:nvSpPr>
        <p:spPr>
          <a:xfrm>
            <a:off x="2834640" y="2450592"/>
            <a:ext cx="5669280" cy="960120"/>
          </a:xfrm>
          <a:prstGeom prst="rect">
            <a:avLst/>
          </a:prstGeom>
          <a:noFill/>
          <a:ln/>
        </p:spPr>
        <p:txBody>
          <a:bodyPr wrap="square" lIns="0" tIns="0" rIns="0" bIns="0" rtlCol="0" anchor="ctr"/>
          <a:lstStyle/>
          <a:p>
            <a:pPr marL="0" indent="0">
              <a:buNone/>
            </a:pPr>
            <a:r>
              <a:rPr lang="en-US" sz="1250" dirty="0">
                <a:solidFill>
                  <a:srgbClr val="1F2937"/>
                </a:solidFill>
              </a:rPr>
              <a:t>n=165, p&lt;0.001. Non-monotonic by round — finals land close to a coin flip (50%).</a:t>
            </a:r>
            <a:endParaRPr lang="en-US" sz="1250" dirty="0"/>
          </a:p>
        </p:txBody>
      </p:sp>
      <p:sp>
        <p:nvSpPr>
          <p:cNvPr id="17" name="Shape 15"/>
          <p:cNvSpPr/>
          <p:nvPr/>
        </p:nvSpPr>
        <p:spPr>
          <a:xfrm>
            <a:off x="457200" y="3529584"/>
            <a:ext cx="8229600" cy="960120"/>
          </a:xfrm>
          <a:prstGeom prst="rect">
            <a:avLst/>
          </a:prstGeom>
          <a:solidFill>
            <a:srgbClr val="FFFFFF"/>
          </a:solidFill>
          <a:ln w="9525">
            <a:solidFill>
              <a:srgbClr val="CFD6DD"/>
            </a:solidFill>
            <a:prstDash val="solid"/>
          </a:ln>
        </p:spPr>
        <p:txBody>
          <a:bodyPr/>
          <a:lstStyle/>
          <a:p>
            <a:endParaRPr lang="en-US"/>
          </a:p>
        </p:txBody>
      </p:sp>
      <p:sp>
        <p:nvSpPr>
          <p:cNvPr id="18" name="Shape 16"/>
          <p:cNvSpPr/>
          <p:nvPr/>
        </p:nvSpPr>
        <p:spPr>
          <a:xfrm>
            <a:off x="457200" y="3529584"/>
            <a:ext cx="73152" cy="960120"/>
          </a:xfrm>
          <a:prstGeom prst="rect">
            <a:avLst/>
          </a:prstGeom>
          <a:solidFill>
            <a:srgbClr val="0EA5E9"/>
          </a:solidFill>
          <a:ln/>
        </p:spPr>
        <p:txBody>
          <a:bodyPr/>
          <a:lstStyle/>
          <a:p>
            <a:endParaRPr lang="en-US"/>
          </a:p>
        </p:txBody>
      </p:sp>
      <p:sp>
        <p:nvSpPr>
          <p:cNvPr id="19" name="Text 17"/>
          <p:cNvSpPr/>
          <p:nvPr/>
        </p:nvSpPr>
        <p:spPr>
          <a:xfrm>
            <a:off x="685800" y="3621024"/>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EFFICIENCY</a:t>
            </a:r>
            <a:endParaRPr lang="en-US" sz="900" dirty="0"/>
          </a:p>
        </p:txBody>
      </p:sp>
      <p:sp>
        <p:nvSpPr>
          <p:cNvPr id="20" name="Text 18"/>
          <p:cNvSpPr/>
          <p:nvPr/>
        </p:nvSpPr>
        <p:spPr>
          <a:xfrm>
            <a:off x="685800" y="3849624"/>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59.7%</a:t>
            </a:r>
            <a:endParaRPr lang="en-US" sz="2800" dirty="0"/>
          </a:p>
        </p:txBody>
      </p:sp>
      <p:sp>
        <p:nvSpPr>
          <p:cNvPr id="21" name="Text 19"/>
          <p:cNvSpPr/>
          <p:nvPr/>
        </p:nvSpPr>
        <p:spPr>
          <a:xfrm>
            <a:off x="685800" y="4306824"/>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next-match win rate</a:t>
            </a:r>
            <a:endParaRPr lang="en-US" sz="1000" dirty="0"/>
          </a:p>
        </p:txBody>
      </p:sp>
      <p:sp>
        <p:nvSpPr>
          <p:cNvPr id="22" name="Text 20"/>
          <p:cNvSpPr/>
          <p:nvPr/>
        </p:nvSpPr>
        <p:spPr>
          <a:xfrm>
            <a:off x="2834640" y="3529584"/>
            <a:ext cx="5669280" cy="960120"/>
          </a:xfrm>
          <a:prstGeom prst="rect">
            <a:avLst/>
          </a:prstGeom>
          <a:noFill/>
          <a:ln/>
        </p:spPr>
        <p:txBody>
          <a:bodyPr wrap="square" lIns="0" tIns="0" rIns="0" bIns="0" rtlCol="0" anchor="ctr"/>
          <a:lstStyle/>
          <a:p>
            <a:pPr marL="0" indent="0">
              <a:buNone/>
            </a:pPr>
            <a:r>
              <a:rPr lang="en-US" sz="1250" dirty="0">
                <a:solidFill>
                  <a:srgbClr val="1F2937"/>
                </a:solidFill>
              </a:rPr>
              <a:t>n=233, p=0.004 — fewer games in the previous round is a real efficiency/fatigue signal.</a:t>
            </a:r>
            <a:endParaRPr lang="en-US" sz="1250" dirty="0"/>
          </a:p>
        </p:txBody>
      </p:sp>
      <p:sp>
        <p:nvSpPr>
          <p:cNvPr id="23" name="Text 21"/>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2"/>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2.9 THE HONEST NULLS</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What the data honestly does NOT show</a:t>
            </a:r>
            <a:endParaRPr lang="en-US" sz="2600" dirty="0"/>
          </a:p>
        </p:txBody>
      </p:sp>
      <p:sp>
        <p:nvSpPr>
          <p:cNvPr id="5" name="Shape 3"/>
          <p:cNvSpPr/>
          <p:nvPr/>
        </p:nvSpPr>
        <p:spPr>
          <a:xfrm>
            <a:off x="457200" y="1371600"/>
            <a:ext cx="8229600" cy="96012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73152" cy="960120"/>
          </a:xfrm>
          <a:prstGeom prst="rect">
            <a:avLst/>
          </a:prstGeom>
          <a:solidFill>
            <a:srgbClr val="6B7280"/>
          </a:solidFill>
          <a:ln/>
        </p:spPr>
        <p:txBody>
          <a:bodyPr/>
          <a:lstStyle/>
          <a:p>
            <a:endParaRPr lang="en-US"/>
          </a:p>
        </p:txBody>
      </p:sp>
      <p:sp>
        <p:nvSpPr>
          <p:cNvPr id="7" name="Text 5"/>
          <p:cNvSpPr/>
          <p:nvPr/>
        </p:nvSpPr>
        <p:spPr>
          <a:xfrm>
            <a:off x="685800" y="1463040"/>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HOME ADVANTAGE</a:t>
            </a:r>
            <a:endParaRPr lang="en-US" sz="900" dirty="0"/>
          </a:p>
        </p:txBody>
      </p:sp>
      <p:sp>
        <p:nvSpPr>
          <p:cNvPr id="8" name="Text 6"/>
          <p:cNvSpPr/>
          <p:nvPr/>
        </p:nvSpPr>
        <p:spPr>
          <a:xfrm>
            <a:off x="685800" y="1691640"/>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43%</a:t>
            </a:r>
            <a:endParaRPr lang="en-US" sz="2800" dirty="0"/>
          </a:p>
        </p:txBody>
      </p:sp>
      <p:sp>
        <p:nvSpPr>
          <p:cNvPr id="9" name="Text 7"/>
          <p:cNvSpPr/>
          <p:nvPr/>
        </p:nvSpPr>
        <p:spPr>
          <a:xfrm>
            <a:off x="685800" y="2148840"/>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home-team win rate</a:t>
            </a:r>
            <a:endParaRPr lang="en-US" sz="1000" dirty="0"/>
          </a:p>
        </p:txBody>
      </p:sp>
      <p:sp>
        <p:nvSpPr>
          <p:cNvPr id="10" name="Text 8"/>
          <p:cNvSpPr/>
          <p:nvPr/>
        </p:nvSpPr>
        <p:spPr>
          <a:xfrm>
            <a:off x="2834640" y="1371600"/>
            <a:ext cx="5669280" cy="960120"/>
          </a:xfrm>
          <a:prstGeom prst="rect">
            <a:avLst/>
          </a:prstGeom>
          <a:noFill/>
          <a:ln/>
        </p:spPr>
        <p:txBody>
          <a:bodyPr wrap="square" lIns="0" tIns="0" rIns="0" bIns="0" rtlCol="0" anchor="ctr"/>
          <a:lstStyle/>
          <a:p>
            <a:pPr marL="0" indent="0">
              <a:buNone/>
            </a:pPr>
            <a:r>
              <a:rPr lang="en-US" sz="1250" dirty="0">
                <a:solidFill>
                  <a:srgbClr val="1F2937"/>
                </a:solidFill>
              </a:rPr>
              <a:t>n=109, p=0.18 — not significant. No detectable home advantage overall.</a:t>
            </a:r>
            <a:endParaRPr lang="en-US" sz="1250" dirty="0"/>
          </a:p>
        </p:txBody>
      </p:sp>
      <p:sp>
        <p:nvSpPr>
          <p:cNvPr id="11" name="Shape 9"/>
          <p:cNvSpPr/>
          <p:nvPr/>
        </p:nvSpPr>
        <p:spPr>
          <a:xfrm>
            <a:off x="457200" y="2450592"/>
            <a:ext cx="8229600" cy="960120"/>
          </a:xfrm>
          <a:prstGeom prst="rect">
            <a:avLst/>
          </a:prstGeom>
          <a:solidFill>
            <a:srgbClr val="FFFFFF"/>
          </a:solidFill>
          <a:ln w="9525">
            <a:solidFill>
              <a:srgbClr val="CFD6DD"/>
            </a:solidFill>
            <a:prstDash val="solid"/>
          </a:ln>
        </p:spPr>
        <p:txBody>
          <a:bodyPr/>
          <a:lstStyle/>
          <a:p>
            <a:endParaRPr lang="en-US"/>
          </a:p>
        </p:txBody>
      </p:sp>
      <p:sp>
        <p:nvSpPr>
          <p:cNvPr id="12" name="Shape 10"/>
          <p:cNvSpPr/>
          <p:nvPr/>
        </p:nvSpPr>
        <p:spPr>
          <a:xfrm>
            <a:off x="457200" y="2450592"/>
            <a:ext cx="73152" cy="960120"/>
          </a:xfrm>
          <a:prstGeom prst="rect">
            <a:avLst/>
          </a:prstGeom>
          <a:solidFill>
            <a:srgbClr val="6B7280"/>
          </a:solidFill>
          <a:ln/>
        </p:spPr>
        <p:txBody>
          <a:bodyPr/>
          <a:lstStyle/>
          <a:p>
            <a:endParaRPr lang="en-US"/>
          </a:p>
        </p:txBody>
      </p:sp>
      <p:sp>
        <p:nvSpPr>
          <p:cNvPr id="13" name="Text 11"/>
          <p:cNvSpPr/>
          <p:nvPr/>
        </p:nvSpPr>
        <p:spPr>
          <a:xfrm>
            <a:off x="685800" y="2542032"/>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AGE GAP</a:t>
            </a:r>
            <a:endParaRPr lang="en-US" sz="900" dirty="0"/>
          </a:p>
        </p:txBody>
      </p:sp>
      <p:sp>
        <p:nvSpPr>
          <p:cNvPr id="14" name="Text 12"/>
          <p:cNvSpPr/>
          <p:nvPr/>
        </p:nvSpPr>
        <p:spPr>
          <a:xfrm>
            <a:off x="685800" y="2770632"/>
            <a:ext cx="2011680" cy="502920"/>
          </a:xfrm>
          <a:prstGeom prst="rect">
            <a:avLst/>
          </a:prstGeom>
          <a:noFill/>
          <a:ln/>
        </p:spPr>
        <p:txBody>
          <a:bodyPr wrap="square" lIns="0" tIns="0" rIns="0" bIns="0" rtlCol="0" anchor="ctr"/>
          <a:lstStyle/>
          <a:p>
            <a:pPr marL="0" indent="0">
              <a:buNone/>
            </a:pPr>
            <a:r>
              <a:rPr lang="en-US" sz="2800" b="1" dirty="0">
                <a:solidFill>
                  <a:srgbClr val="1F2937"/>
                </a:solidFill>
              </a:rPr>
              <a:t>No effect</a:t>
            </a:r>
            <a:endParaRPr lang="en-US" sz="2800" dirty="0"/>
          </a:p>
        </p:txBody>
      </p:sp>
      <p:sp>
        <p:nvSpPr>
          <p:cNvPr id="15" name="Text 13"/>
          <p:cNvSpPr/>
          <p:nvPr/>
        </p:nvSpPr>
        <p:spPr>
          <a:xfrm>
            <a:off x="685800" y="3227832"/>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winner vs loser age</a:t>
            </a:r>
            <a:endParaRPr lang="en-US" sz="1000" dirty="0"/>
          </a:p>
        </p:txBody>
      </p:sp>
      <p:sp>
        <p:nvSpPr>
          <p:cNvPr id="16" name="Text 14"/>
          <p:cNvSpPr/>
          <p:nvPr/>
        </p:nvSpPr>
        <p:spPr>
          <a:xfrm>
            <a:off x="2834640" y="2450592"/>
            <a:ext cx="5669280" cy="960120"/>
          </a:xfrm>
          <a:prstGeom prst="rect">
            <a:avLst/>
          </a:prstGeom>
          <a:noFill/>
          <a:ln/>
        </p:spPr>
        <p:txBody>
          <a:bodyPr wrap="square" lIns="0" tIns="0" rIns="0" bIns="0" rtlCol="0" anchor="ctr"/>
          <a:lstStyle/>
          <a:p>
            <a:pPr marL="0" indent="0">
              <a:buNone/>
            </a:pPr>
            <a:r>
              <a:rPr lang="en-US" sz="1250" dirty="0">
                <a:solidFill>
                  <a:srgbClr val="1F2937"/>
                </a:solidFill>
              </a:rPr>
              <a:t>Mean gap ≈0 years (p=0.277). A within-pair correlation is significant but explains &lt;1% of variance.</a:t>
            </a:r>
            <a:endParaRPr lang="en-US" sz="1250" dirty="0"/>
          </a:p>
        </p:txBody>
      </p:sp>
      <p:sp>
        <p:nvSpPr>
          <p:cNvPr id="17" name="Shape 15"/>
          <p:cNvSpPr/>
          <p:nvPr/>
        </p:nvSpPr>
        <p:spPr>
          <a:xfrm>
            <a:off x="457200" y="3529584"/>
            <a:ext cx="8229600" cy="960120"/>
          </a:xfrm>
          <a:prstGeom prst="rect">
            <a:avLst/>
          </a:prstGeom>
          <a:solidFill>
            <a:srgbClr val="FFFFFF"/>
          </a:solidFill>
          <a:ln w="9525">
            <a:solidFill>
              <a:srgbClr val="CFD6DD"/>
            </a:solidFill>
            <a:prstDash val="solid"/>
          </a:ln>
        </p:spPr>
        <p:txBody>
          <a:bodyPr/>
          <a:lstStyle/>
          <a:p>
            <a:endParaRPr lang="en-US"/>
          </a:p>
        </p:txBody>
      </p:sp>
      <p:sp>
        <p:nvSpPr>
          <p:cNvPr id="18" name="Shape 16"/>
          <p:cNvSpPr/>
          <p:nvPr/>
        </p:nvSpPr>
        <p:spPr>
          <a:xfrm>
            <a:off x="457200" y="3529584"/>
            <a:ext cx="73152" cy="960120"/>
          </a:xfrm>
          <a:prstGeom prst="rect">
            <a:avLst/>
          </a:prstGeom>
          <a:solidFill>
            <a:srgbClr val="6B7280"/>
          </a:solidFill>
          <a:ln/>
        </p:spPr>
        <p:txBody>
          <a:bodyPr/>
          <a:lstStyle/>
          <a:p>
            <a:endParaRPr lang="en-US"/>
          </a:p>
        </p:txBody>
      </p:sp>
      <p:sp>
        <p:nvSpPr>
          <p:cNvPr id="19" name="Text 17"/>
          <p:cNvSpPr/>
          <p:nvPr/>
        </p:nvSpPr>
        <p:spPr>
          <a:xfrm>
            <a:off x="685800" y="3621024"/>
            <a:ext cx="1097280" cy="274320"/>
          </a:xfrm>
          <a:prstGeom prst="rect">
            <a:avLst/>
          </a:prstGeom>
          <a:noFill/>
          <a:ln/>
        </p:spPr>
        <p:txBody>
          <a:bodyPr wrap="square" lIns="0" tIns="0" rIns="0" bIns="0" rtlCol="0" anchor="ctr"/>
          <a:lstStyle/>
          <a:p>
            <a:pPr marL="0" indent="0">
              <a:buNone/>
            </a:pPr>
            <a:r>
              <a:rPr lang="en-US" sz="900" b="1" kern="0" spc="300" dirty="0">
                <a:solidFill>
                  <a:srgbClr val="64748B"/>
                </a:solidFill>
              </a:rPr>
              <a:t>HANDEDNESS / HEIGHT</a:t>
            </a:r>
            <a:endParaRPr lang="en-US" sz="900" dirty="0"/>
          </a:p>
        </p:txBody>
      </p:sp>
      <p:sp>
        <p:nvSpPr>
          <p:cNvPr id="20" name="Text 18"/>
          <p:cNvSpPr/>
          <p:nvPr/>
        </p:nvSpPr>
        <p:spPr>
          <a:xfrm>
            <a:off x="685800" y="3906000"/>
            <a:ext cx="2011680" cy="360000"/>
          </a:xfrm>
          <a:prstGeom prst="rect">
            <a:avLst/>
          </a:prstGeom>
          <a:noFill/>
          <a:ln/>
        </p:spPr>
        <p:txBody>
          <a:bodyPr wrap="square" lIns="0" tIns="0" rIns="0" bIns="0" rtlCol="0" anchor="ctr"/>
          <a:lstStyle/>
          <a:p>
            <a:pPr marL="0" indent="0">
              <a:buNone/>
            </a:pPr>
            <a:r>
              <a:rPr lang="en-US" sz="1900" b="1" dirty="0">
                <a:solidFill>
                  <a:srgbClr val="1F2937"/>
                </a:solidFill>
              </a:rPr>
              <a:t>Insufficient data</a:t>
            </a:r>
            <a:endParaRPr lang="en-US" sz="2800" dirty="0"/>
          </a:p>
        </p:txBody>
      </p:sp>
      <p:sp>
        <p:nvSpPr>
          <p:cNvPr id="50" name="Text Closing Line"/>
          <p:cNvSpPr/>
          <p:nvPr/>
        </p:nvSpPr>
        <p:spPr>
          <a:xfrm>
            <a:off x="457200" y="4526280"/>
            <a:ext cx="8229600" cy="256032"/>
          </a:xfrm>
          <a:prstGeom prst="rect">
            <a:avLst/>
          </a:prstGeom>
          <a:noFill/>
          <a:ln/>
        </p:spPr>
        <p:txBody>
          <a:bodyPr wrap="square" lIns="0" tIns="0" rIns="0" bIns="0" rtlCol="0" anchor="ctr"/>
          <a:lstStyle/>
          <a:p>
            <a:pPr marL="0" indent="0">
              <a:buNone/>
            </a:pPr>
            <a:r>
              <a:rPr lang="en-US" sz="1150" b="1" i="1" dirty="0">
                <a:solidFill>
                  <a:srgbClr val="1E293B"/>
                </a:solidFill>
                <a:latin typeface="Calibri" pitchFamily="34" charset="0"/>
                <a:ea typeface="Calibri" pitchFamily="34" charset="-122"/>
                <a:cs typeface="Calibri" pitchFamily="34" charset="-120"/>
              </a:rPr>
              <a:t>Trustworthy analysis reports what the data does NOT show.</a:t>
            </a:r>
            <a:endParaRPr lang="en-US" sz="1150" dirty="0"/>
          </a:p>
        </p:txBody>
      </p:sp>
      <p:sp>
        <p:nvSpPr>
          <p:cNvPr id="21" name="Text 19"/>
          <p:cNvSpPr/>
          <p:nvPr/>
        </p:nvSpPr>
        <p:spPr>
          <a:xfrm>
            <a:off x="685800" y="4306824"/>
            <a:ext cx="2011680" cy="228600"/>
          </a:xfrm>
          <a:prstGeom prst="rect">
            <a:avLst/>
          </a:prstGeom>
          <a:noFill/>
          <a:ln/>
        </p:spPr>
        <p:txBody>
          <a:bodyPr wrap="square" lIns="0" tIns="0" rIns="0" bIns="0" rtlCol="0" anchor="ctr"/>
          <a:lstStyle/>
          <a:p>
            <a:pPr marL="0" indent="0">
              <a:buNone/>
            </a:pPr>
            <a:r>
              <a:rPr lang="en-US" sz="1000" i="1" dirty="0">
                <a:solidFill>
                  <a:srgbClr val="64748B"/>
                </a:solidFill>
              </a:rPr>
              <a:t>coverage too low to test</a:t>
            </a:r>
            <a:endParaRPr lang="en-US" sz="1000" dirty="0"/>
          </a:p>
        </p:txBody>
      </p:sp>
      <p:sp>
        <p:nvSpPr>
          <p:cNvPr id="22" name="Text 20"/>
          <p:cNvSpPr/>
          <p:nvPr/>
        </p:nvSpPr>
        <p:spPr>
          <a:xfrm>
            <a:off x="2834640" y="3529584"/>
            <a:ext cx="5669280" cy="960120"/>
          </a:xfrm>
          <a:prstGeom prst="rect">
            <a:avLst/>
          </a:prstGeom>
          <a:noFill/>
          <a:ln/>
        </p:spPr>
        <p:txBody>
          <a:bodyPr wrap="square" lIns="0" tIns="0" rIns="0" bIns="0" rtlCol="0" anchor="ctr"/>
          <a:lstStyle/>
          <a:p>
            <a:pPr marL="0" indent="0">
              <a:buNone/>
            </a:pPr>
            <a:r>
              <a:rPr lang="en-US" sz="1250" dirty="0">
                <a:solidFill>
                  <a:srgbClr val="1F2937"/>
                </a:solidFill>
              </a:rPr>
              <a:t>Hand data covers 38.4% of participants, height 33.8% — both below the 60% usability threshold.</a:t>
            </a:r>
            <a:endParaRPr lang="en-US" sz="1250" dirty="0"/>
          </a:p>
        </p:txBody>
      </p:sp>
      <p:sp>
        <p:nvSpPr>
          <p:cNvPr id="23" name="Text 21"/>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2"/>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828800"/>
            <a:ext cx="548640" cy="54864"/>
          </a:xfrm>
          <a:prstGeom prst="rect">
            <a:avLst/>
          </a:prstGeom>
          <a:solidFill>
            <a:srgbClr val="0EA5E9"/>
          </a:solidFill>
          <a:ln/>
        </p:spPr>
        <p:txBody>
          <a:bodyPr/>
          <a:lstStyle/>
          <a:p>
            <a:endParaRPr lang="en-US"/>
          </a:p>
        </p:txBody>
      </p:sp>
      <p:sp>
        <p:nvSpPr>
          <p:cNvPr id="3" name="Text 1"/>
          <p:cNvSpPr/>
          <p:nvPr/>
        </p:nvSpPr>
        <p:spPr>
          <a:xfrm>
            <a:off x="457200" y="1965960"/>
            <a:ext cx="7315200" cy="365760"/>
          </a:xfrm>
          <a:prstGeom prst="rect">
            <a:avLst/>
          </a:prstGeom>
          <a:noFill/>
          <a:ln/>
        </p:spPr>
        <p:txBody>
          <a:bodyPr wrap="square" lIns="0" tIns="0" rIns="0" bIns="0" rtlCol="0" anchor="ctr"/>
          <a:lstStyle/>
          <a:p>
            <a:pPr marL="0" indent="0">
              <a:buNone/>
            </a:pPr>
            <a:r>
              <a:rPr lang="en-US" sz="1200" b="1" kern="0" spc="600" dirty="0">
                <a:solidFill>
                  <a:srgbClr val="0EA5E9"/>
                </a:solidFill>
                <a:latin typeface="Calibri" pitchFamily="34" charset="0"/>
                <a:ea typeface="Calibri" pitchFamily="34" charset="-122"/>
                <a:cs typeface="Calibri" pitchFamily="34" charset="-120"/>
              </a:rPr>
              <a:t>PART 3</a:t>
            </a:r>
            <a:endParaRPr lang="en-US" sz="1200" dirty="0"/>
          </a:p>
        </p:txBody>
      </p:sp>
      <p:sp>
        <p:nvSpPr>
          <p:cNvPr id="4" name="Text 2"/>
          <p:cNvSpPr/>
          <p:nvPr/>
        </p:nvSpPr>
        <p:spPr>
          <a:xfrm>
            <a:off x="457200" y="2331720"/>
            <a:ext cx="822960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UX Design</a:t>
            </a:r>
            <a:endParaRPr lang="en-US" sz="4400" dirty="0"/>
          </a:p>
        </p:txBody>
      </p:sp>
      <p:sp>
        <p:nvSpPr>
          <p:cNvPr id="5" name="Text 3"/>
          <p:cNvSpPr/>
          <p:nvPr/>
        </p:nvSpPr>
        <p:spPr>
          <a:xfrm>
            <a:off x="457200" y="3154680"/>
            <a:ext cx="822960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Wireframes · Principles · Heuristic evaluation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3.1 PROCESS</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From paper sketch to working app</a:t>
            </a:r>
            <a:endParaRPr lang="en-US" sz="2600" dirty="0"/>
          </a:p>
        </p:txBody>
      </p:sp>
      <p:sp>
        <p:nvSpPr>
          <p:cNvPr id="5" name="Shape 3"/>
          <p:cNvSpPr/>
          <p:nvPr/>
        </p:nvSpPr>
        <p:spPr>
          <a:xfrm>
            <a:off x="1325880" y="1554480"/>
            <a:ext cx="411480" cy="411480"/>
          </a:xfrm>
          <a:prstGeom prst="ellipse">
            <a:avLst/>
          </a:prstGeom>
          <a:solidFill>
            <a:srgbClr val="0EA5E9"/>
          </a:solidFill>
          <a:ln/>
        </p:spPr>
        <p:txBody>
          <a:bodyPr/>
          <a:lstStyle/>
          <a:p>
            <a:endParaRPr lang="en-US"/>
          </a:p>
        </p:txBody>
      </p:sp>
      <p:sp>
        <p:nvSpPr>
          <p:cNvPr id="6" name="Text 4"/>
          <p:cNvSpPr/>
          <p:nvPr/>
        </p:nvSpPr>
        <p:spPr>
          <a:xfrm>
            <a:off x="1325880" y="15544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rPr>
              <a:t>1</a:t>
            </a:r>
            <a:endParaRPr lang="en-US" sz="1600" dirty="0"/>
          </a:p>
        </p:txBody>
      </p:sp>
      <p:sp>
        <p:nvSpPr>
          <p:cNvPr id="7" name="Shape 5"/>
          <p:cNvSpPr/>
          <p:nvPr/>
        </p:nvSpPr>
        <p:spPr>
          <a:xfrm>
            <a:off x="1783080" y="1755648"/>
            <a:ext cx="777240" cy="0"/>
          </a:xfrm>
          <a:prstGeom prst="line">
            <a:avLst/>
          </a:prstGeom>
          <a:noFill/>
          <a:ln w="19050">
            <a:solidFill>
              <a:srgbClr val="CFD6DD"/>
            </a:solidFill>
            <a:prstDash val="dash"/>
          </a:ln>
        </p:spPr>
        <p:txBody>
          <a:bodyPr/>
          <a:lstStyle/>
          <a:p>
            <a:endParaRPr lang="en-US"/>
          </a:p>
        </p:txBody>
      </p:sp>
      <p:sp>
        <p:nvSpPr>
          <p:cNvPr id="8" name="Shape 6"/>
          <p:cNvSpPr/>
          <p:nvPr/>
        </p:nvSpPr>
        <p:spPr>
          <a:xfrm>
            <a:off x="457200" y="2103120"/>
            <a:ext cx="2011680" cy="2286000"/>
          </a:xfrm>
          <a:prstGeom prst="rect">
            <a:avLst/>
          </a:prstGeom>
          <a:solidFill>
            <a:srgbClr val="FFFFFF"/>
          </a:solidFill>
          <a:ln w="9525">
            <a:solidFill>
              <a:srgbClr val="CFD6DD"/>
            </a:solidFill>
            <a:prstDash val="solid"/>
          </a:ln>
        </p:spPr>
        <p:txBody>
          <a:bodyPr/>
          <a:lstStyle/>
          <a:p>
            <a:endParaRPr lang="en-US"/>
          </a:p>
        </p:txBody>
      </p:sp>
      <p:sp>
        <p:nvSpPr>
          <p:cNvPr id="9" name="Text 7"/>
          <p:cNvSpPr/>
          <p:nvPr/>
        </p:nvSpPr>
        <p:spPr>
          <a:xfrm>
            <a:off x="594360" y="2240280"/>
            <a:ext cx="1737360" cy="411480"/>
          </a:xfrm>
          <a:prstGeom prst="rect">
            <a:avLst/>
          </a:prstGeom>
          <a:noFill/>
          <a:ln/>
        </p:spPr>
        <p:txBody>
          <a:bodyPr wrap="square" lIns="0" tIns="0" rIns="0" bIns="0" rtlCol="0" anchor="ctr"/>
          <a:lstStyle/>
          <a:p>
            <a:pPr marL="0" indent="0">
              <a:buNone/>
            </a:pPr>
            <a:r>
              <a:rPr lang="en-US" sz="1400" b="1" dirty="0">
                <a:solidFill>
                  <a:srgbClr val="1F2937"/>
                </a:solidFill>
              </a:rPr>
              <a:t>Paper sketches</a:t>
            </a:r>
            <a:endParaRPr lang="en-US" sz="1400" dirty="0"/>
          </a:p>
        </p:txBody>
      </p:sp>
      <p:sp>
        <p:nvSpPr>
          <p:cNvPr id="10" name="Text 8"/>
          <p:cNvSpPr/>
          <p:nvPr/>
        </p:nvSpPr>
        <p:spPr>
          <a:xfrm>
            <a:off x="594360" y="2697480"/>
            <a:ext cx="1737360" cy="1554480"/>
          </a:xfrm>
          <a:prstGeom prst="rect">
            <a:avLst/>
          </a:prstGeom>
          <a:noFill/>
          <a:ln/>
        </p:spPr>
        <p:txBody>
          <a:bodyPr wrap="square" lIns="0" tIns="0" rIns="0" bIns="0" rtlCol="0" anchor="ctr"/>
          <a:lstStyle/>
          <a:p>
            <a:pPr marL="0" indent="0">
              <a:buNone/>
            </a:pPr>
            <a:r>
              <a:rPr lang="en-US" sz="1100" dirty="0">
                <a:solidFill>
                  <a:srgbClr val="64748B"/>
                </a:solidFill>
              </a:rPr>
              <a:t>30 min. Just box drawings - which pages exist.</a:t>
            </a:r>
            <a:endParaRPr lang="en-US" sz="1100" dirty="0"/>
          </a:p>
        </p:txBody>
      </p:sp>
      <p:sp>
        <p:nvSpPr>
          <p:cNvPr id="11" name="Shape 9"/>
          <p:cNvSpPr/>
          <p:nvPr/>
        </p:nvSpPr>
        <p:spPr>
          <a:xfrm>
            <a:off x="3429000" y="1554480"/>
            <a:ext cx="411480" cy="411480"/>
          </a:xfrm>
          <a:prstGeom prst="ellipse">
            <a:avLst/>
          </a:prstGeom>
          <a:solidFill>
            <a:srgbClr val="0EA5E9"/>
          </a:solidFill>
          <a:ln/>
        </p:spPr>
        <p:txBody>
          <a:bodyPr/>
          <a:lstStyle/>
          <a:p>
            <a:endParaRPr lang="en-US"/>
          </a:p>
        </p:txBody>
      </p:sp>
      <p:sp>
        <p:nvSpPr>
          <p:cNvPr id="12" name="Text 10"/>
          <p:cNvSpPr/>
          <p:nvPr/>
        </p:nvSpPr>
        <p:spPr>
          <a:xfrm>
            <a:off x="3429000" y="15544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rPr>
              <a:t>2</a:t>
            </a:r>
            <a:endParaRPr lang="en-US" sz="1600" dirty="0"/>
          </a:p>
        </p:txBody>
      </p:sp>
      <p:sp>
        <p:nvSpPr>
          <p:cNvPr id="13" name="Shape 11"/>
          <p:cNvSpPr/>
          <p:nvPr/>
        </p:nvSpPr>
        <p:spPr>
          <a:xfrm>
            <a:off x="3886200" y="1755648"/>
            <a:ext cx="777240" cy="0"/>
          </a:xfrm>
          <a:prstGeom prst="line">
            <a:avLst/>
          </a:prstGeom>
          <a:noFill/>
          <a:ln w="19050">
            <a:solidFill>
              <a:srgbClr val="CFD6DD"/>
            </a:solidFill>
            <a:prstDash val="dash"/>
          </a:ln>
        </p:spPr>
        <p:txBody>
          <a:bodyPr/>
          <a:lstStyle/>
          <a:p>
            <a:endParaRPr lang="en-US"/>
          </a:p>
        </p:txBody>
      </p:sp>
      <p:sp>
        <p:nvSpPr>
          <p:cNvPr id="14" name="Shape 12"/>
          <p:cNvSpPr/>
          <p:nvPr/>
        </p:nvSpPr>
        <p:spPr>
          <a:xfrm>
            <a:off x="2560320" y="2103120"/>
            <a:ext cx="2011680" cy="2286000"/>
          </a:xfrm>
          <a:prstGeom prst="rect">
            <a:avLst/>
          </a:prstGeom>
          <a:solidFill>
            <a:srgbClr val="FFFFFF"/>
          </a:solidFill>
          <a:ln w="9525">
            <a:solidFill>
              <a:srgbClr val="CFD6DD"/>
            </a:solidFill>
            <a:prstDash val="solid"/>
          </a:ln>
        </p:spPr>
        <p:txBody>
          <a:bodyPr/>
          <a:lstStyle/>
          <a:p>
            <a:endParaRPr lang="en-US"/>
          </a:p>
        </p:txBody>
      </p:sp>
      <p:sp>
        <p:nvSpPr>
          <p:cNvPr id="15" name="Text 13"/>
          <p:cNvSpPr/>
          <p:nvPr/>
        </p:nvSpPr>
        <p:spPr>
          <a:xfrm>
            <a:off x="2697480" y="2240280"/>
            <a:ext cx="1737360" cy="411480"/>
          </a:xfrm>
          <a:prstGeom prst="rect">
            <a:avLst/>
          </a:prstGeom>
          <a:noFill/>
          <a:ln/>
        </p:spPr>
        <p:txBody>
          <a:bodyPr wrap="square" lIns="0" tIns="0" rIns="0" bIns="0" rtlCol="0" anchor="ctr"/>
          <a:lstStyle/>
          <a:p>
            <a:pPr marL="0" indent="0">
              <a:buNone/>
            </a:pPr>
            <a:r>
              <a:rPr lang="en-US" sz="1400" b="1" dirty="0">
                <a:solidFill>
                  <a:srgbClr val="1F2937"/>
                </a:solidFill>
              </a:rPr>
              <a:t>Low-fi wireframes</a:t>
            </a:r>
            <a:endParaRPr lang="en-US" sz="1400" dirty="0"/>
          </a:p>
        </p:txBody>
      </p:sp>
      <p:sp>
        <p:nvSpPr>
          <p:cNvPr id="16" name="Text 14"/>
          <p:cNvSpPr/>
          <p:nvPr/>
        </p:nvSpPr>
        <p:spPr>
          <a:xfrm>
            <a:off x="2697480" y="2697480"/>
            <a:ext cx="1737360" cy="1554480"/>
          </a:xfrm>
          <a:prstGeom prst="rect">
            <a:avLst/>
          </a:prstGeom>
          <a:noFill/>
          <a:ln/>
        </p:spPr>
        <p:txBody>
          <a:bodyPr wrap="square" lIns="0" tIns="0" rIns="0" bIns="0" rtlCol="0" anchor="ctr"/>
          <a:lstStyle/>
          <a:p>
            <a:pPr marL="0" indent="0">
              <a:buNone/>
            </a:pPr>
            <a:r>
              <a:rPr lang="en-US" sz="1100" dirty="0">
                <a:solidFill>
                  <a:srgbClr val="64748B"/>
                </a:solidFill>
              </a:rPr>
              <a:t>Figma · 5 SVGs · grayscale layout only.</a:t>
            </a:r>
            <a:endParaRPr lang="en-US" sz="1100" dirty="0"/>
          </a:p>
        </p:txBody>
      </p:sp>
      <p:sp>
        <p:nvSpPr>
          <p:cNvPr id="17" name="Shape 15"/>
          <p:cNvSpPr/>
          <p:nvPr/>
        </p:nvSpPr>
        <p:spPr>
          <a:xfrm>
            <a:off x="5532120" y="1554480"/>
            <a:ext cx="411480" cy="411480"/>
          </a:xfrm>
          <a:prstGeom prst="ellipse">
            <a:avLst/>
          </a:prstGeom>
          <a:solidFill>
            <a:srgbClr val="0EA5E9"/>
          </a:solidFill>
          <a:ln/>
        </p:spPr>
        <p:txBody>
          <a:bodyPr/>
          <a:lstStyle/>
          <a:p>
            <a:endParaRPr lang="en-US"/>
          </a:p>
        </p:txBody>
      </p:sp>
      <p:sp>
        <p:nvSpPr>
          <p:cNvPr id="18" name="Text 16"/>
          <p:cNvSpPr/>
          <p:nvPr/>
        </p:nvSpPr>
        <p:spPr>
          <a:xfrm>
            <a:off x="5532120" y="15544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rPr>
              <a:t>3</a:t>
            </a:r>
            <a:endParaRPr lang="en-US" sz="1600" dirty="0"/>
          </a:p>
        </p:txBody>
      </p:sp>
      <p:sp>
        <p:nvSpPr>
          <p:cNvPr id="19" name="Shape 17"/>
          <p:cNvSpPr/>
          <p:nvPr/>
        </p:nvSpPr>
        <p:spPr>
          <a:xfrm>
            <a:off x="5989320" y="1755648"/>
            <a:ext cx="777240" cy="0"/>
          </a:xfrm>
          <a:prstGeom prst="line">
            <a:avLst/>
          </a:prstGeom>
          <a:noFill/>
          <a:ln w="19050">
            <a:solidFill>
              <a:srgbClr val="CFD6DD"/>
            </a:solidFill>
            <a:prstDash val="dash"/>
          </a:ln>
        </p:spPr>
        <p:txBody>
          <a:bodyPr/>
          <a:lstStyle/>
          <a:p>
            <a:endParaRPr lang="en-US"/>
          </a:p>
        </p:txBody>
      </p:sp>
      <p:sp>
        <p:nvSpPr>
          <p:cNvPr id="20" name="Shape 18"/>
          <p:cNvSpPr/>
          <p:nvPr/>
        </p:nvSpPr>
        <p:spPr>
          <a:xfrm>
            <a:off x="4663440" y="2103120"/>
            <a:ext cx="2011680" cy="2286000"/>
          </a:xfrm>
          <a:prstGeom prst="rect">
            <a:avLst/>
          </a:prstGeom>
          <a:solidFill>
            <a:srgbClr val="FFFFFF"/>
          </a:solidFill>
          <a:ln w="9525">
            <a:solidFill>
              <a:srgbClr val="CFD6DD"/>
            </a:solidFill>
            <a:prstDash val="solid"/>
          </a:ln>
        </p:spPr>
        <p:txBody>
          <a:bodyPr/>
          <a:lstStyle/>
          <a:p>
            <a:endParaRPr lang="en-US"/>
          </a:p>
        </p:txBody>
      </p:sp>
      <p:sp>
        <p:nvSpPr>
          <p:cNvPr id="21" name="Text 19"/>
          <p:cNvSpPr/>
          <p:nvPr/>
        </p:nvSpPr>
        <p:spPr>
          <a:xfrm>
            <a:off x="4800600" y="2240280"/>
            <a:ext cx="1737360" cy="411480"/>
          </a:xfrm>
          <a:prstGeom prst="rect">
            <a:avLst/>
          </a:prstGeom>
          <a:noFill/>
          <a:ln/>
        </p:spPr>
        <p:txBody>
          <a:bodyPr wrap="square" lIns="0" tIns="0" rIns="0" bIns="0" rtlCol="0" anchor="ctr"/>
          <a:lstStyle/>
          <a:p>
            <a:pPr marL="0" indent="0">
              <a:buNone/>
            </a:pPr>
            <a:r>
              <a:rPr lang="en-US" sz="1400" b="1" dirty="0">
                <a:solidFill>
                  <a:srgbClr val="1F2937"/>
                </a:solidFill>
              </a:rPr>
              <a:t>Mid-fi pass</a:t>
            </a:r>
            <a:endParaRPr lang="en-US" sz="1400" dirty="0"/>
          </a:p>
        </p:txBody>
      </p:sp>
      <p:sp>
        <p:nvSpPr>
          <p:cNvPr id="22" name="Text 20"/>
          <p:cNvSpPr/>
          <p:nvPr/>
        </p:nvSpPr>
        <p:spPr>
          <a:xfrm>
            <a:off x="4800600" y="2697480"/>
            <a:ext cx="1737360" cy="1554480"/>
          </a:xfrm>
          <a:prstGeom prst="rect">
            <a:avLst/>
          </a:prstGeom>
          <a:noFill/>
          <a:ln/>
        </p:spPr>
        <p:txBody>
          <a:bodyPr wrap="square" lIns="0" tIns="0" rIns="0" bIns="0" rtlCol="0" anchor="ctr"/>
          <a:lstStyle/>
          <a:p>
            <a:pPr marL="0" indent="0">
              <a:buNone/>
            </a:pPr>
            <a:r>
              <a:rPr lang="en-US" sz="1100" dirty="0">
                <a:solidFill>
                  <a:srgbClr val="64748B"/>
                </a:solidFill>
              </a:rPr>
              <a:t>Same layout, real chart shapes drawn in.</a:t>
            </a:r>
            <a:endParaRPr lang="en-US" sz="1100" dirty="0"/>
          </a:p>
        </p:txBody>
      </p:sp>
      <p:sp>
        <p:nvSpPr>
          <p:cNvPr id="23" name="Shape 21"/>
          <p:cNvSpPr/>
          <p:nvPr/>
        </p:nvSpPr>
        <p:spPr>
          <a:xfrm>
            <a:off x="7635240" y="1554480"/>
            <a:ext cx="411480" cy="411480"/>
          </a:xfrm>
          <a:prstGeom prst="ellipse">
            <a:avLst/>
          </a:prstGeom>
          <a:solidFill>
            <a:srgbClr val="0EA5E9"/>
          </a:solidFill>
          <a:ln/>
        </p:spPr>
        <p:txBody>
          <a:bodyPr/>
          <a:lstStyle/>
          <a:p>
            <a:endParaRPr lang="en-US"/>
          </a:p>
        </p:txBody>
      </p:sp>
      <p:sp>
        <p:nvSpPr>
          <p:cNvPr id="24" name="Text 22"/>
          <p:cNvSpPr/>
          <p:nvPr/>
        </p:nvSpPr>
        <p:spPr>
          <a:xfrm>
            <a:off x="7635240" y="15544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rPr>
              <a:t>4</a:t>
            </a:r>
            <a:endParaRPr lang="en-US" sz="1600" dirty="0"/>
          </a:p>
        </p:txBody>
      </p:sp>
      <p:sp>
        <p:nvSpPr>
          <p:cNvPr id="25" name="Shape 23"/>
          <p:cNvSpPr/>
          <p:nvPr/>
        </p:nvSpPr>
        <p:spPr>
          <a:xfrm>
            <a:off x="6766560" y="2103120"/>
            <a:ext cx="2011680" cy="2286000"/>
          </a:xfrm>
          <a:prstGeom prst="rect">
            <a:avLst/>
          </a:prstGeom>
          <a:solidFill>
            <a:srgbClr val="FFFFFF"/>
          </a:solidFill>
          <a:ln w="9525">
            <a:solidFill>
              <a:srgbClr val="CFD6DD"/>
            </a:solidFill>
            <a:prstDash val="solid"/>
          </a:ln>
        </p:spPr>
        <p:txBody>
          <a:bodyPr/>
          <a:lstStyle/>
          <a:p>
            <a:endParaRPr lang="en-US"/>
          </a:p>
        </p:txBody>
      </p:sp>
      <p:sp>
        <p:nvSpPr>
          <p:cNvPr id="26" name="Text 24"/>
          <p:cNvSpPr/>
          <p:nvPr/>
        </p:nvSpPr>
        <p:spPr>
          <a:xfrm>
            <a:off x="6903720" y="2240280"/>
            <a:ext cx="1737360" cy="411480"/>
          </a:xfrm>
          <a:prstGeom prst="rect">
            <a:avLst/>
          </a:prstGeom>
          <a:noFill/>
          <a:ln/>
        </p:spPr>
        <p:txBody>
          <a:bodyPr wrap="square" lIns="0" tIns="0" rIns="0" bIns="0" rtlCol="0" anchor="ctr"/>
          <a:lstStyle/>
          <a:p>
            <a:pPr marL="0" indent="0">
              <a:buNone/>
            </a:pPr>
            <a:r>
              <a:rPr lang="en-US" sz="1400" b="1" dirty="0">
                <a:solidFill>
                  <a:srgbClr val="1F2937"/>
                </a:solidFill>
              </a:rPr>
              <a:t>Streamlit build</a:t>
            </a:r>
            <a:endParaRPr lang="en-US" sz="1400" dirty="0"/>
          </a:p>
        </p:txBody>
      </p:sp>
      <p:sp>
        <p:nvSpPr>
          <p:cNvPr id="27" name="Text 25"/>
          <p:cNvSpPr/>
          <p:nvPr/>
        </p:nvSpPr>
        <p:spPr>
          <a:xfrm>
            <a:off x="6903720" y="2697480"/>
            <a:ext cx="1737360" cy="1554480"/>
          </a:xfrm>
          <a:prstGeom prst="rect">
            <a:avLst/>
          </a:prstGeom>
          <a:noFill/>
          <a:ln/>
        </p:spPr>
        <p:txBody>
          <a:bodyPr wrap="square" lIns="0" tIns="0" rIns="0" bIns="0" rtlCol="0" anchor="ctr"/>
          <a:lstStyle/>
          <a:p>
            <a:pPr marL="0" indent="0">
              <a:buNone/>
            </a:pPr>
            <a:r>
              <a:rPr lang="en-US" sz="1100" dirty="0">
                <a:solidFill>
                  <a:srgbClr val="64748B"/>
                </a:solidFill>
              </a:rPr>
              <a:t>High-fi, working app. No click-prototype.</a:t>
            </a:r>
            <a:endParaRPr lang="en-US" sz="1100" dirty="0"/>
          </a:p>
        </p:txBody>
      </p:sp>
      <p:sp>
        <p:nvSpPr>
          <p:cNvPr id="29" name="Text 27"/>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0" name="Text 28"/>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3.2 WIREFRAMES</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Five pages, each built around one user task</a:t>
            </a:r>
            <a:endParaRPr lang="en-US" sz="2600" dirty="0"/>
          </a:p>
        </p:txBody>
      </p:sp>
      <p:pic>
        <p:nvPicPr>
          <p:cNvPr id="5" name="Image 0" descr="/sessions/jolly-nifty-archimedes/mnt/Padel-Project/06_Presentation/assets/01_home.png"/>
          <p:cNvPicPr>
            <a:picLocks noChangeAspect="1"/>
          </p:cNvPicPr>
          <p:nvPr/>
        </p:nvPicPr>
        <p:blipFill>
          <a:blip r:embed="rId3"/>
          <a:stretch>
            <a:fillRect/>
          </a:stretch>
        </p:blipFill>
        <p:spPr>
          <a:xfrm>
            <a:off x="457200" y="1371600"/>
            <a:ext cx="1627632" cy="1005840"/>
          </a:xfrm>
          <a:prstGeom prst="rect">
            <a:avLst/>
          </a:prstGeom>
        </p:spPr>
      </p:pic>
      <p:sp>
        <p:nvSpPr>
          <p:cNvPr id="6" name="Text 3"/>
          <p:cNvSpPr/>
          <p:nvPr/>
        </p:nvSpPr>
        <p:spPr>
          <a:xfrm>
            <a:off x="457200" y="2423160"/>
            <a:ext cx="1627632" cy="256032"/>
          </a:xfrm>
          <a:prstGeom prst="rect">
            <a:avLst/>
          </a:prstGeom>
          <a:noFill/>
          <a:ln/>
        </p:spPr>
        <p:txBody>
          <a:bodyPr wrap="square" lIns="0" tIns="0" rIns="0" bIns="0" rtlCol="0" anchor="ctr"/>
          <a:lstStyle/>
          <a:p>
            <a:pPr marL="0" indent="0">
              <a:buNone/>
            </a:pPr>
            <a:r>
              <a:rPr lang="en-US" sz="1200" b="1" dirty="0">
                <a:solidFill>
                  <a:srgbClr val="1F2937"/>
                </a:solidFill>
              </a:rPr>
              <a:t>Home</a:t>
            </a:r>
            <a:endParaRPr lang="en-US" sz="1200" dirty="0"/>
          </a:p>
        </p:txBody>
      </p:sp>
      <p:sp>
        <p:nvSpPr>
          <p:cNvPr id="7" name="Text 4"/>
          <p:cNvSpPr/>
          <p:nvPr/>
        </p:nvSpPr>
        <p:spPr>
          <a:xfrm>
            <a:off x="457200" y="2670048"/>
            <a:ext cx="1627632" cy="457200"/>
          </a:xfrm>
          <a:prstGeom prst="rect">
            <a:avLst/>
          </a:prstGeom>
          <a:noFill/>
          <a:ln/>
        </p:spPr>
        <p:txBody>
          <a:bodyPr wrap="square" lIns="0" tIns="0" rIns="0" bIns="0" rtlCol="0" anchor="ctr"/>
          <a:lstStyle/>
          <a:p>
            <a:pPr marL="0" indent="0">
              <a:buNone/>
            </a:pPr>
            <a:r>
              <a:rPr lang="en-US" sz="1000" dirty="0">
                <a:solidFill>
                  <a:srgbClr val="64748B"/>
                </a:solidFill>
              </a:rPr>
              <a:t>Last 10 + partner + shot DNA</a:t>
            </a:r>
            <a:endParaRPr lang="en-US" sz="1000" dirty="0"/>
          </a:p>
        </p:txBody>
      </p:sp>
      <p:pic>
        <p:nvPicPr>
          <p:cNvPr id="8" name="Image 1" descr="/sessions/jolly-nifty-archimedes/mnt/Padel-Project/06_Presentation/assets/02_pro_tour.png"/>
          <p:cNvPicPr>
            <a:picLocks noChangeAspect="1"/>
          </p:cNvPicPr>
          <p:nvPr/>
        </p:nvPicPr>
        <p:blipFill>
          <a:blip r:embed="rId4"/>
          <a:stretch>
            <a:fillRect/>
          </a:stretch>
        </p:blipFill>
        <p:spPr>
          <a:xfrm>
            <a:off x="2157984" y="1371600"/>
            <a:ext cx="1627632" cy="1005840"/>
          </a:xfrm>
          <a:prstGeom prst="rect">
            <a:avLst/>
          </a:prstGeom>
        </p:spPr>
      </p:pic>
      <p:sp>
        <p:nvSpPr>
          <p:cNvPr id="9" name="Text 5"/>
          <p:cNvSpPr/>
          <p:nvPr/>
        </p:nvSpPr>
        <p:spPr>
          <a:xfrm>
            <a:off x="2157984" y="2423160"/>
            <a:ext cx="1627632" cy="256032"/>
          </a:xfrm>
          <a:prstGeom prst="rect">
            <a:avLst/>
          </a:prstGeom>
          <a:noFill/>
          <a:ln/>
        </p:spPr>
        <p:txBody>
          <a:bodyPr wrap="square" lIns="0" tIns="0" rIns="0" bIns="0" rtlCol="0" anchor="ctr"/>
          <a:lstStyle/>
          <a:p>
            <a:pPr marL="0" indent="0">
              <a:buNone/>
            </a:pPr>
            <a:r>
              <a:rPr lang="en-US" sz="1200" b="1" dirty="0">
                <a:solidFill>
                  <a:srgbClr val="1F2937"/>
                </a:solidFill>
              </a:rPr>
              <a:t>Pro Tour</a:t>
            </a:r>
            <a:endParaRPr lang="en-US" sz="1200" dirty="0"/>
          </a:p>
        </p:txBody>
      </p:sp>
      <p:sp>
        <p:nvSpPr>
          <p:cNvPr id="10" name="Text 6"/>
          <p:cNvSpPr/>
          <p:nvPr/>
        </p:nvSpPr>
        <p:spPr>
          <a:xfrm>
            <a:off x="2157984" y="2670048"/>
            <a:ext cx="1627632" cy="457200"/>
          </a:xfrm>
          <a:prstGeom prst="rect">
            <a:avLst/>
          </a:prstGeom>
          <a:noFill/>
          <a:ln/>
        </p:spPr>
        <p:txBody>
          <a:bodyPr wrap="square" lIns="0" tIns="0" rIns="0" bIns="0" rtlCol="0" anchor="ctr"/>
          <a:lstStyle/>
          <a:p>
            <a:pPr marL="0" indent="0">
              <a:buNone/>
            </a:pPr>
            <a:r>
              <a:rPr lang="en-US" sz="1000" dirty="0">
                <a:solidFill>
                  <a:srgbClr val="64748B"/>
                </a:solidFill>
              </a:rPr>
              <a:t>Rankings + filters</a:t>
            </a:r>
            <a:endParaRPr lang="en-US" sz="1000" dirty="0"/>
          </a:p>
        </p:txBody>
      </p:sp>
      <p:pic>
        <p:nvPicPr>
          <p:cNvPr id="11" name="Image 2" descr="/sessions/jolly-nifty-archimedes/mnt/Padel-Project/06_Presentation/assets/03_my_stats.png"/>
          <p:cNvPicPr>
            <a:picLocks noChangeAspect="1"/>
          </p:cNvPicPr>
          <p:nvPr/>
        </p:nvPicPr>
        <p:blipFill>
          <a:blip r:embed="rId5"/>
          <a:stretch>
            <a:fillRect/>
          </a:stretch>
        </p:blipFill>
        <p:spPr>
          <a:xfrm>
            <a:off x="3858768" y="1371600"/>
            <a:ext cx="1627632" cy="1005840"/>
          </a:xfrm>
          <a:prstGeom prst="rect">
            <a:avLst/>
          </a:prstGeom>
        </p:spPr>
      </p:pic>
      <p:sp>
        <p:nvSpPr>
          <p:cNvPr id="12" name="Text 7"/>
          <p:cNvSpPr/>
          <p:nvPr/>
        </p:nvSpPr>
        <p:spPr>
          <a:xfrm>
            <a:off x="3858768" y="2423160"/>
            <a:ext cx="1627632" cy="256032"/>
          </a:xfrm>
          <a:prstGeom prst="rect">
            <a:avLst/>
          </a:prstGeom>
          <a:noFill/>
          <a:ln/>
        </p:spPr>
        <p:txBody>
          <a:bodyPr wrap="square" lIns="0" tIns="0" rIns="0" bIns="0" rtlCol="0" anchor="ctr"/>
          <a:lstStyle/>
          <a:p>
            <a:pPr marL="0" indent="0">
              <a:buNone/>
            </a:pPr>
            <a:r>
              <a:rPr lang="en-US" sz="1200" b="1" dirty="0">
                <a:solidFill>
                  <a:srgbClr val="1F2937"/>
                </a:solidFill>
              </a:rPr>
              <a:t>My Stats</a:t>
            </a:r>
            <a:endParaRPr lang="en-US" sz="1200" dirty="0"/>
          </a:p>
        </p:txBody>
      </p:sp>
      <p:sp>
        <p:nvSpPr>
          <p:cNvPr id="13" name="Text 8"/>
          <p:cNvSpPr/>
          <p:nvPr/>
        </p:nvSpPr>
        <p:spPr>
          <a:xfrm>
            <a:off x="3858768" y="2670048"/>
            <a:ext cx="1627632" cy="457200"/>
          </a:xfrm>
          <a:prstGeom prst="rect">
            <a:avLst/>
          </a:prstGeom>
          <a:noFill/>
          <a:ln/>
        </p:spPr>
        <p:txBody>
          <a:bodyPr wrap="square" lIns="0" tIns="0" rIns="0" bIns="0" rtlCol="0" anchor="ctr"/>
          <a:lstStyle/>
          <a:p>
            <a:pPr marL="0" indent="0">
              <a:buNone/>
            </a:pPr>
            <a:r>
              <a:rPr lang="en-US" sz="1000" dirty="0">
                <a:solidFill>
                  <a:srgbClr val="64748B"/>
                </a:solidFill>
              </a:rPr>
              <a:t>Personal dashboard</a:t>
            </a:r>
            <a:endParaRPr lang="en-US" sz="1000" dirty="0"/>
          </a:p>
        </p:txBody>
      </p:sp>
      <p:pic>
        <p:nvPicPr>
          <p:cNvPr id="14" name="Image 3" descr="/sessions/jolly-nifty-archimedes/mnt/Padel-Project/06_Presentation/assets/04_log_match.png"/>
          <p:cNvPicPr>
            <a:picLocks noChangeAspect="1"/>
          </p:cNvPicPr>
          <p:nvPr/>
        </p:nvPicPr>
        <p:blipFill>
          <a:blip r:embed="rId6"/>
          <a:stretch>
            <a:fillRect/>
          </a:stretch>
        </p:blipFill>
        <p:spPr>
          <a:xfrm>
            <a:off x="5559552" y="1371600"/>
            <a:ext cx="1627632" cy="1005840"/>
          </a:xfrm>
          <a:prstGeom prst="rect">
            <a:avLst/>
          </a:prstGeom>
        </p:spPr>
      </p:pic>
      <p:sp>
        <p:nvSpPr>
          <p:cNvPr id="15" name="Text 9"/>
          <p:cNvSpPr/>
          <p:nvPr/>
        </p:nvSpPr>
        <p:spPr>
          <a:xfrm>
            <a:off x="5559552" y="2423160"/>
            <a:ext cx="1627632" cy="256032"/>
          </a:xfrm>
          <a:prstGeom prst="rect">
            <a:avLst/>
          </a:prstGeom>
          <a:noFill/>
          <a:ln/>
        </p:spPr>
        <p:txBody>
          <a:bodyPr wrap="square" lIns="0" tIns="0" rIns="0" bIns="0" rtlCol="0" anchor="ctr"/>
          <a:lstStyle/>
          <a:p>
            <a:pPr marL="0" indent="0">
              <a:buNone/>
            </a:pPr>
            <a:r>
              <a:rPr lang="en-US" sz="1200" b="1" dirty="0">
                <a:solidFill>
                  <a:srgbClr val="1F2937"/>
                </a:solidFill>
              </a:rPr>
              <a:t>Log Match</a:t>
            </a:r>
            <a:endParaRPr lang="en-US" sz="1200" dirty="0"/>
          </a:p>
        </p:txBody>
      </p:sp>
      <p:sp>
        <p:nvSpPr>
          <p:cNvPr id="16" name="Text 10"/>
          <p:cNvSpPr/>
          <p:nvPr/>
        </p:nvSpPr>
        <p:spPr>
          <a:xfrm>
            <a:off x="5559552" y="2670048"/>
            <a:ext cx="1627632" cy="457200"/>
          </a:xfrm>
          <a:prstGeom prst="rect">
            <a:avLst/>
          </a:prstGeom>
          <a:noFill/>
          <a:ln/>
        </p:spPr>
        <p:txBody>
          <a:bodyPr wrap="square" lIns="0" tIns="0" rIns="0" bIns="0" rtlCol="0" anchor="ctr"/>
          <a:lstStyle/>
          <a:p>
            <a:pPr marL="0" indent="0">
              <a:buNone/>
            </a:pPr>
            <a:r>
              <a:rPr lang="en-US" sz="1000" dirty="0">
                <a:solidFill>
                  <a:srgbClr val="64748B"/>
                </a:solidFill>
              </a:rPr>
              <a:t>90-second data entry</a:t>
            </a:r>
            <a:endParaRPr lang="en-US" sz="1000" dirty="0"/>
          </a:p>
        </p:txBody>
      </p:sp>
      <p:pic>
        <p:nvPicPr>
          <p:cNvPr id="17" name="Image 4" descr="/sessions/jolly-nifty-archimedes/mnt/Padel-Project/06_Presentation/assets/05_compare.png"/>
          <p:cNvPicPr>
            <a:picLocks noChangeAspect="1"/>
          </p:cNvPicPr>
          <p:nvPr/>
        </p:nvPicPr>
        <p:blipFill>
          <a:blip r:embed="rId7"/>
          <a:stretch>
            <a:fillRect/>
          </a:stretch>
        </p:blipFill>
        <p:spPr>
          <a:xfrm>
            <a:off x="7260336" y="1371600"/>
            <a:ext cx="1627632" cy="1005840"/>
          </a:xfrm>
          <a:prstGeom prst="rect">
            <a:avLst/>
          </a:prstGeom>
        </p:spPr>
      </p:pic>
      <p:sp>
        <p:nvSpPr>
          <p:cNvPr id="18" name="Text 11"/>
          <p:cNvSpPr/>
          <p:nvPr/>
        </p:nvSpPr>
        <p:spPr>
          <a:xfrm>
            <a:off x="7260336" y="2423160"/>
            <a:ext cx="1627632" cy="256032"/>
          </a:xfrm>
          <a:prstGeom prst="rect">
            <a:avLst/>
          </a:prstGeom>
          <a:noFill/>
          <a:ln/>
        </p:spPr>
        <p:txBody>
          <a:bodyPr wrap="square" lIns="0" tIns="0" rIns="0" bIns="0" rtlCol="0" anchor="ctr"/>
          <a:lstStyle/>
          <a:p>
            <a:pPr marL="0" indent="0">
              <a:buNone/>
            </a:pPr>
            <a:r>
              <a:rPr lang="en-US" sz="1200" b="1" dirty="0">
                <a:solidFill>
                  <a:srgbClr val="1F2937"/>
                </a:solidFill>
              </a:rPr>
              <a:t>Compare</a:t>
            </a:r>
            <a:endParaRPr lang="en-US" sz="1200" dirty="0"/>
          </a:p>
        </p:txBody>
      </p:sp>
      <p:sp>
        <p:nvSpPr>
          <p:cNvPr id="19" name="Text 12"/>
          <p:cNvSpPr/>
          <p:nvPr/>
        </p:nvSpPr>
        <p:spPr>
          <a:xfrm>
            <a:off x="7260336" y="2670048"/>
            <a:ext cx="1627632" cy="457200"/>
          </a:xfrm>
          <a:prstGeom prst="rect">
            <a:avLst/>
          </a:prstGeom>
          <a:noFill/>
          <a:ln/>
        </p:spPr>
        <p:txBody>
          <a:bodyPr wrap="square" lIns="0" tIns="0" rIns="0" bIns="0" rtlCol="0" anchor="ctr"/>
          <a:lstStyle/>
          <a:p>
            <a:pPr marL="0" indent="0">
              <a:buNone/>
            </a:pPr>
            <a:r>
              <a:rPr lang="en-US" sz="1000" dirty="0">
                <a:solidFill>
                  <a:srgbClr val="64748B"/>
                </a:solidFill>
              </a:rPr>
              <a:t>Radar vs pro reference</a:t>
            </a:r>
            <a:endParaRPr lang="en-US" sz="1000" dirty="0"/>
          </a:p>
        </p:txBody>
      </p:sp>
      <p:sp>
        <p:nvSpPr>
          <p:cNvPr id="20" name="Shape 13"/>
          <p:cNvSpPr/>
          <p:nvPr/>
        </p:nvSpPr>
        <p:spPr>
          <a:xfrm>
            <a:off x="457200" y="3246120"/>
            <a:ext cx="8229600" cy="1325880"/>
          </a:xfrm>
          <a:prstGeom prst="rect">
            <a:avLst/>
          </a:prstGeom>
          <a:solidFill>
            <a:srgbClr val="FFFFFF"/>
          </a:solidFill>
          <a:ln w="9525">
            <a:solidFill>
              <a:srgbClr val="CFD6DD"/>
            </a:solidFill>
            <a:prstDash val="solid"/>
          </a:ln>
        </p:spPr>
        <p:txBody>
          <a:bodyPr/>
          <a:lstStyle/>
          <a:p>
            <a:endParaRPr lang="en-US" dirty="0"/>
          </a:p>
        </p:txBody>
      </p:sp>
      <p:sp>
        <p:nvSpPr>
          <p:cNvPr id="21" name="Text 14"/>
          <p:cNvSpPr/>
          <p:nvPr/>
        </p:nvSpPr>
        <p:spPr>
          <a:xfrm>
            <a:off x="640080" y="3383280"/>
            <a:ext cx="7863840" cy="365760"/>
          </a:xfrm>
          <a:prstGeom prst="rect">
            <a:avLst/>
          </a:prstGeom>
          <a:noFill/>
          <a:ln/>
        </p:spPr>
        <p:txBody>
          <a:bodyPr wrap="square" lIns="0" tIns="0" rIns="0" bIns="0" rtlCol="0" anchor="ctr"/>
          <a:lstStyle/>
          <a:p>
            <a:pPr marL="0" indent="0">
              <a:buNone/>
            </a:pPr>
            <a:r>
              <a:rPr lang="en-US" sz="1400" b="1" dirty="0">
                <a:solidFill>
                  <a:srgbClr val="1F2937"/>
                </a:solidFill>
              </a:rPr>
              <a:t>Each page answers ONE task from the brief.  </a:t>
            </a:r>
            <a:endParaRPr lang="en-US" sz="1400" dirty="0"/>
          </a:p>
        </p:txBody>
      </p:sp>
      <p:sp>
        <p:nvSpPr>
          <p:cNvPr id="22" name="Text 15"/>
          <p:cNvSpPr/>
          <p:nvPr/>
        </p:nvSpPr>
        <p:spPr>
          <a:xfrm>
            <a:off x="640080" y="3794760"/>
            <a:ext cx="7863840" cy="685800"/>
          </a:xfrm>
          <a:prstGeom prst="rect">
            <a:avLst/>
          </a:prstGeom>
          <a:noFill/>
          <a:ln/>
        </p:spPr>
        <p:txBody>
          <a:bodyPr wrap="square" lIns="0" tIns="0" rIns="0" bIns="0" rtlCol="0" anchor="ctr"/>
          <a:lstStyle/>
          <a:p>
            <a:pPr marL="0" indent="0">
              <a:buNone/>
            </a:pPr>
            <a:r>
              <a:rPr lang="en-US" sz="1100" b="1" dirty="0">
                <a:solidFill>
                  <a:srgbClr val="64748B"/>
                </a:solidFill>
              </a:rPr>
              <a:t>Home → </a:t>
            </a:r>
            <a:r>
              <a:rPr lang="en-US" sz="1100" dirty="0">
                <a:solidFill>
                  <a:srgbClr val="64748B"/>
                </a:solidFill>
              </a:rPr>
              <a:t>"How am I doing right now?" · </a:t>
            </a:r>
            <a:r>
              <a:rPr lang="en-US" sz="1100" b="1" dirty="0">
                <a:solidFill>
                  <a:srgbClr val="64748B"/>
                </a:solidFill>
              </a:rPr>
              <a:t>Pro Tour → </a:t>
            </a:r>
            <a:r>
              <a:rPr lang="en-US" sz="1100" dirty="0">
                <a:solidFill>
                  <a:srgbClr val="64748B"/>
                </a:solidFill>
              </a:rPr>
              <a:t>"Explore the pro game" · </a:t>
            </a:r>
            <a:r>
              <a:rPr lang="en-US" sz="1100" b="1" dirty="0">
                <a:solidFill>
                  <a:srgbClr val="64748B"/>
                </a:solidFill>
              </a:rPr>
              <a:t>My Stats → </a:t>
            </a:r>
            <a:r>
              <a:rPr lang="en-US" sz="1100" dirty="0">
                <a:solidFill>
                  <a:srgbClr val="64748B"/>
                </a:solidFill>
              </a:rPr>
              <a:t>"Why am I winning/losing?" · </a:t>
            </a:r>
            <a:r>
              <a:rPr lang="en-US" sz="1100" b="1" dirty="0">
                <a:solidFill>
                  <a:srgbClr val="64748B"/>
                </a:solidFill>
              </a:rPr>
              <a:t>Log Match → </a:t>
            </a:r>
            <a:r>
              <a:rPr lang="en-US" sz="1100" dirty="0">
                <a:solidFill>
                  <a:srgbClr val="64748B"/>
                </a:solidFill>
              </a:rPr>
              <a:t>"Add today's match" · </a:t>
            </a:r>
            <a:r>
              <a:rPr lang="en-US" sz="1100" b="1" dirty="0">
                <a:solidFill>
                  <a:srgbClr val="64748B"/>
                </a:solidFill>
              </a:rPr>
              <a:t>Compare → </a:t>
            </a:r>
            <a:r>
              <a:rPr lang="en-US" sz="1100" dirty="0">
                <a:solidFill>
                  <a:srgbClr val="64748B"/>
                </a:solidFill>
              </a:rPr>
              <a:t>"How big is the gap to a pro?"</a:t>
            </a:r>
            <a:endParaRPr lang="en-US" sz="1100" dirty="0"/>
          </a:p>
        </p:txBody>
      </p:sp>
      <p:sp>
        <p:nvSpPr>
          <p:cNvPr id="23" name="Text 16"/>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17"/>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
        <p:nvSpPr>
          <p:cNvPr id="27" name="Shape 13">
            <a:hlinkClick r:id="rId8"/>
            <a:extLst>
              <a:ext uri="{FF2B5EF4-FFF2-40B4-BE49-F238E27FC236}">
                <a16:creationId xmlns:a16="http://schemas.microsoft.com/office/drawing/2014/main" id="{988E3AF2-DDFA-E0D4-B930-FEED7A0C267C}"/>
              </a:ext>
            </a:extLst>
          </p:cNvPr>
          <p:cNvSpPr/>
          <p:nvPr/>
        </p:nvSpPr>
        <p:spPr>
          <a:xfrm>
            <a:off x="7260336" y="3336593"/>
            <a:ext cx="1323474" cy="279134"/>
          </a:xfrm>
          <a:prstGeom prst="rect">
            <a:avLst/>
          </a:prstGeom>
          <a:solidFill>
            <a:srgbClr val="0EA5E9"/>
          </a:solidFill>
          <a:ln/>
        </p:spPr>
        <p:txBody>
          <a:bodyPr/>
          <a:lstStyle/>
          <a:p>
            <a:r>
              <a:rPr lang="en-US" sz="1200" dirty="0"/>
              <a:t>Figma Wireframes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3.3 PRINCIPLES</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Six rules applied throughout</a:t>
            </a:r>
            <a:endParaRPr lang="en-US" sz="2600" dirty="0"/>
          </a:p>
        </p:txBody>
      </p:sp>
      <p:sp>
        <p:nvSpPr>
          <p:cNvPr id="5" name="Shape 3"/>
          <p:cNvSpPr/>
          <p:nvPr/>
        </p:nvSpPr>
        <p:spPr>
          <a:xfrm>
            <a:off x="457200" y="1371600"/>
            <a:ext cx="4069080" cy="91440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640080" y="1618488"/>
            <a:ext cx="411480" cy="411480"/>
          </a:xfrm>
          <a:prstGeom prst="ellipse">
            <a:avLst/>
          </a:prstGeom>
          <a:solidFill>
            <a:srgbClr val="0EA5E9"/>
          </a:solidFill>
          <a:ln/>
        </p:spPr>
        <p:txBody>
          <a:bodyPr/>
          <a:lstStyle/>
          <a:p>
            <a:endParaRPr lang="en-US"/>
          </a:p>
        </p:txBody>
      </p:sp>
      <p:sp>
        <p:nvSpPr>
          <p:cNvPr id="7" name="Text 5"/>
          <p:cNvSpPr/>
          <p:nvPr/>
        </p:nvSpPr>
        <p:spPr>
          <a:xfrm>
            <a:off x="640080" y="161848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8" name="Text 6"/>
          <p:cNvSpPr/>
          <p:nvPr/>
        </p:nvSpPr>
        <p:spPr>
          <a:xfrm>
            <a:off x="1188720" y="1536192"/>
            <a:ext cx="3246120" cy="274320"/>
          </a:xfrm>
          <a:prstGeom prst="rect">
            <a:avLst/>
          </a:prstGeom>
          <a:noFill/>
          <a:ln/>
        </p:spPr>
        <p:txBody>
          <a:bodyPr wrap="square" lIns="0" tIns="0" rIns="0" bIns="0" rtlCol="0" anchor="ctr"/>
          <a:lstStyle/>
          <a:p>
            <a:pPr marL="0" indent="0">
              <a:buNone/>
            </a:pPr>
            <a:r>
              <a:rPr lang="en-US" sz="1250" b="1" dirty="0">
                <a:solidFill>
                  <a:srgbClr val="1F2937"/>
                </a:solidFill>
              </a:rPr>
              <a:t>One number above the fold</a:t>
            </a:r>
            <a:endParaRPr lang="en-US" sz="1250" dirty="0"/>
          </a:p>
        </p:txBody>
      </p:sp>
      <p:sp>
        <p:nvSpPr>
          <p:cNvPr id="9" name="Text 7"/>
          <p:cNvSpPr/>
          <p:nvPr/>
        </p:nvSpPr>
        <p:spPr>
          <a:xfrm>
            <a:off x="1188720" y="1810512"/>
            <a:ext cx="3246120" cy="457200"/>
          </a:xfrm>
          <a:prstGeom prst="rect">
            <a:avLst/>
          </a:prstGeom>
          <a:noFill/>
          <a:ln/>
        </p:spPr>
        <p:txBody>
          <a:bodyPr wrap="square" lIns="0" tIns="0" rIns="0" bIns="0" rtlCol="0" anchor="ctr"/>
          <a:lstStyle/>
          <a:p>
            <a:pPr marL="0" indent="0">
              <a:buNone/>
            </a:pPr>
            <a:r>
              <a:rPr lang="en-US" sz="1100" dirty="0">
                <a:solidFill>
                  <a:srgbClr val="64748B"/>
                </a:solidFill>
              </a:rPr>
              <a:t>The app is opened in bursts. 42-pt KPI on Home.</a:t>
            </a:r>
            <a:endParaRPr lang="en-US" sz="1100" dirty="0"/>
          </a:p>
        </p:txBody>
      </p:sp>
      <p:sp>
        <p:nvSpPr>
          <p:cNvPr id="10" name="Shape 8"/>
          <p:cNvSpPr/>
          <p:nvPr/>
        </p:nvSpPr>
        <p:spPr>
          <a:xfrm>
            <a:off x="4617720" y="1371600"/>
            <a:ext cx="4069080" cy="914400"/>
          </a:xfrm>
          <a:prstGeom prst="rect">
            <a:avLst/>
          </a:prstGeom>
          <a:solidFill>
            <a:srgbClr val="FFFFFF"/>
          </a:solidFill>
          <a:ln w="9525">
            <a:solidFill>
              <a:srgbClr val="CFD6DD"/>
            </a:solidFill>
            <a:prstDash val="solid"/>
          </a:ln>
        </p:spPr>
        <p:txBody>
          <a:bodyPr/>
          <a:lstStyle/>
          <a:p>
            <a:endParaRPr lang="en-US"/>
          </a:p>
        </p:txBody>
      </p:sp>
      <p:sp>
        <p:nvSpPr>
          <p:cNvPr id="11" name="Shape 9"/>
          <p:cNvSpPr/>
          <p:nvPr/>
        </p:nvSpPr>
        <p:spPr>
          <a:xfrm>
            <a:off x="4800600" y="1618488"/>
            <a:ext cx="411480" cy="411480"/>
          </a:xfrm>
          <a:prstGeom prst="ellipse">
            <a:avLst/>
          </a:prstGeom>
          <a:solidFill>
            <a:srgbClr val="0EA5E9"/>
          </a:solidFill>
          <a:ln/>
        </p:spPr>
        <p:txBody>
          <a:bodyPr/>
          <a:lstStyle/>
          <a:p>
            <a:endParaRPr lang="en-US"/>
          </a:p>
        </p:txBody>
      </p:sp>
      <p:sp>
        <p:nvSpPr>
          <p:cNvPr id="12" name="Text 10"/>
          <p:cNvSpPr/>
          <p:nvPr/>
        </p:nvSpPr>
        <p:spPr>
          <a:xfrm>
            <a:off x="4800600" y="161848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3" name="Text 11"/>
          <p:cNvSpPr/>
          <p:nvPr/>
        </p:nvSpPr>
        <p:spPr>
          <a:xfrm>
            <a:off x="5349240" y="1536192"/>
            <a:ext cx="3246120" cy="274320"/>
          </a:xfrm>
          <a:prstGeom prst="rect">
            <a:avLst/>
          </a:prstGeom>
          <a:noFill/>
          <a:ln/>
        </p:spPr>
        <p:txBody>
          <a:bodyPr wrap="square" lIns="0" tIns="0" rIns="0" bIns="0" rtlCol="0" anchor="ctr"/>
          <a:lstStyle/>
          <a:p>
            <a:pPr marL="0" indent="0">
              <a:buNone/>
            </a:pPr>
            <a:r>
              <a:rPr lang="en-US" sz="1250" b="1" dirty="0">
                <a:solidFill>
                  <a:srgbClr val="1F2937"/>
                </a:solidFill>
              </a:rPr>
              <a:t>Recognition over recall</a:t>
            </a:r>
            <a:endParaRPr lang="en-US" sz="1250" dirty="0"/>
          </a:p>
        </p:txBody>
      </p:sp>
      <p:sp>
        <p:nvSpPr>
          <p:cNvPr id="14" name="Text 12"/>
          <p:cNvSpPr/>
          <p:nvPr/>
        </p:nvSpPr>
        <p:spPr>
          <a:xfrm>
            <a:off x="5349240" y="1810512"/>
            <a:ext cx="3246120" cy="457200"/>
          </a:xfrm>
          <a:prstGeom prst="rect">
            <a:avLst/>
          </a:prstGeom>
          <a:noFill/>
          <a:ln/>
        </p:spPr>
        <p:txBody>
          <a:bodyPr wrap="square" lIns="0" tIns="0" rIns="0" bIns="0" rtlCol="0" anchor="ctr"/>
          <a:lstStyle/>
          <a:p>
            <a:pPr marL="0" indent="0">
              <a:buNone/>
            </a:pPr>
            <a:r>
              <a:rPr lang="en-US" sz="1100" dirty="0">
                <a:solidFill>
                  <a:srgbClr val="64748B"/>
                </a:solidFill>
              </a:rPr>
              <a:t>Filters always visible - never behind a button.</a:t>
            </a:r>
            <a:endParaRPr lang="en-US" sz="1100" dirty="0"/>
          </a:p>
        </p:txBody>
      </p:sp>
      <p:sp>
        <p:nvSpPr>
          <p:cNvPr id="15" name="Shape 13"/>
          <p:cNvSpPr/>
          <p:nvPr/>
        </p:nvSpPr>
        <p:spPr>
          <a:xfrm>
            <a:off x="457200" y="2423160"/>
            <a:ext cx="4069080" cy="914400"/>
          </a:xfrm>
          <a:prstGeom prst="rect">
            <a:avLst/>
          </a:prstGeom>
          <a:solidFill>
            <a:srgbClr val="FFFFFF"/>
          </a:solidFill>
          <a:ln w="9525">
            <a:solidFill>
              <a:srgbClr val="CFD6DD"/>
            </a:solidFill>
            <a:prstDash val="solid"/>
          </a:ln>
        </p:spPr>
        <p:txBody>
          <a:bodyPr/>
          <a:lstStyle/>
          <a:p>
            <a:endParaRPr lang="en-US"/>
          </a:p>
        </p:txBody>
      </p:sp>
      <p:sp>
        <p:nvSpPr>
          <p:cNvPr id="16" name="Shape 14"/>
          <p:cNvSpPr/>
          <p:nvPr/>
        </p:nvSpPr>
        <p:spPr>
          <a:xfrm>
            <a:off x="640080" y="2670048"/>
            <a:ext cx="411480" cy="411480"/>
          </a:xfrm>
          <a:prstGeom prst="ellipse">
            <a:avLst/>
          </a:prstGeom>
          <a:solidFill>
            <a:srgbClr val="0EA5E9"/>
          </a:solidFill>
          <a:ln/>
        </p:spPr>
        <p:txBody>
          <a:bodyPr/>
          <a:lstStyle/>
          <a:p>
            <a:endParaRPr lang="en-US"/>
          </a:p>
        </p:txBody>
      </p:sp>
      <p:sp>
        <p:nvSpPr>
          <p:cNvPr id="17" name="Text 15"/>
          <p:cNvSpPr/>
          <p:nvPr/>
        </p:nvSpPr>
        <p:spPr>
          <a:xfrm>
            <a:off x="640080" y="267004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8" name="Text 16"/>
          <p:cNvSpPr/>
          <p:nvPr/>
        </p:nvSpPr>
        <p:spPr>
          <a:xfrm>
            <a:off x="1188720" y="2587752"/>
            <a:ext cx="3246120" cy="274320"/>
          </a:xfrm>
          <a:prstGeom prst="rect">
            <a:avLst/>
          </a:prstGeom>
          <a:noFill/>
          <a:ln/>
        </p:spPr>
        <p:txBody>
          <a:bodyPr wrap="square" lIns="0" tIns="0" rIns="0" bIns="0" rtlCol="0" anchor="ctr"/>
          <a:lstStyle/>
          <a:p>
            <a:pPr marL="0" indent="0">
              <a:buNone/>
            </a:pPr>
            <a:r>
              <a:rPr lang="en-US" sz="1250" b="1" dirty="0">
                <a:solidFill>
                  <a:srgbClr val="1F2937"/>
                </a:solidFill>
              </a:rPr>
              <a:t>Default to action</a:t>
            </a:r>
            <a:endParaRPr lang="en-US" sz="1250" dirty="0"/>
          </a:p>
        </p:txBody>
      </p:sp>
      <p:sp>
        <p:nvSpPr>
          <p:cNvPr id="19" name="Text 17"/>
          <p:cNvSpPr/>
          <p:nvPr/>
        </p:nvSpPr>
        <p:spPr>
          <a:xfrm>
            <a:off x="1188720" y="2862072"/>
            <a:ext cx="3246120" cy="457200"/>
          </a:xfrm>
          <a:prstGeom prst="rect">
            <a:avLst/>
          </a:prstGeom>
          <a:noFill/>
          <a:ln/>
        </p:spPr>
        <p:txBody>
          <a:bodyPr wrap="square" lIns="0" tIns="0" rIns="0" bIns="0" rtlCol="0" anchor="ctr"/>
          <a:lstStyle/>
          <a:p>
            <a:pPr marL="0" indent="0">
              <a:buNone/>
            </a:pPr>
            <a:r>
              <a:rPr lang="en-US" sz="1100" dirty="0">
                <a:solidFill>
                  <a:srgbClr val="64748B"/>
                </a:solidFill>
              </a:rPr>
              <a:t>+ Log a match is the most prominent CTA on Home.</a:t>
            </a:r>
            <a:endParaRPr lang="en-US" sz="1100" dirty="0"/>
          </a:p>
        </p:txBody>
      </p:sp>
      <p:sp>
        <p:nvSpPr>
          <p:cNvPr id="20" name="Shape 18"/>
          <p:cNvSpPr/>
          <p:nvPr/>
        </p:nvSpPr>
        <p:spPr>
          <a:xfrm>
            <a:off x="4617720" y="2423160"/>
            <a:ext cx="4069080" cy="914400"/>
          </a:xfrm>
          <a:prstGeom prst="rect">
            <a:avLst/>
          </a:prstGeom>
          <a:solidFill>
            <a:srgbClr val="FFFFFF"/>
          </a:solidFill>
          <a:ln w="9525">
            <a:solidFill>
              <a:srgbClr val="CFD6DD"/>
            </a:solidFill>
            <a:prstDash val="solid"/>
          </a:ln>
        </p:spPr>
        <p:txBody>
          <a:bodyPr/>
          <a:lstStyle/>
          <a:p>
            <a:endParaRPr lang="en-US"/>
          </a:p>
        </p:txBody>
      </p:sp>
      <p:sp>
        <p:nvSpPr>
          <p:cNvPr id="21" name="Shape 19"/>
          <p:cNvSpPr/>
          <p:nvPr/>
        </p:nvSpPr>
        <p:spPr>
          <a:xfrm>
            <a:off x="4800600" y="2670048"/>
            <a:ext cx="411480" cy="411480"/>
          </a:xfrm>
          <a:prstGeom prst="ellipse">
            <a:avLst/>
          </a:prstGeom>
          <a:solidFill>
            <a:srgbClr val="0EA5E9"/>
          </a:solidFill>
          <a:ln/>
        </p:spPr>
        <p:txBody>
          <a:bodyPr/>
          <a:lstStyle/>
          <a:p>
            <a:endParaRPr lang="en-US"/>
          </a:p>
        </p:txBody>
      </p:sp>
      <p:sp>
        <p:nvSpPr>
          <p:cNvPr id="22" name="Text 20"/>
          <p:cNvSpPr/>
          <p:nvPr/>
        </p:nvSpPr>
        <p:spPr>
          <a:xfrm>
            <a:off x="4800600" y="267004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23" name="Text 21"/>
          <p:cNvSpPr/>
          <p:nvPr/>
        </p:nvSpPr>
        <p:spPr>
          <a:xfrm>
            <a:off x="5349240" y="2587752"/>
            <a:ext cx="3246120" cy="274320"/>
          </a:xfrm>
          <a:prstGeom prst="rect">
            <a:avLst/>
          </a:prstGeom>
          <a:noFill/>
          <a:ln/>
        </p:spPr>
        <p:txBody>
          <a:bodyPr wrap="square" lIns="0" tIns="0" rIns="0" bIns="0" rtlCol="0" anchor="ctr"/>
          <a:lstStyle/>
          <a:p>
            <a:pPr marL="0" indent="0">
              <a:buNone/>
            </a:pPr>
            <a:r>
              <a:rPr lang="en-US" sz="1250" b="1" dirty="0">
                <a:solidFill>
                  <a:srgbClr val="1F2937"/>
                </a:solidFill>
              </a:rPr>
              <a:t>Reduce data-entry friction</a:t>
            </a:r>
            <a:endParaRPr lang="en-US" sz="1250" dirty="0"/>
          </a:p>
        </p:txBody>
      </p:sp>
      <p:sp>
        <p:nvSpPr>
          <p:cNvPr id="24" name="Text 22"/>
          <p:cNvSpPr/>
          <p:nvPr/>
        </p:nvSpPr>
        <p:spPr>
          <a:xfrm>
            <a:off x="5349240" y="2862072"/>
            <a:ext cx="3246120" cy="457200"/>
          </a:xfrm>
          <a:prstGeom prst="rect">
            <a:avLst/>
          </a:prstGeom>
          <a:noFill/>
          <a:ln/>
        </p:spPr>
        <p:txBody>
          <a:bodyPr wrap="square" lIns="0" tIns="0" rIns="0" bIns="0" rtlCol="0" anchor="ctr"/>
          <a:lstStyle/>
          <a:p>
            <a:pPr marL="0" indent="0">
              <a:buNone/>
            </a:pPr>
            <a:r>
              <a:rPr lang="en-US" sz="1100" dirty="0">
                <a:solidFill>
                  <a:srgbClr val="64748B"/>
                </a:solidFill>
              </a:rPr>
              <a:t>Shot tallies optional. Score + partner is enough.</a:t>
            </a:r>
            <a:endParaRPr lang="en-US" sz="1100" dirty="0"/>
          </a:p>
        </p:txBody>
      </p:sp>
      <p:sp>
        <p:nvSpPr>
          <p:cNvPr id="25" name="Shape 23"/>
          <p:cNvSpPr/>
          <p:nvPr/>
        </p:nvSpPr>
        <p:spPr>
          <a:xfrm>
            <a:off x="457200" y="3474720"/>
            <a:ext cx="4069080" cy="914400"/>
          </a:xfrm>
          <a:prstGeom prst="rect">
            <a:avLst/>
          </a:prstGeom>
          <a:solidFill>
            <a:srgbClr val="FFFFFF"/>
          </a:solidFill>
          <a:ln w="9525">
            <a:solidFill>
              <a:srgbClr val="CFD6DD"/>
            </a:solidFill>
            <a:prstDash val="solid"/>
          </a:ln>
        </p:spPr>
        <p:txBody>
          <a:bodyPr/>
          <a:lstStyle/>
          <a:p>
            <a:endParaRPr lang="en-US"/>
          </a:p>
        </p:txBody>
      </p:sp>
      <p:sp>
        <p:nvSpPr>
          <p:cNvPr id="26" name="Shape 24"/>
          <p:cNvSpPr/>
          <p:nvPr/>
        </p:nvSpPr>
        <p:spPr>
          <a:xfrm>
            <a:off x="640080" y="3721608"/>
            <a:ext cx="411480" cy="411480"/>
          </a:xfrm>
          <a:prstGeom prst="ellipse">
            <a:avLst/>
          </a:prstGeom>
          <a:solidFill>
            <a:srgbClr val="0EA5E9"/>
          </a:solidFill>
          <a:ln/>
        </p:spPr>
        <p:txBody>
          <a:bodyPr/>
          <a:lstStyle/>
          <a:p>
            <a:endParaRPr lang="en-US"/>
          </a:p>
        </p:txBody>
      </p:sp>
      <p:sp>
        <p:nvSpPr>
          <p:cNvPr id="27" name="Text 25"/>
          <p:cNvSpPr/>
          <p:nvPr/>
        </p:nvSpPr>
        <p:spPr>
          <a:xfrm>
            <a:off x="640080" y="372160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rPr>
              <a:t>5</a:t>
            </a:r>
            <a:endParaRPr lang="en-US" sz="1300" dirty="0"/>
          </a:p>
        </p:txBody>
      </p:sp>
      <p:sp>
        <p:nvSpPr>
          <p:cNvPr id="28" name="Text 26"/>
          <p:cNvSpPr/>
          <p:nvPr/>
        </p:nvSpPr>
        <p:spPr>
          <a:xfrm>
            <a:off x="1188720" y="3639312"/>
            <a:ext cx="3246120" cy="274320"/>
          </a:xfrm>
          <a:prstGeom prst="rect">
            <a:avLst/>
          </a:prstGeom>
          <a:noFill/>
          <a:ln/>
        </p:spPr>
        <p:txBody>
          <a:bodyPr wrap="square" lIns="0" tIns="0" rIns="0" bIns="0" rtlCol="0" anchor="ctr"/>
          <a:lstStyle/>
          <a:p>
            <a:pPr marL="0" indent="0">
              <a:buNone/>
            </a:pPr>
            <a:r>
              <a:rPr lang="en-US" sz="1250" b="1" dirty="0">
                <a:solidFill>
                  <a:srgbClr val="1F2937"/>
                </a:solidFill>
              </a:rPr>
              <a:t>Honest visual hierarchy</a:t>
            </a:r>
            <a:endParaRPr lang="en-US" sz="1250" dirty="0"/>
          </a:p>
        </p:txBody>
      </p:sp>
      <p:sp>
        <p:nvSpPr>
          <p:cNvPr id="29" name="Text 27"/>
          <p:cNvSpPr/>
          <p:nvPr/>
        </p:nvSpPr>
        <p:spPr>
          <a:xfrm>
            <a:off x="1188720" y="3913632"/>
            <a:ext cx="3246120" cy="457200"/>
          </a:xfrm>
          <a:prstGeom prst="rect">
            <a:avLst/>
          </a:prstGeom>
          <a:noFill/>
          <a:ln/>
        </p:spPr>
        <p:txBody>
          <a:bodyPr wrap="square" lIns="0" tIns="0" rIns="0" bIns="0" rtlCol="0" anchor="ctr"/>
          <a:lstStyle/>
          <a:p>
            <a:pPr marL="0" indent="0">
              <a:buNone/>
            </a:pPr>
            <a:r>
              <a:rPr lang="en-US" sz="1100" dirty="0">
                <a:solidFill>
                  <a:srgbClr val="64748B"/>
                </a:solidFill>
              </a:rPr>
              <a:t>Red only for negative signal. No gratuitous color.</a:t>
            </a:r>
            <a:endParaRPr lang="en-US" sz="1100" dirty="0"/>
          </a:p>
        </p:txBody>
      </p:sp>
      <p:sp>
        <p:nvSpPr>
          <p:cNvPr id="30" name="Shape 28"/>
          <p:cNvSpPr/>
          <p:nvPr/>
        </p:nvSpPr>
        <p:spPr>
          <a:xfrm>
            <a:off x="4617720" y="3474720"/>
            <a:ext cx="4069080" cy="914400"/>
          </a:xfrm>
          <a:prstGeom prst="rect">
            <a:avLst/>
          </a:prstGeom>
          <a:solidFill>
            <a:srgbClr val="FFFFFF"/>
          </a:solidFill>
          <a:ln w="9525">
            <a:solidFill>
              <a:srgbClr val="CFD6DD"/>
            </a:solidFill>
            <a:prstDash val="solid"/>
          </a:ln>
        </p:spPr>
        <p:txBody>
          <a:bodyPr/>
          <a:lstStyle/>
          <a:p>
            <a:endParaRPr lang="en-US"/>
          </a:p>
        </p:txBody>
      </p:sp>
      <p:sp>
        <p:nvSpPr>
          <p:cNvPr id="31" name="Shape 29"/>
          <p:cNvSpPr/>
          <p:nvPr/>
        </p:nvSpPr>
        <p:spPr>
          <a:xfrm>
            <a:off x="4800600" y="3721608"/>
            <a:ext cx="411480" cy="411480"/>
          </a:xfrm>
          <a:prstGeom prst="ellipse">
            <a:avLst/>
          </a:prstGeom>
          <a:solidFill>
            <a:srgbClr val="0EA5E9"/>
          </a:solidFill>
          <a:ln/>
        </p:spPr>
        <p:txBody>
          <a:bodyPr/>
          <a:lstStyle/>
          <a:p>
            <a:endParaRPr lang="en-US"/>
          </a:p>
        </p:txBody>
      </p:sp>
      <p:sp>
        <p:nvSpPr>
          <p:cNvPr id="32" name="Text 30"/>
          <p:cNvSpPr/>
          <p:nvPr/>
        </p:nvSpPr>
        <p:spPr>
          <a:xfrm>
            <a:off x="4800600" y="3721608"/>
            <a:ext cx="411480" cy="411480"/>
          </a:xfrm>
          <a:prstGeom prst="rect">
            <a:avLst/>
          </a:prstGeom>
          <a:noFill/>
          <a:ln/>
        </p:spPr>
        <p:txBody>
          <a:bodyPr wrap="square" lIns="0" tIns="0" rIns="0" bIns="0" rtlCol="0" anchor="ctr"/>
          <a:lstStyle/>
          <a:p>
            <a:pPr marL="0" indent="0" algn="ctr">
              <a:buNone/>
            </a:pPr>
            <a:r>
              <a:rPr lang="en-US" sz="1300" b="1" dirty="0">
                <a:solidFill>
                  <a:srgbClr val="FFFFFF"/>
                </a:solidFill>
              </a:rPr>
              <a:t>6</a:t>
            </a:r>
            <a:endParaRPr lang="en-US" sz="1300" dirty="0"/>
          </a:p>
        </p:txBody>
      </p:sp>
      <p:sp>
        <p:nvSpPr>
          <p:cNvPr id="33" name="Text 31"/>
          <p:cNvSpPr/>
          <p:nvPr/>
        </p:nvSpPr>
        <p:spPr>
          <a:xfrm>
            <a:off x="5349240" y="3639312"/>
            <a:ext cx="3246120" cy="274320"/>
          </a:xfrm>
          <a:prstGeom prst="rect">
            <a:avLst/>
          </a:prstGeom>
          <a:noFill/>
          <a:ln/>
        </p:spPr>
        <p:txBody>
          <a:bodyPr wrap="square" lIns="0" tIns="0" rIns="0" bIns="0" rtlCol="0" anchor="ctr"/>
          <a:lstStyle/>
          <a:p>
            <a:pPr marL="0" indent="0">
              <a:buNone/>
            </a:pPr>
            <a:r>
              <a:rPr lang="en-US" sz="1250" b="1" dirty="0">
                <a:solidFill>
                  <a:srgbClr val="1F2937"/>
                </a:solidFill>
              </a:rPr>
              <a:t>Annotate, don't decorate</a:t>
            </a:r>
            <a:endParaRPr lang="en-US" sz="1250" dirty="0"/>
          </a:p>
        </p:txBody>
      </p:sp>
      <p:sp>
        <p:nvSpPr>
          <p:cNvPr id="34" name="Text 32"/>
          <p:cNvSpPr/>
          <p:nvPr/>
        </p:nvSpPr>
        <p:spPr>
          <a:xfrm>
            <a:off x="5349240" y="3913632"/>
            <a:ext cx="3246120" cy="457200"/>
          </a:xfrm>
          <a:prstGeom prst="rect">
            <a:avLst/>
          </a:prstGeom>
          <a:noFill/>
          <a:ln/>
        </p:spPr>
        <p:txBody>
          <a:bodyPr wrap="square" lIns="0" tIns="0" rIns="0" bIns="0" rtlCol="0" anchor="ctr"/>
          <a:lstStyle/>
          <a:p>
            <a:pPr marL="0" indent="0">
              <a:buNone/>
            </a:pPr>
            <a:r>
              <a:rPr lang="en-US" sz="1100" dirty="0">
                <a:solidFill>
                  <a:srgbClr val="64748B"/>
                </a:solidFill>
              </a:rPr>
              <a:t>Every chart has at least one in-canvas annotation.</a:t>
            </a:r>
            <a:endParaRPr lang="en-US" sz="1100" dirty="0"/>
          </a:p>
        </p:txBody>
      </p:sp>
      <p:sp>
        <p:nvSpPr>
          <p:cNvPr id="35" name="Text 33"/>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6" name="Text 34"/>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3.4 HEURISTIC EVALUATION</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Two real changes from Nielsen's 10</a:t>
            </a:r>
            <a:endParaRPr lang="en-US" sz="2600" dirty="0"/>
          </a:p>
        </p:txBody>
      </p:sp>
      <p:sp>
        <p:nvSpPr>
          <p:cNvPr id="5" name="Shape 3"/>
          <p:cNvSpPr/>
          <p:nvPr/>
        </p:nvSpPr>
        <p:spPr>
          <a:xfrm>
            <a:off x="457200" y="1371600"/>
            <a:ext cx="8229600" cy="1371600"/>
          </a:xfrm>
          <a:prstGeom prst="rect">
            <a:avLst/>
          </a:prstGeom>
          <a:solidFill>
            <a:srgbClr val="FFFFFF"/>
          </a:solidFill>
          <a:ln w="9525">
            <a:solidFill>
              <a:srgbClr val="CFD6DD"/>
            </a:solidFill>
            <a:prstDash val="solid"/>
          </a:ln>
        </p:spPr>
        <p:txBody>
          <a:bodyPr/>
          <a:lstStyle/>
          <a:p>
            <a:endParaRPr lang="en-US"/>
          </a:p>
        </p:txBody>
      </p:sp>
      <p:sp>
        <p:nvSpPr>
          <p:cNvPr id="6" name="Shape 4"/>
          <p:cNvSpPr/>
          <p:nvPr/>
        </p:nvSpPr>
        <p:spPr>
          <a:xfrm>
            <a:off x="457200" y="1371600"/>
            <a:ext cx="1005840" cy="1371600"/>
          </a:xfrm>
          <a:prstGeom prst="rect">
            <a:avLst/>
          </a:prstGeom>
          <a:solidFill>
            <a:srgbClr val="1E293B"/>
          </a:solidFill>
          <a:ln/>
        </p:spPr>
        <p:txBody>
          <a:bodyPr/>
          <a:lstStyle/>
          <a:p>
            <a:endParaRPr lang="en-US"/>
          </a:p>
        </p:txBody>
      </p:sp>
      <p:sp>
        <p:nvSpPr>
          <p:cNvPr id="7" name="Text 5"/>
          <p:cNvSpPr/>
          <p:nvPr/>
        </p:nvSpPr>
        <p:spPr>
          <a:xfrm>
            <a:off x="457200" y="1554480"/>
            <a:ext cx="1005840" cy="457200"/>
          </a:xfrm>
          <a:prstGeom prst="rect">
            <a:avLst/>
          </a:prstGeom>
          <a:noFill/>
          <a:ln/>
        </p:spPr>
        <p:txBody>
          <a:bodyPr wrap="square" lIns="0" tIns="0" rIns="0" bIns="0" rtlCol="0" anchor="ctr"/>
          <a:lstStyle/>
          <a:p>
            <a:pPr marL="0" indent="0" algn="ctr">
              <a:buNone/>
            </a:pPr>
            <a:r>
              <a:rPr lang="en-US" sz="2200" b="1" dirty="0">
                <a:solidFill>
                  <a:srgbClr val="FFFFFF"/>
                </a:solidFill>
              </a:rPr>
              <a:t>#5</a:t>
            </a:r>
            <a:endParaRPr lang="en-US" sz="2200" dirty="0"/>
          </a:p>
        </p:txBody>
      </p:sp>
      <p:sp>
        <p:nvSpPr>
          <p:cNvPr id="8" name="Text 6"/>
          <p:cNvSpPr/>
          <p:nvPr/>
        </p:nvSpPr>
        <p:spPr>
          <a:xfrm>
            <a:off x="457200" y="2057400"/>
            <a:ext cx="1005840" cy="594360"/>
          </a:xfrm>
          <a:prstGeom prst="rect">
            <a:avLst/>
          </a:prstGeom>
          <a:noFill/>
          <a:ln/>
        </p:spPr>
        <p:txBody>
          <a:bodyPr wrap="square" lIns="0" tIns="0" rIns="0" bIns="0" rtlCol="0" anchor="t"/>
          <a:lstStyle/>
          <a:p>
            <a:pPr marL="0" indent="0" algn="ctr">
              <a:buNone/>
            </a:pPr>
            <a:r>
              <a:rPr lang="en-US" sz="900" dirty="0">
                <a:solidFill>
                  <a:srgbClr val="FFFFFF"/>
                </a:solidFill>
              </a:rPr>
              <a:t>Error prevention</a:t>
            </a:r>
            <a:endParaRPr lang="en-US" sz="900" dirty="0"/>
          </a:p>
        </p:txBody>
      </p:sp>
      <p:sp>
        <p:nvSpPr>
          <p:cNvPr id="9" name="Text 7"/>
          <p:cNvSpPr/>
          <p:nvPr/>
        </p:nvSpPr>
        <p:spPr>
          <a:xfrm>
            <a:off x="1645920" y="1508760"/>
            <a:ext cx="2743200" cy="228600"/>
          </a:xfrm>
          <a:prstGeom prst="rect">
            <a:avLst/>
          </a:prstGeom>
          <a:noFill/>
          <a:ln/>
        </p:spPr>
        <p:txBody>
          <a:bodyPr wrap="square" lIns="0" tIns="0" rIns="0" bIns="0" rtlCol="0" anchor="ctr"/>
          <a:lstStyle/>
          <a:p>
            <a:pPr marL="0" indent="0">
              <a:buNone/>
            </a:pPr>
            <a:r>
              <a:rPr lang="en-US" sz="900" b="1" kern="0" spc="300" dirty="0">
                <a:solidFill>
                  <a:srgbClr val="EF4444"/>
                </a:solidFill>
              </a:rPr>
              <a:t>BEFORE</a:t>
            </a:r>
            <a:endParaRPr lang="en-US" sz="900" dirty="0"/>
          </a:p>
        </p:txBody>
      </p:sp>
      <p:sp>
        <p:nvSpPr>
          <p:cNvPr id="10" name="Text 8"/>
          <p:cNvSpPr/>
          <p:nvPr/>
        </p:nvSpPr>
        <p:spPr>
          <a:xfrm>
            <a:off x="1645920" y="1737360"/>
            <a:ext cx="3200400" cy="914400"/>
          </a:xfrm>
          <a:prstGeom prst="rect">
            <a:avLst/>
          </a:prstGeom>
          <a:noFill/>
          <a:ln/>
        </p:spPr>
        <p:txBody>
          <a:bodyPr wrap="square" lIns="0" tIns="0" rIns="0" bIns="0" rtlCol="0" anchor="ctr"/>
          <a:lstStyle/>
          <a:p>
            <a:pPr marL="0" indent="0">
              <a:buNone/>
            </a:pPr>
            <a:r>
              <a:rPr lang="en-US" sz="1100" dirty="0">
                <a:solidFill>
                  <a:srgbClr val="64748B"/>
                </a:solidFill>
              </a:rPr>
              <a:t>Original form let me enter Set-3 scores even when sets 1-2 were already decided (6-0, 6-0).</a:t>
            </a:r>
            <a:endParaRPr lang="en-US" sz="1100" dirty="0"/>
          </a:p>
        </p:txBody>
      </p:sp>
      <p:sp>
        <p:nvSpPr>
          <p:cNvPr id="11" name="Shape 9"/>
          <p:cNvSpPr/>
          <p:nvPr/>
        </p:nvSpPr>
        <p:spPr>
          <a:xfrm>
            <a:off x="5029200" y="2057400"/>
            <a:ext cx="365760" cy="0"/>
          </a:xfrm>
          <a:prstGeom prst="line">
            <a:avLst/>
          </a:prstGeom>
          <a:noFill/>
          <a:ln w="31750">
            <a:solidFill>
              <a:srgbClr val="0EA5E9"/>
            </a:solidFill>
            <a:prstDash val="solid"/>
            <a:tailEnd type="triangle"/>
          </a:ln>
        </p:spPr>
        <p:txBody>
          <a:bodyPr/>
          <a:lstStyle/>
          <a:p>
            <a:endParaRPr lang="en-US"/>
          </a:p>
        </p:txBody>
      </p:sp>
      <p:sp>
        <p:nvSpPr>
          <p:cNvPr id="12" name="Text 10"/>
          <p:cNvSpPr/>
          <p:nvPr/>
        </p:nvSpPr>
        <p:spPr>
          <a:xfrm>
            <a:off x="5486400" y="1508760"/>
            <a:ext cx="2743200" cy="228600"/>
          </a:xfrm>
          <a:prstGeom prst="rect">
            <a:avLst/>
          </a:prstGeom>
          <a:noFill/>
          <a:ln/>
        </p:spPr>
        <p:txBody>
          <a:bodyPr wrap="square" lIns="0" tIns="0" rIns="0" bIns="0" rtlCol="0" anchor="ctr"/>
          <a:lstStyle/>
          <a:p>
            <a:pPr marL="0" indent="0">
              <a:buNone/>
            </a:pPr>
            <a:r>
              <a:rPr lang="en-US" sz="900" b="1" kern="0" spc="300" dirty="0">
                <a:solidFill>
                  <a:srgbClr val="10B981"/>
                </a:solidFill>
              </a:rPr>
              <a:t>AFTER</a:t>
            </a:r>
            <a:endParaRPr lang="en-US" sz="900" dirty="0"/>
          </a:p>
        </p:txBody>
      </p:sp>
      <p:sp>
        <p:nvSpPr>
          <p:cNvPr id="13" name="Text 11"/>
          <p:cNvSpPr/>
          <p:nvPr/>
        </p:nvSpPr>
        <p:spPr>
          <a:xfrm>
            <a:off x="5486400" y="1737360"/>
            <a:ext cx="3017520" cy="914400"/>
          </a:xfrm>
          <a:prstGeom prst="rect">
            <a:avLst/>
          </a:prstGeom>
          <a:noFill/>
          <a:ln/>
        </p:spPr>
        <p:txBody>
          <a:bodyPr wrap="square" lIns="0" tIns="0" rIns="0" bIns="0" rtlCol="0" anchor="ctr"/>
          <a:lstStyle/>
          <a:p>
            <a:pPr marL="0" indent="0">
              <a:buNone/>
            </a:pPr>
            <a:r>
              <a:rPr lang="en-US" sz="1100" dirty="0">
                <a:solidFill>
                  <a:srgbClr val="1F2937"/>
                </a:solidFill>
              </a:rPr>
              <a:t>Set-3 inputs are disabled until sets 1-2 are split 1-1.</a:t>
            </a:r>
            <a:endParaRPr lang="en-US" sz="1100" dirty="0"/>
          </a:p>
        </p:txBody>
      </p:sp>
      <p:sp>
        <p:nvSpPr>
          <p:cNvPr id="14" name="Shape 12"/>
          <p:cNvSpPr/>
          <p:nvPr/>
        </p:nvSpPr>
        <p:spPr>
          <a:xfrm>
            <a:off x="457200" y="2880360"/>
            <a:ext cx="8229600" cy="1371600"/>
          </a:xfrm>
          <a:prstGeom prst="rect">
            <a:avLst/>
          </a:prstGeom>
          <a:solidFill>
            <a:srgbClr val="FFFFFF"/>
          </a:solidFill>
          <a:ln w="9525">
            <a:solidFill>
              <a:srgbClr val="CFD6DD"/>
            </a:solidFill>
            <a:prstDash val="solid"/>
          </a:ln>
        </p:spPr>
        <p:txBody>
          <a:bodyPr/>
          <a:lstStyle/>
          <a:p>
            <a:endParaRPr lang="en-US"/>
          </a:p>
        </p:txBody>
      </p:sp>
      <p:sp>
        <p:nvSpPr>
          <p:cNvPr id="15" name="Shape 13"/>
          <p:cNvSpPr/>
          <p:nvPr/>
        </p:nvSpPr>
        <p:spPr>
          <a:xfrm>
            <a:off x="457200" y="2880360"/>
            <a:ext cx="1005840" cy="1371600"/>
          </a:xfrm>
          <a:prstGeom prst="rect">
            <a:avLst/>
          </a:prstGeom>
          <a:solidFill>
            <a:srgbClr val="1E293B"/>
          </a:solidFill>
          <a:ln/>
        </p:spPr>
        <p:txBody>
          <a:bodyPr/>
          <a:lstStyle/>
          <a:p>
            <a:endParaRPr lang="en-US"/>
          </a:p>
        </p:txBody>
      </p:sp>
      <p:sp>
        <p:nvSpPr>
          <p:cNvPr id="16" name="Text 14"/>
          <p:cNvSpPr/>
          <p:nvPr/>
        </p:nvSpPr>
        <p:spPr>
          <a:xfrm>
            <a:off x="457200" y="3063240"/>
            <a:ext cx="1005840" cy="457200"/>
          </a:xfrm>
          <a:prstGeom prst="rect">
            <a:avLst/>
          </a:prstGeom>
          <a:noFill/>
          <a:ln/>
        </p:spPr>
        <p:txBody>
          <a:bodyPr wrap="square" lIns="0" tIns="0" rIns="0" bIns="0" rtlCol="0" anchor="ctr"/>
          <a:lstStyle/>
          <a:p>
            <a:pPr marL="0" indent="0" algn="ctr">
              <a:buNone/>
            </a:pPr>
            <a:r>
              <a:rPr lang="en-US" sz="2200" b="1" dirty="0">
                <a:solidFill>
                  <a:srgbClr val="FFFFFF"/>
                </a:solidFill>
              </a:rPr>
              <a:t>#6</a:t>
            </a:r>
            <a:endParaRPr lang="en-US" sz="2200" dirty="0"/>
          </a:p>
        </p:txBody>
      </p:sp>
      <p:sp>
        <p:nvSpPr>
          <p:cNvPr id="17" name="Text 15"/>
          <p:cNvSpPr/>
          <p:nvPr/>
        </p:nvSpPr>
        <p:spPr>
          <a:xfrm>
            <a:off x="457200" y="3566160"/>
            <a:ext cx="1005840" cy="594360"/>
          </a:xfrm>
          <a:prstGeom prst="rect">
            <a:avLst/>
          </a:prstGeom>
          <a:noFill/>
          <a:ln/>
        </p:spPr>
        <p:txBody>
          <a:bodyPr wrap="square" lIns="0" tIns="0" rIns="0" bIns="0" rtlCol="0" anchor="t"/>
          <a:lstStyle/>
          <a:p>
            <a:pPr marL="0" indent="0" algn="ctr">
              <a:buNone/>
            </a:pPr>
            <a:r>
              <a:rPr lang="en-US" sz="900" dirty="0">
                <a:solidFill>
                  <a:srgbClr val="FFFFFF"/>
                </a:solidFill>
              </a:rPr>
              <a:t>Recognition over recall</a:t>
            </a:r>
            <a:endParaRPr lang="en-US" sz="900" dirty="0"/>
          </a:p>
        </p:txBody>
      </p:sp>
      <p:sp>
        <p:nvSpPr>
          <p:cNvPr id="18" name="Text 16"/>
          <p:cNvSpPr/>
          <p:nvPr/>
        </p:nvSpPr>
        <p:spPr>
          <a:xfrm>
            <a:off x="1645920" y="3017520"/>
            <a:ext cx="2743200" cy="228600"/>
          </a:xfrm>
          <a:prstGeom prst="rect">
            <a:avLst/>
          </a:prstGeom>
          <a:noFill/>
          <a:ln/>
        </p:spPr>
        <p:txBody>
          <a:bodyPr wrap="square" lIns="0" tIns="0" rIns="0" bIns="0" rtlCol="0" anchor="ctr"/>
          <a:lstStyle/>
          <a:p>
            <a:pPr marL="0" indent="0">
              <a:buNone/>
            </a:pPr>
            <a:r>
              <a:rPr lang="en-US" sz="900" b="1" kern="0" spc="300" dirty="0">
                <a:solidFill>
                  <a:srgbClr val="EF4444"/>
                </a:solidFill>
              </a:rPr>
              <a:t>BEFORE</a:t>
            </a:r>
            <a:endParaRPr lang="en-US" sz="900" dirty="0"/>
          </a:p>
        </p:txBody>
      </p:sp>
      <p:sp>
        <p:nvSpPr>
          <p:cNvPr id="19" name="Text 17"/>
          <p:cNvSpPr/>
          <p:nvPr/>
        </p:nvSpPr>
        <p:spPr>
          <a:xfrm>
            <a:off x="1645920" y="3246120"/>
            <a:ext cx="3200400" cy="914400"/>
          </a:xfrm>
          <a:prstGeom prst="rect">
            <a:avLst/>
          </a:prstGeom>
          <a:noFill/>
          <a:ln/>
        </p:spPr>
        <p:txBody>
          <a:bodyPr wrap="square" lIns="0" tIns="0" rIns="0" bIns="0" rtlCol="0" anchor="ctr"/>
          <a:lstStyle/>
          <a:p>
            <a:pPr marL="0" indent="0">
              <a:buNone/>
            </a:pPr>
            <a:r>
              <a:rPr lang="en-US" sz="1100" dirty="0">
                <a:solidFill>
                  <a:srgbClr val="64748B"/>
                </a:solidFill>
              </a:rPr>
              <a:t>First sketch had filters hidden behind a 'Filters' button - user has to remember what they filtered by.</a:t>
            </a:r>
            <a:endParaRPr lang="en-US" sz="1100" dirty="0"/>
          </a:p>
        </p:txBody>
      </p:sp>
      <p:sp>
        <p:nvSpPr>
          <p:cNvPr id="20" name="Shape 18"/>
          <p:cNvSpPr/>
          <p:nvPr/>
        </p:nvSpPr>
        <p:spPr>
          <a:xfrm>
            <a:off x="5029200" y="3566160"/>
            <a:ext cx="365760" cy="0"/>
          </a:xfrm>
          <a:prstGeom prst="line">
            <a:avLst/>
          </a:prstGeom>
          <a:noFill/>
          <a:ln w="31750">
            <a:solidFill>
              <a:srgbClr val="0EA5E9"/>
            </a:solidFill>
            <a:prstDash val="solid"/>
            <a:tailEnd type="triangle"/>
          </a:ln>
        </p:spPr>
        <p:txBody>
          <a:bodyPr/>
          <a:lstStyle/>
          <a:p>
            <a:endParaRPr lang="en-US"/>
          </a:p>
        </p:txBody>
      </p:sp>
      <p:sp>
        <p:nvSpPr>
          <p:cNvPr id="21" name="Text 19"/>
          <p:cNvSpPr/>
          <p:nvPr/>
        </p:nvSpPr>
        <p:spPr>
          <a:xfrm>
            <a:off x="5486400" y="3017520"/>
            <a:ext cx="2743200" cy="228600"/>
          </a:xfrm>
          <a:prstGeom prst="rect">
            <a:avLst/>
          </a:prstGeom>
          <a:noFill/>
          <a:ln/>
        </p:spPr>
        <p:txBody>
          <a:bodyPr wrap="square" lIns="0" tIns="0" rIns="0" bIns="0" rtlCol="0" anchor="ctr"/>
          <a:lstStyle/>
          <a:p>
            <a:pPr marL="0" indent="0">
              <a:buNone/>
            </a:pPr>
            <a:r>
              <a:rPr lang="en-US" sz="900" b="1" kern="0" spc="300" dirty="0">
                <a:solidFill>
                  <a:srgbClr val="10B981"/>
                </a:solidFill>
              </a:rPr>
              <a:t>AFTER</a:t>
            </a:r>
            <a:endParaRPr lang="en-US" sz="900" dirty="0"/>
          </a:p>
        </p:txBody>
      </p:sp>
      <p:sp>
        <p:nvSpPr>
          <p:cNvPr id="22" name="Text 20"/>
          <p:cNvSpPr/>
          <p:nvPr/>
        </p:nvSpPr>
        <p:spPr>
          <a:xfrm>
            <a:off x="5486400" y="3246120"/>
            <a:ext cx="3017520" cy="914400"/>
          </a:xfrm>
          <a:prstGeom prst="rect">
            <a:avLst/>
          </a:prstGeom>
          <a:noFill/>
          <a:ln/>
        </p:spPr>
        <p:txBody>
          <a:bodyPr wrap="square" lIns="0" tIns="0" rIns="0" bIns="0" rtlCol="0" anchor="ctr"/>
          <a:lstStyle/>
          <a:p>
            <a:pPr marL="0" indent="0">
              <a:buNone/>
            </a:pPr>
            <a:r>
              <a:rPr lang="en-US" sz="1100" dirty="0">
                <a:solidFill>
                  <a:srgbClr val="1F2937"/>
                </a:solidFill>
              </a:rPr>
              <a:t>Filters live in an always-visible sidebar on the Pro Tour page.</a:t>
            </a:r>
            <a:endParaRPr lang="en-US" sz="1100" dirty="0"/>
          </a:p>
        </p:txBody>
      </p:sp>
      <p:sp>
        <p:nvSpPr>
          <p:cNvPr id="23" name="Text 21"/>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4" name="Text 22"/>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3.5 CLOSING THE VALIDATION LOOP</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Instruments ready. Sessions scheduled. No invented score.</a:t>
            </a:r>
            <a:endParaRPr lang="en-US" sz="2600" dirty="0"/>
          </a:p>
        </p:txBody>
      </p:sp>
      <p:sp>
        <p:nvSpPr>
          <p:cNvPr id="100" name="Text 100"/>
          <p:cNvSpPr/>
          <p:nvPr/>
        </p:nvSpPr>
        <p:spPr>
          <a:xfrm>
            <a:off x="502920" y="1417320"/>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1" name="Text 101"/>
          <p:cNvSpPr/>
          <p:nvPr/>
        </p:nvSpPr>
        <p:spPr>
          <a:xfrm>
            <a:off x="960120" y="1380744"/>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Persona-grounding survey (EN/IT)</a:t>
            </a:r>
            <a:endParaRPr lang="en-US" sz="1400" dirty="0"/>
          </a:p>
        </p:txBody>
      </p:sp>
      <p:sp>
        <p:nvSpPr>
          <p:cNvPr id="102" name="Text 102"/>
          <p:cNvSpPr/>
          <p:nvPr/>
        </p:nvSpPr>
        <p:spPr>
          <a:xfrm>
            <a:off x="960120" y="1655064"/>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Grounds Marco and Luca in real respondents instead of assumptions.</a:t>
            </a:r>
            <a:endParaRPr lang="en-US" sz="1050" dirty="0"/>
          </a:p>
        </p:txBody>
      </p:sp>
      <p:sp>
        <p:nvSpPr>
          <p:cNvPr id="103" name="Text 103"/>
          <p:cNvSpPr/>
          <p:nvPr/>
        </p:nvSpPr>
        <p:spPr>
          <a:xfrm>
            <a:off x="502920" y="2020824"/>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4" name="Text 104"/>
          <p:cNvSpPr/>
          <p:nvPr/>
        </p:nvSpPr>
        <p:spPr>
          <a:xfrm>
            <a:off x="960120" y="1984248"/>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Interview guide</a:t>
            </a:r>
            <a:endParaRPr lang="en-US" sz="1400" dirty="0"/>
          </a:p>
        </p:txBody>
      </p:sp>
      <p:sp>
        <p:nvSpPr>
          <p:cNvPr id="105" name="Text 105"/>
          <p:cNvSpPr/>
          <p:nvPr/>
        </p:nvSpPr>
        <p:spPr>
          <a:xfrm>
            <a:off x="960120" y="2258568"/>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Semi-structured questions for club players, to probe beyond the survey.</a:t>
            </a:r>
            <a:endParaRPr lang="en-US" sz="1050" dirty="0"/>
          </a:p>
        </p:txBody>
      </p:sp>
      <p:sp>
        <p:nvSpPr>
          <p:cNvPr id="106" name="Text 106"/>
          <p:cNvSpPr/>
          <p:nvPr/>
        </p:nvSpPr>
        <p:spPr>
          <a:xfrm>
            <a:off x="502920" y="2624328"/>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7" name="Text 107"/>
          <p:cNvSpPr/>
          <p:nvPr/>
        </p:nvSpPr>
        <p:spPr>
          <a:xfrm>
            <a:off x="960120" y="2587752"/>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SUS questionnaire + scoring sheet</a:t>
            </a:r>
            <a:endParaRPr lang="en-US" sz="1400" dirty="0"/>
          </a:p>
        </p:txBody>
      </p:sp>
      <p:sp>
        <p:nvSpPr>
          <p:cNvPr id="108" name="Text 108"/>
          <p:cNvSpPr/>
          <p:nvPr/>
        </p:nvSpPr>
        <p:spPr>
          <a:xfrm>
            <a:off x="960120" y="2862072"/>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Standard 10-item System Usability Scale, ready to run — not yet run.</a:t>
            </a:r>
            <a:endParaRPr lang="en-US" sz="1050" dirty="0"/>
          </a:p>
        </p:txBody>
      </p:sp>
      <p:sp>
        <p:nvSpPr>
          <p:cNvPr id="109" name="Text 109"/>
          <p:cNvSpPr/>
          <p:nvPr/>
        </p:nvSpPr>
        <p:spPr>
          <a:xfrm>
            <a:off x="502920" y="3227832"/>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0" name="Text 110"/>
          <p:cNvSpPr/>
          <p:nvPr/>
        </p:nvSpPr>
        <p:spPr>
          <a:xfrm>
            <a:off x="960120" y="3191256"/>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Task-based user-testing protocol</a:t>
            </a:r>
            <a:endParaRPr lang="en-US" sz="1400" dirty="0"/>
          </a:p>
        </p:txBody>
      </p:sp>
      <p:sp>
        <p:nvSpPr>
          <p:cNvPr id="111" name="Text 111"/>
          <p:cNvSpPr/>
          <p:nvPr/>
        </p:nvSpPr>
        <p:spPr>
          <a:xfrm>
            <a:off x="960120" y="3465576"/>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Concrete tasks (log a match, compare to a pro) with success criteria.</a:t>
            </a:r>
            <a:endParaRPr lang="en-US" sz="1050" dirty="0"/>
          </a:p>
        </p:txBody>
      </p:sp>
      <p:sp>
        <p:nvSpPr>
          <p:cNvPr id="112" name="Text 112"/>
          <p:cNvSpPr/>
          <p:nvPr/>
        </p:nvSpPr>
        <p:spPr>
          <a:xfrm>
            <a:off x="502920" y="383133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3" name="Text 113"/>
          <p:cNvSpPr/>
          <p:nvPr/>
        </p:nvSpPr>
        <p:spPr>
          <a:xfrm>
            <a:off x="960120" y="3794760"/>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Heuristic evaluation round 2</a:t>
            </a:r>
            <a:endParaRPr lang="en-US" sz="1400" dirty="0"/>
          </a:p>
        </p:txBody>
      </p:sp>
      <p:sp>
        <p:nvSpPr>
          <p:cNvPr id="114" name="Text 114"/>
          <p:cNvSpPr/>
          <p:nvPr/>
        </p:nvSpPr>
        <p:spPr>
          <a:xfrm>
            <a:off x="960120" y="4069080"/>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A template for external evaluators, going beyond my own first pass.</a:t>
            </a:r>
            <a:endParaRPr lang="en-US" sz="1050" dirty="0"/>
          </a:p>
        </p:txBody>
      </p:sp>
      <p:sp>
        <p:nvSpPr>
          <p:cNvPr id="60" name="Text Status Line"/>
          <p:cNvSpPr/>
          <p:nvPr/>
        </p:nvSpPr>
        <p:spPr>
          <a:xfrm>
            <a:off x="502920" y="4450000"/>
            <a:ext cx="8138160" cy="365760"/>
          </a:xfrm>
          <a:prstGeom prst="rect">
            <a:avLst/>
          </a:prstGeom>
          <a:noFill/>
          <a:ln/>
        </p:spPr>
        <p:txBody>
          <a:bodyPr wrap="square" lIns="0" tIns="0" rIns="0" bIns="0" rtlCol="0" anchor="ctr"/>
          <a:lstStyle/>
          <a:p>
            <a:pPr marL="0" indent="0">
              <a:buNone/>
            </a:pPr>
            <a:r>
              <a:rPr lang="en-US" sz="1150" b="1" i="1" dirty="0">
                <a:solidFill>
                  <a:srgbClr val="0369A1"/>
                </a:solidFill>
                <a:latin typeface="Calibri" pitchFamily="34" charset="0"/>
                <a:ea typeface="Calibri" pitchFamily="34" charset="-122"/>
                <a:cs typeface="Calibri" pitchFamily="34" charset="-120"/>
              </a:rPr>
              <a:t>Status, honestly: sessions with real club players are scheduled — no SUS score is invented.</a:t>
            </a:r>
            <a:endParaRPr lang="en-US" sz="1150" dirty="0"/>
          </a:p>
        </p:txBody>
      </p:sp>
      <p:sp>
        <p:nvSpPr>
          <p:cNvPr id="20" name="Text 18"/>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1" name="Text 19"/>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828800"/>
            <a:ext cx="548640" cy="54864"/>
          </a:xfrm>
          <a:prstGeom prst="rect">
            <a:avLst/>
          </a:prstGeom>
          <a:solidFill>
            <a:srgbClr val="0EA5E9"/>
          </a:solidFill>
          <a:ln/>
        </p:spPr>
        <p:txBody>
          <a:bodyPr/>
          <a:lstStyle/>
          <a:p>
            <a:endParaRPr lang="en-US"/>
          </a:p>
        </p:txBody>
      </p:sp>
      <p:sp>
        <p:nvSpPr>
          <p:cNvPr id="3" name="Text 1"/>
          <p:cNvSpPr/>
          <p:nvPr/>
        </p:nvSpPr>
        <p:spPr>
          <a:xfrm>
            <a:off x="457200" y="1965960"/>
            <a:ext cx="7315200" cy="365760"/>
          </a:xfrm>
          <a:prstGeom prst="rect">
            <a:avLst/>
          </a:prstGeom>
          <a:noFill/>
          <a:ln/>
        </p:spPr>
        <p:txBody>
          <a:bodyPr wrap="square" lIns="0" tIns="0" rIns="0" bIns="0" rtlCol="0" anchor="ctr"/>
          <a:lstStyle/>
          <a:p>
            <a:pPr marL="0" indent="0">
              <a:buNone/>
            </a:pPr>
            <a:r>
              <a:rPr lang="en-US" sz="1200" b="1" kern="0" spc="600" dirty="0">
                <a:solidFill>
                  <a:srgbClr val="0EA5E9"/>
                </a:solidFill>
                <a:latin typeface="Calibri" pitchFamily="34" charset="0"/>
                <a:ea typeface="Calibri" pitchFamily="34" charset="-122"/>
                <a:cs typeface="Calibri" pitchFamily="34" charset="-120"/>
              </a:rPr>
              <a:t>PART 4</a:t>
            </a:r>
            <a:endParaRPr lang="en-US" sz="1200" dirty="0"/>
          </a:p>
        </p:txBody>
      </p:sp>
      <p:sp>
        <p:nvSpPr>
          <p:cNvPr id="4" name="Text 2"/>
          <p:cNvSpPr/>
          <p:nvPr/>
        </p:nvSpPr>
        <p:spPr>
          <a:xfrm>
            <a:off x="457200" y="2331720"/>
            <a:ext cx="822960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Data Representation</a:t>
            </a:r>
            <a:endParaRPr lang="en-US" sz="4400" dirty="0"/>
          </a:p>
        </p:txBody>
      </p:sp>
      <p:sp>
        <p:nvSpPr>
          <p:cNvPr id="5" name="Text 3"/>
          <p:cNvSpPr/>
          <p:nvPr/>
        </p:nvSpPr>
        <p:spPr>
          <a:xfrm>
            <a:off x="457200" y="3154680"/>
            <a:ext cx="822960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Chart choices · Color · Interactivity</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4.1 CHART INVENTORY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Sixteen chart types · each answers one EDA finding</a:t>
            </a:r>
            <a:endParaRPr lang="en-US" sz="2600" dirty="0"/>
          </a:p>
        </p:txBody>
      </p:sp>
      <p:sp>
        <p:nvSpPr>
          <p:cNvPr id="5" name="Shape 3"/>
          <p:cNvSpPr/>
          <p:nvPr/>
        </p:nvSpPr>
        <p:spPr>
          <a:xfrm>
            <a:off x="457200" y="1371600"/>
            <a:ext cx="8229600" cy="320040"/>
          </a:xfrm>
          <a:prstGeom prst="rect">
            <a:avLst/>
          </a:prstGeom>
          <a:solidFill>
            <a:srgbClr val="1E293B"/>
          </a:solidFill>
          <a:ln/>
        </p:spPr>
        <p:txBody>
          <a:bodyPr/>
          <a:lstStyle/>
          <a:p>
            <a:endParaRPr lang="en-US"/>
          </a:p>
        </p:txBody>
      </p:sp>
      <p:sp>
        <p:nvSpPr>
          <p:cNvPr id="6" name="Text 4"/>
          <p:cNvSpPr/>
          <p:nvPr/>
        </p:nvSpPr>
        <p:spPr>
          <a:xfrm>
            <a:off x="640080" y="1371600"/>
            <a:ext cx="2743200" cy="320040"/>
          </a:xfrm>
          <a:prstGeom prst="rect">
            <a:avLst/>
          </a:prstGeom>
          <a:noFill/>
          <a:ln/>
        </p:spPr>
        <p:txBody>
          <a:bodyPr wrap="square" lIns="0" tIns="0" rIns="0" bIns="0" rtlCol="0" anchor="ctr"/>
          <a:lstStyle/>
          <a:p>
            <a:pPr marL="0" indent="0">
              <a:buNone/>
            </a:pPr>
            <a:r>
              <a:rPr lang="en-US" sz="1000" b="1" kern="0" spc="200" dirty="0">
                <a:solidFill>
                  <a:srgbClr val="FFFFFF"/>
                </a:solidFill>
              </a:rPr>
              <a:t>CHART</a:t>
            </a:r>
            <a:endParaRPr lang="en-US" sz="1000" dirty="0"/>
          </a:p>
        </p:txBody>
      </p:sp>
      <p:sp>
        <p:nvSpPr>
          <p:cNvPr id="7" name="Text 5"/>
          <p:cNvSpPr/>
          <p:nvPr/>
        </p:nvSpPr>
        <p:spPr>
          <a:xfrm>
            <a:off x="3474720" y="1371600"/>
            <a:ext cx="2286000" cy="320040"/>
          </a:xfrm>
          <a:prstGeom prst="rect">
            <a:avLst/>
          </a:prstGeom>
          <a:noFill/>
          <a:ln/>
        </p:spPr>
        <p:txBody>
          <a:bodyPr wrap="square" lIns="0" tIns="0" rIns="0" bIns="0" rtlCol="0" anchor="ctr"/>
          <a:lstStyle/>
          <a:p>
            <a:pPr marL="0" indent="0">
              <a:buNone/>
            </a:pPr>
            <a:r>
              <a:rPr lang="en-US" sz="1000" b="1" kern="0" spc="200" dirty="0">
                <a:solidFill>
                  <a:srgbClr val="FFFFFF"/>
                </a:solidFill>
              </a:rPr>
              <a:t>WHERE</a:t>
            </a:r>
            <a:endParaRPr lang="en-US" sz="1000" dirty="0"/>
          </a:p>
        </p:txBody>
      </p:sp>
      <p:sp>
        <p:nvSpPr>
          <p:cNvPr id="8" name="Text 6"/>
          <p:cNvSpPr/>
          <p:nvPr/>
        </p:nvSpPr>
        <p:spPr>
          <a:xfrm>
            <a:off x="5852160" y="1371600"/>
            <a:ext cx="2743200" cy="320040"/>
          </a:xfrm>
          <a:prstGeom prst="rect">
            <a:avLst/>
          </a:prstGeom>
          <a:noFill/>
          <a:ln/>
        </p:spPr>
        <p:txBody>
          <a:bodyPr wrap="square" lIns="0" tIns="0" rIns="0" bIns="0" rtlCol="0" anchor="ctr"/>
          <a:lstStyle/>
          <a:p>
            <a:pPr marL="0" indent="0">
              <a:buNone/>
            </a:pPr>
            <a:r>
              <a:rPr lang="en-US" sz="1000" b="1" kern="0" spc="200" dirty="0">
                <a:solidFill>
                  <a:srgbClr val="FFFFFF"/>
                </a:solidFill>
              </a:rPr>
              <a:t>WHAT does it Represent ?</a:t>
            </a:r>
            <a:endParaRPr lang="en-US" sz="1000" dirty="0"/>
          </a:p>
        </p:txBody>
      </p:sp>
      <p:sp>
        <p:nvSpPr>
          <p:cNvPr id="9" name="Shape 7"/>
          <p:cNvSpPr/>
          <p:nvPr/>
        </p:nvSpPr>
        <p:spPr>
          <a:xfrm>
            <a:off x="457200" y="1691640"/>
            <a:ext cx="8229600" cy="292608"/>
          </a:xfrm>
          <a:prstGeom prst="rect">
            <a:avLst/>
          </a:prstGeom>
          <a:solidFill>
            <a:srgbClr val="FFFFFF"/>
          </a:solidFill>
          <a:ln/>
        </p:spPr>
        <p:txBody>
          <a:bodyPr/>
          <a:lstStyle/>
          <a:p>
            <a:endParaRPr lang="en-US"/>
          </a:p>
        </p:txBody>
      </p:sp>
      <p:sp>
        <p:nvSpPr>
          <p:cNvPr id="10" name="Text 8"/>
          <p:cNvSpPr/>
          <p:nvPr/>
        </p:nvSpPr>
        <p:spPr>
          <a:xfrm>
            <a:off x="640080" y="1691640"/>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KPI + sparkline</a:t>
            </a:r>
            <a:endParaRPr lang="en-US" sz="1150" dirty="0"/>
          </a:p>
        </p:txBody>
      </p:sp>
      <p:sp>
        <p:nvSpPr>
          <p:cNvPr id="11" name="Text 9"/>
          <p:cNvSpPr/>
          <p:nvPr/>
        </p:nvSpPr>
        <p:spPr>
          <a:xfrm>
            <a:off x="3474720" y="1691640"/>
            <a:ext cx="2286000" cy="292608"/>
          </a:xfrm>
          <a:prstGeom prst="rect">
            <a:avLst/>
          </a:prstGeom>
          <a:noFill/>
          <a:ln/>
        </p:spPr>
        <p:txBody>
          <a:bodyPr wrap="square" lIns="0" tIns="0" rIns="0" bIns="0" rtlCol="0" anchor="ctr"/>
          <a:lstStyle/>
          <a:p>
            <a:pPr marL="0" indent="0">
              <a:buNone/>
            </a:pPr>
            <a:r>
              <a:rPr lang="en-US" sz="1100" dirty="0">
                <a:solidFill>
                  <a:srgbClr val="64748B"/>
                </a:solidFill>
              </a:rPr>
              <a:t>Home</a:t>
            </a:r>
            <a:endParaRPr lang="en-US" sz="1100" dirty="0"/>
          </a:p>
        </p:txBody>
      </p:sp>
      <p:sp>
        <p:nvSpPr>
          <p:cNvPr id="12" name="Text 10"/>
          <p:cNvSpPr/>
          <p:nvPr/>
        </p:nvSpPr>
        <p:spPr>
          <a:xfrm>
            <a:off x="5852160" y="1691640"/>
            <a:ext cx="2743200" cy="292608"/>
          </a:xfrm>
          <a:prstGeom prst="rect">
            <a:avLst/>
          </a:prstGeom>
          <a:noFill/>
          <a:ln/>
        </p:spPr>
        <p:txBody>
          <a:bodyPr wrap="square" lIns="0" tIns="0" rIns="0" bIns="0" rtlCol="0" anchor="ctr"/>
          <a:lstStyle/>
          <a:p>
            <a:pPr marL="0" indent="0">
              <a:buNone/>
            </a:pPr>
            <a:r>
              <a:rPr lang="en-US" sz="1100" dirty="0">
                <a:solidFill>
                  <a:srgbClr val="64748B"/>
                </a:solidFill>
              </a:rPr>
              <a:t>Last-10 win rate</a:t>
            </a:r>
            <a:endParaRPr lang="en-US" sz="1100" dirty="0"/>
          </a:p>
        </p:txBody>
      </p:sp>
      <p:sp>
        <p:nvSpPr>
          <p:cNvPr id="13" name="Text 11"/>
          <p:cNvSpPr/>
          <p:nvPr/>
        </p:nvSpPr>
        <p:spPr>
          <a:xfrm>
            <a:off x="640080" y="1984248"/>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Horizontal bar</a:t>
            </a:r>
            <a:endParaRPr lang="en-US" sz="1150" dirty="0"/>
          </a:p>
        </p:txBody>
      </p:sp>
      <p:sp>
        <p:nvSpPr>
          <p:cNvPr id="14" name="Text 12"/>
          <p:cNvSpPr/>
          <p:nvPr/>
        </p:nvSpPr>
        <p:spPr>
          <a:xfrm>
            <a:off x="3474720" y="1984248"/>
            <a:ext cx="2286000" cy="292608"/>
          </a:xfrm>
          <a:prstGeom prst="rect">
            <a:avLst/>
          </a:prstGeom>
          <a:noFill/>
          <a:ln/>
        </p:spPr>
        <p:txBody>
          <a:bodyPr wrap="square" lIns="0" tIns="0" rIns="0" bIns="0" rtlCol="0" anchor="ctr"/>
          <a:lstStyle/>
          <a:p>
            <a:pPr marL="0" indent="0">
              <a:buNone/>
            </a:pPr>
            <a:r>
              <a:rPr lang="en-US" sz="1100" dirty="0">
                <a:solidFill>
                  <a:srgbClr val="64748B"/>
                </a:solidFill>
              </a:rPr>
              <a:t>Home / My Stats</a:t>
            </a:r>
            <a:endParaRPr lang="en-US" sz="1100" dirty="0"/>
          </a:p>
        </p:txBody>
      </p:sp>
      <p:sp>
        <p:nvSpPr>
          <p:cNvPr id="15" name="Text 13"/>
          <p:cNvSpPr/>
          <p:nvPr/>
        </p:nvSpPr>
        <p:spPr>
          <a:xfrm>
            <a:off x="5852160" y="1984248"/>
            <a:ext cx="2743200" cy="292608"/>
          </a:xfrm>
          <a:prstGeom prst="rect">
            <a:avLst/>
          </a:prstGeom>
          <a:noFill/>
          <a:ln/>
        </p:spPr>
        <p:txBody>
          <a:bodyPr wrap="square" lIns="0" tIns="0" rIns="0" bIns="0" rtlCol="0" anchor="ctr"/>
          <a:lstStyle/>
          <a:p>
            <a:pPr marL="0" indent="0">
              <a:buNone/>
            </a:pPr>
            <a:r>
              <a:rPr lang="en-US" sz="1100" dirty="0">
                <a:solidFill>
                  <a:srgbClr val="64748B"/>
                </a:solidFill>
              </a:rPr>
              <a:t>Partner win rate</a:t>
            </a:r>
            <a:endParaRPr lang="en-US" sz="1100" dirty="0"/>
          </a:p>
        </p:txBody>
      </p:sp>
      <p:sp>
        <p:nvSpPr>
          <p:cNvPr id="16" name="Shape 14"/>
          <p:cNvSpPr/>
          <p:nvPr/>
        </p:nvSpPr>
        <p:spPr>
          <a:xfrm>
            <a:off x="457200" y="2276856"/>
            <a:ext cx="8229600" cy="292608"/>
          </a:xfrm>
          <a:prstGeom prst="rect">
            <a:avLst/>
          </a:prstGeom>
          <a:solidFill>
            <a:srgbClr val="FFFFFF"/>
          </a:solidFill>
          <a:ln/>
        </p:spPr>
        <p:txBody>
          <a:bodyPr/>
          <a:lstStyle/>
          <a:p>
            <a:endParaRPr lang="en-US"/>
          </a:p>
        </p:txBody>
      </p:sp>
      <p:sp>
        <p:nvSpPr>
          <p:cNvPr id="17" name="Text 15"/>
          <p:cNvSpPr/>
          <p:nvPr/>
        </p:nvSpPr>
        <p:spPr>
          <a:xfrm>
            <a:off x="640080" y="2276856"/>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Diverging bar</a:t>
            </a:r>
            <a:endParaRPr lang="en-US" sz="1150" dirty="0"/>
          </a:p>
        </p:txBody>
      </p:sp>
      <p:sp>
        <p:nvSpPr>
          <p:cNvPr id="18" name="Text 16"/>
          <p:cNvSpPr/>
          <p:nvPr/>
        </p:nvSpPr>
        <p:spPr>
          <a:xfrm>
            <a:off x="3474720" y="2276856"/>
            <a:ext cx="2286000" cy="292608"/>
          </a:xfrm>
          <a:prstGeom prst="rect">
            <a:avLst/>
          </a:prstGeom>
          <a:noFill/>
          <a:ln/>
        </p:spPr>
        <p:txBody>
          <a:bodyPr wrap="square" lIns="0" tIns="0" rIns="0" bIns="0" rtlCol="0" anchor="ctr"/>
          <a:lstStyle/>
          <a:p>
            <a:pPr marL="0" indent="0">
              <a:buNone/>
            </a:pPr>
            <a:r>
              <a:rPr lang="en-US" sz="1100" dirty="0">
                <a:solidFill>
                  <a:srgbClr val="64748B"/>
                </a:solidFill>
              </a:rPr>
              <a:t>Home / My Stats</a:t>
            </a:r>
            <a:endParaRPr lang="en-US" sz="1100" dirty="0"/>
          </a:p>
        </p:txBody>
      </p:sp>
      <p:sp>
        <p:nvSpPr>
          <p:cNvPr id="19" name="Text 17"/>
          <p:cNvSpPr/>
          <p:nvPr/>
        </p:nvSpPr>
        <p:spPr>
          <a:xfrm>
            <a:off x="5852160" y="2276856"/>
            <a:ext cx="2743200" cy="292608"/>
          </a:xfrm>
          <a:prstGeom prst="rect">
            <a:avLst/>
          </a:prstGeom>
          <a:noFill/>
          <a:ln/>
        </p:spPr>
        <p:txBody>
          <a:bodyPr wrap="square" lIns="0" tIns="0" rIns="0" bIns="0" rtlCol="0" anchor="ctr"/>
          <a:lstStyle/>
          <a:p>
            <a:pPr marL="0" indent="0">
              <a:buNone/>
            </a:pPr>
            <a:r>
              <a:rPr lang="en-US" sz="1100" dirty="0">
                <a:solidFill>
                  <a:srgbClr val="64748B"/>
                </a:solidFill>
              </a:rPr>
              <a:t>Shot DNA (winners − errors)</a:t>
            </a:r>
            <a:endParaRPr lang="en-US" sz="1100" dirty="0"/>
          </a:p>
        </p:txBody>
      </p:sp>
      <p:sp>
        <p:nvSpPr>
          <p:cNvPr id="20" name="Text 18"/>
          <p:cNvSpPr/>
          <p:nvPr/>
        </p:nvSpPr>
        <p:spPr>
          <a:xfrm>
            <a:off x="640080" y="2569464"/>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Ranking table + row sparkline</a:t>
            </a:r>
            <a:endParaRPr lang="en-US" sz="1150" dirty="0"/>
          </a:p>
        </p:txBody>
      </p:sp>
      <p:sp>
        <p:nvSpPr>
          <p:cNvPr id="21" name="Text 19"/>
          <p:cNvSpPr/>
          <p:nvPr/>
        </p:nvSpPr>
        <p:spPr>
          <a:xfrm>
            <a:off x="3474720" y="2569464"/>
            <a:ext cx="2286000" cy="292608"/>
          </a:xfrm>
          <a:prstGeom prst="rect">
            <a:avLst/>
          </a:prstGeom>
          <a:noFill/>
          <a:ln/>
        </p:spPr>
        <p:txBody>
          <a:bodyPr wrap="square" lIns="0" tIns="0" rIns="0" bIns="0" rtlCol="0" anchor="ctr"/>
          <a:lstStyle/>
          <a:p>
            <a:pPr marL="0" indent="0">
              <a:buNone/>
            </a:pPr>
            <a:r>
              <a:rPr lang="en-US" sz="1100" dirty="0">
                <a:solidFill>
                  <a:srgbClr val="64748B"/>
                </a:solidFill>
              </a:rPr>
              <a:t>Pro Tour</a:t>
            </a:r>
            <a:endParaRPr lang="en-US" sz="1100" dirty="0"/>
          </a:p>
        </p:txBody>
      </p:sp>
      <p:sp>
        <p:nvSpPr>
          <p:cNvPr id="22" name="Text 20"/>
          <p:cNvSpPr/>
          <p:nvPr/>
        </p:nvSpPr>
        <p:spPr>
          <a:xfrm>
            <a:off x="5852160" y="2569464"/>
            <a:ext cx="2743200" cy="292608"/>
          </a:xfrm>
          <a:prstGeom prst="rect">
            <a:avLst/>
          </a:prstGeom>
          <a:noFill/>
          <a:ln/>
        </p:spPr>
        <p:txBody>
          <a:bodyPr wrap="square" lIns="0" tIns="0" rIns="0" bIns="0" rtlCol="0" anchor="ctr"/>
          <a:lstStyle/>
          <a:p>
            <a:pPr marL="0" indent="0">
              <a:buNone/>
            </a:pPr>
            <a:r>
              <a:rPr lang="en-US" sz="1100" dirty="0">
                <a:solidFill>
                  <a:srgbClr val="64748B"/>
                </a:solidFill>
              </a:rPr>
              <a:t>Top players + form</a:t>
            </a:r>
            <a:endParaRPr lang="en-US" sz="1100" dirty="0"/>
          </a:p>
        </p:txBody>
      </p:sp>
      <p:sp>
        <p:nvSpPr>
          <p:cNvPr id="23" name="Shape 21"/>
          <p:cNvSpPr/>
          <p:nvPr/>
        </p:nvSpPr>
        <p:spPr>
          <a:xfrm>
            <a:off x="457200" y="2862072"/>
            <a:ext cx="8229600" cy="292608"/>
          </a:xfrm>
          <a:prstGeom prst="rect">
            <a:avLst/>
          </a:prstGeom>
          <a:solidFill>
            <a:srgbClr val="FFFFFF"/>
          </a:solidFill>
          <a:ln/>
        </p:spPr>
        <p:txBody>
          <a:bodyPr/>
          <a:lstStyle/>
          <a:p>
            <a:endParaRPr lang="en-US"/>
          </a:p>
        </p:txBody>
      </p:sp>
      <p:sp>
        <p:nvSpPr>
          <p:cNvPr id="24" name="Text 22"/>
          <p:cNvSpPr/>
          <p:nvPr/>
        </p:nvSpPr>
        <p:spPr>
          <a:xfrm>
            <a:off x="640080" y="2862072"/>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Small-multiples</a:t>
            </a:r>
            <a:endParaRPr lang="en-US" sz="1150" dirty="0"/>
          </a:p>
        </p:txBody>
      </p:sp>
      <p:sp>
        <p:nvSpPr>
          <p:cNvPr id="25" name="Text 23"/>
          <p:cNvSpPr/>
          <p:nvPr/>
        </p:nvSpPr>
        <p:spPr>
          <a:xfrm>
            <a:off x="3474720" y="2862072"/>
            <a:ext cx="2286000" cy="292608"/>
          </a:xfrm>
          <a:prstGeom prst="rect">
            <a:avLst/>
          </a:prstGeom>
          <a:noFill/>
          <a:ln/>
        </p:spPr>
        <p:txBody>
          <a:bodyPr wrap="square" lIns="0" tIns="0" rIns="0" bIns="0" rtlCol="0" anchor="ctr"/>
          <a:lstStyle/>
          <a:p>
            <a:pPr marL="0" indent="0">
              <a:buNone/>
            </a:pPr>
            <a:r>
              <a:rPr lang="en-US" sz="1100" dirty="0">
                <a:solidFill>
                  <a:srgbClr val="64748B"/>
                </a:solidFill>
              </a:rPr>
              <a:t>Pro Tour</a:t>
            </a:r>
            <a:endParaRPr lang="en-US" sz="1100" dirty="0"/>
          </a:p>
        </p:txBody>
      </p:sp>
      <p:sp>
        <p:nvSpPr>
          <p:cNvPr id="26" name="Text 24"/>
          <p:cNvSpPr/>
          <p:nvPr/>
        </p:nvSpPr>
        <p:spPr>
          <a:xfrm>
            <a:off x="5852160" y="2862072"/>
            <a:ext cx="2743200" cy="292608"/>
          </a:xfrm>
          <a:prstGeom prst="rect">
            <a:avLst/>
          </a:prstGeom>
          <a:noFill/>
          <a:ln/>
        </p:spPr>
        <p:txBody>
          <a:bodyPr wrap="square" lIns="0" tIns="0" rIns="0" bIns="0" rtlCol="0" anchor="ctr"/>
          <a:lstStyle/>
          <a:p>
            <a:pPr marL="0" indent="0">
              <a:buNone/>
            </a:pPr>
            <a:r>
              <a:rPr lang="en-US" sz="1100" dirty="0">
                <a:solidFill>
                  <a:srgbClr val="64748B"/>
                </a:solidFill>
              </a:rPr>
              <a:t>Surface effect</a:t>
            </a:r>
            <a:endParaRPr lang="en-US" sz="1100" dirty="0"/>
          </a:p>
        </p:txBody>
      </p:sp>
      <p:sp>
        <p:nvSpPr>
          <p:cNvPr id="27" name="Text 25"/>
          <p:cNvSpPr/>
          <p:nvPr/>
        </p:nvSpPr>
        <p:spPr>
          <a:xfrm>
            <a:off x="640080" y="3154680"/>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Rolling-mean line</a:t>
            </a:r>
            <a:endParaRPr lang="en-US" sz="1150" dirty="0"/>
          </a:p>
        </p:txBody>
      </p:sp>
      <p:sp>
        <p:nvSpPr>
          <p:cNvPr id="28" name="Text 26"/>
          <p:cNvSpPr/>
          <p:nvPr/>
        </p:nvSpPr>
        <p:spPr>
          <a:xfrm>
            <a:off x="3474720" y="3154680"/>
            <a:ext cx="2286000" cy="292608"/>
          </a:xfrm>
          <a:prstGeom prst="rect">
            <a:avLst/>
          </a:prstGeom>
          <a:noFill/>
          <a:ln/>
        </p:spPr>
        <p:txBody>
          <a:bodyPr wrap="square" lIns="0" tIns="0" rIns="0" bIns="0" rtlCol="0" anchor="ctr"/>
          <a:lstStyle/>
          <a:p>
            <a:pPr marL="0" indent="0">
              <a:buNone/>
            </a:pPr>
            <a:r>
              <a:rPr lang="en-US" sz="1100" dirty="0">
                <a:solidFill>
                  <a:srgbClr val="64748B"/>
                </a:solidFill>
              </a:rPr>
              <a:t>My Stats</a:t>
            </a:r>
            <a:endParaRPr lang="en-US" sz="1100" dirty="0"/>
          </a:p>
        </p:txBody>
      </p:sp>
      <p:sp>
        <p:nvSpPr>
          <p:cNvPr id="29" name="Text 27"/>
          <p:cNvSpPr/>
          <p:nvPr/>
        </p:nvSpPr>
        <p:spPr>
          <a:xfrm>
            <a:off x="5852160" y="3154680"/>
            <a:ext cx="2743200" cy="292608"/>
          </a:xfrm>
          <a:prstGeom prst="rect">
            <a:avLst/>
          </a:prstGeom>
          <a:noFill/>
          <a:ln/>
        </p:spPr>
        <p:txBody>
          <a:bodyPr wrap="square" lIns="0" tIns="0" rIns="0" bIns="0" rtlCol="0" anchor="ctr"/>
          <a:lstStyle/>
          <a:p>
            <a:pPr marL="0" indent="0">
              <a:buNone/>
            </a:pPr>
            <a:r>
              <a:rPr lang="en-US" sz="1100" dirty="0">
                <a:solidFill>
                  <a:srgbClr val="64748B"/>
                </a:solidFill>
              </a:rPr>
              <a:t>Win-rate trend</a:t>
            </a:r>
            <a:endParaRPr lang="en-US" sz="1100" dirty="0"/>
          </a:p>
        </p:txBody>
      </p:sp>
      <p:sp>
        <p:nvSpPr>
          <p:cNvPr id="30" name="Shape 28"/>
          <p:cNvSpPr/>
          <p:nvPr/>
        </p:nvSpPr>
        <p:spPr>
          <a:xfrm>
            <a:off x="457200" y="3447288"/>
            <a:ext cx="8229600" cy="292608"/>
          </a:xfrm>
          <a:prstGeom prst="rect">
            <a:avLst/>
          </a:prstGeom>
          <a:solidFill>
            <a:srgbClr val="FFFFFF"/>
          </a:solidFill>
          <a:ln/>
        </p:spPr>
        <p:txBody>
          <a:bodyPr/>
          <a:lstStyle/>
          <a:p>
            <a:endParaRPr lang="en-US"/>
          </a:p>
        </p:txBody>
      </p:sp>
      <p:sp>
        <p:nvSpPr>
          <p:cNvPr id="31" name="Text 29"/>
          <p:cNvSpPr/>
          <p:nvPr/>
        </p:nvSpPr>
        <p:spPr>
          <a:xfrm>
            <a:off x="640080" y="3447288"/>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Set-by-set columns</a:t>
            </a:r>
            <a:endParaRPr lang="en-US" sz="1150" dirty="0"/>
          </a:p>
        </p:txBody>
      </p:sp>
      <p:sp>
        <p:nvSpPr>
          <p:cNvPr id="32" name="Text 30"/>
          <p:cNvSpPr/>
          <p:nvPr/>
        </p:nvSpPr>
        <p:spPr>
          <a:xfrm>
            <a:off x="3474720" y="3447288"/>
            <a:ext cx="2286000" cy="292608"/>
          </a:xfrm>
          <a:prstGeom prst="rect">
            <a:avLst/>
          </a:prstGeom>
          <a:noFill/>
          <a:ln/>
        </p:spPr>
        <p:txBody>
          <a:bodyPr wrap="square" lIns="0" tIns="0" rIns="0" bIns="0" rtlCol="0" anchor="ctr"/>
          <a:lstStyle/>
          <a:p>
            <a:pPr marL="0" indent="0">
              <a:buNone/>
            </a:pPr>
            <a:r>
              <a:rPr lang="en-US" sz="1100" dirty="0">
                <a:solidFill>
                  <a:srgbClr val="64748B"/>
                </a:solidFill>
              </a:rPr>
              <a:t>My Stats</a:t>
            </a:r>
            <a:endParaRPr lang="en-US" sz="1100" dirty="0"/>
          </a:p>
        </p:txBody>
      </p:sp>
      <p:sp>
        <p:nvSpPr>
          <p:cNvPr id="33" name="Text 31"/>
          <p:cNvSpPr/>
          <p:nvPr/>
        </p:nvSpPr>
        <p:spPr>
          <a:xfrm>
            <a:off x="5852160" y="3447288"/>
            <a:ext cx="2743200" cy="292608"/>
          </a:xfrm>
          <a:prstGeom prst="rect">
            <a:avLst/>
          </a:prstGeom>
          <a:noFill/>
          <a:ln/>
        </p:spPr>
        <p:txBody>
          <a:bodyPr wrap="square" lIns="0" tIns="0" rIns="0" bIns="0" rtlCol="0" anchor="ctr"/>
          <a:lstStyle/>
          <a:p>
            <a:pPr marL="0" indent="0">
              <a:buNone/>
            </a:pPr>
            <a:r>
              <a:rPr lang="en-US" sz="1100" dirty="0">
                <a:solidFill>
                  <a:srgbClr val="64748B"/>
                </a:solidFill>
              </a:rPr>
              <a:t>Fatigue (2-set vs 3-set)</a:t>
            </a:r>
            <a:endParaRPr lang="en-US" sz="1100" dirty="0"/>
          </a:p>
        </p:txBody>
      </p:sp>
      <p:sp>
        <p:nvSpPr>
          <p:cNvPr id="34" name="Text 32"/>
          <p:cNvSpPr/>
          <p:nvPr/>
        </p:nvSpPr>
        <p:spPr>
          <a:xfrm>
            <a:off x="640080" y="3739896"/>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Radar overlay</a:t>
            </a:r>
            <a:endParaRPr lang="en-US" sz="1150" dirty="0"/>
          </a:p>
        </p:txBody>
      </p:sp>
      <p:sp>
        <p:nvSpPr>
          <p:cNvPr id="35" name="Text 33"/>
          <p:cNvSpPr/>
          <p:nvPr/>
        </p:nvSpPr>
        <p:spPr>
          <a:xfrm>
            <a:off x="3474720" y="3739896"/>
            <a:ext cx="2286000" cy="292608"/>
          </a:xfrm>
          <a:prstGeom prst="rect">
            <a:avLst/>
          </a:prstGeom>
          <a:noFill/>
          <a:ln/>
        </p:spPr>
        <p:txBody>
          <a:bodyPr wrap="square" lIns="0" tIns="0" rIns="0" bIns="0" rtlCol="0" anchor="ctr"/>
          <a:lstStyle/>
          <a:p>
            <a:pPr marL="0" indent="0">
              <a:buNone/>
            </a:pPr>
            <a:r>
              <a:rPr lang="en-US" sz="1100" dirty="0">
                <a:solidFill>
                  <a:srgbClr val="64748B"/>
                </a:solidFill>
              </a:rPr>
              <a:t>Compare</a:t>
            </a:r>
            <a:endParaRPr lang="en-US" sz="1100" dirty="0"/>
          </a:p>
        </p:txBody>
      </p:sp>
      <p:sp>
        <p:nvSpPr>
          <p:cNvPr id="36" name="Text 34"/>
          <p:cNvSpPr/>
          <p:nvPr/>
        </p:nvSpPr>
        <p:spPr>
          <a:xfrm>
            <a:off x="5852160" y="3739896"/>
            <a:ext cx="2743200" cy="292608"/>
          </a:xfrm>
          <a:prstGeom prst="rect">
            <a:avLst/>
          </a:prstGeom>
          <a:noFill/>
          <a:ln/>
        </p:spPr>
        <p:txBody>
          <a:bodyPr wrap="square" lIns="0" tIns="0" rIns="0" bIns="0" rtlCol="0" anchor="ctr"/>
          <a:lstStyle/>
          <a:p>
            <a:pPr marL="0" indent="0">
              <a:buNone/>
            </a:pPr>
            <a:r>
              <a:rPr lang="en-US" sz="1100" dirty="0">
                <a:solidFill>
                  <a:srgbClr val="64748B"/>
                </a:solidFill>
              </a:rPr>
              <a:t>You vs pro shot mix</a:t>
            </a:r>
            <a:endParaRPr lang="en-US" sz="1100" dirty="0"/>
          </a:p>
        </p:txBody>
      </p:sp>
      <p:sp>
        <p:nvSpPr>
          <p:cNvPr id="37" name="Shape 35"/>
          <p:cNvSpPr/>
          <p:nvPr/>
        </p:nvSpPr>
        <p:spPr>
          <a:xfrm>
            <a:off x="457200" y="4032504"/>
            <a:ext cx="8229600" cy="292608"/>
          </a:xfrm>
          <a:prstGeom prst="rect">
            <a:avLst/>
          </a:prstGeom>
          <a:solidFill>
            <a:srgbClr val="FFFFFF"/>
          </a:solidFill>
          <a:ln/>
        </p:spPr>
        <p:txBody>
          <a:bodyPr/>
          <a:lstStyle/>
          <a:p>
            <a:endParaRPr lang="en-US"/>
          </a:p>
        </p:txBody>
      </p:sp>
      <p:sp>
        <p:nvSpPr>
          <p:cNvPr id="38" name="Text 36"/>
          <p:cNvSpPr/>
          <p:nvPr/>
        </p:nvSpPr>
        <p:spPr>
          <a:xfrm>
            <a:off x="640080" y="4032504"/>
            <a:ext cx="2743200" cy="292608"/>
          </a:xfrm>
          <a:prstGeom prst="rect">
            <a:avLst/>
          </a:prstGeom>
          <a:noFill/>
          <a:ln/>
        </p:spPr>
        <p:txBody>
          <a:bodyPr wrap="square" lIns="0" tIns="0" rIns="0" bIns="0" rtlCol="0" anchor="ctr"/>
          <a:lstStyle/>
          <a:p>
            <a:pPr marL="0" indent="0">
              <a:buNone/>
            </a:pPr>
            <a:r>
              <a:rPr lang="en-US" sz="1150" b="1" dirty="0">
                <a:solidFill>
                  <a:srgbClr val="1F2937"/>
                </a:solidFill>
              </a:rPr>
              <a:t>Inline annotations</a:t>
            </a:r>
            <a:endParaRPr lang="en-US" sz="1150" dirty="0"/>
          </a:p>
        </p:txBody>
      </p:sp>
      <p:sp>
        <p:nvSpPr>
          <p:cNvPr id="39" name="Text 37"/>
          <p:cNvSpPr/>
          <p:nvPr/>
        </p:nvSpPr>
        <p:spPr>
          <a:xfrm>
            <a:off x="3474720" y="4032504"/>
            <a:ext cx="2286000" cy="292608"/>
          </a:xfrm>
          <a:prstGeom prst="rect">
            <a:avLst/>
          </a:prstGeom>
          <a:noFill/>
          <a:ln/>
        </p:spPr>
        <p:txBody>
          <a:bodyPr wrap="square" lIns="0" tIns="0" rIns="0" bIns="0" rtlCol="0" anchor="ctr"/>
          <a:lstStyle/>
          <a:p>
            <a:pPr marL="0" indent="0">
              <a:buNone/>
            </a:pPr>
            <a:r>
              <a:rPr lang="en-US" sz="1100" dirty="0">
                <a:solidFill>
                  <a:srgbClr val="64748B"/>
                </a:solidFill>
              </a:rPr>
              <a:t>All pages</a:t>
            </a:r>
            <a:endParaRPr lang="en-US" sz="1100" dirty="0"/>
          </a:p>
        </p:txBody>
      </p:sp>
      <p:sp>
        <p:nvSpPr>
          <p:cNvPr id="40" name="Text 38"/>
          <p:cNvSpPr/>
          <p:nvPr/>
        </p:nvSpPr>
        <p:spPr>
          <a:xfrm>
            <a:off x="5852160" y="4032504"/>
            <a:ext cx="2743200" cy="292608"/>
          </a:xfrm>
          <a:prstGeom prst="rect">
            <a:avLst/>
          </a:prstGeom>
          <a:noFill/>
          <a:ln/>
        </p:spPr>
        <p:txBody>
          <a:bodyPr wrap="square" lIns="0" tIns="0" rIns="0" bIns="0" rtlCol="0" anchor="ctr"/>
          <a:lstStyle/>
          <a:p>
            <a:pPr marL="0" indent="0">
              <a:buNone/>
            </a:pPr>
            <a:r>
              <a:rPr lang="en-US" sz="1100" dirty="0">
                <a:solidFill>
                  <a:srgbClr val="64748B"/>
                </a:solidFill>
              </a:rPr>
              <a:t>Headline numbers</a:t>
            </a:r>
            <a:endParaRPr lang="en-US" sz="1100" dirty="0"/>
          </a:p>
        </p:txBody>
      </p:sp>
      <p:sp>
        <p:nvSpPr>
          <p:cNvPr id="41" name="Text 39"/>
          <p:cNvSpPr/>
          <p:nvPr/>
        </p:nvSpPr>
        <p:spPr>
          <a:xfrm>
            <a:off x="457200" y="4343400"/>
            <a:ext cx="8229600" cy="502920"/>
          </a:xfrm>
          <a:prstGeom prst="rect">
            <a:avLst/>
          </a:prstGeom>
          <a:noFill/>
          <a:ln/>
        </p:spPr>
        <p:txBody>
          <a:bodyPr wrap="square" lIns="0" tIns="0" rIns="0" bIns="0" rtlCol="0" anchor="ctr"/>
          <a:lstStyle/>
          <a:p>
            <a:pPr marL="0" indent="0">
              <a:spcAft>
                <a:spcPts val="200"/>
              </a:spcAft>
              <a:buNone/>
            </a:pPr>
            <a:r>
              <a:rPr lang="en-US" sz="850" i="1" dirty="0">
                <a:solidFill>
                  <a:srgbClr val="9AA3AD"/>
                </a:solidFill>
                <a:latin typeface="Calibri" pitchFamily="34" charset="0"/>
                <a:ea typeface="Calibri" pitchFamily="34" charset="-122"/>
                <a:cs typeface="Calibri" pitchFamily="34" charset="-120"/>
              </a:rPr>
              <a:t>Rejected: pie charts, court heatmaps, Sankeys, 3D bars, animated rankings — each lost head-to-head against a simpler alternative.</a:t>
            </a:r>
            <a:endParaRPr lang="en-US" sz="850" dirty="0"/>
          </a:p>
          <a:p>
            <a:pPr marL="0" indent="0">
              <a:buNone/>
            </a:pPr>
            <a:r>
              <a:rPr lang="en-US" sz="850" b="1" dirty="0">
                <a:solidFill>
                  <a:srgbClr val="0369A1"/>
                </a:solidFill>
                <a:latin typeface="Calibri" pitchFamily="34" charset="0"/>
                <a:ea typeface="Calibri" pitchFamily="34" charset="-122"/>
                <a:cs typeface="Calibri" pitchFamily="34" charset="-120"/>
              </a:rPr>
              <a:t>+ 7 new Insights-page charts (v3): </a:t>
            </a:r>
            <a:r>
              <a:rPr lang="en-US" sz="850" dirty="0">
                <a:solidFill>
                  <a:srgbClr val="64748B"/>
                </a:solidFill>
                <a:latin typeface="Calibri" pitchFamily="34" charset="0"/>
                <a:ea typeface="Calibri" pitchFamily="34" charset="-122"/>
                <a:cs typeface="Calibri" pitchFamily="34" charset="-120"/>
              </a:rPr>
              <a:t>momentum slope · chemistry band · calibration lollipop · Elo delta · upset-by-round · efficiency · home-advantage null.</a:t>
            </a:r>
            <a:endParaRPr lang="en-US" sz="850" dirty="0"/>
          </a:p>
        </p:txBody>
      </p:sp>
      <p:sp>
        <p:nvSpPr>
          <p:cNvPr id="42" name="Text 40"/>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43" name="Text 41"/>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4.2 CASE STUDY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Why a diverging bar for shot DNA?</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657600" cy="274320"/>
          </a:xfrm>
          <a:prstGeom prst="rect">
            <a:avLst/>
          </a:prstGeom>
          <a:noFill/>
          <a:ln/>
        </p:spPr>
        <p:txBody>
          <a:bodyPr wrap="square" lIns="0" tIns="0" rIns="0" bIns="0" rtlCol="0" anchor="ctr"/>
          <a:lstStyle/>
          <a:p>
            <a:pPr marL="0" indent="0">
              <a:buNone/>
            </a:pPr>
            <a:r>
              <a:rPr lang="en-US" sz="900" b="1" kern="0" spc="300" dirty="0">
                <a:solidFill>
                  <a:srgbClr val="0EA5E9"/>
                </a:solidFill>
              </a:rPr>
              <a:t>THE QUESTION</a:t>
            </a:r>
            <a:endParaRPr lang="en-US" sz="900" dirty="0"/>
          </a:p>
        </p:txBody>
      </p:sp>
      <p:sp>
        <p:nvSpPr>
          <p:cNvPr id="7" name="Text 5"/>
          <p:cNvSpPr/>
          <p:nvPr/>
        </p:nvSpPr>
        <p:spPr>
          <a:xfrm>
            <a:off x="640080" y="1783080"/>
            <a:ext cx="3657600" cy="640080"/>
          </a:xfrm>
          <a:prstGeom prst="rect">
            <a:avLst/>
          </a:prstGeom>
          <a:noFill/>
          <a:ln/>
        </p:spPr>
        <p:txBody>
          <a:bodyPr wrap="square" lIns="0" tIns="0" rIns="0" bIns="0" rtlCol="0" anchor="ctr"/>
          <a:lstStyle/>
          <a:p>
            <a:pPr marL="0" indent="0">
              <a:buNone/>
            </a:pPr>
            <a:r>
              <a:rPr lang="en-US" sz="1500" b="1" dirty="0">
                <a:solidFill>
                  <a:srgbClr val="1F2937"/>
                </a:solidFill>
              </a:rPr>
              <a:t>Which shots win me points, which bleed them?</a:t>
            </a:r>
            <a:endParaRPr lang="en-US" sz="1500" dirty="0"/>
          </a:p>
        </p:txBody>
      </p:sp>
      <p:sp>
        <p:nvSpPr>
          <p:cNvPr id="8" name="Text 6"/>
          <p:cNvSpPr/>
          <p:nvPr/>
        </p:nvSpPr>
        <p:spPr>
          <a:xfrm>
            <a:off x="640080" y="2468880"/>
            <a:ext cx="3657600" cy="548640"/>
          </a:xfrm>
          <a:prstGeom prst="rect">
            <a:avLst/>
          </a:prstGeom>
          <a:noFill/>
          <a:ln/>
        </p:spPr>
        <p:txBody>
          <a:bodyPr wrap="square" lIns="0" tIns="0" rIns="0" bIns="0" rtlCol="0" anchor="ctr"/>
          <a:lstStyle/>
          <a:p>
            <a:pPr marL="0" indent="0">
              <a:buNone/>
            </a:pPr>
            <a:r>
              <a:rPr lang="en-US" sz="1100" i="1" dirty="0">
                <a:solidFill>
                  <a:srgbClr val="64748B"/>
                </a:solidFill>
              </a:rPr>
              <a:t>The question is signed. Some shots are net positive, others net negative.</a:t>
            </a:r>
            <a:endParaRPr lang="en-US" sz="1100" dirty="0"/>
          </a:p>
        </p:txBody>
      </p:sp>
      <p:sp>
        <p:nvSpPr>
          <p:cNvPr id="9" name="Text 7"/>
          <p:cNvSpPr/>
          <p:nvPr/>
        </p:nvSpPr>
        <p:spPr>
          <a:xfrm>
            <a:off x="640080" y="3063240"/>
            <a:ext cx="3657600" cy="228600"/>
          </a:xfrm>
          <a:prstGeom prst="rect">
            <a:avLst/>
          </a:prstGeom>
          <a:noFill/>
          <a:ln/>
        </p:spPr>
        <p:txBody>
          <a:bodyPr wrap="square" lIns="0" tIns="0" rIns="0" bIns="0" rtlCol="0" anchor="ctr"/>
          <a:lstStyle/>
          <a:p>
            <a:pPr marL="0" indent="0">
              <a:buNone/>
            </a:pPr>
            <a:r>
              <a:rPr lang="en-US" sz="900" b="1" kern="0" spc="300" dirty="0">
                <a:solidFill>
                  <a:srgbClr val="64748B"/>
                </a:solidFill>
              </a:rPr>
              <a:t>CONSIDERED:</a:t>
            </a:r>
            <a:endParaRPr lang="en-US" sz="900" dirty="0"/>
          </a:p>
        </p:txBody>
      </p:sp>
      <p:sp>
        <p:nvSpPr>
          <p:cNvPr id="10" name="Text 8"/>
          <p:cNvSpPr/>
          <p:nvPr/>
        </p:nvSpPr>
        <p:spPr>
          <a:xfrm>
            <a:off x="640080" y="3291840"/>
            <a:ext cx="3657600" cy="1188720"/>
          </a:xfrm>
          <a:prstGeom prst="rect">
            <a:avLst/>
          </a:prstGeom>
          <a:noFill/>
          <a:ln/>
        </p:spPr>
        <p:txBody>
          <a:bodyPr wrap="square" lIns="0" tIns="0" rIns="0" bIns="0" rtlCol="0" anchor="ctr"/>
          <a:lstStyle/>
          <a:p>
            <a:pPr marL="0" indent="0">
              <a:spcAft>
                <a:spcPts val="300"/>
              </a:spcAft>
              <a:buNone/>
            </a:pPr>
            <a:r>
              <a:rPr lang="en-US" sz="1150" dirty="0">
                <a:solidFill>
                  <a:srgbClr val="EF4444"/>
                </a:solidFill>
              </a:rPr>
              <a:t>Pie of shot share - hides the zero line.</a:t>
            </a:r>
            <a:endParaRPr lang="en-US" sz="1150" dirty="0"/>
          </a:p>
          <a:p>
            <a:pPr marL="0" indent="0">
              <a:spcAft>
                <a:spcPts val="300"/>
              </a:spcAft>
              <a:buNone/>
            </a:pPr>
            <a:r>
              <a:rPr lang="en-US" sz="1150" dirty="0">
                <a:solidFill>
                  <a:srgbClr val="EF4444"/>
                </a:solidFill>
              </a:rPr>
              <a:t>Stacked bar - needs eye traversal.</a:t>
            </a:r>
            <a:endParaRPr lang="en-US" sz="1150" dirty="0"/>
          </a:p>
          <a:p>
            <a:pPr marL="0" indent="0">
              <a:spcAft>
                <a:spcPts val="300"/>
              </a:spcAft>
              <a:buNone/>
            </a:pPr>
            <a:r>
              <a:rPr lang="en-US" sz="1150" dirty="0">
                <a:solidFill>
                  <a:srgbClr val="EF4444"/>
                </a:solidFill>
              </a:rPr>
              <a:t>Two side-by-side bar charts - same problem.</a:t>
            </a:r>
            <a:endParaRPr lang="en-US" sz="1150" dirty="0"/>
          </a:p>
          <a:p>
            <a:pPr marL="0" indent="0">
              <a:spcAft>
                <a:spcPts val="300"/>
              </a:spcAft>
              <a:buNone/>
            </a:pPr>
            <a:r>
              <a:rPr lang="en-US" sz="1150" b="1" dirty="0">
                <a:solidFill>
                  <a:srgbClr val="10B981"/>
                </a:solidFill>
              </a:rPr>
              <a:t>Diverging bar - chosen.</a:t>
            </a:r>
            <a:endParaRPr lang="en-US" sz="1150" dirty="0"/>
          </a:p>
        </p:txBody>
      </p:sp>
      <p:sp>
        <p:nvSpPr>
          <p:cNvPr id="11" name="Shape 9"/>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12" name="Text 10"/>
          <p:cNvSpPr/>
          <p:nvPr/>
        </p:nvSpPr>
        <p:spPr>
          <a:xfrm>
            <a:off x="4846320" y="1508760"/>
            <a:ext cx="3657600" cy="274320"/>
          </a:xfrm>
          <a:prstGeom prst="rect">
            <a:avLst/>
          </a:prstGeom>
          <a:noFill/>
          <a:ln/>
        </p:spPr>
        <p:txBody>
          <a:bodyPr wrap="square" lIns="0" tIns="0" rIns="0" bIns="0" rtlCol="0" anchor="ctr"/>
          <a:lstStyle/>
          <a:p>
            <a:pPr marL="0" indent="0">
              <a:buNone/>
            </a:pPr>
            <a:r>
              <a:rPr lang="en-US" sz="900" b="1" kern="0" spc="300" dirty="0">
                <a:solidFill>
                  <a:srgbClr val="64748B"/>
                </a:solidFill>
              </a:rPr>
              <a:t>YOUR SHOT DNA · 40 MATCHES</a:t>
            </a:r>
            <a:endParaRPr lang="en-US" sz="900" dirty="0"/>
          </a:p>
        </p:txBody>
      </p:sp>
      <p:sp>
        <p:nvSpPr>
          <p:cNvPr id="13" name="Shape 11"/>
          <p:cNvSpPr/>
          <p:nvPr/>
        </p:nvSpPr>
        <p:spPr>
          <a:xfrm>
            <a:off x="7498080" y="1874520"/>
            <a:ext cx="0" cy="2286000"/>
          </a:xfrm>
          <a:prstGeom prst="line">
            <a:avLst/>
          </a:prstGeom>
          <a:noFill/>
          <a:ln w="6350">
            <a:solidFill>
              <a:srgbClr val="64748B"/>
            </a:solidFill>
            <a:prstDash val="solid"/>
          </a:ln>
        </p:spPr>
        <p:txBody>
          <a:bodyPr/>
          <a:lstStyle/>
          <a:p>
            <a:endParaRPr lang="en-US"/>
          </a:p>
        </p:txBody>
      </p:sp>
      <p:sp>
        <p:nvSpPr>
          <p:cNvPr id="14" name="Text 12"/>
          <p:cNvSpPr/>
          <p:nvPr/>
        </p:nvSpPr>
        <p:spPr>
          <a:xfrm>
            <a:off x="7360920" y="4160520"/>
            <a:ext cx="274320" cy="182880"/>
          </a:xfrm>
          <a:prstGeom prst="rect">
            <a:avLst/>
          </a:prstGeom>
          <a:noFill/>
          <a:ln/>
        </p:spPr>
        <p:txBody>
          <a:bodyPr wrap="square" lIns="0" tIns="0" rIns="0" bIns="0" rtlCol="0" anchor="ctr"/>
          <a:lstStyle/>
          <a:p>
            <a:pPr marL="0" indent="0" algn="ctr">
              <a:buNone/>
            </a:pPr>
            <a:r>
              <a:rPr lang="en-US" sz="900" dirty="0">
                <a:solidFill>
                  <a:srgbClr val="64748B"/>
                </a:solidFill>
              </a:rPr>
              <a:t>0</a:t>
            </a:r>
            <a:endParaRPr lang="en-US" sz="900" dirty="0"/>
          </a:p>
        </p:txBody>
      </p:sp>
      <p:sp>
        <p:nvSpPr>
          <p:cNvPr id="15" name="Text 13"/>
          <p:cNvSpPr/>
          <p:nvPr/>
        </p:nvSpPr>
        <p:spPr>
          <a:xfrm>
            <a:off x="4800600" y="1965960"/>
            <a:ext cx="822960" cy="274320"/>
          </a:xfrm>
          <a:prstGeom prst="rect">
            <a:avLst/>
          </a:prstGeom>
          <a:noFill/>
          <a:ln/>
        </p:spPr>
        <p:txBody>
          <a:bodyPr wrap="square" lIns="0" tIns="0" rIns="0" bIns="0" rtlCol="0" anchor="ctr"/>
          <a:lstStyle/>
          <a:p>
            <a:pPr marL="0" indent="0" algn="r">
              <a:buNone/>
            </a:pPr>
            <a:r>
              <a:rPr lang="en-US" sz="1100" dirty="0">
                <a:solidFill>
                  <a:srgbClr val="1F2937"/>
                </a:solidFill>
              </a:rPr>
              <a:t>Bandeja</a:t>
            </a:r>
            <a:endParaRPr lang="en-US" sz="1100" dirty="0"/>
          </a:p>
        </p:txBody>
      </p:sp>
      <p:sp>
        <p:nvSpPr>
          <p:cNvPr id="16" name="Shape 14"/>
          <p:cNvSpPr/>
          <p:nvPr/>
        </p:nvSpPr>
        <p:spPr>
          <a:xfrm>
            <a:off x="7498080" y="2011680"/>
            <a:ext cx="643738" cy="201168"/>
          </a:xfrm>
          <a:prstGeom prst="rect">
            <a:avLst/>
          </a:prstGeom>
          <a:solidFill>
            <a:srgbClr val="0EA5E9"/>
          </a:solidFill>
          <a:ln/>
        </p:spPr>
        <p:txBody>
          <a:bodyPr/>
          <a:lstStyle/>
          <a:p>
            <a:endParaRPr lang="en-US"/>
          </a:p>
        </p:txBody>
      </p:sp>
      <p:sp>
        <p:nvSpPr>
          <p:cNvPr id="17" name="Text 15"/>
          <p:cNvSpPr/>
          <p:nvPr/>
        </p:nvSpPr>
        <p:spPr>
          <a:xfrm>
            <a:off x="8178394" y="1965960"/>
            <a:ext cx="502920" cy="274320"/>
          </a:xfrm>
          <a:prstGeom prst="rect">
            <a:avLst/>
          </a:prstGeom>
          <a:noFill/>
          <a:ln/>
        </p:spPr>
        <p:txBody>
          <a:bodyPr wrap="square" lIns="0" tIns="0" rIns="0" bIns="0" rtlCol="0" anchor="ctr"/>
          <a:lstStyle/>
          <a:p>
            <a:pPr marL="0" indent="0">
              <a:buNone/>
            </a:pPr>
            <a:r>
              <a:rPr lang="en-US" sz="1000" dirty="0">
                <a:solidFill>
                  <a:srgbClr val="1F2937"/>
                </a:solidFill>
              </a:rPr>
              <a:t>+176</a:t>
            </a:r>
            <a:endParaRPr lang="en-US" sz="1000" dirty="0"/>
          </a:p>
        </p:txBody>
      </p:sp>
      <p:sp>
        <p:nvSpPr>
          <p:cNvPr id="18" name="Text 16"/>
          <p:cNvSpPr/>
          <p:nvPr/>
        </p:nvSpPr>
        <p:spPr>
          <a:xfrm>
            <a:off x="4800600" y="2331720"/>
            <a:ext cx="822960" cy="274320"/>
          </a:xfrm>
          <a:prstGeom prst="rect">
            <a:avLst/>
          </a:prstGeom>
          <a:noFill/>
          <a:ln/>
        </p:spPr>
        <p:txBody>
          <a:bodyPr wrap="square" lIns="0" tIns="0" rIns="0" bIns="0" rtlCol="0" anchor="ctr"/>
          <a:lstStyle/>
          <a:p>
            <a:pPr marL="0" indent="0" algn="r">
              <a:buNone/>
            </a:pPr>
            <a:r>
              <a:rPr lang="en-US" sz="1100" dirty="0">
                <a:solidFill>
                  <a:srgbClr val="1F2937"/>
                </a:solidFill>
              </a:rPr>
              <a:t>Forehand</a:t>
            </a:r>
            <a:endParaRPr lang="en-US" sz="1100" dirty="0"/>
          </a:p>
        </p:txBody>
      </p:sp>
      <p:sp>
        <p:nvSpPr>
          <p:cNvPr id="19" name="Shape 17"/>
          <p:cNvSpPr/>
          <p:nvPr/>
        </p:nvSpPr>
        <p:spPr>
          <a:xfrm>
            <a:off x="7498080" y="2377440"/>
            <a:ext cx="318211" cy="201168"/>
          </a:xfrm>
          <a:prstGeom prst="rect">
            <a:avLst/>
          </a:prstGeom>
          <a:solidFill>
            <a:srgbClr val="0EA5E9"/>
          </a:solidFill>
          <a:ln/>
        </p:spPr>
        <p:txBody>
          <a:bodyPr/>
          <a:lstStyle/>
          <a:p>
            <a:endParaRPr lang="en-US"/>
          </a:p>
        </p:txBody>
      </p:sp>
      <p:sp>
        <p:nvSpPr>
          <p:cNvPr id="20" name="Text 18"/>
          <p:cNvSpPr/>
          <p:nvPr/>
        </p:nvSpPr>
        <p:spPr>
          <a:xfrm>
            <a:off x="7852867" y="2331720"/>
            <a:ext cx="502920" cy="274320"/>
          </a:xfrm>
          <a:prstGeom prst="rect">
            <a:avLst/>
          </a:prstGeom>
          <a:noFill/>
          <a:ln/>
        </p:spPr>
        <p:txBody>
          <a:bodyPr wrap="square" lIns="0" tIns="0" rIns="0" bIns="0" rtlCol="0" anchor="ctr"/>
          <a:lstStyle/>
          <a:p>
            <a:pPr marL="0" indent="0">
              <a:buNone/>
            </a:pPr>
            <a:r>
              <a:rPr lang="en-US" sz="1000" dirty="0">
                <a:solidFill>
                  <a:srgbClr val="1F2937"/>
                </a:solidFill>
              </a:rPr>
              <a:t>+87</a:t>
            </a:r>
            <a:endParaRPr lang="en-US" sz="1000" dirty="0"/>
          </a:p>
        </p:txBody>
      </p:sp>
      <p:sp>
        <p:nvSpPr>
          <p:cNvPr id="21" name="Text 19"/>
          <p:cNvSpPr/>
          <p:nvPr/>
        </p:nvSpPr>
        <p:spPr>
          <a:xfrm>
            <a:off x="4800600" y="2697480"/>
            <a:ext cx="822960" cy="274320"/>
          </a:xfrm>
          <a:prstGeom prst="rect">
            <a:avLst/>
          </a:prstGeom>
          <a:noFill/>
          <a:ln/>
        </p:spPr>
        <p:txBody>
          <a:bodyPr wrap="square" lIns="0" tIns="0" rIns="0" bIns="0" rtlCol="0" anchor="ctr"/>
          <a:lstStyle/>
          <a:p>
            <a:pPr marL="0" indent="0" algn="r">
              <a:buNone/>
            </a:pPr>
            <a:r>
              <a:rPr lang="en-US" sz="1100" dirty="0">
                <a:solidFill>
                  <a:srgbClr val="1F2937"/>
                </a:solidFill>
              </a:rPr>
              <a:t>Volley</a:t>
            </a:r>
            <a:endParaRPr lang="en-US" sz="1100" dirty="0"/>
          </a:p>
        </p:txBody>
      </p:sp>
      <p:sp>
        <p:nvSpPr>
          <p:cNvPr id="22" name="Shape 20"/>
          <p:cNvSpPr/>
          <p:nvPr/>
        </p:nvSpPr>
        <p:spPr>
          <a:xfrm>
            <a:off x="7498080" y="2743200"/>
            <a:ext cx="314554" cy="201168"/>
          </a:xfrm>
          <a:prstGeom prst="rect">
            <a:avLst/>
          </a:prstGeom>
          <a:solidFill>
            <a:srgbClr val="0EA5E9"/>
          </a:solidFill>
          <a:ln/>
        </p:spPr>
        <p:txBody>
          <a:bodyPr/>
          <a:lstStyle/>
          <a:p>
            <a:endParaRPr lang="en-US"/>
          </a:p>
        </p:txBody>
      </p:sp>
      <p:sp>
        <p:nvSpPr>
          <p:cNvPr id="23" name="Text 21"/>
          <p:cNvSpPr/>
          <p:nvPr/>
        </p:nvSpPr>
        <p:spPr>
          <a:xfrm>
            <a:off x="7849210" y="2697480"/>
            <a:ext cx="502920" cy="274320"/>
          </a:xfrm>
          <a:prstGeom prst="rect">
            <a:avLst/>
          </a:prstGeom>
          <a:noFill/>
          <a:ln/>
        </p:spPr>
        <p:txBody>
          <a:bodyPr wrap="square" lIns="0" tIns="0" rIns="0" bIns="0" rtlCol="0" anchor="ctr"/>
          <a:lstStyle/>
          <a:p>
            <a:pPr marL="0" indent="0">
              <a:buNone/>
            </a:pPr>
            <a:r>
              <a:rPr lang="en-US" sz="1000" dirty="0">
                <a:solidFill>
                  <a:srgbClr val="1F2937"/>
                </a:solidFill>
              </a:rPr>
              <a:t>+86</a:t>
            </a:r>
            <a:endParaRPr lang="en-US" sz="1000" dirty="0"/>
          </a:p>
        </p:txBody>
      </p:sp>
      <p:sp>
        <p:nvSpPr>
          <p:cNvPr id="24" name="Text 22"/>
          <p:cNvSpPr/>
          <p:nvPr/>
        </p:nvSpPr>
        <p:spPr>
          <a:xfrm>
            <a:off x="4800600" y="3063240"/>
            <a:ext cx="822960" cy="274320"/>
          </a:xfrm>
          <a:prstGeom prst="rect">
            <a:avLst/>
          </a:prstGeom>
          <a:noFill/>
          <a:ln/>
        </p:spPr>
        <p:txBody>
          <a:bodyPr wrap="square" lIns="0" tIns="0" rIns="0" bIns="0" rtlCol="0" anchor="ctr"/>
          <a:lstStyle/>
          <a:p>
            <a:pPr marL="0" indent="0" algn="r">
              <a:buNone/>
            </a:pPr>
            <a:r>
              <a:rPr lang="en-US" sz="1100" dirty="0">
                <a:solidFill>
                  <a:srgbClr val="1F2937"/>
                </a:solidFill>
              </a:rPr>
              <a:t>Backhand</a:t>
            </a:r>
            <a:endParaRPr lang="en-US" sz="1100" dirty="0"/>
          </a:p>
        </p:txBody>
      </p:sp>
      <p:sp>
        <p:nvSpPr>
          <p:cNvPr id="25" name="Shape 23"/>
          <p:cNvSpPr/>
          <p:nvPr/>
        </p:nvSpPr>
        <p:spPr>
          <a:xfrm>
            <a:off x="7070141" y="3108960"/>
            <a:ext cx="427939" cy="201168"/>
          </a:xfrm>
          <a:prstGeom prst="rect">
            <a:avLst/>
          </a:prstGeom>
          <a:solidFill>
            <a:srgbClr val="EF4444"/>
          </a:solidFill>
          <a:ln/>
        </p:spPr>
        <p:txBody>
          <a:bodyPr/>
          <a:lstStyle/>
          <a:p>
            <a:endParaRPr lang="en-US"/>
          </a:p>
        </p:txBody>
      </p:sp>
      <p:sp>
        <p:nvSpPr>
          <p:cNvPr id="26" name="Text 24"/>
          <p:cNvSpPr/>
          <p:nvPr/>
        </p:nvSpPr>
        <p:spPr>
          <a:xfrm>
            <a:off x="5715000" y="3063240"/>
            <a:ext cx="1309421" cy="274320"/>
          </a:xfrm>
          <a:prstGeom prst="rect">
            <a:avLst/>
          </a:prstGeom>
          <a:noFill/>
          <a:ln/>
        </p:spPr>
        <p:txBody>
          <a:bodyPr wrap="square" lIns="0" tIns="0" rIns="0" bIns="0" rtlCol="0" anchor="ctr"/>
          <a:lstStyle/>
          <a:p>
            <a:pPr marL="0" indent="0" algn="r">
              <a:buNone/>
            </a:pPr>
            <a:r>
              <a:rPr lang="en-US" sz="1000" dirty="0">
                <a:solidFill>
                  <a:srgbClr val="EF4444"/>
                </a:solidFill>
              </a:rPr>
              <a:t>-117</a:t>
            </a:r>
            <a:endParaRPr lang="en-US" sz="1000" dirty="0"/>
          </a:p>
        </p:txBody>
      </p:sp>
      <p:sp>
        <p:nvSpPr>
          <p:cNvPr id="27" name="Text 25"/>
          <p:cNvSpPr/>
          <p:nvPr/>
        </p:nvSpPr>
        <p:spPr>
          <a:xfrm>
            <a:off x="4800600" y="3429000"/>
            <a:ext cx="822960" cy="274320"/>
          </a:xfrm>
          <a:prstGeom prst="rect">
            <a:avLst/>
          </a:prstGeom>
          <a:noFill/>
          <a:ln/>
        </p:spPr>
        <p:txBody>
          <a:bodyPr wrap="square" lIns="0" tIns="0" rIns="0" bIns="0" rtlCol="0" anchor="ctr"/>
          <a:lstStyle/>
          <a:p>
            <a:pPr marL="0" indent="0" algn="r">
              <a:buNone/>
            </a:pPr>
            <a:r>
              <a:rPr lang="en-US" sz="1100" dirty="0">
                <a:solidFill>
                  <a:srgbClr val="1F2937"/>
                </a:solidFill>
              </a:rPr>
              <a:t>Smash</a:t>
            </a:r>
            <a:endParaRPr lang="en-US" sz="1100" dirty="0"/>
          </a:p>
        </p:txBody>
      </p:sp>
      <p:sp>
        <p:nvSpPr>
          <p:cNvPr id="28" name="Shape 26"/>
          <p:cNvSpPr/>
          <p:nvPr/>
        </p:nvSpPr>
        <p:spPr>
          <a:xfrm>
            <a:off x="6876288" y="3474720"/>
            <a:ext cx="621792" cy="201168"/>
          </a:xfrm>
          <a:prstGeom prst="rect">
            <a:avLst/>
          </a:prstGeom>
          <a:solidFill>
            <a:srgbClr val="EF4444"/>
          </a:solidFill>
          <a:ln/>
        </p:spPr>
        <p:txBody>
          <a:bodyPr/>
          <a:lstStyle/>
          <a:p>
            <a:endParaRPr lang="en-US"/>
          </a:p>
        </p:txBody>
      </p:sp>
      <p:sp>
        <p:nvSpPr>
          <p:cNvPr id="29" name="Text 27"/>
          <p:cNvSpPr/>
          <p:nvPr/>
        </p:nvSpPr>
        <p:spPr>
          <a:xfrm>
            <a:off x="5715000" y="3429000"/>
            <a:ext cx="1115568" cy="274320"/>
          </a:xfrm>
          <a:prstGeom prst="rect">
            <a:avLst/>
          </a:prstGeom>
          <a:noFill/>
          <a:ln/>
        </p:spPr>
        <p:txBody>
          <a:bodyPr wrap="square" lIns="0" tIns="0" rIns="0" bIns="0" rtlCol="0" anchor="ctr"/>
          <a:lstStyle/>
          <a:p>
            <a:pPr marL="0" indent="0" algn="r">
              <a:buNone/>
            </a:pPr>
            <a:r>
              <a:rPr lang="en-US" sz="1000" dirty="0">
                <a:solidFill>
                  <a:srgbClr val="EF4444"/>
                </a:solidFill>
              </a:rPr>
              <a:t>-170</a:t>
            </a:r>
            <a:endParaRPr lang="en-US" sz="1000" dirty="0"/>
          </a:p>
        </p:txBody>
      </p:sp>
      <p:sp>
        <p:nvSpPr>
          <p:cNvPr id="30" name="Text 28"/>
          <p:cNvSpPr/>
          <p:nvPr/>
        </p:nvSpPr>
        <p:spPr>
          <a:xfrm>
            <a:off x="4800600" y="4320540"/>
            <a:ext cx="4307306" cy="274320"/>
          </a:xfrm>
          <a:prstGeom prst="rect">
            <a:avLst/>
          </a:prstGeom>
          <a:noFill/>
          <a:ln/>
        </p:spPr>
        <p:txBody>
          <a:bodyPr wrap="square" lIns="0" tIns="0" rIns="0" bIns="0" rtlCol="0" anchor="ctr"/>
          <a:lstStyle/>
          <a:p>
            <a:pPr marL="0" indent="0">
              <a:buNone/>
            </a:pPr>
            <a:r>
              <a:rPr lang="en-US" sz="900" i="1" dirty="0">
                <a:solidFill>
                  <a:srgbClr val="9AA3AD"/>
                </a:solidFill>
                <a:latin typeface="Calibri" pitchFamily="34" charset="0"/>
                <a:ea typeface="Calibri" pitchFamily="34" charset="-122"/>
                <a:cs typeface="Calibri" pitchFamily="34" charset="-120"/>
              </a:rPr>
              <a:t>Zero line dead center · sign readable at a glance · winners and errors share the bar.</a:t>
            </a:r>
            <a:endParaRPr lang="en-US" sz="900" dirty="0"/>
          </a:p>
        </p:txBody>
      </p:sp>
      <p:sp>
        <p:nvSpPr>
          <p:cNvPr id="31" name="Text 29"/>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2" name="Text 30"/>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4.3 CASE STUDY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Why a slope chart for momentum?</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657600" cy="274320"/>
          </a:xfrm>
          <a:prstGeom prst="rect">
            <a:avLst/>
          </a:prstGeom>
          <a:noFill/>
          <a:ln/>
        </p:spPr>
        <p:txBody>
          <a:bodyPr wrap="square" lIns="0" tIns="0" rIns="0" bIns="0" rtlCol="0" anchor="ctr"/>
          <a:lstStyle/>
          <a:p>
            <a:pPr marL="0" indent="0">
              <a:buNone/>
            </a:pPr>
            <a:r>
              <a:rPr lang="en-US" sz="900" b="1" kern="0" spc="300" dirty="0">
                <a:solidFill>
                  <a:srgbClr val="0EA5E9"/>
                </a:solidFill>
              </a:rPr>
              <a:t>THE QUESTION</a:t>
            </a:r>
            <a:endParaRPr lang="en-US" sz="900" dirty="0"/>
          </a:p>
        </p:txBody>
      </p:sp>
      <p:sp>
        <p:nvSpPr>
          <p:cNvPr id="7" name="Text 5"/>
          <p:cNvSpPr/>
          <p:nvPr/>
        </p:nvSpPr>
        <p:spPr>
          <a:xfrm>
            <a:off x="640080" y="1783080"/>
            <a:ext cx="3657600" cy="640080"/>
          </a:xfrm>
          <a:prstGeom prst="rect">
            <a:avLst/>
          </a:prstGeom>
          <a:noFill/>
          <a:ln/>
        </p:spPr>
        <p:txBody>
          <a:bodyPr wrap="square" lIns="0" tIns="0" rIns="0" bIns="0" rtlCol="0" anchor="ctr"/>
          <a:lstStyle/>
          <a:p>
            <a:pPr marL="0" indent="0">
              <a:buNone/>
            </a:pPr>
            <a:r>
              <a:rPr lang="en-US" sz="1500" b="1" dirty="0">
                <a:solidFill>
                  <a:srgbClr val="1F2937"/>
                </a:solidFill>
              </a:rPr>
              <a:t>If I win set 1, how much does that really tell me — and does it survive a decider?</a:t>
            </a:r>
            <a:endParaRPr lang="en-US" sz="1500" dirty="0"/>
          </a:p>
        </p:txBody>
      </p:sp>
      <p:sp>
        <p:nvSpPr>
          <p:cNvPr id="8" name="Text 6"/>
          <p:cNvSpPr/>
          <p:nvPr/>
        </p:nvSpPr>
        <p:spPr>
          <a:xfrm>
            <a:off x="640080" y="2468880"/>
            <a:ext cx="3657600" cy="548640"/>
          </a:xfrm>
          <a:prstGeom prst="rect">
            <a:avLst/>
          </a:prstGeom>
          <a:noFill/>
          <a:ln/>
        </p:spPr>
        <p:txBody>
          <a:bodyPr wrap="square" lIns="0" tIns="0" rIns="0" bIns="0" rtlCol="0" anchor="ctr"/>
          <a:lstStyle/>
          <a:p>
            <a:pPr marL="0" indent="0">
              <a:buNone/>
            </a:pPr>
            <a:r>
              <a:rPr lang="en-US" sz="1100" i="1" dirty="0">
                <a:solidFill>
                  <a:srgbClr val="64748B"/>
                </a:solidFill>
              </a:rPr>
              <a:t>A two-part story on purpose: a strong signal (86%) that quietly evaporates under one condition (49%).</a:t>
            </a:r>
            <a:endParaRPr lang="en-US" sz="1100" dirty="0"/>
          </a:p>
        </p:txBody>
      </p:sp>
      <p:sp>
        <p:nvSpPr>
          <p:cNvPr id="9" name="Text 7"/>
          <p:cNvSpPr/>
          <p:nvPr/>
        </p:nvSpPr>
        <p:spPr>
          <a:xfrm>
            <a:off x="640080" y="3063240"/>
            <a:ext cx="3657600" cy="228600"/>
          </a:xfrm>
          <a:prstGeom prst="rect">
            <a:avLst/>
          </a:prstGeom>
          <a:noFill/>
          <a:ln/>
        </p:spPr>
        <p:txBody>
          <a:bodyPr wrap="square" lIns="0" tIns="0" rIns="0" bIns="0" rtlCol="0" anchor="ctr"/>
          <a:lstStyle/>
          <a:p>
            <a:pPr marL="0" indent="0">
              <a:buNone/>
            </a:pPr>
            <a:r>
              <a:rPr lang="en-US" sz="900" b="1" kern="0" spc="300" dirty="0">
                <a:solidFill>
                  <a:srgbClr val="64748B"/>
                </a:solidFill>
              </a:rPr>
              <a:t>CONSIDERED:</a:t>
            </a:r>
            <a:endParaRPr lang="en-US" sz="900" dirty="0"/>
          </a:p>
        </p:txBody>
      </p:sp>
      <p:sp>
        <p:nvSpPr>
          <p:cNvPr id="10" name="Text 8"/>
          <p:cNvSpPr/>
          <p:nvPr/>
        </p:nvSpPr>
        <p:spPr>
          <a:xfrm>
            <a:off x="640080" y="3291840"/>
            <a:ext cx="3657600" cy="1188720"/>
          </a:xfrm>
          <a:prstGeom prst="rect">
            <a:avLst/>
          </a:prstGeom>
          <a:noFill/>
          <a:ln/>
        </p:spPr>
        <p:txBody>
          <a:bodyPr wrap="square" lIns="0" tIns="0" rIns="0" bIns="0" rtlCol="0" anchor="ctr"/>
          <a:lstStyle/>
          <a:p>
            <a:pPr marL="0" indent="0">
              <a:spcAft>
                <a:spcPts val="300"/>
              </a:spcAft>
              <a:buNone/>
            </a:pPr>
            <a:r>
              <a:rPr lang="en-US" sz="1150" dirty="0">
                <a:solidFill>
                  <a:srgbClr val="EF4444"/>
                </a:solidFill>
              </a:rPr>
              <a:t>Grouped bars - the 37-pt collapse has to live in a caption, not the ink.</a:t>
            </a:r>
            <a:endParaRPr lang="en-US" sz="1150" dirty="0"/>
          </a:p>
          <a:p>
            <a:pPr marL="0" indent="0">
              <a:spcAft>
                <a:spcPts val="300"/>
              </a:spcAft>
              <a:buNone/>
            </a:pPr>
            <a:r>
              <a:rPr lang="en-US" sz="1150" dirty="0">
                <a:solidFill>
                  <a:srgbClr val="EF4444"/>
                </a:solidFill>
              </a:rPr>
              <a:t>Waterfall - implies an additive step that doesn't exist; different subsets.</a:t>
            </a:r>
            <a:endParaRPr lang="en-US" sz="1150" dirty="0"/>
          </a:p>
          <a:p>
            <a:pPr marL="0" indent="0">
              <a:spcAft>
                <a:spcPts val="300"/>
              </a:spcAft>
              <a:buNone/>
            </a:pPr>
            <a:r>
              <a:rPr lang="en-US" sz="1150" dirty="0">
                <a:solidFill>
                  <a:srgbClr val="EF4444"/>
                </a:solidFill>
              </a:rPr>
              <a:t>Sankey - ribbon width implies a population flow that isn't actually true here.</a:t>
            </a:r>
            <a:endParaRPr lang="en-US" sz="1150" dirty="0"/>
          </a:p>
          <a:p>
            <a:pPr marL="0" indent="0">
              <a:spcAft>
                <a:spcPts val="300"/>
              </a:spcAft>
              <a:buNone/>
            </a:pPr>
            <a:r>
              <a:rPr lang="en-US" sz="1150" b="1" dirty="0">
                <a:solidFill>
                  <a:srgbClr val="10B981"/>
                </a:solidFill>
              </a:rPr>
              <a:t>Two-point slope chart - chosen.</a:t>
            </a:r>
            <a:endParaRPr lang="en-US" sz="1150" dirty="0"/>
          </a:p>
        </p:txBody>
      </p:sp>
      <p:sp>
        <p:nvSpPr>
          <p:cNvPr id="1001" name="Shape RightCard"/>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1002" name="AutoText"/>
          <p:cNvSpPr/>
          <p:nvPr/>
        </p:nvSpPr>
        <p:spPr>
          <a:xfrm>
            <a:off x="4846320" y="1508760"/>
            <a:ext cx="36576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rPr>
              <a:t>SET-1 WIN RATE → DECIDER WIN RATE</a:t>
            </a:r>
            <a:endParaRPr lang="en-US" sz="900" dirty="0"/>
          </a:p>
        </p:txBody>
      </p:sp>
      <p:sp>
        <p:nvSpPr>
          <p:cNvPr id="1003" name="Line"/>
          <p:cNvSpPr/>
          <p:nvPr/>
        </p:nvSpPr>
        <p:spPr>
          <a:xfrm>
            <a:off x="4900000" y="1750000"/>
            <a:ext cx="0" cy="2550000"/>
          </a:xfrm>
          <a:prstGeom prst="line">
            <a:avLst/>
          </a:prstGeom>
          <a:noFill/>
          <a:ln w="9525">
            <a:solidFill>
              <a:srgbClr val="CBD5E1"/>
            </a:solidFill>
            <a:prstDash val="solid"/>
          </a:ln>
        </p:spPr>
        <p:txBody>
          <a:bodyPr/>
          <a:lstStyle/>
          <a:p>
            <a:endParaRPr lang="en-US"/>
          </a:p>
        </p:txBody>
      </p:sp>
      <p:sp>
        <p:nvSpPr>
          <p:cNvPr id="1004" name="AutoText"/>
          <p:cNvSpPr/>
          <p:nvPr/>
        </p:nvSpPr>
        <p:spPr>
          <a:xfrm>
            <a:off x="4280000" y="1630000"/>
            <a:ext cx="560000" cy="240000"/>
          </a:xfrm>
          <a:prstGeom prst="rect">
            <a:avLst/>
          </a:prstGeom>
          <a:noFill/>
          <a:ln/>
        </p:spPr>
        <p:txBody>
          <a:bodyPr wrap="square" lIns="0" tIns="0" rIns="0" bIns="0" rtlCol="0" anchor="ctr"/>
          <a:lstStyle/>
          <a:p>
            <a:pPr marL="0" indent="0" algn="r">
              <a:buNone/>
            </a:pPr>
            <a:r>
              <a:rPr lang="en-US" sz="850" dirty="0">
                <a:solidFill>
                  <a:srgbClr val="94A3B8"/>
                </a:solidFill>
                <a:latin typeface="Calibri" pitchFamily="34" charset="0"/>
              </a:rPr>
              <a:t>100%</a:t>
            </a:r>
            <a:endParaRPr lang="en-US" sz="850" dirty="0"/>
          </a:p>
        </p:txBody>
      </p:sp>
      <p:sp>
        <p:nvSpPr>
          <p:cNvPr id="1005" name="AutoText"/>
          <p:cNvSpPr/>
          <p:nvPr/>
        </p:nvSpPr>
        <p:spPr>
          <a:xfrm>
            <a:off x="4280000" y="2905000"/>
            <a:ext cx="560000" cy="240000"/>
          </a:xfrm>
          <a:prstGeom prst="rect">
            <a:avLst/>
          </a:prstGeom>
          <a:noFill/>
          <a:ln/>
        </p:spPr>
        <p:txBody>
          <a:bodyPr wrap="square" lIns="0" tIns="0" rIns="0" bIns="0" rtlCol="0" anchor="ctr"/>
          <a:lstStyle/>
          <a:p>
            <a:pPr marL="0" indent="0" algn="r">
              <a:buNone/>
            </a:pPr>
            <a:r>
              <a:rPr lang="en-US" sz="850" dirty="0">
                <a:solidFill>
                  <a:srgbClr val="94A3B8"/>
                </a:solidFill>
                <a:latin typeface="Calibri" pitchFamily="34" charset="0"/>
              </a:rPr>
              <a:t>50%</a:t>
            </a:r>
            <a:endParaRPr lang="en-US" sz="850" dirty="0"/>
          </a:p>
        </p:txBody>
      </p:sp>
      <p:sp>
        <p:nvSpPr>
          <p:cNvPr id="1006" name="AutoText"/>
          <p:cNvSpPr/>
          <p:nvPr/>
        </p:nvSpPr>
        <p:spPr>
          <a:xfrm>
            <a:off x="4280000" y="4180000"/>
            <a:ext cx="560000" cy="240000"/>
          </a:xfrm>
          <a:prstGeom prst="rect">
            <a:avLst/>
          </a:prstGeom>
          <a:noFill/>
          <a:ln/>
        </p:spPr>
        <p:txBody>
          <a:bodyPr wrap="square" lIns="0" tIns="0" rIns="0" bIns="0" rtlCol="0" anchor="ctr"/>
          <a:lstStyle/>
          <a:p>
            <a:pPr marL="0" indent="0" algn="r">
              <a:buNone/>
            </a:pPr>
            <a:r>
              <a:rPr lang="en-US" sz="850" dirty="0">
                <a:solidFill>
                  <a:srgbClr val="94A3B8"/>
                </a:solidFill>
                <a:latin typeface="Calibri" pitchFamily="34" charset="0"/>
              </a:rPr>
              <a:t>0%</a:t>
            </a:r>
            <a:endParaRPr lang="en-US" sz="850" dirty="0"/>
          </a:p>
        </p:txBody>
      </p:sp>
      <p:sp>
        <p:nvSpPr>
          <p:cNvPr id="1007" name="Line"/>
          <p:cNvSpPr/>
          <p:nvPr/>
        </p:nvSpPr>
        <p:spPr>
          <a:xfrm>
            <a:off x="4900000" y="3025000"/>
            <a:ext cx="3600000" cy="0"/>
          </a:xfrm>
          <a:prstGeom prst="line">
            <a:avLst/>
          </a:prstGeom>
          <a:noFill/>
          <a:ln w="9525">
            <a:solidFill>
              <a:srgbClr val="94A3B8"/>
            </a:solidFill>
            <a:prstDash val="dash"/>
          </a:ln>
        </p:spPr>
        <p:txBody>
          <a:bodyPr/>
          <a:lstStyle/>
          <a:p>
            <a:endParaRPr lang="en-US"/>
          </a:p>
        </p:txBody>
      </p:sp>
      <p:sp>
        <p:nvSpPr>
          <p:cNvPr id="1008" name="AutoText"/>
          <p:cNvSpPr/>
          <p:nvPr/>
        </p:nvSpPr>
        <p:spPr>
          <a:xfrm>
            <a:off x="8000000" y="2765000"/>
            <a:ext cx="550000" cy="220000"/>
          </a:xfrm>
          <a:prstGeom prst="rect">
            <a:avLst/>
          </a:prstGeom>
          <a:noFill/>
          <a:ln/>
        </p:spPr>
        <p:txBody>
          <a:bodyPr wrap="square" lIns="0" tIns="0" rIns="0" bIns="0" rtlCol="0" anchor="ctr"/>
          <a:lstStyle/>
          <a:p>
            <a:pPr marL="0" indent="0">
              <a:buNone/>
            </a:pPr>
            <a:r>
              <a:rPr lang="en-US" sz="850" i="1" dirty="0">
                <a:solidFill>
                  <a:srgbClr val="94A3B8"/>
                </a:solidFill>
                <a:latin typeface="Calibri" pitchFamily="34" charset="0"/>
              </a:rPr>
              <a:t>coin flip</a:t>
            </a:r>
            <a:endParaRPr lang="en-US" sz="850" dirty="0"/>
          </a:p>
        </p:txBody>
      </p:sp>
      <p:sp>
        <p:nvSpPr>
          <p:cNvPr id="1009" name="Line"/>
          <p:cNvSpPr/>
          <p:nvPr/>
        </p:nvSpPr>
        <p:spPr>
          <a:xfrm>
            <a:off x="5470000" y="2107000"/>
            <a:ext cx="2500000" cy="943500"/>
          </a:xfrm>
          <a:prstGeom prst="line">
            <a:avLst/>
          </a:prstGeom>
          <a:noFill/>
          <a:ln w="28575">
            <a:solidFill>
              <a:srgbClr val="0EA5E9"/>
            </a:solidFill>
            <a:prstDash val="solid"/>
          </a:ln>
        </p:spPr>
        <p:txBody>
          <a:bodyPr/>
          <a:lstStyle/>
          <a:p>
            <a:endParaRPr lang="en-US"/>
          </a:p>
        </p:txBody>
      </p:sp>
      <p:sp>
        <p:nvSpPr>
          <p:cNvPr id="1010" name="Dot"/>
          <p:cNvSpPr/>
          <p:nvPr/>
        </p:nvSpPr>
        <p:spPr>
          <a:xfrm>
            <a:off x="5340000" y="1977000"/>
            <a:ext cx="260000" cy="260000"/>
          </a:xfrm>
          <a:prstGeom prst="ellipse">
            <a:avLst/>
          </a:prstGeom>
          <a:solidFill>
            <a:srgbClr val="0EA5E9"/>
          </a:solidFill>
          <a:ln w="12700">
            <a:solidFill>
              <a:srgbClr val="FFFFFF"/>
            </a:solidFill>
          </a:ln>
        </p:spPr>
        <p:txBody>
          <a:bodyPr/>
          <a:lstStyle/>
          <a:p>
            <a:endParaRPr lang="en-US"/>
          </a:p>
        </p:txBody>
      </p:sp>
      <p:sp>
        <p:nvSpPr>
          <p:cNvPr id="1011" name="Dot"/>
          <p:cNvSpPr/>
          <p:nvPr/>
        </p:nvSpPr>
        <p:spPr>
          <a:xfrm>
            <a:off x="7840000" y="2920500"/>
            <a:ext cx="260000" cy="260000"/>
          </a:xfrm>
          <a:prstGeom prst="ellipse">
            <a:avLst/>
          </a:prstGeom>
          <a:solidFill>
            <a:srgbClr val="0EA5E9"/>
          </a:solidFill>
          <a:ln w="12700">
            <a:solidFill>
              <a:srgbClr val="FFFFFF"/>
            </a:solidFill>
          </a:ln>
        </p:spPr>
        <p:txBody>
          <a:bodyPr/>
          <a:lstStyle/>
          <a:p>
            <a:endParaRPr lang="en-US"/>
          </a:p>
        </p:txBody>
      </p:sp>
      <p:sp>
        <p:nvSpPr>
          <p:cNvPr id="1012" name="AutoText"/>
          <p:cNvSpPr/>
          <p:nvPr/>
        </p:nvSpPr>
        <p:spPr>
          <a:xfrm>
            <a:off x="5120000" y="1637000"/>
            <a:ext cx="700000" cy="320000"/>
          </a:xfrm>
          <a:prstGeom prst="rect">
            <a:avLst/>
          </a:prstGeom>
          <a:noFill/>
          <a:ln/>
        </p:spPr>
        <p:txBody>
          <a:bodyPr wrap="square" lIns="0" tIns="0" rIns="0" bIns="0" rtlCol="0" anchor="ctr"/>
          <a:lstStyle/>
          <a:p>
            <a:pPr marL="0" indent="0" algn="ctr">
              <a:buNone/>
            </a:pPr>
            <a:r>
              <a:rPr lang="en-US" sz="1800" b="1" dirty="0">
                <a:solidFill>
                  <a:srgbClr val="0369A1"/>
                </a:solidFill>
                <a:latin typeface="Calibri" pitchFamily="34" charset="0"/>
              </a:rPr>
              <a:t>86%</a:t>
            </a:r>
            <a:endParaRPr lang="en-US" sz="1800" dirty="0"/>
          </a:p>
        </p:txBody>
      </p:sp>
      <p:sp>
        <p:nvSpPr>
          <p:cNvPr id="1013" name="AutoText"/>
          <p:cNvSpPr/>
          <p:nvPr/>
        </p:nvSpPr>
        <p:spPr>
          <a:xfrm>
            <a:off x="4970000" y="2257000"/>
            <a:ext cx="1000000" cy="500000"/>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rPr>
              <a:t>win match after set 1</a:t>
            </a:r>
            <a:endParaRPr lang="en-US" sz="800" dirty="0"/>
          </a:p>
        </p:txBody>
      </p:sp>
      <p:sp>
        <p:nvSpPr>
          <p:cNvPr id="1014" name="AutoText"/>
          <p:cNvSpPr/>
          <p:nvPr/>
        </p:nvSpPr>
        <p:spPr>
          <a:xfrm>
            <a:off x="7620000" y="2580500"/>
            <a:ext cx="700000" cy="320000"/>
          </a:xfrm>
          <a:prstGeom prst="rect">
            <a:avLst/>
          </a:prstGeom>
          <a:noFill/>
          <a:ln/>
        </p:spPr>
        <p:txBody>
          <a:bodyPr wrap="square" lIns="0" tIns="0" rIns="0" bIns="0" rtlCol="0" anchor="ctr"/>
          <a:lstStyle/>
          <a:p>
            <a:pPr marL="0" indent="0" algn="ctr">
              <a:buNone/>
            </a:pPr>
            <a:r>
              <a:rPr lang="en-US" sz="1800" b="1" dirty="0">
                <a:solidFill>
                  <a:srgbClr val="0369A1"/>
                </a:solidFill>
                <a:latin typeface="Calibri" pitchFamily="34" charset="0"/>
              </a:rPr>
              <a:t>49%</a:t>
            </a:r>
            <a:endParaRPr lang="en-US" sz="1800" dirty="0"/>
          </a:p>
        </p:txBody>
      </p:sp>
      <p:sp>
        <p:nvSpPr>
          <p:cNvPr id="1015" name="AutoText"/>
          <p:cNvSpPr/>
          <p:nvPr/>
        </p:nvSpPr>
        <p:spPr>
          <a:xfrm>
            <a:off x="7420000" y="3200500"/>
            <a:ext cx="1100000" cy="500000"/>
          </a:xfrm>
          <a:prstGeom prst="rect">
            <a:avLst/>
          </a:prstGeom>
          <a:noFill/>
          <a:ln/>
        </p:spPr>
        <p:txBody>
          <a:bodyPr wrap="square" lIns="0" tIns="0" rIns="0" bIns="0" rtlCol="0" anchor="ctr"/>
          <a:lstStyle/>
          <a:p>
            <a:pPr marL="0" indent="0" algn="ctr">
              <a:buNone/>
            </a:pPr>
            <a:r>
              <a:rPr lang="en-US" sz="800" dirty="0">
                <a:solidFill>
                  <a:srgbClr val="64748B"/>
                </a:solidFill>
                <a:latin typeface="Calibri" pitchFamily="34" charset="0"/>
              </a:rPr>
              <a:t>coin flip in a decider</a:t>
            </a:r>
            <a:endParaRPr lang="en-US" sz="800" dirty="0"/>
          </a:p>
        </p:txBody>
      </p:sp>
      <p:sp>
        <p:nvSpPr>
          <p:cNvPr id="1016" name="AutoText"/>
          <p:cNvSpPr/>
          <p:nvPr/>
        </p:nvSpPr>
        <p:spPr>
          <a:xfrm>
            <a:off x="4800600" y="4320540"/>
            <a:ext cx="4307306" cy="274320"/>
          </a:xfrm>
          <a:prstGeom prst="rect">
            <a:avLst/>
          </a:prstGeom>
          <a:noFill/>
          <a:ln/>
        </p:spPr>
        <p:txBody>
          <a:bodyPr wrap="square" lIns="0" tIns="0" rIns="0" bIns="0" rtlCol="0" anchor="ctr"/>
          <a:lstStyle/>
          <a:p>
            <a:pPr marL="0" indent="0">
              <a:buNone/>
            </a:pPr>
            <a:r>
              <a:rPr lang="en-US" sz="900" i="1" dirty="0">
                <a:solidFill>
                  <a:srgbClr val="0369A1"/>
                </a:solidFill>
                <a:latin typeface="Calibri" pitchFamily="34" charset="0"/>
              </a:rPr>
              <a:t>86% → 49%: your set-1 lead evaporates once it's a decider.</a:t>
            </a:r>
            <a:endParaRPr lang="en-US" sz="900" dirty="0"/>
          </a:p>
        </p:txBody>
      </p:sp>
      <p:sp>
        <p:nvSpPr>
          <p:cNvPr id="31" name="Text 29"/>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2" name="Text 30"/>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4.4 CASE STUDY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Does chemistry build with reps — or is it survivorship?</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657600" cy="274320"/>
          </a:xfrm>
          <a:prstGeom prst="rect">
            <a:avLst/>
          </a:prstGeom>
          <a:noFill/>
          <a:ln/>
        </p:spPr>
        <p:txBody>
          <a:bodyPr wrap="square" lIns="0" tIns="0" rIns="0" bIns="0" rtlCol="0" anchor="ctr"/>
          <a:lstStyle/>
          <a:p>
            <a:pPr marL="0" indent="0">
              <a:buNone/>
            </a:pPr>
            <a:r>
              <a:rPr lang="en-US" sz="900" b="1" kern="0" spc="300" dirty="0">
                <a:solidFill>
                  <a:srgbClr val="0EA5E9"/>
                </a:solidFill>
              </a:rPr>
              <a:t>THE QUESTION</a:t>
            </a:r>
            <a:endParaRPr lang="en-US" sz="900" dirty="0"/>
          </a:p>
        </p:txBody>
      </p:sp>
      <p:sp>
        <p:nvSpPr>
          <p:cNvPr id="7" name="Text 5"/>
          <p:cNvSpPr/>
          <p:nvPr/>
        </p:nvSpPr>
        <p:spPr>
          <a:xfrm>
            <a:off x="640080" y="1783080"/>
            <a:ext cx="3657600" cy="640080"/>
          </a:xfrm>
          <a:prstGeom prst="rect">
            <a:avLst/>
          </a:prstGeom>
          <a:noFill/>
          <a:ln/>
        </p:spPr>
        <p:txBody>
          <a:bodyPr wrap="square" lIns="0" tIns="0" rIns="0" bIns="0" rtlCol="0" anchor="ctr"/>
          <a:lstStyle/>
          <a:p>
            <a:pPr marL="0" indent="0">
              <a:buNone/>
            </a:pPr>
            <a:r>
              <a:rPr lang="en-US" sz="1500" b="1" dirty="0">
                <a:solidFill>
                  <a:srgbClr val="1F2937"/>
                </a:solidFill>
              </a:rPr>
              <a:t>Does playing more matches together make a pair better, or are we just watching the survivors?</a:t>
            </a:r>
            <a:endParaRPr lang="en-US" sz="1500" dirty="0"/>
          </a:p>
        </p:txBody>
      </p:sp>
      <p:sp>
        <p:nvSpPr>
          <p:cNvPr id="8" name="Text 6"/>
          <p:cNvSpPr/>
          <p:nvPr/>
        </p:nvSpPr>
        <p:spPr>
          <a:xfrm>
            <a:off x="640080" y="2468880"/>
            <a:ext cx="3657600" cy="548640"/>
          </a:xfrm>
          <a:prstGeom prst="rect">
            <a:avLst/>
          </a:prstGeom>
          <a:noFill/>
          <a:ln/>
        </p:spPr>
        <p:txBody>
          <a:bodyPr wrap="square" lIns="0" tIns="0" rIns="0" bIns="0" rtlCol="0" anchor="ctr"/>
          <a:lstStyle/>
          <a:p>
            <a:pPr marL="0" indent="0">
              <a:buNone/>
            </a:pPr>
            <a:r>
              <a:rPr lang="en-US" sz="1100" i="1" dirty="0">
                <a:solidFill>
                  <a:srgbClr val="64748B"/>
                </a:solidFill>
              </a:rPr>
              <a:t>Unlike momentum, this finding needs a caveat that is structural, not a footnote: the sample shrinks as buckets grow.</a:t>
            </a:r>
            <a:endParaRPr lang="en-US" sz="1100" dirty="0"/>
          </a:p>
        </p:txBody>
      </p:sp>
      <p:sp>
        <p:nvSpPr>
          <p:cNvPr id="9" name="Text 7"/>
          <p:cNvSpPr/>
          <p:nvPr/>
        </p:nvSpPr>
        <p:spPr>
          <a:xfrm>
            <a:off x="640080" y="3063240"/>
            <a:ext cx="3657600" cy="228600"/>
          </a:xfrm>
          <a:prstGeom prst="rect">
            <a:avLst/>
          </a:prstGeom>
          <a:noFill/>
          <a:ln/>
        </p:spPr>
        <p:txBody>
          <a:bodyPr wrap="square" lIns="0" tIns="0" rIns="0" bIns="0" rtlCol="0" anchor="ctr"/>
          <a:lstStyle/>
          <a:p>
            <a:pPr marL="0" indent="0">
              <a:buNone/>
            </a:pPr>
            <a:r>
              <a:rPr lang="en-US" sz="900" b="1" kern="0" spc="300" dirty="0">
                <a:solidFill>
                  <a:srgbClr val="64748B"/>
                </a:solidFill>
              </a:rPr>
              <a:t>CONSIDERED:</a:t>
            </a:r>
            <a:endParaRPr lang="en-US" sz="900" dirty="0"/>
          </a:p>
        </p:txBody>
      </p:sp>
      <p:sp>
        <p:nvSpPr>
          <p:cNvPr id="10" name="Text 8"/>
          <p:cNvSpPr/>
          <p:nvPr/>
        </p:nvSpPr>
        <p:spPr>
          <a:xfrm>
            <a:off x="640080" y="3291840"/>
            <a:ext cx="3657600" cy="1188720"/>
          </a:xfrm>
          <a:prstGeom prst="rect">
            <a:avLst/>
          </a:prstGeom>
          <a:noFill/>
          <a:ln/>
        </p:spPr>
        <p:txBody>
          <a:bodyPr wrap="square" lIns="0" tIns="0" rIns="0" bIns="0" rtlCol="0" anchor="ctr"/>
          <a:lstStyle/>
          <a:p>
            <a:pPr marL="0" indent="0">
              <a:spcAft>
                <a:spcPts val="300"/>
              </a:spcAft>
              <a:buNone/>
            </a:pPr>
            <a:r>
              <a:rPr lang="en-US" sz="1150" dirty="0">
                <a:solidFill>
                  <a:srgbClr val="EF4444"/>
                </a:solidFill>
              </a:rPr>
              <a:t>Bar per bucket - no room left to layer in the shrinking-sample signal.</a:t>
            </a:r>
            <a:endParaRPr lang="en-US" sz="1150" dirty="0"/>
          </a:p>
          <a:p>
            <a:pPr marL="0" indent="0">
              <a:spcAft>
                <a:spcPts val="300"/>
              </a:spcAft>
              <a:buNone/>
            </a:pPr>
            <a:r>
              <a:rPr lang="en-US" sz="1150" dirty="0">
                <a:solidFill>
                  <a:srgbClr val="EF4444"/>
                </a:solidFill>
              </a:rPr>
              <a:t>Scatter per pair - noisy at low n; the thin high-x tail is easy to miss.</a:t>
            </a:r>
            <a:endParaRPr lang="en-US" sz="1150" dirty="0"/>
          </a:p>
          <a:p>
            <a:pPr marL="0" indent="0">
              <a:spcAft>
                <a:spcPts val="300"/>
              </a:spcAft>
              <a:buNone/>
            </a:pPr>
            <a:r>
              <a:rPr lang="en-US" sz="1150" dirty="0">
                <a:solidFill>
                  <a:srgbClr val="EF4444"/>
                </a:solidFill>
              </a:rPr>
              <a:t>Small multiples - solves a re-stitching problem this finding doesn't have.</a:t>
            </a:r>
            <a:endParaRPr lang="en-US" sz="1150" dirty="0"/>
          </a:p>
          <a:p>
            <a:pPr marL="0" indent="0">
              <a:spcAft>
                <a:spcPts val="300"/>
              </a:spcAft>
              <a:buNone/>
            </a:pPr>
            <a:r>
              <a:rPr lang="en-US" sz="1150" b="1" dirty="0">
                <a:solidFill>
                  <a:srgbClr val="10B981"/>
                </a:solidFill>
              </a:rPr>
              <a:t>Line + CI, narrowing wedge - chosen.</a:t>
            </a:r>
            <a:endParaRPr lang="en-US" sz="1150" dirty="0"/>
          </a:p>
        </p:txBody>
      </p:sp>
      <p:sp>
        <p:nvSpPr>
          <p:cNvPr id="1001" name="Shape RightCard"/>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1002" name="AutoText"/>
          <p:cNvSpPr/>
          <p:nvPr/>
        </p:nvSpPr>
        <p:spPr>
          <a:xfrm>
            <a:off x="4846320" y="1508760"/>
            <a:ext cx="36576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rPr>
              <a:t>WIN RATE BY MATCHES TOGETHER</a:t>
            </a:r>
            <a:endParaRPr lang="en-US" sz="900" dirty="0"/>
          </a:p>
        </p:txBody>
      </p:sp>
      <p:sp>
        <p:nvSpPr>
          <p:cNvPr id="1003" name="Line"/>
          <p:cNvSpPr/>
          <p:nvPr/>
        </p:nvSpPr>
        <p:spPr>
          <a:xfrm>
            <a:off x="4900000" y="1750000"/>
            <a:ext cx="0" cy="2550000"/>
          </a:xfrm>
          <a:prstGeom prst="line">
            <a:avLst/>
          </a:prstGeom>
          <a:noFill/>
          <a:ln w="9525">
            <a:solidFill>
              <a:srgbClr val="CBD5E1"/>
            </a:solidFill>
            <a:prstDash val="solid"/>
          </a:ln>
        </p:spPr>
        <p:txBody>
          <a:bodyPr/>
          <a:lstStyle/>
          <a:p>
            <a:endParaRPr lang="en-US"/>
          </a:p>
        </p:txBody>
      </p:sp>
      <p:sp>
        <p:nvSpPr>
          <p:cNvPr id="1004" name="AutoText"/>
          <p:cNvSpPr/>
          <p:nvPr/>
        </p:nvSpPr>
        <p:spPr>
          <a:xfrm>
            <a:off x="4280000" y="1630000"/>
            <a:ext cx="560000" cy="240000"/>
          </a:xfrm>
          <a:prstGeom prst="rect">
            <a:avLst/>
          </a:prstGeom>
          <a:noFill/>
          <a:ln/>
        </p:spPr>
        <p:txBody>
          <a:bodyPr wrap="square" lIns="0" tIns="0" rIns="0" bIns="0" rtlCol="0" anchor="ctr"/>
          <a:lstStyle/>
          <a:p>
            <a:pPr marL="0" indent="0" algn="r">
              <a:buNone/>
            </a:pPr>
            <a:r>
              <a:rPr lang="en-US" sz="850" dirty="0">
                <a:solidFill>
                  <a:srgbClr val="94A3B8"/>
                </a:solidFill>
                <a:latin typeface="Calibri" pitchFamily="34" charset="0"/>
              </a:rPr>
              <a:t>100%</a:t>
            </a:r>
            <a:endParaRPr lang="en-US" sz="850" dirty="0"/>
          </a:p>
        </p:txBody>
      </p:sp>
      <p:sp>
        <p:nvSpPr>
          <p:cNvPr id="1005" name="AutoText"/>
          <p:cNvSpPr/>
          <p:nvPr/>
        </p:nvSpPr>
        <p:spPr>
          <a:xfrm>
            <a:off x="4280000" y="2905000"/>
            <a:ext cx="560000" cy="240000"/>
          </a:xfrm>
          <a:prstGeom prst="rect">
            <a:avLst/>
          </a:prstGeom>
          <a:noFill/>
          <a:ln/>
        </p:spPr>
        <p:txBody>
          <a:bodyPr wrap="square" lIns="0" tIns="0" rIns="0" bIns="0" rtlCol="0" anchor="ctr"/>
          <a:lstStyle/>
          <a:p>
            <a:pPr marL="0" indent="0" algn="r">
              <a:buNone/>
            </a:pPr>
            <a:r>
              <a:rPr lang="en-US" sz="850" dirty="0">
                <a:solidFill>
                  <a:srgbClr val="94A3B8"/>
                </a:solidFill>
                <a:latin typeface="Calibri" pitchFamily="34" charset="0"/>
              </a:rPr>
              <a:t>50%</a:t>
            </a:r>
            <a:endParaRPr lang="en-US" sz="850" dirty="0"/>
          </a:p>
        </p:txBody>
      </p:sp>
      <p:sp>
        <p:nvSpPr>
          <p:cNvPr id="1006" name="AutoText"/>
          <p:cNvSpPr/>
          <p:nvPr/>
        </p:nvSpPr>
        <p:spPr>
          <a:xfrm>
            <a:off x="4280000" y="4180000"/>
            <a:ext cx="560000" cy="240000"/>
          </a:xfrm>
          <a:prstGeom prst="rect">
            <a:avLst/>
          </a:prstGeom>
          <a:noFill/>
          <a:ln/>
        </p:spPr>
        <p:txBody>
          <a:bodyPr wrap="square" lIns="0" tIns="0" rIns="0" bIns="0" rtlCol="0" anchor="ctr"/>
          <a:lstStyle/>
          <a:p>
            <a:pPr marL="0" indent="0" algn="r">
              <a:buNone/>
            </a:pPr>
            <a:r>
              <a:rPr lang="en-US" sz="850" dirty="0">
                <a:solidFill>
                  <a:srgbClr val="94A3B8"/>
                </a:solidFill>
                <a:latin typeface="Calibri" pitchFamily="34" charset="0"/>
              </a:rPr>
              <a:t>0%</a:t>
            </a:r>
            <a:endParaRPr lang="en-US" sz="850" dirty="0"/>
          </a:p>
        </p:txBody>
      </p:sp>
      <p:sp>
        <p:nvSpPr>
          <p:cNvPr id="1007" name="Line"/>
          <p:cNvSpPr/>
          <p:nvPr/>
        </p:nvSpPr>
        <p:spPr>
          <a:xfrm>
            <a:off x="4900000" y="4300000"/>
            <a:ext cx="3600000" cy="0"/>
          </a:xfrm>
          <a:prstGeom prst="line">
            <a:avLst/>
          </a:prstGeom>
          <a:noFill/>
          <a:ln w="9525">
            <a:solidFill>
              <a:srgbClr val="E2E8F0"/>
            </a:solidFill>
            <a:prstDash val="solid"/>
          </a:ln>
        </p:spPr>
        <p:txBody>
          <a:bodyPr/>
          <a:lstStyle/>
          <a:p>
            <a:endParaRPr lang="en-US"/>
          </a:p>
        </p:txBody>
      </p:sp>
      <p:sp>
        <p:nvSpPr>
          <p:cNvPr id="1008" name="Line"/>
          <p:cNvSpPr/>
          <p:nvPr/>
        </p:nvSpPr>
        <p:spPr>
          <a:xfrm flipV="1">
            <a:off x="5350000" y="3144850"/>
            <a:ext cx="900000" cy="140250"/>
          </a:xfrm>
          <a:prstGeom prst="line">
            <a:avLst/>
          </a:prstGeom>
          <a:noFill/>
          <a:ln w="25400">
            <a:solidFill>
              <a:srgbClr val="0EA5E9"/>
            </a:solidFill>
            <a:prstDash val="solid"/>
          </a:ln>
        </p:spPr>
        <p:txBody>
          <a:bodyPr/>
          <a:lstStyle/>
          <a:p>
            <a:endParaRPr lang="en-US"/>
          </a:p>
        </p:txBody>
      </p:sp>
      <p:sp>
        <p:nvSpPr>
          <p:cNvPr id="1009" name="Line"/>
          <p:cNvSpPr/>
          <p:nvPr/>
        </p:nvSpPr>
        <p:spPr>
          <a:xfrm flipV="1">
            <a:off x="6250000" y="2976550"/>
            <a:ext cx="900000" cy="168300"/>
          </a:xfrm>
          <a:prstGeom prst="line">
            <a:avLst/>
          </a:prstGeom>
          <a:noFill/>
          <a:ln w="25400">
            <a:solidFill>
              <a:srgbClr val="0EA5E9"/>
            </a:solidFill>
            <a:prstDash val="solid"/>
          </a:ln>
        </p:spPr>
        <p:txBody>
          <a:bodyPr/>
          <a:lstStyle/>
          <a:p>
            <a:endParaRPr lang="en-US"/>
          </a:p>
        </p:txBody>
      </p:sp>
      <p:sp>
        <p:nvSpPr>
          <p:cNvPr id="1010" name="Line"/>
          <p:cNvSpPr/>
          <p:nvPr/>
        </p:nvSpPr>
        <p:spPr>
          <a:xfrm flipV="1">
            <a:off x="7150000" y="2560900"/>
            <a:ext cx="900000" cy="415650"/>
          </a:xfrm>
          <a:prstGeom prst="line">
            <a:avLst/>
          </a:prstGeom>
          <a:noFill/>
          <a:ln w="25400">
            <a:solidFill>
              <a:srgbClr val="0EA5E9"/>
            </a:solidFill>
            <a:prstDash val="solid"/>
          </a:ln>
        </p:spPr>
        <p:txBody>
          <a:bodyPr/>
          <a:lstStyle/>
          <a:p>
            <a:endParaRPr lang="en-US"/>
          </a:p>
        </p:txBody>
      </p:sp>
      <p:sp>
        <p:nvSpPr>
          <p:cNvPr id="1011" name="Line"/>
          <p:cNvSpPr/>
          <p:nvPr/>
        </p:nvSpPr>
        <p:spPr>
          <a:xfrm>
            <a:off x="5350000" y="3175450"/>
            <a:ext cx="0" cy="219300"/>
          </a:xfrm>
          <a:prstGeom prst="line">
            <a:avLst/>
          </a:prstGeom>
          <a:noFill/>
          <a:ln w="9525">
            <a:solidFill>
              <a:srgbClr val="94A3B8"/>
            </a:solidFill>
            <a:prstDash val="solid"/>
          </a:ln>
        </p:spPr>
        <p:txBody>
          <a:bodyPr/>
          <a:lstStyle/>
          <a:p>
            <a:endParaRPr lang="en-US"/>
          </a:p>
        </p:txBody>
      </p:sp>
      <p:sp>
        <p:nvSpPr>
          <p:cNvPr id="1012" name="Line"/>
          <p:cNvSpPr/>
          <p:nvPr/>
        </p:nvSpPr>
        <p:spPr>
          <a:xfrm>
            <a:off x="6250000" y="3019900"/>
            <a:ext cx="0" cy="249900"/>
          </a:xfrm>
          <a:prstGeom prst="line">
            <a:avLst/>
          </a:prstGeom>
          <a:noFill/>
          <a:ln w="9525">
            <a:solidFill>
              <a:srgbClr val="94A3B8"/>
            </a:solidFill>
            <a:prstDash val="solid"/>
          </a:ln>
        </p:spPr>
        <p:txBody>
          <a:bodyPr/>
          <a:lstStyle/>
          <a:p>
            <a:endParaRPr lang="en-US"/>
          </a:p>
        </p:txBody>
      </p:sp>
      <p:sp>
        <p:nvSpPr>
          <p:cNvPr id="1013" name="Line"/>
          <p:cNvSpPr/>
          <p:nvPr/>
        </p:nvSpPr>
        <p:spPr>
          <a:xfrm>
            <a:off x="7150000" y="2828650"/>
            <a:ext cx="0" cy="295800"/>
          </a:xfrm>
          <a:prstGeom prst="line">
            <a:avLst/>
          </a:prstGeom>
          <a:noFill/>
          <a:ln w="9525">
            <a:solidFill>
              <a:srgbClr val="94A3B8"/>
            </a:solidFill>
            <a:prstDash val="solid"/>
          </a:ln>
        </p:spPr>
        <p:txBody>
          <a:bodyPr/>
          <a:lstStyle/>
          <a:p>
            <a:endParaRPr lang="en-US"/>
          </a:p>
        </p:txBody>
      </p:sp>
      <p:sp>
        <p:nvSpPr>
          <p:cNvPr id="1014" name="Line"/>
          <p:cNvSpPr/>
          <p:nvPr/>
        </p:nvSpPr>
        <p:spPr>
          <a:xfrm>
            <a:off x="8050000" y="2435950"/>
            <a:ext cx="0" cy="249900"/>
          </a:xfrm>
          <a:prstGeom prst="line">
            <a:avLst/>
          </a:prstGeom>
          <a:noFill/>
          <a:ln w="9525">
            <a:solidFill>
              <a:srgbClr val="94A3B8"/>
            </a:solidFill>
            <a:prstDash val="solid"/>
          </a:ln>
        </p:spPr>
        <p:txBody>
          <a:bodyPr/>
          <a:lstStyle/>
          <a:p>
            <a:endParaRPr lang="en-US"/>
          </a:p>
        </p:txBody>
      </p:sp>
      <p:sp>
        <p:nvSpPr>
          <p:cNvPr id="1015" name="Dot"/>
          <p:cNvSpPr/>
          <p:nvPr/>
        </p:nvSpPr>
        <p:spPr>
          <a:xfrm>
            <a:off x="5240000" y="3175100"/>
            <a:ext cx="220000" cy="220000"/>
          </a:xfrm>
          <a:prstGeom prst="ellipse">
            <a:avLst/>
          </a:prstGeom>
          <a:solidFill>
            <a:srgbClr val="0EA5E9"/>
          </a:solidFill>
          <a:ln w="12700">
            <a:solidFill>
              <a:srgbClr val="FFFFFF"/>
            </a:solidFill>
          </a:ln>
        </p:spPr>
        <p:txBody>
          <a:bodyPr/>
          <a:lstStyle/>
          <a:p>
            <a:endParaRPr lang="en-US"/>
          </a:p>
        </p:txBody>
      </p:sp>
      <p:sp>
        <p:nvSpPr>
          <p:cNvPr id="1016" name="AutoText"/>
          <p:cNvSpPr/>
          <p:nvPr/>
        </p:nvSpPr>
        <p:spPr>
          <a:xfrm>
            <a:off x="5000000" y="2825100"/>
            <a:ext cx="700000" cy="300000"/>
          </a:xfrm>
          <a:prstGeom prst="rect">
            <a:avLst/>
          </a:prstGeom>
          <a:noFill/>
          <a:ln/>
        </p:spPr>
        <p:txBody>
          <a:bodyPr wrap="square" lIns="0" tIns="0" rIns="0" bIns="0" rtlCol="0" anchor="ctr"/>
          <a:lstStyle/>
          <a:p>
            <a:pPr marL="0" indent="0" algn="ctr">
              <a:buNone/>
            </a:pPr>
            <a:r>
              <a:rPr lang="en-US" sz="1400" b="1" dirty="0">
                <a:solidFill>
                  <a:srgbClr val="0369A1"/>
                </a:solidFill>
                <a:latin typeface="Calibri" pitchFamily="34" charset="0"/>
              </a:rPr>
              <a:t>40%</a:t>
            </a:r>
            <a:endParaRPr lang="en-US" sz="1400" dirty="0"/>
          </a:p>
        </p:txBody>
      </p:sp>
      <p:sp>
        <p:nvSpPr>
          <p:cNvPr id="1017" name="AutoText"/>
          <p:cNvSpPr/>
          <p:nvPr/>
        </p:nvSpPr>
        <p:spPr>
          <a:xfrm>
            <a:off x="5000000" y="4360000"/>
            <a:ext cx="700000" cy="240000"/>
          </a:xfrm>
          <a:prstGeom prst="rect">
            <a:avLst/>
          </a:prstGeom>
          <a:noFill/>
          <a:ln/>
        </p:spPr>
        <p:txBody>
          <a:bodyPr wrap="square" lIns="0" tIns="0" rIns="0" bIns="0" rtlCol="0" anchor="ctr"/>
          <a:lstStyle/>
          <a:p>
            <a:pPr marL="0" indent="0" algn="ctr">
              <a:buNone/>
            </a:pPr>
            <a:r>
              <a:rPr lang="en-US" sz="900" dirty="0">
                <a:solidFill>
                  <a:srgbClr val="64748B"/>
                </a:solidFill>
                <a:latin typeface="Calibri" pitchFamily="34" charset="0"/>
              </a:rPr>
              <a:t>1-3</a:t>
            </a:r>
            <a:endParaRPr lang="en-US" sz="900" dirty="0"/>
          </a:p>
        </p:txBody>
      </p:sp>
      <p:sp>
        <p:nvSpPr>
          <p:cNvPr id="1018" name="Dot"/>
          <p:cNvSpPr/>
          <p:nvPr/>
        </p:nvSpPr>
        <p:spPr>
          <a:xfrm>
            <a:off x="6140000" y="3034850"/>
            <a:ext cx="220000" cy="220000"/>
          </a:xfrm>
          <a:prstGeom prst="ellipse">
            <a:avLst/>
          </a:prstGeom>
          <a:solidFill>
            <a:srgbClr val="0EA5E9"/>
          </a:solidFill>
          <a:ln w="12700">
            <a:solidFill>
              <a:srgbClr val="FFFFFF"/>
            </a:solidFill>
          </a:ln>
        </p:spPr>
        <p:txBody>
          <a:bodyPr/>
          <a:lstStyle/>
          <a:p>
            <a:endParaRPr lang="en-US"/>
          </a:p>
        </p:txBody>
      </p:sp>
      <p:sp>
        <p:nvSpPr>
          <p:cNvPr id="1019" name="AutoText"/>
          <p:cNvSpPr/>
          <p:nvPr/>
        </p:nvSpPr>
        <p:spPr>
          <a:xfrm>
            <a:off x="5900000" y="2684850"/>
            <a:ext cx="700000" cy="300000"/>
          </a:xfrm>
          <a:prstGeom prst="rect">
            <a:avLst/>
          </a:prstGeom>
          <a:noFill/>
          <a:ln/>
        </p:spPr>
        <p:txBody>
          <a:bodyPr wrap="square" lIns="0" tIns="0" rIns="0" bIns="0" rtlCol="0" anchor="ctr"/>
          <a:lstStyle/>
          <a:p>
            <a:pPr marL="0" indent="0" algn="ctr">
              <a:buNone/>
            </a:pPr>
            <a:r>
              <a:rPr lang="en-US" sz="1400" b="1" dirty="0">
                <a:solidFill>
                  <a:srgbClr val="0369A1"/>
                </a:solidFill>
                <a:latin typeface="Calibri" pitchFamily="34" charset="0"/>
              </a:rPr>
              <a:t>45%</a:t>
            </a:r>
            <a:endParaRPr lang="en-US" sz="1400" dirty="0"/>
          </a:p>
        </p:txBody>
      </p:sp>
      <p:sp>
        <p:nvSpPr>
          <p:cNvPr id="1020" name="AutoText"/>
          <p:cNvSpPr/>
          <p:nvPr/>
        </p:nvSpPr>
        <p:spPr>
          <a:xfrm>
            <a:off x="5900000" y="4360000"/>
            <a:ext cx="700000" cy="240000"/>
          </a:xfrm>
          <a:prstGeom prst="rect">
            <a:avLst/>
          </a:prstGeom>
          <a:noFill/>
          <a:ln/>
        </p:spPr>
        <p:txBody>
          <a:bodyPr wrap="square" lIns="0" tIns="0" rIns="0" bIns="0" rtlCol="0" anchor="ctr"/>
          <a:lstStyle/>
          <a:p>
            <a:pPr marL="0" indent="0" algn="ctr">
              <a:buNone/>
            </a:pPr>
            <a:r>
              <a:rPr lang="en-US" sz="900" dirty="0">
                <a:solidFill>
                  <a:srgbClr val="64748B"/>
                </a:solidFill>
                <a:latin typeface="Calibri" pitchFamily="34" charset="0"/>
              </a:rPr>
              <a:t>4-8</a:t>
            </a:r>
            <a:endParaRPr lang="en-US" sz="900" dirty="0"/>
          </a:p>
        </p:txBody>
      </p:sp>
      <p:sp>
        <p:nvSpPr>
          <p:cNvPr id="1021" name="Dot"/>
          <p:cNvSpPr/>
          <p:nvPr/>
        </p:nvSpPr>
        <p:spPr>
          <a:xfrm>
            <a:off x="7040000" y="2866550"/>
            <a:ext cx="220000" cy="220000"/>
          </a:xfrm>
          <a:prstGeom prst="ellipse">
            <a:avLst/>
          </a:prstGeom>
          <a:solidFill>
            <a:srgbClr val="0EA5E9"/>
          </a:solidFill>
          <a:ln w="12700">
            <a:solidFill>
              <a:srgbClr val="FFFFFF"/>
            </a:solidFill>
          </a:ln>
        </p:spPr>
        <p:txBody>
          <a:bodyPr/>
          <a:lstStyle/>
          <a:p>
            <a:endParaRPr lang="en-US"/>
          </a:p>
        </p:txBody>
      </p:sp>
      <p:sp>
        <p:nvSpPr>
          <p:cNvPr id="1022" name="AutoText"/>
          <p:cNvSpPr/>
          <p:nvPr/>
        </p:nvSpPr>
        <p:spPr>
          <a:xfrm>
            <a:off x="6800000" y="2516550"/>
            <a:ext cx="700000" cy="300000"/>
          </a:xfrm>
          <a:prstGeom prst="rect">
            <a:avLst/>
          </a:prstGeom>
          <a:noFill/>
          <a:ln/>
        </p:spPr>
        <p:txBody>
          <a:bodyPr wrap="square" lIns="0" tIns="0" rIns="0" bIns="0" rtlCol="0" anchor="ctr"/>
          <a:lstStyle/>
          <a:p>
            <a:pPr marL="0" indent="0" algn="ctr">
              <a:buNone/>
            </a:pPr>
            <a:r>
              <a:rPr lang="en-US" sz="1400" b="1" dirty="0">
                <a:solidFill>
                  <a:srgbClr val="0369A1"/>
                </a:solidFill>
                <a:latin typeface="Calibri" pitchFamily="34" charset="0"/>
              </a:rPr>
              <a:t>52%</a:t>
            </a:r>
            <a:endParaRPr lang="en-US" sz="1400" dirty="0"/>
          </a:p>
        </p:txBody>
      </p:sp>
      <p:sp>
        <p:nvSpPr>
          <p:cNvPr id="1023" name="AutoText"/>
          <p:cNvSpPr/>
          <p:nvPr/>
        </p:nvSpPr>
        <p:spPr>
          <a:xfrm>
            <a:off x="6800000" y="4360000"/>
            <a:ext cx="700000" cy="240000"/>
          </a:xfrm>
          <a:prstGeom prst="rect">
            <a:avLst/>
          </a:prstGeom>
          <a:noFill/>
          <a:ln/>
        </p:spPr>
        <p:txBody>
          <a:bodyPr wrap="square" lIns="0" tIns="0" rIns="0" bIns="0" rtlCol="0" anchor="ctr"/>
          <a:lstStyle/>
          <a:p>
            <a:pPr marL="0" indent="0" algn="ctr">
              <a:buNone/>
            </a:pPr>
            <a:r>
              <a:rPr lang="en-US" sz="900" dirty="0">
                <a:solidFill>
                  <a:srgbClr val="64748B"/>
                </a:solidFill>
                <a:latin typeface="Calibri" pitchFamily="34" charset="0"/>
              </a:rPr>
              <a:t>9-15</a:t>
            </a:r>
            <a:endParaRPr lang="en-US" sz="900" dirty="0"/>
          </a:p>
        </p:txBody>
      </p:sp>
      <p:sp>
        <p:nvSpPr>
          <p:cNvPr id="1024" name="Dot"/>
          <p:cNvSpPr/>
          <p:nvPr/>
        </p:nvSpPr>
        <p:spPr>
          <a:xfrm>
            <a:off x="7940000" y="2450900"/>
            <a:ext cx="220000" cy="220000"/>
          </a:xfrm>
          <a:prstGeom prst="ellipse">
            <a:avLst/>
          </a:prstGeom>
          <a:solidFill>
            <a:srgbClr val="0EA5E9"/>
          </a:solidFill>
          <a:ln w="12700">
            <a:solidFill>
              <a:srgbClr val="FFFFFF"/>
            </a:solidFill>
          </a:ln>
        </p:spPr>
        <p:txBody>
          <a:bodyPr/>
          <a:lstStyle/>
          <a:p>
            <a:endParaRPr lang="en-US"/>
          </a:p>
        </p:txBody>
      </p:sp>
      <p:sp>
        <p:nvSpPr>
          <p:cNvPr id="1025" name="AutoText"/>
          <p:cNvSpPr/>
          <p:nvPr/>
        </p:nvSpPr>
        <p:spPr>
          <a:xfrm>
            <a:off x="7700000" y="2100900"/>
            <a:ext cx="700000" cy="300000"/>
          </a:xfrm>
          <a:prstGeom prst="rect">
            <a:avLst/>
          </a:prstGeom>
          <a:noFill/>
          <a:ln/>
        </p:spPr>
        <p:txBody>
          <a:bodyPr wrap="square" lIns="0" tIns="0" rIns="0" bIns="0" rtlCol="0" anchor="ctr"/>
          <a:lstStyle/>
          <a:p>
            <a:pPr marL="0" indent="0" algn="ctr">
              <a:buNone/>
            </a:pPr>
            <a:r>
              <a:rPr lang="en-US" sz="1400" b="1" dirty="0">
                <a:solidFill>
                  <a:srgbClr val="0369A1"/>
                </a:solidFill>
                <a:latin typeface="Calibri" pitchFamily="34" charset="0"/>
              </a:rPr>
              <a:t>68%</a:t>
            </a:r>
            <a:endParaRPr lang="en-US" sz="1400" dirty="0"/>
          </a:p>
        </p:txBody>
      </p:sp>
      <p:sp>
        <p:nvSpPr>
          <p:cNvPr id="1026" name="AutoText"/>
          <p:cNvSpPr/>
          <p:nvPr/>
        </p:nvSpPr>
        <p:spPr>
          <a:xfrm>
            <a:off x="7700000" y="4360000"/>
            <a:ext cx="700000" cy="240000"/>
          </a:xfrm>
          <a:prstGeom prst="rect">
            <a:avLst/>
          </a:prstGeom>
          <a:noFill/>
          <a:ln/>
        </p:spPr>
        <p:txBody>
          <a:bodyPr wrap="square" lIns="0" tIns="0" rIns="0" bIns="0" rtlCol="0" anchor="ctr"/>
          <a:lstStyle/>
          <a:p>
            <a:pPr marL="0" indent="0" algn="ctr">
              <a:buNone/>
            </a:pPr>
            <a:r>
              <a:rPr lang="en-US" sz="900" dirty="0">
                <a:solidFill>
                  <a:srgbClr val="64748B"/>
                </a:solidFill>
                <a:latin typeface="Calibri" pitchFamily="34" charset="0"/>
              </a:rPr>
              <a:t>16+</a:t>
            </a:r>
            <a:endParaRPr lang="en-US" sz="900" dirty="0"/>
          </a:p>
        </p:txBody>
      </p:sp>
      <p:sp>
        <p:nvSpPr>
          <p:cNvPr id="1027" name="AutoText"/>
          <p:cNvSpPr/>
          <p:nvPr/>
        </p:nvSpPr>
        <p:spPr>
          <a:xfrm>
            <a:off x="4900000" y="1490000"/>
            <a:ext cx="3600000" cy="220000"/>
          </a:xfrm>
          <a:prstGeom prst="rect">
            <a:avLst/>
          </a:prstGeom>
          <a:noFill/>
          <a:ln/>
        </p:spPr>
        <p:txBody>
          <a:bodyPr wrap="square" lIns="0" tIns="0" rIns="0" bIns="0" rtlCol="0" anchor="ctr"/>
          <a:lstStyle/>
          <a:p>
            <a:pPr marL="0" indent="0">
              <a:buNone/>
            </a:pPr>
            <a:r>
              <a:rPr lang="en-US" sz="850" i="1" dirty="0">
                <a:solidFill>
                  <a:srgbClr val="94A3B8"/>
                </a:solidFill>
                <a:latin typeface="Calibri" pitchFamily="34" charset="0"/>
              </a:rPr>
              <a:t>Matches together, ordered left to right</a:t>
            </a:r>
            <a:endParaRPr lang="en-US" sz="850" dirty="0"/>
          </a:p>
        </p:txBody>
      </p:sp>
      <p:sp>
        <p:nvSpPr>
          <p:cNvPr id="1028" name="AutoText"/>
          <p:cNvSpPr/>
          <p:nvPr/>
        </p:nvSpPr>
        <p:spPr>
          <a:xfrm>
            <a:off x="4800600" y="4320540"/>
            <a:ext cx="4307306" cy="274320"/>
          </a:xfrm>
          <a:prstGeom prst="rect">
            <a:avLst/>
          </a:prstGeom>
          <a:noFill/>
          <a:ln/>
        </p:spPr>
        <p:txBody>
          <a:bodyPr wrap="square" lIns="0" tIns="0" rIns="0" bIns="0" rtlCol="0" anchor="ctr"/>
          <a:lstStyle/>
          <a:p>
            <a:pPr marL="0" indent="0">
              <a:buNone/>
            </a:pPr>
            <a:r>
              <a:rPr lang="en-US" sz="900" i="1" dirty="0">
                <a:solidFill>
                  <a:srgbClr val="0369A1"/>
                </a:solidFill>
                <a:latin typeface="Calibri" pitchFamily="34" charset="0"/>
              </a:rPr>
              <a:t>Only 39% of pairs (89 of 230) ever reach 5+ matches together — the rise partly reflects who stays paired.</a:t>
            </a:r>
            <a:endParaRPr lang="en-US" sz="900" dirty="0"/>
          </a:p>
        </p:txBody>
      </p:sp>
      <p:sp>
        <p:nvSpPr>
          <p:cNvPr id="31" name="Text 29"/>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2" name="Text 30"/>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4.5 CASE STUDY</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Do rankings predict — or decide?</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657600" cy="274320"/>
          </a:xfrm>
          <a:prstGeom prst="rect">
            <a:avLst/>
          </a:prstGeom>
          <a:noFill/>
          <a:ln/>
        </p:spPr>
        <p:txBody>
          <a:bodyPr wrap="square" lIns="0" tIns="0" rIns="0" bIns="0" rtlCol="0" anchor="ctr"/>
          <a:lstStyle/>
          <a:p>
            <a:pPr marL="0" indent="0">
              <a:buNone/>
            </a:pPr>
            <a:r>
              <a:rPr lang="en-US" sz="900" b="1" kern="0" spc="300" dirty="0">
                <a:solidFill>
                  <a:srgbClr val="0EA5E9"/>
                </a:solidFill>
              </a:rPr>
              <a:t>THE QUESTION</a:t>
            </a:r>
            <a:endParaRPr lang="en-US" sz="900" dirty="0"/>
          </a:p>
        </p:txBody>
      </p:sp>
      <p:sp>
        <p:nvSpPr>
          <p:cNvPr id="7" name="Text 5"/>
          <p:cNvSpPr/>
          <p:nvPr/>
        </p:nvSpPr>
        <p:spPr>
          <a:xfrm>
            <a:off x="640080" y="1783080"/>
            <a:ext cx="3657600" cy="640080"/>
          </a:xfrm>
          <a:prstGeom prst="rect">
            <a:avLst/>
          </a:prstGeom>
          <a:noFill/>
          <a:ln/>
        </p:spPr>
        <p:txBody>
          <a:bodyPr wrap="square" lIns="0" tIns="0" rIns="0" bIns="0" rtlCol="0" anchor="ctr"/>
          <a:lstStyle/>
          <a:p>
            <a:pPr marL="0" indent="0">
              <a:buNone/>
            </a:pPr>
            <a:r>
              <a:rPr lang="en-US" sz="1500" b="1" dirty="0">
                <a:solidFill>
                  <a:srgbClr val="1F2937"/>
                </a:solidFill>
              </a:rPr>
              <a:t>How much should a ranking gap change my expectations, and does trust scale with gap size?</a:t>
            </a:r>
            <a:endParaRPr lang="en-US" sz="1500" dirty="0"/>
          </a:p>
        </p:txBody>
      </p:sp>
      <p:sp>
        <p:nvSpPr>
          <p:cNvPr id="8" name="Text 6"/>
          <p:cNvSpPr/>
          <p:nvPr/>
        </p:nvSpPr>
        <p:spPr>
          <a:xfrm>
            <a:off x="640080" y="2468880"/>
            <a:ext cx="3657600" cy="548640"/>
          </a:xfrm>
          <a:prstGeom prst="rect">
            <a:avLst/>
          </a:prstGeom>
          <a:noFill/>
          <a:ln/>
        </p:spPr>
        <p:txBody>
          <a:bodyPr wrap="square" lIns="0" tIns="0" rIns="0" bIns="0" rtlCol="0" anchor="ctr"/>
          <a:lstStyle/>
          <a:p>
            <a:pPr marL="0" indent="0">
              <a:buNone/>
            </a:pPr>
            <a:r>
              <a:rPr lang="en-US" sz="1100" i="1" dirty="0">
                <a:solidFill>
                  <a:srgbClr val="64748B"/>
                </a:solidFill>
              </a:rPr>
              <a:t>The audience (Marco, Luca) never asked whether the model is honest — they asked whether the gap matters.</a:t>
            </a:r>
            <a:endParaRPr lang="en-US" sz="1100" dirty="0"/>
          </a:p>
        </p:txBody>
      </p:sp>
      <p:sp>
        <p:nvSpPr>
          <p:cNvPr id="9" name="Text 7"/>
          <p:cNvSpPr/>
          <p:nvPr/>
        </p:nvSpPr>
        <p:spPr>
          <a:xfrm>
            <a:off x="640080" y="3063240"/>
            <a:ext cx="3657600" cy="228600"/>
          </a:xfrm>
          <a:prstGeom prst="rect">
            <a:avLst/>
          </a:prstGeom>
          <a:noFill/>
          <a:ln/>
        </p:spPr>
        <p:txBody>
          <a:bodyPr wrap="square" lIns="0" tIns="0" rIns="0" bIns="0" rtlCol="0" anchor="ctr"/>
          <a:lstStyle/>
          <a:p>
            <a:pPr marL="0" indent="0">
              <a:buNone/>
            </a:pPr>
            <a:r>
              <a:rPr lang="en-US" sz="900" b="1" kern="0" spc="300" dirty="0">
                <a:solidFill>
                  <a:srgbClr val="64748B"/>
                </a:solidFill>
              </a:rPr>
              <a:t>CONSIDERED:</a:t>
            </a:r>
            <a:endParaRPr lang="en-US" sz="900" dirty="0"/>
          </a:p>
        </p:txBody>
      </p:sp>
      <p:sp>
        <p:nvSpPr>
          <p:cNvPr id="10" name="Text 8"/>
          <p:cNvSpPr/>
          <p:nvPr/>
        </p:nvSpPr>
        <p:spPr>
          <a:xfrm>
            <a:off x="640080" y="3291840"/>
            <a:ext cx="3657600" cy="1188720"/>
          </a:xfrm>
          <a:prstGeom prst="rect">
            <a:avLst/>
          </a:prstGeom>
          <a:noFill/>
          <a:ln/>
        </p:spPr>
        <p:txBody>
          <a:bodyPr wrap="square" lIns="0" tIns="0" rIns="0" bIns="0" rtlCol="0" anchor="ctr"/>
          <a:lstStyle/>
          <a:p>
            <a:pPr marL="0" indent="0">
              <a:spcAft>
                <a:spcPts val="300"/>
              </a:spcAft>
              <a:buNone/>
            </a:pPr>
            <a:r>
              <a:rPr lang="en-US" sz="1150" dirty="0">
                <a:solidFill>
                  <a:srgbClr val="EF4444"/>
                </a:solidFill>
              </a:rPr>
              <a:t>ROC curve - answers 'is the model good', not 'does the gap matter'.</a:t>
            </a:r>
            <a:endParaRPr lang="en-US" sz="1150" dirty="0"/>
          </a:p>
          <a:p>
            <a:pPr marL="0" indent="0">
              <a:spcAft>
                <a:spcPts val="300"/>
              </a:spcAft>
              <a:buNone/>
            </a:pPr>
            <a:r>
              <a:rPr lang="en-US" sz="1150" dirty="0">
                <a:solidFill>
                  <a:srgbClr val="EF4444"/>
                </a:solidFill>
              </a:rPr>
              <a:t>Calibration-vs-diagonal plot - presupposes the reader accepts a model's output.</a:t>
            </a:r>
            <a:endParaRPr lang="en-US" sz="1150" dirty="0"/>
          </a:p>
          <a:p>
            <a:pPr marL="0" indent="0">
              <a:spcAft>
                <a:spcPts val="300"/>
              </a:spcAft>
              <a:buNone/>
            </a:pPr>
            <a:r>
              <a:rPr lang="en-US" sz="1150" dirty="0">
                <a:solidFill>
                  <a:srgbClr val="EF4444"/>
                </a:solidFill>
              </a:rPr>
              <a:t>Simple KPI (78.5%) - hides that the average masks a 58.8-96.7% range.</a:t>
            </a:r>
            <a:endParaRPr lang="en-US" sz="1150" dirty="0"/>
          </a:p>
          <a:p>
            <a:pPr marL="0" indent="0">
              <a:spcAft>
                <a:spcPts val="300"/>
              </a:spcAft>
              <a:buNone/>
            </a:pPr>
            <a:r>
              <a:rPr lang="en-US" sz="1150" b="1" dirty="0">
                <a:solidFill>
                  <a:srgbClr val="10B981"/>
                </a:solidFill>
              </a:rPr>
              <a:t>Lollipop by ranking-gap size - chosen.</a:t>
            </a:r>
            <a:endParaRPr lang="en-US" sz="1150" dirty="0"/>
          </a:p>
        </p:txBody>
      </p:sp>
      <p:sp>
        <p:nvSpPr>
          <p:cNvPr id="1001" name="Shape RightCard"/>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1002" name="AutoText"/>
          <p:cNvSpPr/>
          <p:nvPr/>
        </p:nvSpPr>
        <p:spPr>
          <a:xfrm>
            <a:off x="4846320" y="1508760"/>
            <a:ext cx="3657600" cy="274320"/>
          </a:xfrm>
          <a:prstGeom prst="rect">
            <a:avLst/>
          </a:prstGeom>
          <a:noFill/>
          <a:ln/>
        </p:spPr>
        <p:txBody>
          <a:bodyPr wrap="square" lIns="0" tIns="0" rIns="0" bIns="0" rtlCol="0" anchor="ctr"/>
          <a:lstStyle/>
          <a:p>
            <a:pPr marL="0" indent="0">
              <a:buNone/>
            </a:pPr>
            <a:r>
              <a:rPr lang="en-US" sz="900" b="1" dirty="0">
                <a:solidFill>
                  <a:srgbClr val="64748B"/>
                </a:solidFill>
                <a:latin typeface="Calibri" pitchFamily="34" charset="0"/>
              </a:rPr>
              <a:t>WIN RATE ABOVE A COIN FLIP, BY RANKING GAP</a:t>
            </a:r>
            <a:endParaRPr lang="en-US" sz="900" dirty="0"/>
          </a:p>
        </p:txBody>
      </p:sp>
      <p:sp>
        <p:nvSpPr>
          <p:cNvPr id="1003" name="Line"/>
          <p:cNvSpPr/>
          <p:nvPr/>
        </p:nvSpPr>
        <p:spPr>
          <a:xfrm>
            <a:off x="5300000" y="1900000"/>
            <a:ext cx="0" cy="2250000"/>
          </a:xfrm>
          <a:prstGeom prst="line">
            <a:avLst/>
          </a:prstGeom>
          <a:noFill/>
          <a:ln w="12700">
            <a:solidFill>
              <a:srgbClr val="94A3B8"/>
            </a:solidFill>
            <a:prstDash val="dash"/>
          </a:ln>
        </p:spPr>
        <p:txBody>
          <a:bodyPr/>
          <a:lstStyle/>
          <a:p>
            <a:endParaRPr lang="en-US"/>
          </a:p>
        </p:txBody>
      </p:sp>
      <p:sp>
        <p:nvSpPr>
          <p:cNvPr id="1004" name="AutoText"/>
          <p:cNvSpPr/>
          <p:nvPr/>
        </p:nvSpPr>
        <p:spPr>
          <a:xfrm>
            <a:off x="4840000" y="4190000"/>
            <a:ext cx="900000" cy="220000"/>
          </a:xfrm>
          <a:prstGeom prst="rect">
            <a:avLst/>
          </a:prstGeom>
          <a:noFill/>
          <a:ln/>
        </p:spPr>
        <p:txBody>
          <a:bodyPr wrap="square" lIns="0" tIns="0" rIns="0" bIns="0" rtlCol="0" anchor="ctr"/>
          <a:lstStyle/>
          <a:p>
            <a:pPr marL="0" indent="0" algn="ctr">
              <a:buNone/>
            </a:pPr>
            <a:r>
              <a:rPr lang="en-US" sz="800" i="1" dirty="0">
                <a:solidFill>
                  <a:srgbClr val="94A3B8"/>
                </a:solidFill>
                <a:latin typeface="Calibri" pitchFamily="34" charset="0"/>
              </a:rPr>
              <a:t>coin flip (50%)</a:t>
            </a:r>
            <a:endParaRPr lang="en-US" sz="800" dirty="0"/>
          </a:p>
        </p:txBody>
      </p:sp>
      <p:sp>
        <p:nvSpPr>
          <p:cNvPr id="1005" name="Line"/>
          <p:cNvSpPr/>
          <p:nvPr/>
        </p:nvSpPr>
        <p:spPr>
          <a:xfrm>
            <a:off x="7124000" y="1900000"/>
            <a:ext cx="0" cy="2250000"/>
          </a:xfrm>
          <a:prstGeom prst="line">
            <a:avLst/>
          </a:prstGeom>
          <a:noFill/>
          <a:ln w="9525">
            <a:solidFill>
              <a:srgbClr val="CBD5E1"/>
            </a:solidFill>
            <a:prstDash val="dash"/>
          </a:ln>
        </p:spPr>
        <p:txBody>
          <a:bodyPr/>
          <a:lstStyle/>
          <a:p>
            <a:endParaRPr lang="en-US"/>
          </a:p>
        </p:txBody>
      </p:sp>
      <p:sp>
        <p:nvSpPr>
          <p:cNvPr id="1006" name="AutoText"/>
          <p:cNvSpPr/>
          <p:nvPr/>
        </p:nvSpPr>
        <p:spPr>
          <a:xfrm>
            <a:off x="6474000" y="1640000"/>
            <a:ext cx="1300000" cy="220000"/>
          </a:xfrm>
          <a:prstGeom prst="rect">
            <a:avLst/>
          </a:prstGeom>
          <a:noFill/>
          <a:ln/>
        </p:spPr>
        <p:txBody>
          <a:bodyPr wrap="square" lIns="0" tIns="0" rIns="0" bIns="0" rtlCol="0" anchor="ctr"/>
          <a:lstStyle/>
          <a:p>
            <a:pPr marL="0" indent="0" algn="ctr">
              <a:buNone/>
            </a:pPr>
            <a:r>
              <a:rPr lang="en-US" sz="800" i="1" dirty="0">
                <a:solidFill>
                  <a:srgbClr val="94A3B8"/>
                </a:solidFill>
                <a:latin typeface="Calibri" pitchFamily="34" charset="0"/>
              </a:rPr>
              <a:t>season average (78.5%)</a:t>
            </a:r>
            <a:endParaRPr lang="en-US" sz="800" dirty="0"/>
          </a:p>
        </p:txBody>
      </p:sp>
      <p:sp>
        <p:nvSpPr>
          <p:cNvPr id="1007" name="AutoText"/>
          <p:cNvSpPr/>
          <p:nvPr/>
        </p:nvSpPr>
        <p:spPr>
          <a:xfrm>
            <a:off x="2600000" y="2120000"/>
            <a:ext cx="1300000" cy="260000"/>
          </a:xfrm>
          <a:prstGeom prst="rect">
            <a:avLst/>
          </a:prstGeom>
          <a:noFill/>
          <a:ln/>
        </p:spPr>
        <p:txBody>
          <a:bodyPr wrap="square" lIns="0" tIns="0" rIns="0" bIns="0" rtlCol="0" anchor="ctr"/>
          <a:lstStyle/>
          <a:p>
            <a:pPr marL="0" indent="0" algn="r">
              <a:buNone/>
            </a:pPr>
            <a:r>
              <a:rPr lang="en-US" sz="1000" b="1" dirty="0">
                <a:solidFill>
                  <a:srgbClr val="1F2937"/>
                </a:solidFill>
                <a:latin typeface="Calibri" pitchFamily="34" charset="0"/>
              </a:rPr>
              <a:t>Closest gap</a:t>
            </a:r>
            <a:endParaRPr lang="en-US" sz="1000" dirty="0"/>
          </a:p>
        </p:txBody>
      </p:sp>
      <p:sp>
        <p:nvSpPr>
          <p:cNvPr id="1008" name="Line"/>
          <p:cNvSpPr/>
          <p:nvPr/>
        </p:nvSpPr>
        <p:spPr>
          <a:xfrm>
            <a:off x="5300000" y="2250000"/>
            <a:ext cx="563200" cy="0"/>
          </a:xfrm>
          <a:prstGeom prst="line">
            <a:avLst/>
          </a:prstGeom>
          <a:noFill/>
          <a:ln w="25400">
            <a:solidFill>
              <a:srgbClr val="0EA5E9"/>
            </a:solidFill>
            <a:prstDash val="solid"/>
          </a:ln>
        </p:spPr>
        <p:txBody>
          <a:bodyPr/>
          <a:lstStyle/>
          <a:p>
            <a:endParaRPr lang="en-US"/>
          </a:p>
        </p:txBody>
      </p:sp>
      <p:sp>
        <p:nvSpPr>
          <p:cNvPr id="1009" name="Dot"/>
          <p:cNvSpPr/>
          <p:nvPr/>
        </p:nvSpPr>
        <p:spPr>
          <a:xfrm>
            <a:off x="5763200" y="2150000"/>
            <a:ext cx="200000" cy="200000"/>
          </a:xfrm>
          <a:prstGeom prst="ellipse">
            <a:avLst/>
          </a:prstGeom>
          <a:solidFill>
            <a:srgbClr val="0EA5E9"/>
          </a:solidFill>
          <a:ln w="12700">
            <a:solidFill>
              <a:srgbClr val="FFFFFF"/>
            </a:solidFill>
          </a:ln>
        </p:spPr>
        <p:txBody>
          <a:bodyPr/>
          <a:lstStyle/>
          <a:p>
            <a:endParaRPr lang="en-US"/>
          </a:p>
        </p:txBody>
      </p:sp>
      <p:sp>
        <p:nvSpPr>
          <p:cNvPr id="1010" name="AutoText"/>
          <p:cNvSpPr/>
          <p:nvPr/>
        </p:nvSpPr>
        <p:spPr>
          <a:xfrm>
            <a:off x="6013200" y="2110000"/>
            <a:ext cx="700000" cy="280000"/>
          </a:xfrm>
          <a:prstGeom prst="rect">
            <a:avLst/>
          </a:prstGeom>
          <a:noFill/>
          <a:ln/>
        </p:spPr>
        <p:txBody>
          <a:bodyPr wrap="square" lIns="0" tIns="0" rIns="0" bIns="0" rtlCol="0" anchor="ctr"/>
          <a:lstStyle/>
          <a:p>
            <a:pPr marL="0" indent="0">
              <a:buNone/>
            </a:pPr>
            <a:r>
              <a:rPr lang="en-US" sz="1200" b="1" dirty="0">
                <a:solidFill>
                  <a:srgbClr val="0369A1"/>
                </a:solidFill>
                <a:latin typeface="Calibri" pitchFamily="34" charset="0"/>
              </a:rPr>
              <a:t>58.8%</a:t>
            </a:r>
            <a:endParaRPr lang="en-US" sz="1200" dirty="0"/>
          </a:p>
        </p:txBody>
      </p:sp>
      <p:sp>
        <p:nvSpPr>
          <p:cNvPr id="1011" name="AutoText"/>
          <p:cNvSpPr/>
          <p:nvPr/>
        </p:nvSpPr>
        <p:spPr>
          <a:xfrm>
            <a:off x="2600000" y="2895000"/>
            <a:ext cx="1300000" cy="260000"/>
          </a:xfrm>
          <a:prstGeom prst="rect">
            <a:avLst/>
          </a:prstGeom>
          <a:noFill/>
          <a:ln/>
        </p:spPr>
        <p:txBody>
          <a:bodyPr wrap="square" lIns="0" tIns="0" rIns="0" bIns="0" rtlCol="0" anchor="ctr"/>
          <a:lstStyle/>
          <a:p>
            <a:pPr marL="0" indent="0" algn="r">
              <a:buNone/>
            </a:pPr>
            <a:r>
              <a:rPr lang="en-US" sz="1000" b="1" dirty="0">
                <a:solidFill>
                  <a:srgbClr val="1F2937"/>
                </a:solidFill>
                <a:latin typeface="Calibri" pitchFamily="34" charset="0"/>
              </a:rPr>
              <a:t>Season average</a:t>
            </a:r>
            <a:endParaRPr lang="en-US" sz="1000" dirty="0"/>
          </a:p>
        </p:txBody>
      </p:sp>
      <p:sp>
        <p:nvSpPr>
          <p:cNvPr id="1012" name="Line"/>
          <p:cNvSpPr/>
          <p:nvPr/>
        </p:nvSpPr>
        <p:spPr>
          <a:xfrm>
            <a:off x="5300000" y="3025000"/>
            <a:ext cx="1824000" cy="0"/>
          </a:xfrm>
          <a:prstGeom prst="line">
            <a:avLst/>
          </a:prstGeom>
          <a:noFill/>
          <a:ln w="25400">
            <a:solidFill>
              <a:srgbClr val="0EA5E9"/>
            </a:solidFill>
            <a:prstDash val="solid"/>
          </a:ln>
        </p:spPr>
        <p:txBody>
          <a:bodyPr/>
          <a:lstStyle/>
          <a:p>
            <a:endParaRPr lang="en-US"/>
          </a:p>
        </p:txBody>
      </p:sp>
      <p:sp>
        <p:nvSpPr>
          <p:cNvPr id="1013" name="Dot"/>
          <p:cNvSpPr/>
          <p:nvPr/>
        </p:nvSpPr>
        <p:spPr>
          <a:xfrm>
            <a:off x="7024000" y="2925000"/>
            <a:ext cx="200000" cy="200000"/>
          </a:xfrm>
          <a:prstGeom prst="ellipse">
            <a:avLst/>
          </a:prstGeom>
          <a:solidFill>
            <a:srgbClr val="0EA5E9"/>
          </a:solidFill>
          <a:ln w="12700">
            <a:solidFill>
              <a:srgbClr val="FFFFFF"/>
            </a:solidFill>
          </a:ln>
        </p:spPr>
        <p:txBody>
          <a:bodyPr/>
          <a:lstStyle/>
          <a:p>
            <a:endParaRPr lang="en-US"/>
          </a:p>
        </p:txBody>
      </p:sp>
      <p:sp>
        <p:nvSpPr>
          <p:cNvPr id="1014" name="AutoText"/>
          <p:cNvSpPr/>
          <p:nvPr/>
        </p:nvSpPr>
        <p:spPr>
          <a:xfrm>
            <a:off x="7274000" y="2885000"/>
            <a:ext cx="700000" cy="280000"/>
          </a:xfrm>
          <a:prstGeom prst="rect">
            <a:avLst/>
          </a:prstGeom>
          <a:noFill/>
          <a:ln/>
        </p:spPr>
        <p:txBody>
          <a:bodyPr wrap="square" lIns="0" tIns="0" rIns="0" bIns="0" rtlCol="0" anchor="ctr"/>
          <a:lstStyle/>
          <a:p>
            <a:pPr marL="0" indent="0">
              <a:buNone/>
            </a:pPr>
            <a:r>
              <a:rPr lang="en-US" sz="1200" b="1" dirty="0">
                <a:solidFill>
                  <a:srgbClr val="0369A1"/>
                </a:solidFill>
                <a:latin typeface="Calibri" pitchFamily="34" charset="0"/>
              </a:rPr>
              <a:t>78.5%</a:t>
            </a:r>
            <a:endParaRPr lang="en-US" sz="1200" dirty="0"/>
          </a:p>
        </p:txBody>
      </p:sp>
      <p:sp>
        <p:nvSpPr>
          <p:cNvPr id="1015" name="AutoText"/>
          <p:cNvSpPr/>
          <p:nvPr/>
        </p:nvSpPr>
        <p:spPr>
          <a:xfrm>
            <a:off x="2600000" y="3670000"/>
            <a:ext cx="1300000" cy="260000"/>
          </a:xfrm>
          <a:prstGeom prst="rect">
            <a:avLst/>
          </a:prstGeom>
          <a:noFill/>
          <a:ln/>
        </p:spPr>
        <p:txBody>
          <a:bodyPr wrap="square" lIns="0" tIns="0" rIns="0" bIns="0" rtlCol="0" anchor="ctr"/>
          <a:lstStyle/>
          <a:p>
            <a:pPr marL="0" indent="0" algn="r">
              <a:buNone/>
            </a:pPr>
            <a:r>
              <a:rPr lang="en-US" sz="1000" b="1" dirty="0">
                <a:solidFill>
                  <a:srgbClr val="1F2937"/>
                </a:solidFill>
                <a:latin typeface="Calibri" pitchFamily="34" charset="0"/>
              </a:rPr>
              <a:t>Widest gap</a:t>
            </a:r>
            <a:endParaRPr lang="en-US" sz="1000" dirty="0"/>
          </a:p>
        </p:txBody>
      </p:sp>
      <p:sp>
        <p:nvSpPr>
          <p:cNvPr id="1016" name="Line"/>
          <p:cNvSpPr/>
          <p:nvPr/>
        </p:nvSpPr>
        <p:spPr>
          <a:xfrm>
            <a:off x="5300000" y="3800000"/>
            <a:ext cx="2988800" cy="0"/>
          </a:xfrm>
          <a:prstGeom prst="line">
            <a:avLst/>
          </a:prstGeom>
          <a:noFill/>
          <a:ln w="25400">
            <a:solidFill>
              <a:srgbClr val="0EA5E9"/>
            </a:solidFill>
            <a:prstDash val="solid"/>
          </a:ln>
        </p:spPr>
        <p:txBody>
          <a:bodyPr/>
          <a:lstStyle/>
          <a:p>
            <a:endParaRPr lang="en-US"/>
          </a:p>
        </p:txBody>
      </p:sp>
      <p:sp>
        <p:nvSpPr>
          <p:cNvPr id="1017" name="Dot"/>
          <p:cNvSpPr/>
          <p:nvPr/>
        </p:nvSpPr>
        <p:spPr>
          <a:xfrm>
            <a:off x="8188800" y="3700000"/>
            <a:ext cx="200000" cy="200000"/>
          </a:xfrm>
          <a:prstGeom prst="ellipse">
            <a:avLst/>
          </a:prstGeom>
          <a:solidFill>
            <a:srgbClr val="0EA5E9"/>
          </a:solidFill>
          <a:ln w="12700">
            <a:solidFill>
              <a:srgbClr val="FFFFFF"/>
            </a:solidFill>
          </a:ln>
        </p:spPr>
        <p:txBody>
          <a:bodyPr/>
          <a:lstStyle/>
          <a:p>
            <a:endParaRPr lang="en-US"/>
          </a:p>
        </p:txBody>
      </p:sp>
      <p:sp>
        <p:nvSpPr>
          <p:cNvPr id="1018" name="AutoText"/>
          <p:cNvSpPr/>
          <p:nvPr/>
        </p:nvSpPr>
        <p:spPr>
          <a:xfrm>
            <a:off x="8438800" y="3660000"/>
            <a:ext cx="700000" cy="280000"/>
          </a:xfrm>
          <a:prstGeom prst="rect">
            <a:avLst/>
          </a:prstGeom>
          <a:noFill/>
          <a:ln/>
        </p:spPr>
        <p:txBody>
          <a:bodyPr wrap="square" lIns="0" tIns="0" rIns="0" bIns="0" rtlCol="0" anchor="ctr"/>
          <a:lstStyle/>
          <a:p>
            <a:pPr marL="0" indent="0">
              <a:buNone/>
            </a:pPr>
            <a:r>
              <a:rPr lang="en-US" sz="1200" b="1" dirty="0">
                <a:solidFill>
                  <a:srgbClr val="0369A1"/>
                </a:solidFill>
                <a:latin typeface="Calibri" pitchFamily="34" charset="0"/>
              </a:rPr>
              <a:t>96.7%</a:t>
            </a:r>
            <a:endParaRPr lang="en-US" sz="1200" dirty="0"/>
          </a:p>
        </p:txBody>
      </p:sp>
      <p:sp>
        <p:nvSpPr>
          <p:cNvPr id="1019" name="AutoText"/>
          <p:cNvSpPr/>
          <p:nvPr/>
        </p:nvSpPr>
        <p:spPr>
          <a:xfrm>
            <a:off x="4800600" y="4320540"/>
            <a:ext cx="4307306" cy="274320"/>
          </a:xfrm>
          <a:prstGeom prst="rect">
            <a:avLst/>
          </a:prstGeom>
          <a:noFill/>
          <a:ln/>
        </p:spPr>
        <p:txBody>
          <a:bodyPr wrap="square" lIns="0" tIns="0" rIns="0" bIns="0" rtlCol="0" anchor="ctr"/>
          <a:lstStyle/>
          <a:p>
            <a:pPr marL="0" indent="0">
              <a:buNone/>
            </a:pPr>
            <a:r>
              <a:rPr lang="en-US" sz="900" i="1" dirty="0">
                <a:solidFill>
                  <a:srgbClr val="0369A1"/>
                </a:solidFill>
                <a:latin typeface="Calibri" pitchFamily="34" charset="0"/>
              </a:rPr>
              <a:t>Even the closest gap tips to the favorite (59%); the widest gap is almost a sure thing (97%).</a:t>
            </a:r>
            <a:endParaRPr lang="en-US" sz="900" dirty="0"/>
          </a:p>
        </p:txBody>
      </p:sp>
      <p:sp>
        <p:nvSpPr>
          <p:cNvPr id="31" name="Text 29"/>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2" name="Text 30"/>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4.6 COLOR</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Editorial use, not decoration</a:t>
            </a:r>
            <a:endParaRPr lang="en-US" sz="2600" dirty="0"/>
          </a:p>
        </p:txBody>
      </p:sp>
      <p:sp>
        <p:nvSpPr>
          <p:cNvPr id="5" name="Shape 3"/>
          <p:cNvSpPr/>
          <p:nvPr/>
        </p:nvSpPr>
        <p:spPr>
          <a:xfrm>
            <a:off x="457200" y="1371600"/>
            <a:ext cx="822960" cy="822960"/>
          </a:xfrm>
          <a:prstGeom prst="rect">
            <a:avLst/>
          </a:prstGeom>
          <a:solidFill>
            <a:srgbClr val="0EA5E9"/>
          </a:solidFill>
          <a:ln w="6350">
            <a:solidFill>
              <a:srgbClr val="CFD6DD"/>
            </a:solidFill>
            <a:prstDash val="solid"/>
          </a:ln>
        </p:spPr>
        <p:txBody>
          <a:bodyPr/>
          <a:lstStyle/>
          <a:p>
            <a:endParaRPr lang="en-US"/>
          </a:p>
        </p:txBody>
      </p:sp>
      <p:sp>
        <p:nvSpPr>
          <p:cNvPr id="6" name="Text 4"/>
          <p:cNvSpPr/>
          <p:nvPr/>
        </p:nvSpPr>
        <p:spPr>
          <a:xfrm>
            <a:off x="1371600" y="1417320"/>
            <a:ext cx="1783080" cy="274320"/>
          </a:xfrm>
          <a:prstGeom prst="rect">
            <a:avLst/>
          </a:prstGeom>
          <a:noFill/>
          <a:ln/>
        </p:spPr>
        <p:txBody>
          <a:bodyPr wrap="square" lIns="0" tIns="0" rIns="0" bIns="0" rtlCol="0" anchor="ctr"/>
          <a:lstStyle/>
          <a:p>
            <a:pPr marL="0" indent="0">
              <a:buNone/>
            </a:pPr>
            <a:r>
              <a:rPr lang="en-US" sz="1300" b="1" dirty="0">
                <a:solidFill>
                  <a:srgbClr val="1F2937"/>
                </a:solidFill>
              </a:rPr>
              <a:t>Blue</a:t>
            </a:r>
            <a:endParaRPr lang="en-US" sz="1300" dirty="0"/>
          </a:p>
        </p:txBody>
      </p:sp>
      <p:sp>
        <p:nvSpPr>
          <p:cNvPr id="7" name="Text 5"/>
          <p:cNvSpPr/>
          <p:nvPr/>
        </p:nvSpPr>
        <p:spPr>
          <a:xfrm>
            <a:off x="1371600" y="1691640"/>
            <a:ext cx="1783080" cy="228600"/>
          </a:xfrm>
          <a:prstGeom prst="rect">
            <a:avLst/>
          </a:prstGeom>
          <a:noFill/>
          <a:ln/>
        </p:spPr>
        <p:txBody>
          <a:bodyPr wrap="square" lIns="0" tIns="0" rIns="0" bIns="0" rtlCol="0" anchor="ctr"/>
          <a:lstStyle/>
          <a:p>
            <a:pPr marL="0" indent="0">
              <a:buNone/>
            </a:pPr>
            <a:r>
              <a:rPr lang="en-US" sz="1000" dirty="0">
                <a:solidFill>
                  <a:srgbClr val="64748B"/>
                </a:solidFill>
                <a:latin typeface="Courier New" pitchFamily="34" charset="0"/>
                <a:ea typeface="Courier New" pitchFamily="34" charset="-122"/>
                <a:cs typeface="Courier New" pitchFamily="34" charset="-120"/>
              </a:rPr>
              <a:t>#0EA5E9</a:t>
            </a:r>
            <a:endParaRPr lang="en-US" sz="1000" dirty="0"/>
          </a:p>
        </p:txBody>
      </p:sp>
      <p:sp>
        <p:nvSpPr>
          <p:cNvPr id="8" name="Text 6"/>
          <p:cNvSpPr/>
          <p:nvPr/>
        </p:nvSpPr>
        <p:spPr>
          <a:xfrm>
            <a:off x="1371600" y="1920240"/>
            <a:ext cx="1783080" cy="320040"/>
          </a:xfrm>
          <a:prstGeom prst="rect">
            <a:avLst/>
          </a:prstGeom>
          <a:noFill/>
          <a:ln/>
        </p:spPr>
        <p:txBody>
          <a:bodyPr wrap="square" lIns="0" tIns="0" rIns="0" bIns="0" rtlCol="0" anchor="ctr"/>
          <a:lstStyle/>
          <a:p>
            <a:pPr marL="0" indent="0">
              <a:buNone/>
            </a:pPr>
            <a:r>
              <a:rPr lang="en-US" sz="1000" i="1" dirty="0">
                <a:solidFill>
                  <a:srgbClr val="64748B"/>
                </a:solidFill>
              </a:rPr>
              <a:t>Positive / interactive / default</a:t>
            </a:r>
            <a:endParaRPr lang="en-US" sz="1000" dirty="0"/>
          </a:p>
        </p:txBody>
      </p:sp>
      <p:sp>
        <p:nvSpPr>
          <p:cNvPr id="9" name="Shape 7"/>
          <p:cNvSpPr/>
          <p:nvPr/>
        </p:nvSpPr>
        <p:spPr>
          <a:xfrm>
            <a:off x="3246120" y="1371600"/>
            <a:ext cx="822960" cy="822960"/>
          </a:xfrm>
          <a:prstGeom prst="rect">
            <a:avLst/>
          </a:prstGeom>
          <a:solidFill>
            <a:srgbClr val="EF4444"/>
          </a:solidFill>
          <a:ln w="6350">
            <a:solidFill>
              <a:srgbClr val="CFD6DD"/>
            </a:solidFill>
            <a:prstDash val="solid"/>
          </a:ln>
        </p:spPr>
        <p:txBody>
          <a:bodyPr/>
          <a:lstStyle/>
          <a:p>
            <a:endParaRPr lang="en-US"/>
          </a:p>
        </p:txBody>
      </p:sp>
      <p:sp>
        <p:nvSpPr>
          <p:cNvPr id="10" name="Text 8"/>
          <p:cNvSpPr/>
          <p:nvPr/>
        </p:nvSpPr>
        <p:spPr>
          <a:xfrm>
            <a:off x="4160520" y="1417320"/>
            <a:ext cx="1783080" cy="274320"/>
          </a:xfrm>
          <a:prstGeom prst="rect">
            <a:avLst/>
          </a:prstGeom>
          <a:noFill/>
          <a:ln/>
        </p:spPr>
        <p:txBody>
          <a:bodyPr wrap="square" lIns="0" tIns="0" rIns="0" bIns="0" rtlCol="0" anchor="ctr"/>
          <a:lstStyle/>
          <a:p>
            <a:pPr marL="0" indent="0">
              <a:buNone/>
            </a:pPr>
            <a:r>
              <a:rPr lang="en-US" sz="1300" b="1" dirty="0">
                <a:solidFill>
                  <a:srgbClr val="1F2937"/>
                </a:solidFill>
              </a:rPr>
              <a:t>Red</a:t>
            </a:r>
            <a:endParaRPr lang="en-US" sz="1300" dirty="0"/>
          </a:p>
        </p:txBody>
      </p:sp>
      <p:sp>
        <p:nvSpPr>
          <p:cNvPr id="11" name="Text 9"/>
          <p:cNvSpPr/>
          <p:nvPr/>
        </p:nvSpPr>
        <p:spPr>
          <a:xfrm>
            <a:off x="4160520" y="1691640"/>
            <a:ext cx="1783080" cy="228600"/>
          </a:xfrm>
          <a:prstGeom prst="rect">
            <a:avLst/>
          </a:prstGeom>
          <a:noFill/>
          <a:ln/>
        </p:spPr>
        <p:txBody>
          <a:bodyPr wrap="square" lIns="0" tIns="0" rIns="0" bIns="0" rtlCol="0" anchor="ctr"/>
          <a:lstStyle/>
          <a:p>
            <a:pPr marL="0" indent="0">
              <a:buNone/>
            </a:pPr>
            <a:r>
              <a:rPr lang="en-US" sz="1000" dirty="0">
                <a:solidFill>
                  <a:srgbClr val="64748B"/>
                </a:solidFill>
                <a:latin typeface="Courier New" pitchFamily="34" charset="0"/>
                <a:ea typeface="Courier New" pitchFamily="34" charset="-122"/>
                <a:cs typeface="Courier New" pitchFamily="34" charset="-120"/>
              </a:rPr>
              <a:t>#EF4444</a:t>
            </a:r>
            <a:endParaRPr lang="en-US" sz="1000" dirty="0"/>
          </a:p>
        </p:txBody>
      </p:sp>
      <p:sp>
        <p:nvSpPr>
          <p:cNvPr id="12" name="Text 10"/>
          <p:cNvSpPr/>
          <p:nvPr/>
        </p:nvSpPr>
        <p:spPr>
          <a:xfrm>
            <a:off x="4160520" y="1920240"/>
            <a:ext cx="1783080" cy="320040"/>
          </a:xfrm>
          <a:prstGeom prst="rect">
            <a:avLst/>
          </a:prstGeom>
          <a:noFill/>
          <a:ln/>
        </p:spPr>
        <p:txBody>
          <a:bodyPr wrap="square" lIns="0" tIns="0" rIns="0" bIns="0" rtlCol="0" anchor="ctr"/>
          <a:lstStyle/>
          <a:p>
            <a:pPr marL="0" indent="0">
              <a:buNone/>
            </a:pPr>
            <a:r>
              <a:rPr lang="en-US" sz="1000" i="1" dirty="0">
                <a:solidFill>
                  <a:srgbClr val="64748B"/>
                </a:solidFill>
              </a:rPr>
              <a:t>Negative signal requiring action</a:t>
            </a:r>
            <a:endParaRPr lang="en-US" sz="1000" dirty="0"/>
          </a:p>
        </p:txBody>
      </p:sp>
      <p:sp>
        <p:nvSpPr>
          <p:cNvPr id="13" name="Shape 11"/>
          <p:cNvSpPr/>
          <p:nvPr/>
        </p:nvSpPr>
        <p:spPr>
          <a:xfrm>
            <a:off x="6035040" y="1371600"/>
            <a:ext cx="822960" cy="822960"/>
          </a:xfrm>
          <a:prstGeom prst="rect">
            <a:avLst/>
          </a:prstGeom>
          <a:solidFill>
            <a:srgbClr val="94A3B8"/>
          </a:solidFill>
          <a:ln w="6350">
            <a:solidFill>
              <a:srgbClr val="CFD6DD"/>
            </a:solidFill>
            <a:prstDash val="solid"/>
          </a:ln>
        </p:spPr>
        <p:txBody>
          <a:bodyPr/>
          <a:lstStyle/>
          <a:p>
            <a:endParaRPr lang="en-US"/>
          </a:p>
        </p:txBody>
      </p:sp>
      <p:sp>
        <p:nvSpPr>
          <p:cNvPr id="14" name="Text 12"/>
          <p:cNvSpPr/>
          <p:nvPr/>
        </p:nvSpPr>
        <p:spPr>
          <a:xfrm>
            <a:off x="6949440" y="1417320"/>
            <a:ext cx="1783080" cy="274320"/>
          </a:xfrm>
          <a:prstGeom prst="rect">
            <a:avLst/>
          </a:prstGeom>
          <a:noFill/>
          <a:ln/>
        </p:spPr>
        <p:txBody>
          <a:bodyPr wrap="square" lIns="0" tIns="0" rIns="0" bIns="0" rtlCol="0" anchor="ctr"/>
          <a:lstStyle/>
          <a:p>
            <a:pPr marL="0" indent="0">
              <a:buNone/>
            </a:pPr>
            <a:r>
              <a:rPr lang="en-US" sz="1300" b="1" dirty="0">
                <a:solidFill>
                  <a:srgbClr val="1F2937"/>
                </a:solidFill>
              </a:rPr>
              <a:t>Gray</a:t>
            </a:r>
            <a:endParaRPr lang="en-US" sz="1300" dirty="0"/>
          </a:p>
        </p:txBody>
      </p:sp>
      <p:sp>
        <p:nvSpPr>
          <p:cNvPr id="15" name="Text 13"/>
          <p:cNvSpPr/>
          <p:nvPr/>
        </p:nvSpPr>
        <p:spPr>
          <a:xfrm>
            <a:off x="6949440" y="1691640"/>
            <a:ext cx="1783080" cy="228600"/>
          </a:xfrm>
          <a:prstGeom prst="rect">
            <a:avLst/>
          </a:prstGeom>
          <a:noFill/>
          <a:ln/>
        </p:spPr>
        <p:txBody>
          <a:bodyPr wrap="square" lIns="0" tIns="0" rIns="0" bIns="0" rtlCol="0" anchor="ctr"/>
          <a:lstStyle/>
          <a:p>
            <a:pPr marL="0" indent="0">
              <a:buNone/>
            </a:pPr>
            <a:r>
              <a:rPr lang="en-US" sz="1000" dirty="0">
                <a:solidFill>
                  <a:srgbClr val="64748B"/>
                </a:solidFill>
                <a:latin typeface="Courier New" pitchFamily="34" charset="0"/>
                <a:ea typeface="Courier New" pitchFamily="34" charset="-122"/>
                <a:cs typeface="Courier New" pitchFamily="34" charset="-120"/>
              </a:rPr>
              <a:t>#94A3B8</a:t>
            </a:r>
            <a:endParaRPr lang="en-US" sz="1000" dirty="0"/>
          </a:p>
        </p:txBody>
      </p:sp>
      <p:sp>
        <p:nvSpPr>
          <p:cNvPr id="16" name="Text 14"/>
          <p:cNvSpPr/>
          <p:nvPr/>
        </p:nvSpPr>
        <p:spPr>
          <a:xfrm>
            <a:off x="6949440" y="1920240"/>
            <a:ext cx="1783080" cy="320040"/>
          </a:xfrm>
          <a:prstGeom prst="rect">
            <a:avLst/>
          </a:prstGeom>
          <a:noFill/>
          <a:ln/>
        </p:spPr>
        <p:txBody>
          <a:bodyPr wrap="square" lIns="0" tIns="0" rIns="0" bIns="0" rtlCol="0" anchor="ctr"/>
          <a:lstStyle/>
          <a:p>
            <a:pPr marL="0" indent="0">
              <a:buNone/>
            </a:pPr>
            <a:r>
              <a:rPr lang="en-US" sz="1000" i="1" dirty="0">
                <a:solidFill>
                  <a:srgbClr val="64748B"/>
                </a:solidFill>
              </a:rPr>
              <a:t>Pro reference frame</a:t>
            </a:r>
            <a:endParaRPr lang="en-US" sz="1000" dirty="0"/>
          </a:p>
        </p:txBody>
      </p:sp>
      <p:sp>
        <p:nvSpPr>
          <p:cNvPr id="17" name="Shape 15"/>
          <p:cNvSpPr/>
          <p:nvPr/>
        </p:nvSpPr>
        <p:spPr>
          <a:xfrm>
            <a:off x="457200" y="2377440"/>
            <a:ext cx="822960" cy="822960"/>
          </a:xfrm>
          <a:prstGeom prst="rect">
            <a:avLst/>
          </a:prstGeom>
          <a:solidFill>
            <a:srgbClr val="1F2937"/>
          </a:solidFill>
          <a:ln w="6350">
            <a:solidFill>
              <a:srgbClr val="CFD6DD"/>
            </a:solidFill>
            <a:prstDash val="solid"/>
          </a:ln>
        </p:spPr>
        <p:txBody>
          <a:bodyPr/>
          <a:lstStyle/>
          <a:p>
            <a:endParaRPr lang="en-US"/>
          </a:p>
        </p:txBody>
      </p:sp>
      <p:sp>
        <p:nvSpPr>
          <p:cNvPr id="18" name="Text 16"/>
          <p:cNvSpPr/>
          <p:nvPr/>
        </p:nvSpPr>
        <p:spPr>
          <a:xfrm>
            <a:off x="1371600" y="2423160"/>
            <a:ext cx="1783080" cy="274320"/>
          </a:xfrm>
          <a:prstGeom prst="rect">
            <a:avLst/>
          </a:prstGeom>
          <a:noFill/>
          <a:ln/>
        </p:spPr>
        <p:txBody>
          <a:bodyPr wrap="square" lIns="0" tIns="0" rIns="0" bIns="0" rtlCol="0" anchor="ctr"/>
          <a:lstStyle/>
          <a:p>
            <a:pPr marL="0" indent="0">
              <a:buNone/>
            </a:pPr>
            <a:r>
              <a:rPr lang="en-US" sz="1300" b="1" dirty="0">
                <a:solidFill>
                  <a:srgbClr val="1F2937"/>
                </a:solidFill>
              </a:rPr>
              <a:t>Ink</a:t>
            </a:r>
            <a:endParaRPr lang="en-US" sz="1300" dirty="0"/>
          </a:p>
        </p:txBody>
      </p:sp>
      <p:sp>
        <p:nvSpPr>
          <p:cNvPr id="19" name="Text 17"/>
          <p:cNvSpPr/>
          <p:nvPr/>
        </p:nvSpPr>
        <p:spPr>
          <a:xfrm>
            <a:off x="1371600" y="2697480"/>
            <a:ext cx="1783080" cy="228600"/>
          </a:xfrm>
          <a:prstGeom prst="rect">
            <a:avLst/>
          </a:prstGeom>
          <a:noFill/>
          <a:ln/>
        </p:spPr>
        <p:txBody>
          <a:bodyPr wrap="square" lIns="0" tIns="0" rIns="0" bIns="0" rtlCol="0" anchor="ctr"/>
          <a:lstStyle/>
          <a:p>
            <a:pPr marL="0" indent="0">
              <a:buNone/>
            </a:pPr>
            <a:r>
              <a:rPr lang="en-US" sz="1000" dirty="0">
                <a:solidFill>
                  <a:srgbClr val="64748B"/>
                </a:solidFill>
                <a:latin typeface="Courier New" pitchFamily="34" charset="0"/>
                <a:ea typeface="Courier New" pitchFamily="34" charset="-122"/>
                <a:cs typeface="Courier New" pitchFamily="34" charset="-120"/>
              </a:rPr>
              <a:t>#1F2937</a:t>
            </a:r>
            <a:endParaRPr lang="en-US" sz="1000" dirty="0"/>
          </a:p>
        </p:txBody>
      </p:sp>
      <p:sp>
        <p:nvSpPr>
          <p:cNvPr id="20" name="Text 18"/>
          <p:cNvSpPr/>
          <p:nvPr/>
        </p:nvSpPr>
        <p:spPr>
          <a:xfrm>
            <a:off x="1371600" y="2926080"/>
            <a:ext cx="1783080" cy="320040"/>
          </a:xfrm>
          <a:prstGeom prst="rect">
            <a:avLst/>
          </a:prstGeom>
          <a:noFill/>
          <a:ln/>
        </p:spPr>
        <p:txBody>
          <a:bodyPr wrap="square" lIns="0" tIns="0" rIns="0" bIns="0" rtlCol="0" anchor="ctr"/>
          <a:lstStyle/>
          <a:p>
            <a:pPr marL="0" indent="0">
              <a:buNone/>
            </a:pPr>
            <a:r>
              <a:rPr lang="en-US" sz="1000" i="1" dirty="0">
                <a:solidFill>
                  <a:srgbClr val="64748B"/>
                </a:solidFill>
              </a:rPr>
              <a:t>Body text</a:t>
            </a:r>
            <a:endParaRPr lang="en-US" sz="1000" dirty="0"/>
          </a:p>
        </p:txBody>
      </p:sp>
      <p:sp>
        <p:nvSpPr>
          <p:cNvPr id="21" name="Shape 19"/>
          <p:cNvSpPr/>
          <p:nvPr/>
        </p:nvSpPr>
        <p:spPr>
          <a:xfrm>
            <a:off x="3246120" y="2377440"/>
            <a:ext cx="822960" cy="822960"/>
          </a:xfrm>
          <a:prstGeom prst="rect">
            <a:avLst/>
          </a:prstGeom>
          <a:solidFill>
            <a:srgbClr val="6B7280"/>
          </a:solidFill>
          <a:ln w="6350">
            <a:solidFill>
              <a:srgbClr val="CFD6DD"/>
            </a:solidFill>
            <a:prstDash val="solid"/>
          </a:ln>
        </p:spPr>
        <p:txBody>
          <a:bodyPr/>
          <a:lstStyle/>
          <a:p>
            <a:endParaRPr lang="en-US"/>
          </a:p>
        </p:txBody>
      </p:sp>
      <p:sp>
        <p:nvSpPr>
          <p:cNvPr id="22" name="Text 20"/>
          <p:cNvSpPr/>
          <p:nvPr/>
        </p:nvSpPr>
        <p:spPr>
          <a:xfrm>
            <a:off x="4160520" y="2423160"/>
            <a:ext cx="1783080" cy="274320"/>
          </a:xfrm>
          <a:prstGeom prst="rect">
            <a:avLst/>
          </a:prstGeom>
          <a:noFill/>
          <a:ln/>
        </p:spPr>
        <p:txBody>
          <a:bodyPr wrap="square" lIns="0" tIns="0" rIns="0" bIns="0" rtlCol="0" anchor="ctr"/>
          <a:lstStyle/>
          <a:p>
            <a:pPr marL="0" indent="0">
              <a:buNone/>
            </a:pPr>
            <a:r>
              <a:rPr lang="en-US" sz="1300" b="1" dirty="0">
                <a:solidFill>
                  <a:srgbClr val="1F2937"/>
                </a:solidFill>
              </a:rPr>
              <a:t>Muted</a:t>
            </a:r>
            <a:endParaRPr lang="en-US" sz="1300" dirty="0"/>
          </a:p>
        </p:txBody>
      </p:sp>
      <p:sp>
        <p:nvSpPr>
          <p:cNvPr id="23" name="Text 21"/>
          <p:cNvSpPr/>
          <p:nvPr/>
        </p:nvSpPr>
        <p:spPr>
          <a:xfrm>
            <a:off x="4160520" y="2697480"/>
            <a:ext cx="1783080" cy="228600"/>
          </a:xfrm>
          <a:prstGeom prst="rect">
            <a:avLst/>
          </a:prstGeom>
          <a:noFill/>
          <a:ln/>
        </p:spPr>
        <p:txBody>
          <a:bodyPr wrap="square" lIns="0" tIns="0" rIns="0" bIns="0" rtlCol="0" anchor="ctr"/>
          <a:lstStyle/>
          <a:p>
            <a:pPr marL="0" indent="0">
              <a:buNone/>
            </a:pPr>
            <a:r>
              <a:rPr lang="en-US" sz="1000" dirty="0">
                <a:solidFill>
                  <a:srgbClr val="64748B"/>
                </a:solidFill>
                <a:latin typeface="Courier New" pitchFamily="34" charset="0"/>
                <a:ea typeface="Courier New" pitchFamily="34" charset="-122"/>
                <a:cs typeface="Courier New" pitchFamily="34" charset="-120"/>
              </a:rPr>
              <a:t>#6B7280</a:t>
            </a:r>
            <a:endParaRPr lang="en-US" sz="1000" dirty="0"/>
          </a:p>
        </p:txBody>
      </p:sp>
      <p:sp>
        <p:nvSpPr>
          <p:cNvPr id="24" name="Text 22"/>
          <p:cNvSpPr/>
          <p:nvPr/>
        </p:nvSpPr>
        <p:spPr>
          <a:xfrm>
            <a:off x="4160520" y="2926080"/>
            <a:ext cx="1783080" cy="320040"/>
          </a:xfrm>
          <a:prstGeom prst="rect">
            <a:avLst/>
          </a:prstGeom>
          <a:noFill/>
          <a:ln/>
        </p:spPr>
        <p:txBody>
          <a:bodyPr wrap="square" lIns="0" tIns="0" rIns="0" bIns="0" rtlCol="0" anchor="ctr"/>
          <a:lstStyle/>
          <a:p>
            <a:pPr marL="0" indent="0">
              <a:buNone/>
            </a:pPr>
            <a:r>
              <a:rPr lang="en-US" sz="1000" i="1" dirty="0">
                <a:solidFill>
                  <a:srgbClr val="64748B"/>
                </a:solidFill>
              </a:rPr>
              <a:t>Secondary text</a:t>
            </a:r>
            <a:endParaRPr lang="en-US" sz="1000" dirty="0"/>
          </a:p>
        </p:txBody>
      </p:sp>
      <p:sp>
        <p:nvSpPr>
          <p:cNvPr id="25" name="Shape 23"/>
          <p:cNvSpPr/>
          <p:nvPr/>
        </p:nvSpPr>
        <p:spPr>
          <a:xfrm>
            <a:off x="6035040" y="2377440"/>
            <a:ext cx="822960" cy="822960"/>
          </a:xfrm>
          <a:prstGeom prst="rect">
            <a:avLst/>
          </a:prstGeom>
          <a:solidFill>
            <a:srgbClr val="F8FAFC"/>
          </a:solidFill>
          <a:ln w="6350">
            <a:solidFill>
              <a:srgbClr val="CFD6DD"/>
            </a:solidFill>
            <a:prstDash val="solid"/>
          </a:ln>
        </p:spPr>
        <p:txBody>
          <a:bodyPr/>
          <a:lstStyle/>
          <a:p>
            <a:endParaRPr lang="en-US"/>
          </a:p>
        </p:txBody>
      </p:sp>
      <p:sp>
        <p:nvSpPr>
          <p:cNvPr id="26" name="Text 24"/>
          <p:cNvSpPr/>
          <p:nvPr/>
        </p:nvSpPr>
        <p:spPr>
          <a:xfrm>
            <a:off x="6949440" y="2423160"/>
            <a:ext cx="1783080" cy="274320"/>
          </a:xfrm>
          <a:prstGeom prst="rect">
            <a:avLst/>
          </a:prstGeom>
          <a:noFill/>
          <a:ln/>
        </p:spPr>
        <p:txBody>
          <a:bodyPr wrap="square" lIns="0" tIns="0" rIns="0" bIns="0" rtlCol="0" anchor="ctr"/>
          <a:lstStyle/>
          <a:p>
            <a:pPr marL="0" indent="0">
              <a:buNone/>
            </a:pPr>
            <a:r>
              <a:rPr lang="en-US" sz="1300" b="1" dirty="0">
                <a:solidFill>
                  <a:srgbClr val="1F2937"/>
                </a:solidFill>
              </a:rPr>
              <a:t>BG</a:t>
            </a:r>
            <a:endParaRPr lang="en-US" sz="1300" dirty="0"/>
          </a:p>
        </p:txBody>
      </p:sp>
      <p:sp>
        <p:nvSpPr>
          <p:cNvPr id="27" name="Text 25"/>
          <p:cNvSpPr/>
          <p:nvPr/>
        </p:nvSpPr>
        <p:spPr>
          <a:xfrm>
            <a:off x="6949440" y="2697480"/>
            <a:ext cx="1783080" cy="228600"/>
          </a:xfrm>
          <a:prstGeom prst="rect">
            <a:avLst/>
          </a:prstGeom>
          <a:noFill/>
          <a:ln/>
        </p:spPr>
        <p:txBody>
          <a:bodyPr wrap="square" lIns="0" tIns="0" rIns="0" bIns="0" rtlCol="0" anchor="ctr"/>
          <a:lstStyle/>
          <a:p>
            <a:pPr marL="0" indent="0">
              <a:buNone/>
            </a:pPr>
            <a:r>
              <a:rPr lang="en-US" sz="1000" dirty="0">
                <a:solidFill>
                  <a:srgbClr val="64748B"/>
                </a:solidFill>
                <a:latin typeface="Courier New" pitchFamily="34" charset="0"/>
                <a:ea typeface="Courier New" pitchFamily="34" charset="-122"/>
                <a:cs typeface="Courier New" pitchFamily="34" charset="-120"/>
              </a:rPr>
              <a:t>#F8FAFC</a:t>
            </a:r>
            <a:endParaRPr lang="en-US" sz="1000" dirty="0"/>
          </a:p>
        </p:txBody>
      </p:sp>
      <p:sp>
        <p:nvSpPr>
          <p:cNvPr id="28" name="Text 26"/>
          <p:cNvSpPr/>
          <p:nvPr/>
        </p:nvSpPr>
        <p:spPr>
          <a:xfrm>
            <a:off x="6949440" y="2926080"/>
            <a:ext cx="1783080" cy="320040"/>
          </a:xfrm>
          <a:prstGeom prst="rect">
            <a:avLst/>
          </a:prstGeom>
          <a:noFill/>
          <a:ln/>
        </p:spPr>
        <p:txBody>
          <a:bodyPr wrap="square" lIns="0" tIns="0" rIns="0" bIns="0" rtlCol="0" anchor="ctr"/>
          <a:lstStyle/>
          <a:p>
            <a:pPr marL="0" indent="0">
              <a:buNone/>
            </a:pPr>
            <a:r>
              <a:rPr lang="en-US" sz="1000" i="1" dirty="0">
                <a:solidFill>
                  <a:srgbClr val="64748B"/>
                </a:solidFill>
              </a:rPr>
              <a:t>Page background</a:t>
            </a:r>
            <a:endParaRPr lang="en-US" sz="1000" dirty="0"/>
          </a:p>
        </p:txBody>
      </p:sp>
      <p:sp>
        <p:nvSpPr>
          <p:cNvPr id="29" name="Shape 27"/>
          <p:cNvSpPr/>
          <p:nvPr/>
        </p:nvSpPr>
        <p:spPr>
          <a:xfrm>
            <a:off x="457200" y="3657600"/>
            <a:ext cx="8229600" cy="914400"/>
          </a:xfrm>
          <a:prstGeom prst="rect">
            <a:avLst/>
          </a:prstGeom>
          <a:solidFill>
            <a:srgbClr val="1E293B"/>
          </a:solidFill>
          <a:ln/>
        </p:spPr>
        <p:txBody>
          <a:bodyPr/>
          <a:lstStyle/>
          <a:p>
            <a:endParaRPr lang="en-US"/>
          </a:p>
        </p:txBody>
      </p:sp>
      <p:sp>
        <p:nvSpPr>
          <p:cNvPr id="30" name="Text 28"/>
          <p:cNvSpPr/>
          <p:nvPr/>
        </p:nvSpPr>
        <p:spPr>
          <a:xfrm>
            <a:off x="640080" y="3749040"/>
            <a:ext cx="7863840" cy="274320"/>
          </a:xfrm>
          <a:prstGeom prst="rect">
            <a:avLst/>
          </a:prstGeom>
          <a:noFill/>
          <a:ln/>
        </p:spPr>
        <p:txBody>
          <a:bodyPr wrap="square" lIns="0" tIns="0" rIns="0" bIns="0" rtlCol="0" anchor="ctr"/>
          <a:lstStyle/>
          <a:p>
            <a:pPr marL="0" indent="0">
              <a:buNone/>
            </a:pPr>
            <a:r>
              <a:rPr lang="en-US" sz="900" b="1" kern="0" spc="300" dirty="0">
                <a:solidFill>
                  <a:srgbClr val="0EA5E9"/>
                </a:solidFill>
              </a:rPr>
              <a:t>ACCESSIBILITY CHECKS</a:t>
            </a:r>
            <a:endParaRPr lang="en-US" sz="900" dirty="0"/>
          </a:p>
        </p:txBody>
      </p:sp>
      <p:sp>
        <p:nvSpPr>
          <p:cNvPr id="31" name="Text 29"/>
          <p:cNvSpPr/>
          <p:nvPr/>
        </p:nvSpPr>
        <p:spPr>
          <a:xfrm>
            <a:off x="640080" y="4023360"/>
            <a:ext cx="7863840" cy="502920"/>
          </a:xfrm>
          <a:prstGeom prst="rect">
            <a:avLst/>
          </a:prstGeom>
          <a:noFill/>
          <a:ln/>
        </p:spPr>
        <p:txBody>
          <a:bodyPr wrap="square" lIns="0" tIns="0" rIns="0" bIns="0" rtlCol="0" anchor="ctr"/>
          <a:lstStyle/>
          <a:p>
            <a:pPr marL="0" indent="0">
              <a:buNone/>
            </a:pPr>
            <a:r>
              <a:rPr lang="en-US" sz="1200" dirty="0">
                <a:solidFill>
                  <a:srgbClr val="FFFFFF"/>
                </a:solidFill>
              </a:rPr>
              <a:t>WCAG AA body-text contrast 12.6:1 ✓ · Blue/red palette: deuteranopia &amp; protanopia safe ✓ · No green/red pairs · </a:t>
            </a:r>
            <a:r>
              <a:rPr lang="en-US" sz="1200" b="1" dirty="0">
                <a:solidFill>
                  <a:srgbClr val="FFFFFF"/>
                </a:solidFill>
              </a:rPr>
              <a:t>Every red mark is also negatively signed numerically.</a:t>
            </a:r>
            <a:endParaRPr lang="en-US" sz="1200" dirty="0"/>
          </a:p>
        </p:txBody>
      </p:sp>
      <p:sp>
        <p:nvSpPr>
          <p:cNvPr id="32" name="Text 30"/>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3" name="Text 31"/>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4.7 INTERACTIVITY &amp; ANNOTATIONS</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Kirk's last two design layers</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657600" cy="274320"/>
          </a:xfrm>
          <a:prstGeom prst="rect">
            <a:avLst/>
          </a:prstGeom>
          <a:noFill/>
          <a:ln/>
        </p:spPr>
        <p:txBody>
          <a:bodyPr wrap="square" lIns="0" tIns="0" rIns="0" bIns="0" rtlCol="0" anchor="ctr"/>
          <a:lstStyle/>
          <a:p>
            <a:pPr marL="0" indent="0">
              <a:buNone/>
            </a:pPr>
            <a:r>
              <a:rPr lang="en-US" sz="1000" b="1" kern="0" spc="300" dirty="0">
                <a:solidFill>
                  <a:srgbClr val="0EA5E9"/>
                </a:solidFill>
              </a:rPr>
              <a:t>INTERACTIVITY</a:t>
            </a:r>
            <a:endParaRPr lang="en-US" sz="1000" dirty="0"/>
          </a:p>
        </p:txBody>
      </p:sp>
      <p:sp>
        <p:nvSpPr>
          <p:cNvPr id="7" name="Text 5"/>
          <p:cNvSpPr/>
          <p:nvPr/>
        </p:nvSpPr>
        <p:spPr>
          <a:xfrm>
            <a:off x="640080" y="1828800"/>
            <a:ext cx="3657600" cy="2651760"/>
          </a:xfrm>
          <a:prstGeom prst="rect">
            <a:avLst/>
          </a:prstGeom>
          <a:noFill/>
          <a:ln/>
        </p:spPr>
        <p:txBody>
          <a:bodyPr wrap="square" lIns="0" tIns="0" rIns="0" bIns="0" rtlCol="0" anchor="ctr"/>
          <a:lstStyle/>
          <a:p>
            <a:pPr marL="342900" indent="-342900">
              <a:spcAft>
                <a:spcPts val="500"/>
              </a:spcAft>
              <a:buSzPct val="100000"/>
              <a:buChar char="●"/>
            </a:pPr>
            <a:r>
              <a:rPr lang="en-US" sz="1200" dirty="0">
                <a:solidFill>
                  <a:srgbClr val="1F2937"/>
                </a:solidFill>
              </a:rPr>
              <a:t>Sidebar filters (country, surface, category, dates)</a:t>
            </a:r>
            <a:endParaRPr lang="en-US" sz="1200" dirty="0"/>
          </a:p>
          <a:p>
            <a:pPr marL="342900" indent="-342900">
              <a:spcAft>
                <a:spcPts val="500"/>
              </a:spcAft>
              <a:buSzPct val="100000"/>
              <a:buChar char="●"/>
            </a:pPr>
            <a:r>
              <a:rPr lang="en-US" sz="1200" dirty="0">
                <a:solidFill>
                  <a:srgbClr val="1F2937"/>
                </a:solidFill>
              </a:rPr>
              <a:t>Row-click drill from rankings to player detail</a:t>
            </a:r>
            <a:endParaRPr lang="en-US" sz="1200" dirty="0"/>
          </a:p>
          <a:p>
            <a:pPr marL="342900" indent="-342900">
              <a:spcAft>
                <a:spcPts val="500"/>
              </a:spcAft>
              <a:buSzPct val="100000"/>
              <a:buChar char="●"/>
            </a:pPr>
            <a:r>
              <a:rPr lang="en-US" sz="1200" dirty="0">
                <a:solidFill>
                  <a:srgbClr val="1F2937"/>
                </a:solidFill>
              </a:rPr>
              <a:t>Time-range toggle on My Stats (30/60/90/all)</a:t>
            </a:r>
            <a:endParaRPr lang="en-US" sz="1200" dirty="0"/>
          </a:p>
          <a:p>
            <a:pPr marL="342900" indent="-342900">
              <a:spcAft>
                <a:spcPts val="500"/>
              </a:spcAft>
              <a:buSzPct val="100000"/>
              <a:buChar char="●"/>
            </a:pPr>
            <a:r>
              <a:rPr lang="en-US" sz="1200" dirty="0">
                <a:solidFill>
                  <a:srgbClr val="1F2937"/>
                </a:solidFill>
              </a:rPr>
              <a:t>Hover tooltips: precision on demand</a:t>
            </a:r>
            <a:endParaRPr lang="en-US" sz="1200" dirty="0"/>
          </a:p>
          <a:p>
            <a:pPr marL="342900" indent="-342900">
              <a:spcAft>
                <a:spcPts val="500"/>
              </a:spcAft>
              <a:buSzPct val="100000"/>
              <a:buChar char="●"/>
            </a:pPr>
            <a:r>
              <a:rPr lang="en-US" sz="1200" dirty="0">
                <a:solidFill>
                  <a:srgbClr val="1F2937"/>
                </a:solidFill>
              </a:rPr>
              <a:t>Live auto-result preview while typing a score</a:t>
            </a:r>
            <a:endParaRPr lang="en-US" sz="1200" dirty="0"/>
          </a:p>
        </p:txBody>
      </p:sp>
      <p:sp>
        <p:nvSpPr>
          <p:cNvPr id="8" name="Shape 6"/>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9" name="Text 7"/>
          <p:cNvSpPr/>
          <p:nvPr/>
        </p:nvSpPr>
        <p:spPr>
          <a:xfrm>
            <a:off x="4846320" y="1508760"/>
            <a:ext cx="3657600" cy="274320"/>
          </a:xfrm>
          <a:prstGeom prst="rect">
            <a:avLst/>
          </a:prstGeom>
          <a:noFill/>
          <a:ln/>
        </p:spPr>
        <p:txBody>
          <a:bodyPr wrap="square" lIns="0" tIns="0" rIns="0" bIns="0" rtlCol="0" anchor="ctr"/>
          <a:lstStyle/>
          <a:p>
            <a:pPr marL="0" indent="0">
              <a:buNone/>
            </a:pPr>
            <a:r>
              <a:rPr lang="en-US" sz="1000" b="1" kern="0" spc="300" dirty="0">
                <a:solidFill>
                  <a:srgbClr val="0EA5E9"/>
                </a:solidFill>
              </a:rPr>
              <a:t>ANNOTATION</a:t>
            </a:r>
            <a:endParaRPr lang="en-US" sz="1000" dirty="0"/>
          </a:p>
        </p:txBody>
      </p:sp>
      <p:sp>
        <p:nvSpPr>
          <p:cNvPr id="10" name="Text 8"/>
          <p:cNvSpPr/>
          <p:nvPr/>
        </p:nvSpPr>
        <p:spPr>
          <a:xfrm>
            <a:off x="4846320" y="1828800"/>
            <a:ext cx="3657600" cy="2651760"/>
          </a:xfrm>
          <a:prstGeom prst="rect">
            <a:avLst/>
          </a:prstGeom>
          <a:noFill/>
          <a:ln/>
        </p:spPr>
        <p:txBody>
          <a:bodyPr wrap="square" lIns="0" tIns="0" rIns="0" bIns="0" rtlCol="0" anchor="ctr"/>
          <a:lstStyle/>
          <a:p>
            <a:pPr marL="342900" indent="-342900">
              <a:spcAft>
                <a:spcPts val="320"/>
              </a:spcAft>
              <a:buSzPct val="100000"/>
              <a:buChar char="●"/>
            </a:pPr>
            <a:r>
              <a:rPr lang="en-US" sz="1050" dirty="0">
                <a:solidFill>
                  <a:srgbClr val="1F2937"/>
                </a:solidFill>
              </a:rPr>
              <a:t>Static in-canvas: the headline ("-40 pp")</a:t>
            </a:r>
            <a:endParaRPr lang="en-US" sz="1050" dirty="0"/>
          </a:p>
          <a:p>
            <a:pPr marL="342900" indent="-342900">
              <a:spcAft>
                <a:spcPts val="320"/>
              </a:spcAft>
              <a:buSzPct val="100000"/>
              <a:buChar char="●"/>
            </a:pPr>
            <a:r>
              <a:rPr lang="en-US" sz="1050" dirty="0">
                <a:solidFill>
                  <a:srgbClr val="1F2937"/>
                </a:solidFill>
              </a:rPr>
              <a:t>Dynamic hover: the detail (exact value, date)</a:t>
            </a:r>
            <a:endParaRPr lang="en-US" sz="1050" dirty="0"/>
          </a:p>
          <a:p>
            <a:pPr marL="342900" indent="-342900">
              <a:spcAft>
                <a:spcPts val="320"/>
              </a:spcAft>
              <a:buSzPct val="100000"/>
              <a:buChar char="●"/>
            </a:pPr>
            <a:r>
              <a:rPr lang="en-US" sz="1050" dirty="0">
                <a:solidFill>
                  <a:srgbClr val="1F2937"/>
                </a:solidFill>
              </a:rPr>
              <a:t>Captions outside the chart: WHAT</a:t>
            </a:r>
            <a:endParaRPr lang="en-US" sz="1050" dirty="0"/>
          </a:p>
          <a:p>
            <a:pPr marL="342900" indent="-342900">
              <a:spcAft>
                <a:spcPts val="320"/>
              </a:spcAft>
              <a:buSzPct val="100000"/>
              <a:buChar char="●"/>
            </a:pPr>
            <a:r>
              <a:rPr lang="en-US" sz="1050" dirty="0">
                <a:solidFill>
                  <a:srgbClr val="1F2937"/>
                </a:solidFill>
              </a:rPr>
              <a:t>Callouts inside the chart: WHY you should care</a:t>
            </a:r>
            <a:endParaRPr lang="en-US" sz="1050" dirty="0"/>
          </a:p>
          <a:p>
            <a:pPr marL="342900" indent="-342900">
              <a:spcAft>
                <a:spcPts val="320"/>
              </a:spcAft>
              <a:buSzPct val="100000"/>
              <a:buChar char="●"/>
            </a:pPr>
            <a:r>
              <a:rPr lang="en-US" sz="1050" dirty="0">
                <a:solidFill>
                  <a:srgbClr val="1F2937"/>
                </a:solidFill>
              </a:rPr>
              <a:t>Color-coded gap cards on Compare (red→amber→green)</a:t>
            </a:r>
            <a:endParaRPr lang="en-US" sz="1050" dirty="0"/>
          </a:p>
          <a:p>
            <a:pPr marL="342900" indent="-342900">
              <a:spcAft>
                <a:spcPts val="320"/>
              </a:spcAft>
              <a:buSzPct val="100000"/>
              <a:buChar char="●"/>
            </a:pPr>
            <a:r>
              <a:rPr lang="en-US" sz="1050" dirty="0">
                <a:solidFill>
                  <a:srgbClr val="1F2937"/>
                </a:solidFill>
              </a:rPr>
              <a:t>Every insight card: in-canvas headline annotation + method note (test, n, p)</a:t>
            </a:r>
            <a:endParaRPr lang="en-US" sz="1050" dirty="0"/>
          </a:p>
        </p:txBody>
      </p:sp>
      <p:sp>
        <p:nvSpPr>
          <p:cNvPr id="11" name="Text 9"/>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12" name="Text 10"/>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3">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828800"/>
            <a:ext cx="548640" cy="54864"/>
          </a:xfrm>
          <a:prstGeom prst="rect">
            <a:avLst/>
          </a:prstGeom>
          <a:solidFill>
            <a:srgbClr val="0EA5E9"/>
          </a:solidFill>
          <a:ln/>
        </p:spPr>
        <p:txBody>
          <a:bodyPr/>
          <a:lstStyle/>
          <a:p>
            <a:endParaRPr lang="en-US"/>
          </a:p>
        </p:txBody>
      </p:sp>
      <p:sp>
        <p:nvSpPr>
          <p:cNvPr id="3" name="Text 1"/>
          <p:cNvSpPr/>
          <p:nvPr/>
        </p:nvSpPr>
        <p:spPr>
          <a:xfrm>
            <a:off x="457200" y="1965960"/>
            <a:ext cx="7315200" cy="365760"/>
          </a:xfrm>
          <a:prstGeom prst="rect">
            <a:avLst/>
          </a:prstGeom>
          <a:noFill/>
          <a:ln/>
        </p:spPr>
        <p:txBody>
          <a:bodyPr wrap="square" lIns="0" tIns="0" rIns="0" bIns="0" rtlCol="0" anchor="ctr"/>
          <a:lstStyle/>
          <a:p>
            <a:pPr marL="0" indent="0">
              <a:buNone/>
            </a:pPr>
            <a:r>
              <a:rPr lang="en-US" sz="1200" b="1" kern="0" spc="600" dirty="0">
                <a:solidFill>
                  <a:srgbClr val="0EA5E9"/>
                </a:solidFill>
                <a:latin typeface="Calibri" pitchFamily="34" charset="0"/>
                <a:ea typeface="Calibri" pitchFamily="34" charset="-122"/>
                <a:cs typeface="Calibri" pitchFamily="34" charset="-120"/>
              </a:rPr>
              <a:t>PART 5</a:t>
            </a:r>
            <a:endParaRPr lang="en-US" sz="1200" dirty="0"/>
          </a:p>
        </p:txBody>
      </p:sp>
      <p:sp>
        <p:nvSpPr>
          <p:cNvPr id="4" name="Text 2"/>
          <p:cNvSpPr/>
          <p:nvPr/>
        </p:nvSpPr>
        <p:spPr>
          <a:xfrm>
            <a:off x="457200" y="2331720"/>
            <a:ext cx="822960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Technical Implementation</a:t>
            </a:r>
            <a:endParaRPr lang="en-US" sz="4400" dirty="0"/>
          </a:p>
        </p:txBody>
      </p:sp>
      <p:sp>
        <p:nvSpPr>
          <p:cNvPr id="5" name="Text 3"/>
          <p:cNvSpPr/>
          <p:nvPr/>
        </p:nvSpPr>
        <p:spPr>
          <a:xfrm>
            <a:off x="457200" y="3154680"/>
            <a:ext cx="822960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Python · Streamlit · Plotly</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5.1 TECH STACK &amp; ARCHITECTURE</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What's under the hood</a:t>
            </a:r>
            <a:endParaRPr lang="en-US" sz="2600" dirty="0"/>
          </a:p>
        </p:txBody>
      </p:sp>
      <p:sp>
        <p:nvSpPr>
          <p:cNvPr id="5" name="Shape 3"/>
          <p:cNvSpPr/>
          <p:nvPr/>
        </p:nvSpPr>
        <p:spPr>
          <a:xfrm>
            <a:off x="45720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6" name="Text 4"/>
          <p:cNvSpPr/>
          <p:nvPr/>
        </p:nvSpPr>
        <p:spPr>
          <a:xfrm>
            <a:off x="640080" y="1508760"/>
            <a:ext cx="3657600" cy="274320"/>
          </a:xfrm>
          <a:prstGeom prst="rect">
            <a:avLst/>
          </a:prstGeom>
          <a:noFill/>
          <a:ln/>
        </p:spPr>
        <p:txBody>
          <a:bodyPr wrap="square" lIns="0" tIns="0" rIns="0" bIns="0" rtlCol="0" anchor="ctr"/>
          <a:lstStyle/>
          <a:p>
            <a:pPr marL="0" indent="0">
              <a:buNone/>
            </a:pPr>
            <a:r>
              <a:rPr lang="en-US" sz="1000" b="1" kern="0" spc="300" dirty="0">
                <a:solidFill>
                  <a:srgbClr val="0EA5E9"/>
                </a:solidFill>
              </a:rPr>
              <a:t>STACK</a:t>
            </a:r>
            <a:endParaRPr lang="en-US" sz="1000" dirty="0"/>
          </a:p>
        </p:txBody>
      </p:sp>
      <p:sp>
        <p:nvSpPr>
          <p:cNvPr id="7" name="Text 5"/>
          <p:cNvSpPr/>
          <p:nvPr/>
        </p:nvSpPr>
        <p:spPr>
          <a:xfrm>
            <a:off x="640080" y="1828800"/>
            <a:ext cx="1645920" cy="274320"/>
          </a:xfrm>
          <a:prstGeom prst="rect">
            <a:avLst/>
          </a:prstGeom>
          <a:noFill/>
          <a:ln/>
        </p:spPr>
        <p:txBody>
          <a:bodyPr wrap="square" lIns="0" tIns="0" rIns="0" bIns="0" rtlCol="0" anchor="ctr"/>
          <a:lstStyle/>
          <a:p>
            <a:pPr marL="0" indent="0">
              <a:buNone/>
            </a:pPr>
            <a:r>
              <a:rPr lang="en-US" sz="1300" b="1" dirty="0">
                <a:solidFill>
                  <a:srgbClr val="1F2937"/>
                </a:solidFill>
                <a:latin typeface="Courier New" pitchFamily="34" charset="0"/>
                <a:ea typeface="Courier New" pitchFamily="34" charset="-122"/>
                <a:cs typeface="Courier New" pitchFamily="34" charset="-120"/>
              </a:rPr>
              <a:t>Python 3.11</a:t>
            </a:r>
            <a:endParaRPr lang="en-US" sz="1300" dirty="0"/>
          </a:p>
        </p:txBody>
      </p:sp>
      <p:sp>
        <p:nvSpPr>
          <p:cNvPr id="8" name="Text 6"/>
          <p:cNvSpPr/>
          <p:nvPr/>
        </p:nvSpPr>
        <p:spPr>
          <a:xfrm>
            <a:off x="2286000" y="1828800"/>
            <a:ext cx="2103120" cy="274320"/>
          </a:xfrm>
          <a:prstGeom prst="rect">
            <a:avLst/>
          </a:prstGeom>
          <a:noFill/>
          <a:ln/>
        </p:spPr>
        <p:txBody>
          <a:bodyPr wrap="square" lIns="0" tIns="0" rIns="0" bIns="0" rtlCol="0" anchor="ctr"/>
          <a:lstStyle/>
          <a:p>
            <a:pPr marL="0" indent="0">
              <a:buNone/>
            </a:pPr>
            <a:r>
              <a:rPr lang="en-US" sz="1100" dirty="0">
                <a:solidFill>
                  <a:srgbClr val="64748B"/>
                </a:solidFill>
              </a:rPr>
              <a:t>Language</a:t>
            </a:r>
            <a:endParaRPr lang="en-US" sz="1100" dirty="0"/>
          </a:p>
        </p:txBody>
      </p:sp>
      <p:sp>
        <p:nvSpPr>
          <p:cNvPr id="9" name="Text 7"/>
          <p:cNvSpPr/>
          <p:nvPr/>
        </p:nvSpPr>
        <p:spPr>
          <a:xfrm>
            <a:off x="640080" y="2303800"/>
            <a:ext cx="1645920" cy="274320"/>
          </a:xfrm>
          <a:prstGeom prst="rect">
            <a:avLst/>
          </a:prstGeom>
          <a:noFill/>
          <a:ln/>
        </p:spPr>
        <p:txBody>
          <a:bodyPr wrap="square" lIns="0" tIns="0" rIns="0" bIns="0" rtlCol="0" anchor="ctr"/>
          <a:lstStyle/>
          <a:p>
            <a:pPr marL="0" indent="0">
              <a:buNone/>
            </a:pPr>
            <a:r>
              <a:rPr lang="en-US" sz="1300" b="1" dirty="0">
                <a:solidFill>
                  <a:srgbClr val="1F2937"/>
                </a:solidFill>
                <a:latin typeface="Courier New" pitchFamily="34" charset="0"/>
                <a:ea typeface="Courier New" pitchFamily="34" charset="-122"/>
                <a:cs typeface="Courier New" pitchFamily="34" charset="-120"/>
              </a:rPr>
              <a:t>Streamlit 1.32</a:t>
            </a:r>
            <a:endParaRPr lang="en-US" sz="1300" dirty="0"/>
          </a:p>
        </p:txBody>
      </p:sp>
      <p:sp>
        <p:nvSpPr>
          <p:cNvPr id="10" name="Text 8"/>
          <p:cNvSpPr/>
          <p:nvPr/>
        </p:nvSpPr>
        <p:spPr>
          <a:xfrm>
            <a:off x="2286000" y="2303800"/>
            <a:ext cx="2103120" cy="274320"/>
          </a:xfrm>
          <a:prstGeom prst="rect">
            <a:avLst/>
          </a:prstGeom>
          <a:noFill/>
          <a:ln/>
        </p:spPr>
        <p:txBody>
          <a:bodyPr wrap="square" lIns="0" tIns="0" rIns="0" bIns="0" rtlCol="0" anchor="ctr"/>
          <a:lstStyle/>
          <a:p>
            <a:pPr marL="0" indent="0">
              <a:buNone/>
            </a:pPr>
            <a:r>
              <a:rPr lang="en-US" sz="1100" dirty="0">
                <a:solidFill>
                  <a:srgbClr val="64748B"/>
                </a:solidFill>
              </a:rPr>
              <a:t>Multi-page web app framework</a:t>
            </a:r>
            <a:endParaRPr lang="en-US" sz="1100" dirty="0"/>
          </a:p>
        </p:txBody>
      </p:sp>
      <p:sp>
        <p:nvSpPr>
          <p:cNvPr id="11" name="Text 9"/>
          <p:cNvSpPr/>
          <p:nvPr/>
        </p:nvSpPr>
        <p:spPr>
          <a:xfrm>
            <a:off x="640080" y="2778800"/>
            <a:ext cx="1645920" cy="274320"/>
          </a:xfrm>
          <a:prstGeom prst="rect">
            <a:avLst/>
          </a:prstGeom>
          <a:noFill/>
          <a:ln/>
        </p:spPr>
        <p:txBody>
          <a:bodyPr wrap="square" lIns="0" tIns="0" rIns="0" bIns="0" rtlCol="0" anchor="ctr"/>
          <a:lstStyle/>
          <a:p>
            <a:pPr marL="0" indent="0">
              <a:buNone/>
            </a:pPr>
            <a:r>
              <a:rPr lang="en-US" sz="1300" b="1" dirty="0">
                <a:solidFill>
                  <a:srgbClr val="1F2937"/>
                </a:solidFill>
                <a:latin typeface="Courier New" pitchFamily="34" charset="0"/>
                <a:ea typeface="Courier New" pitchFamily="34" charset="-122"/>
                <a:cs typeface="Courier New" pitchFamily="34" charset="-120"/>
              </a:rPr>
              <a:t>Pandas 2.x</a:t>
            </a:r>
            <a:endParaRPr lang="en-US" sz="1300" dirty="0"/>
          </a:p>
        </p:txBody>
      </p:sp>
      <p:sp>
        <p:nvSpPr>
          <p:cNvPr id="12" name="Text 10"/>
          <p:cNvSpPr/>
          <p:nvPr/>
        </p:nvSpPr>
        <p:spPr>
          <a:xfrm>
            <a:off x="2286000" y="2778800"/>
            <a:ext cx="2103120" cy="274320"/>
          </a:xfrm>
          <a:prstGeom prst="rect">
            <a:avLst/>
          </a:prstGeom>
          <a:noFill/>
          <a:ln/>
        </p:spPr>
        <p:txBody>
          <a:bodyPr wrap="square" lIns="0" tIns="0" rIns="0" bIns="0" rtlCol="0" anchor="ctr"/>
          <a:lstStyle/>
          <a:p>
            <a:pPr marL="0" indent="0">
              <a:buNone/>
            </a:pPr>
            <a:r>
              <a:rPr lang="en-US" sz="1100" dirty="0">
                <a:solidFill>
                  <a:srgbClr val="64748B"/>
                </a:solidFill>
              </a:rPr>
              <a:t>Data wrangling, groupby, rolling means</a:t>
            </a:r>
            <a:endParaRPr lang="en-US" sz="1100" dirty="0"/>
          </a:p>
        </p:txBody>
      </p:sp>
      <p:sp>
        <p:nvSpPr>
          <p:cNvPr id="13" name="Text 11"/>
          <p:cNvSpPr/>
          <p:nvPr/>
        </p:nvSpPr>
        <p:spPr>
          <a:xfrm>
            <a:off x="640080" y="3253800"/>
            <a:ext cx="1645920" cy="274320"/>
          </a:xfrm>
          <a:prstGeom prst="rect">
            <a:avLst/>
          </a:prstGeom>
          <a:noFill/>
          <a:ln/>
        </p:spPr>
        <p:txBody>
          <a:bodyPr wrap="square" lIns="0" tIns="0" rIns="0" bIns="0" rtlCol="0" anchor="ctr"/>
          <a:lstStyle/>
          <a:p>
            <a:pPr marL="0" indent="0">
              <a:buNone/>
            </a:pPr>
            <a:r>
              <a:rPr lang="en-US" sz="1300" b="1" dirty="0">
                <a:solidFill>
                  <a:srgbClr val="1F2937"/>
                </a:solidFill>
                <a:latin typeface="Courier New" pitchFamily="34" charset="0"/>
                <a:ea typeface="Courier New" pitchFamily="34" charset="-122"/>
                <a:cs typeface="Courier New" pitchFamily="34" charset="-120"/>
              </a:rPr>
              <a:t>Plotly 5.x</a:t>
            </a:r>
            <a:endParaRPr lang="en-US" sz="1300" dirty="0"/>
          </a:p>
        </p:txBody>
      </p:sp>
      <p:sp>
        <p:nvSpPr>
          <p:cNvPr id="14" name="Text 12"/>
          <p:cNvSpPr/>
          <p:nvPr/>
        </p:nvSpPr>
        <p:spPr>
          <a:xfrm>
            <a:off x="2286000" y="3253800"/>
            <a:ext cx="2103120" cy="274320"/>
          </a:xfrm>
          <a:prstGeom prst="rect">
            <a:avLst/>
          </a:prstGeom>
          <a:noFill/>
          <a:ln/>
        </p:spPr>
        <p:txBody>
          <a:bodyPr wrap="square" lIns="0" tIns="0" rIns="0" bIns="0" rtlCol="0" anchor="ctr"/>
          <a:lstStyle/>
          <a:p>
            <a:pPr marL="0" indent="0">
              <a:buNone/>
            </a:pPr>
            <a:r>
              <a:rPr lang="en-US" sz="1100" dirty="0">
                <a:solidFill>
                  <a:srgbClr val="64748B"/>
                </a:solidFill>
              </a:rPr>
              <a:t>Interactive charts (hover, zoom, brush)</a:t>
            </a:r>
            <a:endParaRPr lang="en-US" sz="1100" dirty="0"/>
          </a:p>
        </p:txBody>
      </p:sp>
      <p:sp>
        <p:nvSpPr>
          <p:cNvPr id="15" name="Text 13"/>
          <p:cNvSpPr/>
          <p:nvPr/>
        </p:nvSpPr>
        <p:spPr>
          <a:xfrm>
            <a:off x="640080" y="3728800"/>
            <a:ext cx="1645920" cy="274320"/>
          </a:xfrm>
          <a:prstGeom prst="rect">
            <a:avLst/>
          </a:prstGeom>
          <a:noFill/>
          <a:ln/>
        </p:spPr>
        <p:txBody>
          <a:bodyPr wrap="square" lIns="0" tIns="0" rIns="0" bIns="0" rtlCol="0" anchor="ctr"/>
          <a:lstStyle/>
          <a:p>
            <a:pPr marL="0" indent="0">
              <a:buNone/>
            </a:pPr>
            <a:r>
              <a:rPr lang="en-US" sz="1300" b="1" dirty="0">
                <a:solidFill>
                  <a:srgbClr val="1F2937"/>
                </a:solidFill>
                <a:latin typeface="Courier New" pitchFamily="34" charset="0"/>
                <a:ea typeface="Courier New" pitchFamily="34" charset="-122"/>
                <a:cs typeface="Courier New" pitchFamily="34" charset="-120"/>
              </a:rPr>
              <a:t>SQLite3</a:t>
            </a:r>
            <a:endParaRPr lang="en-US" sz="1300" dirty="0"/>
          </a:p>
        </p:txBody>
      </p:sp>
      <p:sp>
        <p:nvSpPr>
          <p:cNvPr id="16" name="Text 14"/>
          <p:cNvSpPr/>
          <p:nvPr/>
        </p:nvSpPr>
        <p:spPr>
          <a:xfrm>
            <a:off x="2286000" y="3728800"/>
            <a:ext cx="2103120" cy="274320"/>
          </a:xfrm>
          <a:prstGeom prst="rect">
            <a:avLst/>
          </a:prstGeom>
          <a:noFill/>
          <a:ln/>
        </p:spPr>
        <p:txBody>
          <a:bodyPr wrap="square" lIns="0" tIns="0" rIns="0" bIns="0" rtlCol="0" anchor="ctr"/>
          <a:lstStyle/>
          <a:p>
            <a:pPr marL="0" indent="0">
              <a:buNone/>
            </a:pPr>
            <a:r>
              <a:rPr lang="en-US" sz="1100" dirty="0">
                <a:solidFill>
                  <a:srgbClr val="64748B"/>
                </a:solidFill>
              </a:rPr>
              <a:t>Embedded DB — users table, multi-user-ready</a:t>
            </a:r>
            <a:endParaRPr lang="en-US" sz="1100" dirty="0"/>
          </a:p>
        </p:txBody>
      </p:sp>
      <p:sp>
        <p:nvSpPr>
          <p:cNvPr id="90" name="Text Stack Row6a"/>
          <p:cNvSpPr/>
          <p:nvPr/>
        </p:nvSpPr>
        <p:spPr>
          <a:xfrm>
            <a:off x="640080" y="4203800"/>
            <a:ext cx="182880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analytics.py</a:t>
            </a:r>
            <a:endParaRPr lang="en-US" sz="1400" dirty="0"/>
          </a:p>
        </p:txBody>
      </p:sp>
      <p:sp>
        <p:nvSpPr>
          <p:cNvPr id="91" name="Text Stack Row6b"/>
          <p:cNvSpPr/>
          <p:nvPr/>
        </p:nvSpPr>
        <p:spPr>
          <a:xfrm>
            <a:off x="2286000" y="4203800"/>
            <a:ext cx="2103120" cy="274320"/>
          </a:xfrm>
          <a:prstGeom prst="rect">
            <a:avLst/>
          </a:prstGeom>
          <a:noFill/>
          <a:ln/>
        </p:spPr>
        <p:txBody>
          <a:bodyPr wrap="square" lIns="0" tIns="0" rIns="0" bIns="0" rtlCol="0" anchor="ctr"/>
          <a:lstStyle/>
          <a:p>
            <a:pPr marL="0" indent="0">
              <a:buNone/>
            </a:pPr>
            <a:r>
              <a:rPr lang="en-US" sz="1400" dirty="0">
                <a:solidFill>
                  <a:srgbClr val="1E293B"/>
                </a:solidFill>
                <a:latin typeface="Calibri" pitchFamily="34" charset="0"/>
                <a:ea typeface="Calibri" pitchFamily="34" charset="-122"/>
                <a:cs typeface="Calibri" pitchFamily="34" charset="-120"/>
              </a:rPr>
              <a:t>Elo · win model · Wilson CIs (12/12 tests)</a:t>
            </a:r>
            <a:endParaRPr lang="en-US" sz="1400" dirty="0"/>
          </a:p>
        </p:txBody>
      </p:sp>
      <p:sp>
        <p:nvSpPr>
          <p:cNvPr id="17" name="Shape 15"/>
          <p:cNvSpPr/>
          <p:nvPr/>
        </p:nvSpPr>
        <p:spPr>
          <a:xfrm>
            <a:off x="4663440" y="1371600"/>
            <a:ext cx="4023360" cy="3200400"/>
          </a:xfrm>
          <a:prstGeom prst="rect">
            <a:avLst/>
          </a:prstGeom>
          <a:solidFill>
            <a:srgbClr val="FFFFFF"/>
          </a:solidFill>
          <a:ln w="9525">
            <a:solidFill>
              <a:srgbClr val="CFD6DD"/>
            </a:solidFill>
            <a:prstDash val="solid"/>
          </a:ln>
        </p:spPr>
        <p:txBody>
          <a:bodyPr/>
          <a:lstStyle/>
          <a:p>
            <a:endParaRPr lang="en-US"/>
          </a:p>
        </p:txBody>
      </p:sp>
      <p:sp>
        <p:nvSpPr>
          <p:cNvPr id="18" name="Text 16"/>
          <p:cNvSpPr/>
          <p:nvPr/>
        </p:nvSpPr>
        <p:spPr>
          <a:xfrm>
            <a:off x="4846320" y="1508760"/>
            <a:ext cx="3657600" cy="274320"/>
          </a:xfrm>
          <a:prstGeom prst="rect">
            <a:avLst/>
          </a:prstGeom>
          <a:noFill/>
          <a:ln/>
        </p:spPr>
        <p:txBody>
          <a:bodyPr wrap="square" lIns="0" tIns="0" rIns="0" bIns="0" rtlCol="0" anchor="ctr"/>
          <a:lstStyle/>
          <a:p>
            <a:pPr marL="0" indent="0">
              <a:buNone/>
            </a:pPr>
            <a:r>
              <a:rPr lang="en-US" sz="1000" b="1" kern="0" spc="300" dirty="0">
                <a:solidFill>
                  <a:srgbClr val="0EA5E9"/>
                </a:solidFill>
              </a:rPr>
              <a:t>ARCHITECTURE</a:t>
            </a:r>
            <a:endParaRPr lang="en-US" sz="1000" dirty="0"/>
          </a:p>
        </p:txBody>
      </p:sp>
      <p:sp>
        <p:nvSpPr>
          <p:cNvPr id="19" name="Shape 17"/>
          <p:cNvSpPr/>
          <p:nvPr/>
        </p:nvSpPr>
        <p:spPr>
          <a:xfrm>
            <a:off x="4846320" y="1828800"/>
            <a:ext cx="1737360" cy="502920"/>
          </a:xfrm>
          <a:prstGeom prst="rect">
            <a:avLst/>
          </a:prstGeom>
          <a:solidFill>
            <a:srgbClr val="F8FAFC"/>
          </a:solidFill>
          <a:ln w="9525">
            <a:solidFill>
              <a:srgbClr val="CFD6DD"/>
            </a:solidFill>
            <a:prstDash val="solid"/>
          </a:ln>
        </p:spPr>
        <p:txBody>
          <a:bodyPr/>
          <a:lstStyle/>
          <a:p>
            <a:endParaRPr lang="en-US"/>
          </a:p>
        </p:txBody>
      </p:sp>
      <p:sp>
        <p:nvSpPr>
          <p:cNvPr id="20" name="Text 18"/>
          <p:cNvSpPr/>
          <p:nvPr/>
        </p:nvSpPr>
        <p:spPr>
          <a:xfrm>
            <a:off x="4846320" y="1874520"/>
            <a:ext cx="1737360" cy="228600"/>
          </a:xfrm>
          <a:prstGeom prst="rect">
            <a:avLst/>
          </a:prstGeom>
          <a:noFill/>
          <a:ln/>
        </p:spPr>
        <p:txBody>
          <a:bodyPr wrap="square" lIns="0" tIns="0" rIns="0" bIns="0" rtlCol="0" anchor="ctr"/>
          <a:lstStyle/>
          <a:p>
            <a:pPr marL="0" indent="0" algn="ctr">
              <a:buNone/>
            </a:pPr>
            <a:r>
              <a:rPr lang="en-US" sz="1000" b="1" dirty="0">
                <a:solidFill>
                  <a:srgbClr val="1F2937"/>
                </a:solidFill>
              </a:rPr>
              <a:t>Padel API</a:t>
            </a:r>
            <a:endParaRPr lang="en-US" sz="1000" dirty="0"/>
          </a:p>
        </p:txBody>
      </p:sp>
      <p:sp>
        <p:nvSpPr>
          <p:cNvPr id="21" name="Text 19"/>
          <p:cNvSpPr/>
          <p:nvPr/>
        </p:nvSpPr>
        <p:spPr>
          <a:xfrm>
            <a:off x="4846320" y="2084832"/>
            <a:ext cx="1737360" cy="201168"/>
          </a:xfrm>
          <a:prstGeom prst="rect">
            <a:avLst/>
          </a:prstGeom>
          <a:noFill/>
          <a:ln/>
        </p:spPr>
        <p:txBody>
          <a:bodyPr wrap="square" lIns="0" tIns="0" rIns="0" bIns="0" rtlCol="0" anchor="ctr"/>
          <a:lstStyle/>
          <a:p>
            <a:pPr marL="0" indent="0" algn="ctr">
              <a:buNone/>
            </a:pPr>
            <a:r>
              <a:rPr lang="en-US" sz="800" i="1" dirty="0">
                <a:solidFill>
                  <a:srgbClr val="64748B"/>
                </a:solidFill>
              </a:rPr>
              <a:t>REST + JSON</a:t>
            </a:r>
            <a:endParaRPr lang="en-US" sz="800" dirty="0"/>
          </a:p>
        </p:txBody>
      </p:sp>
      <p:sp>
        <p:nvSpPr>
          <p:cNvPr id="22" name="Shape 20"/>
          <p:cNvSpPr/>
          <p:nvPr/>
        </p:nvSpPr>
        <p:spPr>
          <a:xfrm>
            <a:off x="6766560" y="1828800"/>
            <a:ext cx="1737360" cy="502920"/>
          </a:xfrm>
          <a:prstGeom prst="rect">
            <a:avLst/>
          </a:prstGeom>
          <a:solidFill>
            <a:srgbClr val="F8FAFC"/>
          </a:solidFill>
          <a:ln w="9525">
            <a:solidFill>
              <a:srgbClr val="CFD6DD"/>
            </a:solidFill>
            <a:prstDash val="solid"/>
          </a:ln>
        </p:spPr>
        <p:txBody>
          <a:bodyPr/>
          <a:lstStyle/>
          <a:p>
            <a:endParaRPr lang="en-US"/>
          </a:p>
        </p:txBody>
      </p:sp>
      <p:sp>
        <p:nvSpPr>
          <p:cNvPr id="23" name="Text 21"/>
          <p:cNvSpPr/>
          <p:nvPr/>
        </p:nvSpPr>
        <p:spPr>
          <a:xfrm>
            <a:off x="6766560" y="1874520"/>
            <a:ext cx="1737360" cy="228600"/>
          </a:xfrm>
          <a:prstGeom prst="rect">
            <a:avLst/>
          </a:prstGeom>
          <a:noFill/>
          <a:ln/>
        </p:spPr>
        <p:txBody>
          <a:bodyPr wrap="square" lIns="0" tIns="0" rIns="0" bIns="0" rtlCol="0" anchor="ctr"/>
          <a:lstStyle/>
          <a:p>
            <a:pPr marL="0" indent="0" algn="ctr">
              <a:buNone/>
            </a:pPr>
            <a:r>
              <a:rPr lang="en-US" sz="1000" b="1" dirty="0">
                <a:solidFill>
                  <a:srgbClr val="1F2937"/>
                </a:solidFill>
              </a:rPr>
              <a:t>SQLite DB</a:t>
            </a:r>
            <a:endParaRPr lang="en-US" sz="1000" dirty="0"/>
          </a:p>
        </p:txBody>
      </p:sp>
      <p:sp>
        <p:nvSpPr>
          <p:cNvPr id="24" name="Text 22"/>
          <p:cNvSpPr/>
          <p:nvPr/>
        </p:nvSpPr>
        <p:spPr>
          <a:xfrm>
            <a:off x="6766560" y="2084832"/>
            <a:ext cx="1737360" cy="201168"/>
          </a:xfrm>
          <a:prstGeom prst="rect">
            <a:avLst/>
          </a:prstGeom>
          <a:noFill/>
          <a:ln/>
        </p:spPr>
        <p:txBody>
          <a:bodyPr wrap="square" lIns="0" tIns="0" rIns="0" bIns="0" rtlCol="0" anchor="ctr"/>
          <a:lstStyle/>
          <a:p>
            <a:pPr marL="0" indent="0" algn="ctr">
              <a:buNone/>
            </a:pPr>
            <a:r>
              <a:rPr lang="en-US" sz="800" i="1" dirty="0">
                <a:solidFill>
                  <a:srgbClr val="64748B"/>
                </a:solidFill>
              </a:rPr>
              <a:t>users table</a:t>
            </a:r>
            <a:endParaRPr lang="en-US" sz="800" dirty="0"/>
          </a:p>
        </p:txBody>
      </p:sp>
      <p:sp>
        <p:nvSpPr>
          <p:cNvPr id="25" name="Shape 23"/>
          <p:cNvSpPr/>
          <p:nvPr/>
        </p:nvSpPr>
        <p:spPr>
          <a:xfrm>
            <a:off x="6583680" y="2084832"/>
            <a:ext cx="164592" cy="0"/>
          </a:xfrm>
          <a:prstGeom prst="line">
            <a:avLst/>
          </a:prstGeom>
          <a:noFill/>
          <a:ln w="19050">
            <a:solidFill>
              <a:srgbClr val="64748B"/>
            </a:solidFill>
            <a:prstDash val="solid"/>
            <a:tailEnd type="triangle"/>
          </a:ln>
        </p:spPr>
        <p:txBody>
          <a:bodyPr/>
          <a:lstStyle/>
          <a:p>
            <a:endParaRPr lang="en-US"/>
          </a:p>
        </p:txBody>
      </p:sp>
      <p:sp>
        <p:nvSpPr>
          <p:cNvPr id="26" name="Shape 24"/>
          <p:cNvSpPr/>
          <p:nvPr/>
        </p:nvSpPr>
        <p:spPr>
          <a:xfrm>
            <a:off x="5806440" y="2606040"/>
            <a:ext cx="1737360" cy="502920"/>
          </a:xfrm>
          <a:prstGeom prst="rect">
            <a:avLst/>
          </a:prstGeom>
          <a:solidFill>
            <a:srgbClr val="F8FAFC"/>
          </a:solidFill>
          <a:ln w="9525">
            <a:solidFill>
              <a:srgbClr val="CFD6DD"/>
            </a:solidFill>
            <a:prstDash val="solid"/>
          </a:ln>
        </p:spPr>
        <p:txBody>
          <a:bodyPr/>
          <a:lstStyle/>
          <a:p>
            <a:endParaRPr lang="en-US"/>
          </a:p>
        </p:txBody>
      </p:sp>
      <p:sp>
        <p:nvSpPr>
          <p:cNvPr id="27" name="Text 25"/>
          <p:cNvSpPr/>
          <p:nvPr/>
        </p:nvSpPr>
        <p:spPr>
          <a:xfrm>
            <a:off x="5806440" y="2651760"/>
            <a:ext cx="1737360" cy="228600"/>
          </a:xfrm>
          <a:prstGeom prst="rect">
            <a:avLst/>
          </a:prstGeom>
          <a:noFill/>
          <a:ln/>
        </p:spPr>
        <p:txBody>
          <a:bodyPr wrap="square" lIns="0" tIns="0" rIns="0" bIns="0" rtlCol="0" anchor="ctr"/>
          <a:lstStyle/>
          <a:p>
            <a:pPr marL="0" indent="0" algn="ctr">
              <a:buNone/>
            </a:pPr>
            <a:r>
              <a:rPr lang="en-US" sz="1000" b="1" dirty="0">
                <a:solidFill>
                  <a:srgbClr val="1F2937"/>
                </a:solidFill>
              </a:rPr>
              <a:t>Pandas</a:t>
            </a:r>
            <a:endParaRPr lang="en-US" sz="1000" dirty="0"/>
          </a:p>
        </p:txBody>
      </p:sp>
      <p:sp>
        <p:nvSpPr>
          <p:cNvPr id="28" name="Text 26"/>
          <p:cNvSpPr/>
          <p:nvPr/>
        </p:nvSpPr>
        <p:spPr>
          <a:xfrm>
            <a:off x="5806440" y="2862072"/>
            <a:ext cx="1737360" cy="201168"/>
          </a:xfrm>
          <a:prstGeom prst="rect">
            <a:avLst/>
          </a:prstGeom>
          <a:noFill/>
          <a:ln/>
        </p:spPr>
        <p:txBody>
          <a:bodyPr wrap="square" lIns="0" tIns="0" rIns="0" bIns="0" rtlCol="0" anchor="ctr"/>
          <a:lstStyle/>
          <a:p>
            <a:pPr marL="0" indent="0" algn="ctr">
              <a:buNone/>
            </a:pPr>
            <a:r>
              <a:rPr lang="en-US" sz="800" i="1" dirty="0">
                <a:solidFill>
                  <a:srgbClr val="64748B"/>
                </a:solidFill>
              </a:rPr>
              <a:t>load + transform</a:t>
            </a:r>
            <a:endParaRPr lang="en-US" sz="800" dirty="0"/>
          </a:p>
        </p:txBody>
      </p:sp>
      <p:sp>
        <p:nvSpPr>
          <p:cNvPr id="29" name="Shape 27"/>
          <p:cNvSpPr/>
          <p:nvPr/>
        </p:nvSpPr>
        <p:spPr>
          <a:xfrm>
            <a:off x="5715000" y="2331720"/>
            <a:ext cx="914400" cy="274320"/>
          </a:xfrm>
          <a:prstGeom prst="line">
            <a:avLst/>
          </a:prstGeom>
          <a:noFill/>
          <a:ln w="12700">
            <a:solidFill>
              <a:srgbClr val="64748B"/>
            </a:solidFill>
            <a:prstDash val="solid"/>
            <a:tailEnd type="triangle"/>
          </a:ln>
        </p:spPr>
        <p:txBody>
          <a:bodyPr/>
          <a:lstStyle/>
          <a:p>
            <a:endParaRPr lang="en-US"/>
          </a:p>
        </p:txBody>
      </p:sp>
      <p:sp>
        <p:nvSpPr>
          <p:cNvPr id="30" name="Shape 28"/>
          <p:cNvSpPr/>
          <p:nvPr/>
        </p:nvSpPr>
        <p:spPr>
          <a:xfrm>
            <a:off x="7635240" y="2331720"/>
            <a:ext cx="0" cy="274320"/>
          </a:xfrm>
          <a:prstGeom prst="line">
            <a:avLst/>
          </a:prstGeom>
          <a:noFill/>
          <a:ln w="12700">
            <a:solidFill>
              <a:srgbClr val="64748B"/>
            </a:solidFill>
            <a:prstDash val="solid"/>
            <a:tailEnd type="triangle"/>
          </a:ln>
        </p:spPr>
        <p:txBody>
          <a:bodyPr/>
          <a:lstStyle/>
          <a:p>
            <a:endParaRPr lang="en-US"/>
          </a:p>
        </p:txBody>
      </p:sp>
      <p:sp>
        <p:nvSpPr>
          <p:cNvPr id="31" name="Shape 29"/>
          <p:cNvSpPr/>
          <p:nvPr/>
        </p:nvSpPr>
        <p:spPr>
          <a:xfrm>
            <a:off x="5806440" y="3383280"/>
            <a:ext cx="1737360" cy="502920"/>
          </a:xfrm>
          <a:prstGeom prst="rect">
            <a:avLst/>
          </a:prstGeom>
          <a:solidFill>
            <a:srgbClr val="F8FAFC"/>
          </a:solidFill>
          <a:ln w="9525">
            <a:solidFill>
              <a:srgbClr val="CFD6DD"/>
            </a:solidFill>
            <a:prstDash val="solid"/>
          </a:ln>
        </p:spPr>
        <p:txBody>
          <a:bodyPr/>
          <a:lstStyle/>
          <a:p>
            <a:endParaRPr lang="en-US"/>
          </a:p>
        </p:txBody>
      </p:sp>
      <p:sp>
        <p:nvSpPr>
          <p:cNvPr id="32" name="Text 30"/>
          <p:cNvSpPr/>
          <p:nvPr/>
        </p:nvSpPr>
        <p:spPr>
          <a:xfrm>
            <a:off x="5806440" y="3429000"/>
            <a:ext cx="1737360" cy="228600"/>
          </a:xfrm>
          <a:prstGeom prst="rect">
            <a:avLst/>
          </a:prstGeom>
          <a:noFill/>
          <a:ln/>
        </p:spPr>
        <p:txBody>
          <a:bodyPr wrap="square" lIns="0" tIns="0" rIns="0" bIns="0" rtlCol="0" anchor="ctr"/>
          <a:lstStyle/>
          <a:p>
            <a:pPr marL="0" indent="0" algn="ctr">
              <a:buNone/>
            </a:pPr>
            <a:r>
              <a:rPr lang="en-US" sz="1000" b="1" dirty="0">
                <a:solidFill>
                  <a:srgbClr val="1F2937"/>
                </a:solidFill>
              </a:rPr>
              <a:t>Plotly</a:t>
            </a:r>
            <a:endParaRPr lang="en-US" sz="1000" dirty="0"/>
          </a:p>
        </p:txBody>
      </p:sp>
      <p:sp>
        <p:nvSpPr>
          <p:cNvPr id="33" name="Text 31"/>
          <p:cNvSpPr/>
          <p:nvPr/>
        </p:nvSpPr>
        <p:spPr>
          <a:xfrm>
            <a:off x="5806440" y="3639312"/>
            <a:ext cx="1737360" cy="201168"/>
          </a:xfrm>
          <a:prstGeom prst="rect">
            <a:avLst/>
          </a:prstGeom>
          <a:noFill/>
          <a:ln/>
        </p:spPr>
        <p:txBody>
          <a:bodyPr wrap="square" lIns="0" tIns="0" rIns="0" bIns="0" rtlCol="0" anchor="ctr"/>
          <a:lstStyle/>
          <a:p>
            <a:pPr marL="0" indent="0" algn="ctr">
              <a:buNone/>
            </a:pPr>
            <a:r>
              <a:rPr lang="en-US" sz="800" i="1" dirty="0">
                <a:solidFill>
                  <a:srgbClr val="64748B"/>
                </a:solidFill>
              </a:rPr>
              <a:t>interactive</a:t>
            </a:r>
            <a:endParaRPr lang="en-US" sz="800" dirty="0"/>
          </a:p>
        </p:txBody>
      </p:sp>
      <p:sp>
        <p:nvSpPr>
          <p:cNvPr id="34" name="Shape 32"/>
          <p:cNvSpPr/>
          <p:nvPr/>
        </p:nvSpPr>
        <p:spPr>
          <a:xfrm>
            <a:off x="6675120" y="3108960"/>
            <a:ext cx="0" cy="274320"/>
          </a:xfrm>
          <a:prstGeom prst="line">
            <a:avLst/>
          </a:prstGeom>
          <a:noFill/>
          <a:ln w="12700">
            <a:solidFill>
              <a:srgbClr val="64748B"/>
            </a:solidFill>
            <a:prstDash val="solid"/>
            <a:tailEnd type="triangle"/>
          </a:ln>
        </p:spPr>
        <p:txBody>
          <a:bodyPr/>
          <a:lstStyle/>
          <a:p>
            <a:endParaRPr lang="en-US"/>
          </a:p>
        </p:txBody>
      </p:sp>
      <p:sp>
        <p:nvSpPr>
          <p:cNvPr id="35" name="Shape 33"/>
          <p:cNvSpPr/>
          <p:nvPr/>
        </p:nvSpPr>
        <p:spPr>
          <a:xfrm>
            <a:off x="4846320" y="4160520"/>
            <a:ext cx="3566160" cy="365760"/>
          </a:xfrm>
          <a:prstGeom prst="rect">
            <a:avLst/>
          </a:prstGeom>
          <a:solidFill>
            <a:srgbClr val="F8FAFC"/>
          </a:solidFill>
          <a:ln w="9525">
            <a:solidFill>
              <a:srgbClr val="CFD6DD"/>
            </a:solidFill>
            <a:prstDash val="solid"/>
          </a:ln>
        </p:spPr>
        <p:txBody>
          <a:bodyPr/>
          <a:lstStyle/>
          <a:p>
            <a:endParaRPr lang="en-US"/>
          </a:p>
        </p:txBody>
      </p:sp>
      <p:sp>
        <p:nvSpPr>
          <p:cNvPr id="92" name="Text Provenance Caption"/>
          <p:cNvSpPr/>
          <p:nvPr/>
        </p:nvSpPr>
        <p:spPr>
          <a:xfrm>
            <a:off x="4846320" y="4572000"/>
            <a:ext cx="3657600" cy="256032"/>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Every pro view captions its data source.</a:t>
            </a:r>
            <a:endParaRPr lang="en-US" sz="900" dirty="0"/>
          </a:p>
        </p:txBody>
      </p:sp>
      <p:sp>
        <p:nvSpPr>
          <p:cNvPr id="36" name="Text 34"/>
          <p:cNvSpPr/>
          <p:nvPr/>
        </p:nvSpPr>
        <p:spPr>
          <a:xfrm>
            <a:off x="4846320" y="4206240"/>
            <a:ext cx="3566160" cy="228600"/>
          </a:xfrm>
          <a:prstGeom prst="rect">
            <a:avLst/>
          </a:prstGeom>
          <a:noFill/>
          <a:ln/>
        </p:spPr>
        <p:txBody>
          <a:bodyPr wrap="square" lIns="0" tIns="0" rIns="0" bIns="0" rtlCol="0" anchor="ctr"/>
          <a:lstStyle/>
          <a:p>
            <a:pPr marL="0" indent="0" algn="ctr">
              <a:buNone/>
            </a:pPr>
            <a:r>
              <a:rPr lang="en-US" sz="1000" b="1" dirty="0">
                <a:solidFill>
                  <a:srgbClr val="1F2937"/>
                </a:solidFill>
              </a:rPr>
              <a:t>Streamlit · run_app.bat launcher</a:t>
            </a:r>
            <a:endParaRPr lang="en-US" sz="1000" dirty="0"/>
          </a:p>
        </p:txBody>
      </p:sp>
      <p:sp>
        <p:nvSpPr>
          <p:cNvPr id="37" name="Shape 35"/>
          <p:cNvSpPr/>
          <p:nvPr/>
        </p:nvSpPr>
        <p:spPr>
          <a:xfrm>
            <a:off x="6675120" y="3886200"/>
            <a:ext cx="0" cy="274320"/>
          </a:xfrm>
          <a:prstGeom prst="line">
            <a:avLst/>
          </a:prstGeom>
          <a:noFill/>
          <a:ln w="12700">
            <a:solidFill>
              <a:srgbClr val="64748B"/>
            </a:solidFill>
            <a:prstDash val="solid"/>
            <a:tailEnd type="triangle"/>
          </a:ln>
        </p:spPr>
        <p:txBody>
          <a:bodyPr/>
          <a:lstStyle/>
          <a:p>
            <a:endParaRPr lang="en-US"/>
          </a:p>
        </p:txBody>
      </p:sp>
      <p:sp>
        <p:nvSpPr>
          <p:cNvPr id="38" name="Text 36"/>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39" name="Text 37"/>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5.2 THE ANALYTICS MODULE</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From raw CSVs to a real modelling layer</a:t>
            </a:r>
            <a:endParaRPr lang="en-US" sz="2600" dirty="0"/>
          </a:p>
        </p:txBody>
      </p:sp>
      <p:sp>
        <p:nvSpPr>
          <p:cNvPr id="100" name="Text 100"/>
          <p:cNvSpPr/>
          <p:nvPr/>
        </p:nvSpPr>
        <p:spPr>
          <a:xfrm>
            <a:off x="502920" y="1417320"/>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1" name="Text 101"/>
          <p:cNvSpPr/>
          <p:nvPr/>
        </p:nvSpPr>
        <p:spPr>
          <a:xfrm>
            <a:off x="960120" y="1380744"/>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Elo rating engine</a:t>
            </a:r>
            <a:endParaRPr lang="en-US" sz="1400" dirty="0"/>
          </a:p>
        </p:txBody>
      </p:sp>
      <p:sp>
        <p:nvSpPr>
          <p:cNvPr id="102" name="Text 102"/>
          <p:cNvSpPr/>
          <p:nvPr/>
        </p:nvSpPr>
        <p:spPr>
          <a:xfrm>
            <a:off x="960120" y="1655064"/>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Per-player ratings computed chronologically over all 776 real matches (K=32, base 1500).</a:t>
            </a:r>
            <a:endParaRPr lang="en-US" sz="1050" dirty="0"/>
          </a:p>
        </p:txBody>
      </p:sp>
      <p:sp>
        <p:nvSpPr>
          <p:cNvPr id="103" name="Text 103"/>
          <p:cNvSpPr/>
          <p:nvPr/>
        </p:nvSpPr>
        <p:spPr>
          <a:xfrm>
            <a:off x="502920" y="2020824"/>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04" name="Text 104"/>
          <p:cNvSpPr/>
          <p:nvPr/>
        </p:nvSpPr>
        <p:spPr>
          <a:xfrm>
            <a:off x="960120" y="1984248"/>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Logistic win model + calibration</a:t>
            </a:r>
            <a:endParaRPr lang="en-US" sz="1400" dirty="0"/>
          </a:p>
        </p:txBody>
      </p:sp>
      <p:sp>
        <p:nvSpPr>
          <p:cNvPr id="105" name="Text 105"/>
          <p:cNvSpPr/>
          <p:nvPr/>
        </p:nvSpPr>
        <p:spPr>
          <a:xfrm>
            <a:off x="960120" y="2258568"/>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Predicts win probability from the ranking gap; decile calibration checked against outcomes.</a:t>
            </a:r>
            <a:endParaRPr lang="en-US" sz="1050" dirty="0"/>
          </a:p>
        </p:txBody>
      </p:sp>
      <p:sp>
        <p:nvSpPr>
          <p:cNvPr id="109" name="Text 109"/>
          <p:cNvSpPr/>
          <p:nvPr/>
        </p:nvSpPr>
        <p:spPr>
          <a:xfrm>
            <a:off x="502920" y="2624328"/>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0" name="Text 110"/>
          <p:cNvSpPr/>
          <p:nvPr/>
        </p:nvSpPr>
        <p:spPr>
          <a:xfrm>
            <a:off x="960120" y="2587752"/>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Wilson confidence intervals</a:t>
            </a:r>
            <a:endParaRPr lang="en-US" sz="1400" dirty="0"/>
          </a:p>
        </p:txBody>
      </p:sp>
      <p:sp>
        <p:nvSpPr>
          <p:cNvPr id="111" name="Text 111"/>
          <p:cNvSpPr/>
          <p:nvPr/>
        </p:nvSpPr>
        <p:spPr>
          <a:xfrm>
            <a:off x="960120" y="2862072"/>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Computed on every win rate shown in the app — never a bare point estimate.</a:t>
            </a:r>
            <a:endParaRPr lang="en-US" sz="1050" dirty="0"/>
          </a:p>
        </p:txBody>
      </p:sp>
      <p:sp>
        <p:nvSpPr>
          <p:cNvPr id="112" name="Text 112"/>
          <p:cNvSpPr/>
          <p:nvPr/>
        </p:nvSpPr>
        <p:spPr>
          <a:xfrm>
            <a:off x="502920" y="3227832"/>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13" name="Text 113"/>
          <p:cNvSpPr/>
          <p:nvPr/>
        </p:nvSpPr>
        <p:spPr>
          <a:xfrm>
            <a:off x="960120" y="3191256"/>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Small-n guard</a:t>
            </a:r>
            <a:endParaRPr lang="en-US" sz="1400" dirty="0"/>
          </a:p>
        </p:txBody>
      </p:sp>
      <p:sp>
        <p:nvSpPr>
          <p:cNvPr id="114" name="Text 114"/>
          <p:cNvSpPr/>
          <p:nvPr/>
        </p:nvSpPr>
        <p:spPr>
          <a:xfrm>
            <a:off x="960120" y="3465576"/>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Fewer than 10 matches behind a stat, and the app refuses to make a claim.</a:t>
            </a:r>
            <a:endParaRPr lang="en-US" sz="1050" dirty="0"/>
          </a:p>
        </p:txBody>
      </p:sp>
      <p:sp>
        <p:nvSpPr>
          <p:cNvPr id="20" name="Text 18"/>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1" name="Text 19"/>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5">
    <p:bg>
      <p:bgPr>
        <a:solidFill>
          <a:srgbClr val="1E293B"/>
        </a:solidFill>
        <a:effectLst/>
      </p:bgPr>
    </p:bg>
    <p:spTree>
      <p:nvGrpSpPr>
        <p:cNvPr id="1" name=""/>
        <p:cNvGrpSpPr/>
        <p:nvPr/>
      </p:nvGrpSpPr>
      <p:grpSpPr>
        <a:xfrm>
          <a:off x="0" y="0"/>
          <a:ext cx="0" cy="0"/>
          <a:chOff x="0" y="0"/>
          <a:chExt cx="0" cy="0"/>
        </a:xfrm>
      </p:grpSpPr>
      <p:sp>
        <p:nvSpPr>
          <p:cNvPr id="2" name="Shape 0"/>
          <p:cNvSpPr/>
          <p:nvPr/>
        </p:nvSpPr>
        <p:spPr>
          <a:xfrm>
            <a:off x="457200" y="1828800"/>
            <a:ext cx="548640" cy="54864"/>
          </a:xfrm>
          <a:prstGeom prst="rect">
            <a:avLst/>
          </a:prstGeom>
          <a:solidFill>
            <a:srgbClr val="0EA5E9"/>
          </a:solidFill>
          <a:ln/>
        </p:spPr>
        <p:txBody>
          <a:bodyPr/>
          <a:lstStyle/>
          <a:p>
            <a:endParaRPr lang="en-US"/>
          </a:p>
        </p:txBody>
      </p:sp>
      <p:sp>
        <p:nvSpPr>
          <p:cNvPr id="3" name="Text 1"/>
          <p:cNvSpPr/>
          <p:nvPr/>
        </p:nvSpPr>
        <p:spPr>
          <a:xfrm>
            <a:off x="457200" y="1965960"/>
            <a:ext cx="7315200" cy="365760"/>
          </a:xfrm>
          <a:prstGeom prst="rect">
            <a:avLst/>
          </a:prstGeom>
          <a:noFill/>
          <a:ln/>
        </p:spPr>
        <p:txBody>
          <a:bodyPr wrap="square" lIns="0" tIns="0" rIns="0" bIns="0" rtlCol="0" anchor="ctr"/>
          <a:lstStyle/>
          <a:p>
            <a:pPr marL="0" indent="0">
              <a:buNone/>
            </a:pPr>
            <a:r>
              <a:rPr lang="en-US" sz="1200" b="1" kern="0" spc="600" dirty="0">
                <a:solidFill>
                  <a:srgbClr val="0EA5E9"/>
                </a:solidFill>
                <a:latin typeface="Calibri" pitchFamily="34" charset="0"/>
                <a:ea typeface="Calibri" pitchFamily="34" charset="-122"/>
                <a:cs typeface="Calibri" pitchFamily="34" charset="-120"/>
              </a:rPr>
              <a:t>PART 6</a:t>
            </a:r>
            <a:endParaRPr lang="en-US" sz="1200" dirty="0"/>
          </a:p>
        </p:txBody>
      </p:sp>
      <p:sp>
        <p:nvSpPr>
          <p:cNvPr id="4" name="Text 2"/>
          <p:cNvSpPr/>
          <p:nvPr/>
        </p:nvSpPr>
        <p:spPr>
          <a:xfrm>
            <a:off x="457200" y="2331720"/>
            <a:ext cx="822960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Demo &amp; Conclusions</a:t>
            </a:r>
            <a:endParaRPr lang="en-US" sz="4400" dirty="0"/>
          </a:p>
        </p:txBody>
      </p:sp>
      <p:sp>
        <p:nvSpPr>
          <p:cNvPr id="5" name="Text 3"/>
          <p:cNvSpPr/>
          <p:nvPr/>
        </p:nvSpPr>
        <p:spPr>
          <a:xfrm>
            <a:off x="457200" y="3154680"/>
            <a:ext cx="8229600" cy="36576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Live walkthrough · Future work</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6.1 DEMO</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Five-step walkthrough I'll show you next</a:t>
            </a:r>
            <a:endParaRPr lang="en-US" sz="2600" dirty="0"/>
          </a:p>
        </p:txBody>
      </p:sp>
      <p:pic>
        <p:nvPicPr>
          <p:cNvPr id="5" name="Image 0" descr="/sessions/jolly-nifty-archimedes/mnt/Padel-Project/06_Presentation/assets/01_home.png"/>
          <p:cNvPicPr>
            <a:picLocks noChangeAspect="1"/>
          </p:cNvPicPr>
          <p:nvPr/>
        </p:nvPicPr>
        <p:blipFill>
          <a:blip r:embed="rId3"/>
          <a:stretch>
            <a:fillRect/>
          </a:stretch>
        </p:blipFill>
        <p:spPr>
          <a:xfrm>
            <a:off x="457200" y="1463040"/>
            <a:ext cx="1627632" cy="1005840"/>
          </a:xfrm>
          <a:prstGeom prst="rect">
            <a:avLst/>
          </a:prstGeom>
        </p:spPr>
      </p:pic>
      <p:sp>
        <p:nvSpPr>
          <p:cNvPr id="6" name="Text 3"/>
          <p:cNvSpPr/>
          <p:nvPr/>
        </p:nvSpPr>
        <p:spPr>
          <a:xfrm>
            <a:off x="457200" y="2514600"/>
            <a:ext cx="1627632" cy="256032"/>
          </a:xfrm>
          <a:prstGeom prst="rect">
            <a:avLst/>
          </a:prstGeom>
          <a:noFill/>
          <a:ln/>
        </p:spPr>
        <p:txBody>
          <a:bodyPr wrap="square" lIns="0" tIns="0" rIns="0" bIns="0" rtlCol="0" anchor="ctr"/>
          <a:lstStyle/>
          <a:p>
            <a:pPr marL="0" indent="0">
              <a:buNone/>
            </a:pPr>
            <a:r>
              <a:rPr lang="en-US" sz="1100" b="1" dirty="0">
                <a:solidFill>
                  <a:srgbClr val="1F2937"/>
                </a:solidFill>
              </a:rPr>
              <a:t>1 · Home</a:t>
            </a:r>
            <a:endParaRPr lang="en-US" sz="1100" dirty="0"/>
          </a:p>
        </p:txBody>
      </p:sp>
      <p:sp>
        <p:nvSpPr>
          <p:cNvPr id="7" name="Text 4"/>
          <p:cNvSpPr/>
          <p:nvPr/>
        </p:nvSpPr>
        <p:spPr>
          <a:xfrm>
            <a:off x="457200" y="2770632"/>
            <a:ext cx="1627632" cy="868680"/>
          </a:xfrm>
          <a:prstGeom prst="rect">
            <a:avLst/>
          </a:prstGeom>
          <a:noFill/>
          <a:ln/>
        </p:spPr>
        <p:txBody>
          <a:bodyPr wrap="square" lIns="0" tIns="0" rIns="0" bIns="0" rtlCol="0" anchor="ctr"/>
          <a:lstStyle/>
          <a:p>
            <a:pPr marL="0" indent="0">
              <a:buNone/>
            </a:pPr>
            <a:r>
              <a:rPr lang="en-US" sz="900" dirty="0">
                <a:solidFill>
                  <a:srgbClr val="64748B"/>
                </a:solidFill>
              </a:rPr>
              <a:t>Open the app. Last 10: 7-3. Partner card shows Luca on top, Davide red.</a:t>
            </a:r>
            <a:endParaRPr lang="en-US" sz="900" dirty="0"/>
          </a:p>
        </p:txBody>
      </p:sp>
      <p:pic>
        <p:nvPicPr>
          <p:cNvPr id="8" name="Image 1" descr="/sessions/jolly-nifty-archimedes/mnt/Padel-Project/06_Presentation/assets/04_log_match.png"/>
          <p:cNvPicPr>
            <a:picLocks noChangeAspect="1"/>
          </p:cNvPicPr>
          <p:nvPr/>
        </p:nvPicPr>
        <p:blipFill>
          <a:blip r:embed="rId4"/>
          <a:stretch>
            <a:fillRect/>
          </a:stretch>
        </p:blipFill>
        <p:spPr>
          <a:xfrm>
            <a:off x="2148840" y="1463040"/>
            <a:ext cx="1627632" cy="1005840"/>
          </a:xfrm>
          <a:prstGeom prst="rect">
            <a:avLst/>
          </a:prstGeom>
        </p:spPr>
      </p:pic>
      <p:sp>
        <p:nvSpPr>
          <p:cNvPr id="9" name="Text 5"/>
          <p:cNvSpPr/>
          <p:nvPr/>
        </p:nvSpPr>
        <p:spPr>
          <a:xfrm>
            <a:off x="2148840" y="2514600"/>
            <a:ext cx="1627632" cy="256032"/>
          </a:xfrm>
          <a:prstGeom prst="rect">
            <a:avLst/>
          </a:prstGeom>
          <a:noFill/>
          <a:ln/>
        </p:spPr>
        <p:txBody>
          <a:bodyPr wrap="square" lIns="0" tIns="0" rIns="0" bIns="0" rtlCol="0" anchor="ctr"/>
          <a:lstStyle/>
          <a:p>
            <a:pPr marL="0" indent="0">
              <a:buNone/>
            </a:pPr>
            <a:r>
              <a:rPr lang="en-US" sz="1100" b="1" dirty="0">
                <a:solidFill>
                  <a:srgbClr val="1F2937"/>
                </a:solidFill>
              </a:rPr>
              <a:t>2 · Log Match</a:t>
            </a:r>
            <a:endParaRPr lang="en-US" sz="1100" dirty="0"/>
          </a:p>
        </p:txBody>
      </p:sp>
      <p:sp>
        <p:nvSpPr>
          <p:cNvPr id="10" name="Text 6"/>
          <p:cNvSpPr/>
          <p:nvPr/>
        </p:nvSpPr>
        <p:spPr>
          <a:xfrm>
            <a:off x="2148840" y="2770632"/>
            <a:ext cx="1627632" cy="868680"/>
          </a:xfrm>
          <a:prstGeom prst="rect">
            <a:avLst/>
          </a:prstGeom>
          <a:noFill/>
          <a:ln/>
        </p:spPr>
        <p:txBody>
          <a:bodyPr wrap="square" lIns="0" tIns="0" rIns="0" bIns="0" rtlCol="0" anchor="ctr"/>
          <a:lstStyle/>
          <a:p>
            <a:pPr marL="0" indent="0">
              <a:buNone/>
            </a:pPr>
            <a:r>
              <a:rPr lang="en-US" sz="900" dirty="0">
                <a:solidFill>
                  <a:srgbClr val="64748B"/>
                </a:solidFill>
              </a:rPr>
              <a:t>Add today's match in 30 seconds. Watch the auto-result update.</a:t>
            </a:r>
            <a:endParaRPr lang="en-US" sz="900" dirty="0"/>
          </a:p>
        </p:txBody>
      </p:sp>
      <p:pic>
        <p:nvPicPr>
          <p:cNvPr id="11" name="Image 2" descr="/sessions/jolly-nifty-archimedes/mnt/Padel-Project/06_Presentation/assets/03_my_stats.png"/>
          <p:cNvPicPr>
            <a:picLocks noChangeAspect="1"/>
          </p:cNvPicPr>
          <p:nvPr/>
        </p:nvPicPr>
        <p:blipFill>
          <a:blip r:embed="rId5"/>
          <a:stretch>
            <a:fillRect/>
          </a:stretch>
        </p:blipFill>
        <p:spPr>
          <a:xfrm>
            <a:off x="3840480" y="1463040"/>
            <a:ext cx="1627632" cy="1005840"/>
          </a:xfrm>
          <a:prstGeom prst="rect">
            <a:avLst/>
          </a:prstGeom>
        </p:spPr>
      </p:pic>
      <p:sp>
        <p:nvSpPr>
          <p:cNvPr id="12" name="Text 7"/>
          <p:cNvSpPr/>
          <p:nvPr/>
        </p:nvSpPr>
        <p:spPr>
          <a:xfrm>
            <a:off x="3840480" y="2514600"/>
            <a:ext cx="1627632" cy="256032"/>
          </a:xfrm>
          <a:prstGeom prst="rect">
            <a:avLst/>
          </a:prstGeom>
          <a:noFill/>
          <a:ln/>
        </p:spPr>
        <p:txBody>
          <a:bodyPr wrap="square" lIns="0" tIns="0" rIns="0" bIns="0" rtlCol="0" anchor="ctr"/>
          <a:lstStyle/>
          <a:p>
            <a:pPr marL="0" indent="0">
              <a:buNone/>
            </a:pPr>
            <a:r>
              <a:rPr lang="en-US" sz="1100" b="1" dirty="0">
                <a:solidFill>
                  <a:srgbClr val="1F2937"/>
                </a:solidFill>
              </a:rPr>
              <a:t>3 · My Stats</a:t>
            </a:r>
            <a:endParaRPr lang="en-US" sz="1100" dirty="0"/>
          </a:p>
        </p:txBody>
      </p:sp>
      <p:sp>
        <p:nvSpPr>
          <p:cNvPr id="13" name="Text 8"/>
          <p:cNvSpPr/>
          <p:nvPr/>
        </p:nvSpPr>
        <p:spPr>
          <a:xfrm>
            <a:off x="3840480" y="2770632"/>
            <a:ext cx="1627632" cy="868680"/>
          </a:xfrm>
          <a:prstGeom prst="rect">
            <a:avLst/>
          </a:prstGeom>
          <a:noFill/>
          <a:ln/>
        </p:spPr>
        <p:txBody>
          <a:bodyPr wrap="square" lIns="0" tIns="0" rIns="0" bIns="0" rtlCol="0" anchor="ctr"/>
          <a:lstStyle/>
          <a:p>
            <a:pPr marL="0" indent="0">
              <a:buNone/>
            </a:pPr>
            <a:r>
              <a:rPr lang="en-US" sz="900" dirty="0">
                <a:solidFill>
                  <a:srgbClr val="64748B"/>
                </a:solidFill>
              </a:rPr>
              <a:t>Filter to last 60 days. Read the partner &amp; fatigue panels.</a:t>
            </a:r>
            <a:endParaRPr lang="en-US" sz="900" dirty="0"/>
          </a:p>
        </p:txBody>
      </p:sp>
      <p:pic>
        <p:nvPicPr>
          <p:cNvPr id="14" name="Image 3" descr="/sessions/jolly-nifty-archimedes/mnt/Padel-Project/06_Presentation/assets/05_compare.png"/>
          <p:cNvPicPr>
            <a:picLocks noChangeAspect="1"/>
          </p:cNvPicPr>
          <p:nvPr/>
        </p:nvPicPr>
        <p:blipFill>
          <a:blip r:embed="rId6"/>
          <a:stretch>
            <a:fillRect/>
          </a:stretch>
        </p:blipFill>
        <p:spPr>
          <a:xfrm>
            <a:off x="5532120" y="1463040"/>
            <a:ext cx="1627632" cy="1005840"/>
          </a:xfrm>
          <a:prstGeom prst="rect">
            <a:avLst/>
          </a:prstGeom>
        </p:spPr>
      </p:pic>
      <p:sp>
        <p:nvSpPr>
          <p:cNvPr id="15" name="Text 9"/>
          <p:cNvSpPr/>
          <p:nvPr/>
        </p:nvSpPr>
        <p:spPr>
          <a:xfrm>
            <a:off x="5532120" y="2514600"/>
            <a:ext cx="1627632" cy="256032"/>
          </a:xfrm>
          <a:prstGeom prst="rect">
            <a:avLst/>
          </a:prstGeom>
          <a:noFill/>
          <a:ln/>
        </p:spPr>
        <p:txBody>
          <a:bodyPr wrap="square" lIns="0" tIns="0" rIns="0" bIns="0" rtlCol="0" anchor="ctr"/>
          <a:lstStyle/>
          <a:p>
            <a:pPr marL="0" indent="0">
              <a:buNone/>
            </a:pPr>
            <a:r>
              <a:rPr lang="en-US" sz="1100" b="1" dirty="0">
                <a:solidFill>
                  <a:srgbClr val="1F2937"/>
                </a:solidFill>
              </a:rPr>
              <a:t>4 · Compare</a:t>
            </a:r>
            <a:endParaRPr lang="en-US" sz="1100" dirty="0"/>
          </a:p>
        </p:txBody>
      </p:sp>
      <p:sp>
        <p:nvSpPr>
          <p:cNvPr id="16" name="Text 10"/>
          <p:cNvSpPr/>
          <p:nvPr/>
        </p:nvSpPr>
        <p:spPr>
          <a:xfrm>
            <a:off x="5532120" y="2770632"/>
            <a:ext cx="1627632" cy="868680"/>
          </a:xfrm>
          <a:prstGeom prst="rect">
            <a:avLst/>
          </a:prstGeom>
          <a:noFill/>
          <a:ln/>
        </p:spPr>
        <p:txBody>
          <a:bodyPr wrap="square" lIns="0" tIns="0" rIns="0" bIns="0" rtlCol="0" anchor="ctr"/>
          <a:lstStyle/>
          <a:p>
            <a:pPr marL="0" indent="0">
              <a:buNone/>
            </a:pPr>
            <a:r>
              <a:rPr lang="en-US" sz="900" dirty="0">
                <a:solidFill>
                  <a:srgbClr val="64748B"/>
                </a:solidFill>
              </a:rPr>
              <a:t>Toggle to a specific pro. See the radar gap on the smash.</a:t>
            </a:r>
            <a:endParaRPr lang="en-US" sz="900" dirty="0"/>
          </a:p>
        </p:txBody>
      </p:sp>
      <p:pic>
        <p:nvPicPr>
          <p:cNvPr id="17" name="Image 4" descr="/sessions/jolly-nifty-archimedes/mnt/Padel-Project/06_Presentation/assets/02_pro_tour.png"/>
          <p:cNvPicPr>
            <a:picLocks noChangeAspect="1"/>
          </p:cNvPicPr>
          <p:nvPr/>
        </p:nvPicPr>
        <p:blipFill>
          <a:blip r:embed="rId7"/>
          <a:stretch>
            <a:fillRect/>
          </a:stretch>
        </p:blipFill>
        <p:spPr>
          <a:xfrm>
            <a:off x="7223760" y="1463040"/>
            <a:ext cx="1627632" cy="1005840"/>
          </a:xfrm>
          <a:prstGeom prst="rect">
            <a:avLst/>
          </a:prstGeom>
        </p:spPr>
      </p:pic>
      <p:sp>
        <p:nvSpPr>
          <p:cNvPr id="18" name="Text 11"/>
          <p:cNvSpPr/>
          <p:nvPr/>
        </p:nvSpPr>
        <p:spPr>
          <a:xfrm>
            <a:off x="7223760" y="2514600"/>
            <a:ext cx="1627632" cy="256032"/>
          </a:xfrm>
          <a:prstGeom prst="rect">
            <a:avLst/>
          </a:prstGeom>
          <a:noFill/>
          <a:ln/>
        </p:spPr>
        <p:txBody>
          <a:bodyPr wrap="square" lIns="0" tIns="0" rIns="0" bIns="0" rtlCol="0" anchor="ctr"/>
          <a:lstStyle/>
          <a:p>
            <a:pPr marL="0" indent="0">
              <a:buNone/>
            </a:pPr>
            <a:r>
              <a:rPr lang="en-US" sz="1100" b="1" dirty="0">
                <a:solidFill>
                  <a:srgbClr val="1F2937"/>
                </a:solidFill>
              </a:rPr>
              <a:t>5 · Insights</a:t>
            </a:r>
            <a:endParaRPr lang="en-US" sz="1100" dirty="0"/>
          </a:p>
        </p:txBody>
      </p:sp>
      <p:sp>
        <p:nvSpPr>
          <p:cNvPr id="19" name="Text 12"/>
          <p:cNvSpPr/>
          <p:nvPr/>
        </p:nvSpPr>
        <p:spPr>
          <a:xfrm>
            <a:off x="7223760" y="2770632"/>
            <a:ext cx="1627632" cy="868680"/>
          </a:xfrm>
          <a:prstGeom prst="rect">
            <a:avLst/>
          </a:prstGeom>
          <a:noFill/>
          <a:ln/>
        </p:spPr>
        <p:txBody>
          <a:bodyPr wrap="square" lIns="0" tIns="0" rIns="0" bIns="0" rtlCol="0" anchor="ctr"/>
          <a:lstStyle/>
          <a:p>
            <a:pPr marL="0" indent="0">
              <a:buNone/>
            </a:pPr>
            <a:r>
              <a:rPr lang="en-US" sz="900" dirty="0">
                <a:solidFill>
                  <a:srgbClr val="64748B"/>
                </a:solidFill>
              </a:rPr>
              <a:t>Land on the new Insights page: 7 discovery cards, each with its method note.</a:t>
            </a:r>
            <a:endParaRPr lang="en-US" sz="900" dirty="0"/>
          </a:p>
        </p:txBody>
      </p:sp>
      <p:sp>
        <p:nvSpPr>
          <p:cNvPr id="20" name="Shape 13"/>
          <p:cNvSpPr/>
          <p:nvPr/>
        </p:nvSpPr>
        <p:spPr>
          <a:xfrm>
            <a:off x="457200" y="4160520"/>
            <a:ext cx="8229600" cy="457200"/>
          </a:xfrm>
          <a:prstGeom prst="rect">
            <a:avLst/>
          </a:prstGeom>
          <a:solidFill>
            <a:srgbClr val="0EA5E9"/>
          </a:solidFill>
          <a:ln/>
        </p:spPr>
        <p:txBody>
          <a:bodyPr/>
          <a:lstStyle/>
          <a:p>
            <a:endParaRPr lang="en-US"/>
          </a:p>
        </p:txBody>
      </p:sp>
      <p:sp>
        <p:nvSpPr>
          <p:cNvPr id="70" name="Text Synthetic Note"/>
          <p:cNvSpPr/>
          <p:nvPr/>
        </p:nvSpPr>
        <p:spPr>
          <a:xfrm>
            <a:off x="457200" y="4640580"/>
            <a:ext cx="8229600" cy="182880"/>
          </a:xfrm>
          <a:prstGeom prst="rect">
            <a:avLst/>
          </a:prstGeom>
          <a:noFill/>
          <a:ln/>
        </p:spPr>
        <p:txBody>
          <a:bodyPr wrap="square" lIns="0" tIns="0" rIns="0" bIns="0" rtlCol="0" anchor="ctr"/>
          <a:lstStyle/>
          <a:p>
            <a:pPr marL="0" indent="0" algn="ctr">
              <a:buNone/>
            </a:pPr>
            <a:r>
              <a:rPr lang="en-US" sz="950" i="1" dirty="0">
                <a:solidFill>
                  <a:srgbClr val="F59E0B"/>
                </a:solidFill>
                <a:latin typeface="Calibri" pitchFamily="34" charset="0"/>
                <a:ea typeface="Calibri" pitchFamily="34" charset="-122"/>
                <a:cs typeface="Calibri" pitchFamily="34" charset="-120"/>
              </a:rPr>
              <a:t>Every personal page shows a visible SYNTHETIC DEMO DATA badge.</a:t>
            </a:r>
            <a:endParaRPr lang="en-US" sz="950" dirty="0"/>
          </a:p>
        </p:txBody>
      </p:sp>
      <p:sp>
        <p:nvSpPr>
          <p:cNvPr id="21" name="Text 14"/>
          <p:cNvSpPr/>
          <p:nvPr/>
        </p:nvSpPr>
        <p:spPr>
          <a:xfrm>
            <a:off x="457200" y="4160520"/>
            <a:ext cx="8229600" cy="457200"/>
          </a:xfrm>
          <a:prstGeom prst="rect">
            <a:avLst/>
          </a:prstGeom>
          <a:noFill/>
          <a:ln/>
        </p:spPr>
        <p:txBody>
          <a:bodyPr wrap="square" lIns="0" tIns="0" rIns="0" bIns="0" rtlCol="0" anchor="ctr"/>
          <a:lstStyle/>
          <a:p>
            <a:pPr algn="ctr"/>
            <a:r>
              <a:rPr lang="en-US" sz="1400" dirty="0" err="1">
                <a:hlinkClick r:id="rId8"/>
              </a:rPr>
              <a:t>PadelLens</a:t>
            </a:r>
            <a:r>
              <a:rPr lang="en-US" sz="1400" dirty="0">
                <a:hlinkClick r:id="rId8"/>
              </a:rPr>
              <a:t> - Dashboard · </a:t>
            </a:r>
            <a:r>
              <a:rPr lang="en-US" sz="1400" dirty="0" err="1">
                <a:hlinkClick r:id="rId8"/>
              </a:rPr>
              <a:t>Streamlit</a:t>
            </a:r>
            <a:endParaRPr lang="en-US" sz="1300" dirty="0"/>
          </a:p>
        </p:txBody>
      </p:sp>
      <p:sp>
        <p:nvSpPr>
          <p:cNvPr id="22" name="Text 15"/>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3" name="Text 16"/>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365760" y="384048"/>
            <a:ext cx="64008" cy="292608"/>
          </a:xfrm>
          <a:prstGeom prst="rect">
            <a:avLst/>
          </a:prstGeom>
          <a:solidFill>
            <a:srgbClr val="0EA5E9"/>
          </a:solidFill>
          <a:ln/>
        </p:spPr>
        <p:txBody>
          <a:bodyPr/>
          <a:lstStyle/>
          <a:p>
            <a:endParaRPr lang="en-US"/>
          </a:p>
        </p:txBody>
      </p:sp>
      <p:sp>
        <p:nvSpPr>
          <p:cNvPr id="3" name="Text 1"/>
          <p:cNvSpPr/>
          <p:nvPr/>
        </p:nvSpPr>
        <p:spPr>
          <a:xfrm>
            <a:off x="512064" y="347472"/>
            <a:ext cx="5486400" cy="256032"/>
          </a:xfrm>
          <a:prstGeom prst="rect">
            <a:avLst/>
          </a:prstGeom>
          <a:noFill/>
          <a:ln/>
        </p:spPr>
        <p:txBody>
          <a:bodyPr wrap="square" lIns="0" tIns="0" rIns="0" bIns="0" rtlCol="0" anchor="ctr"/>
          <a:lstStyle/>
          <a:p>
            <a:pPr marL="0" indent="0">
              <a:buNone/>
            </a:pPr>
            <a:r>
              <a:rPr lang="en-US" sz="1000" b="1" kern="0" spc="400" dirty="0">
                <a:solidFill>
                  <a:srgbClr val="64748B"/>
                </a:solidFill>
                <a:latin typeface="Calibri" pitchFamily="34" charset="0"/>
                <a:ea typeface="Calibri" pitchFamily="34" charset="-122"/>
                <a:cs typeface="Calibri" pitchFamily="34" charset="-120"/>
              </a:rPr>
              <a:t>6.2 FUTURE DEVELOPMENTS</a:t>
            </a:r>
            <a:endParaRPr lang="en-US" sz="1000" dirty="0"/>
          </a:p>
        </p:txBody>
      </p:sp>
      <p:sp>
        <p:nvSpPr>
          <p:cNvPr id="4" name="Text 2"/>
          <p:cNvSpPr/>
          <p:nvPr/>
        </p:nvSpPr>
        <p:spPr>
          <a:xfrm>
            <a:off x="512064" y="548640"/>
            <a:ext cx="8229600" cy="548640"/>
          </a:xfrm>
          <a:prstGeom prst="rect">
            <a:avLst/>
          </a:prstGeom>
          <a:noFill/>
          <a:ln/>
        </p:spPr>
        <p:txBody>
          <a:bodyPr wrap="square" lIns="0" tIns="0" rIns="0" bIns="0" rtlCol="0" anchor="ctr"/>
          <a:lstStyle/>
          <a:p>
            <a:pPr marL="0" indent="0">
              <a:buNone/>
            </a:pPr>
            <a:r>
              <a:rPr lang="en-US" sz="2600" b="1" dirty="0">
                <a:solidFill>
                  <a:srgbClr val="1E293B"/>
                </a:solidFill>
                <a:latin typeface="Calibri" pitchFamily="34" charset="0"/>
                <a:ea typeface="Calibri" pitchFamily="34" charset="-122"/>
                <a:cs typeface="Calibri" pitchFamily="34" charset="-120"/>
              </a:rPr>
              <a:t>What happens next</a:t>
            </a:r>
            <a:endParaRPr lang="en-US" sz="2600" dirty="0"/>
          </a:p>
        </p:txBody>
      </p:sp>
      <p:sp>
        <p:nvSpPr>
          <p:cNvPr id="5" name="Text 3"/>
          <p:cNvSpPr/>
          <p:nvPr/>
        </p:nvSpPr>
        <p:spPr>
          <a:xfrm>
            <a:off x="502920" y="1417320"/>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6" name="Text 4"/>
          <p:cNvSpPr/>
          <p:nvPr/>
        </p:nvSpPr>
        <p:spPr>
          <a:xfrm>
            <a:off x="960120" y="1380744"/>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Run the scheduled user tests + SUS</a:t>
            </a:r>
            <a:endParaRPr lang="en-US" sz="1400" dirty="0"/>
          </a:p>
        </p:txBody>
      </p:sp>
      <p:sp>
        <p:nvSpPr>
          <p:cNvPr id="7" name="Text 5"/>
          <p:cNvSpPr/>
          <p:nvPr/>
        </p:nvSpPr>
        <p:spPr>
          <a:xfrm>
            <a:off x="960120" y="1655064"/>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Sessions with real club players are booked; SUS scoring sheet is ready. No score is invented ahead of time.</a:t>
            </a:r>
            <a:endParaRPr lang="en-US" sz="1050" dirty="0"/>
          </a:p>
        </p:txBody>
      </p:sp>
      <p:sp>
        <p:nvSpPr>
          <p:cNvPr id="8" name="Text 6"/>
          <p:cNvSpPr/>
          <p:nvPr/>
        </p:nvSpPr>
        <p:spPr>
          <a:xfrm>
            <a:off x="502920" y="2020824"/>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9" name="Text 7"/>
          <p:cNvSpPr/>
          <p:nvPr/>
        </p:nvSpPr>
        <p:spPr>
          <a:xfrm>
            <a:off x="960120" y="1984248"/>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Real personal logging, replacing the synthetic layer</a:t>
            </a:r>
            <a:endParaRPr lang="en-US" sz="1400" dirty="0"/>
          </a:p>
        </p:txBody>
      </p:sp>
      <p:sp>
        <p:nvSpPr>
          <p:cNvPr id="10" name="Text 8"/>
          <p:cNvSpPr/>
          <p:nvPr/>
        </p:nvSpPr>
        <p:spPr>
          <a:xfrm>
            <a:off x="960120" y="2258568"/>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Every match I actually play gets logged from now on, retiring the seeded demo data match by match.</a:t>
            </a:r>
            <a:endParaRPr lang="en-US" sz="1050" dirty="0"/>
          </a:p>
        </p:txBody>
      </p:sp>
      <p:sp>
        <p:nvSpPr>
          <p:cNvPr id="11" name="Text 9"/>
          <p:cNvSpPr/>
          <p:nvPr/>
        </p:nvSpPr>
        <p:spPr>
          <a:xfrm>
            <a:off x="502920" y="2624328"/>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2" name="Text 10"/>
          <p:cNvSpPr/>
          <p:nvPr/>
        </p:nvSpPr>
        <p:spPr>
          <a:xfrm>
            <a:off x="960120" y="2587752"/>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Full-history ingestion (paid API tier)</a:t>
            </a:r>
            <a:endParaRPr lang="en-US" sz="1400" dirty="0"/>
          </a:p>
        </p:txBody>
      </p:sp>
      <p:sp>
        <p:nvSpPr>
          <p:cNvPr id="13" name="Text 11"/>
          <p:cNvSpPr/>
          <p:nvPr/>
        </p:nvSpPr>
        <p:spPr>
          <a:xfrm>
            <a:off x="960120" y="2862072"/>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One month at €19 unlocks multi-season history: 2,000+ matches and ranking evolution over time.</a:t>
            </a:r>
            <a:endParaRPr lang="en-US" sz="1050" dirty="0"/>
          </a:p>
        </p:txBody>
      </p:sp>
      <p:sp>
        <p:nvSpPr>
          <p:cNvPr id="14" name="Text 12"/>
          <p:cNvSpPr/>
          <p:nvPr/>
        </p:nvSpPr>
        <p:spPr>
          <a:xfrm>
            <a:off x="502920" y="3227832"/>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960120" y="3191256"/>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Streamlit Cloud deployment</a:t>
            </a:r>
            <a:endParaRPr lang="en-US" sz="1400" dirty="0"/>
          </a:p>
        </p:txBody>
      </p:sp>
      <p:sp>
        <p:nvSpPr>
          <p:cNvPr id="16" name="Text 14"/>
          <p:cNvSpPr/>
          <p:nvPr/>
        </p:nvSpPr>
        <p:spPr>
          <a:xfrm>
            <a:off x="960120" y="3465576"/>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Ship a public link so Marco and Luca can use PadelLens without installing anything.</a:t>
            </a:r>
            <a:endParaRPr lang="en-US" sz="1050" dirty="0"/>
          </a:p>
        </p:txBody>
      </p:sp>
      <p:sp>
        <p:nvSpPr>
          <p:cNvPr id="17" name="Text 15"/>
          <p:cNvSpPr/>
          <p:nvPr/>
        </p:nvSpPr>
        <p:spPr>
          <a:xfrm>
            <a:off x="502920" y="3831336"/>
            <a:ext cx="310896" cy="310896"/>
          </a:xfrm>
          <a:prstGeom prst="roundRect">
            <a:avLst>
              <a:gd name="adj" fmla="val 14706"/>
            </a:avLst>
          </a:prstGeom>
          <a:solidFill>
            <a:srgbClr val="0EA5E9"/>
          </a:solid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960120" y="3794760"/>
            <a:ext cx="7680960" cy="27432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LLM-generated weekly digest</a:t>
            </a:r>
            <a:endParaRPr lang="en-US" sz="1400" dirty="0"/>
          </a:p>
        </p:txBody>
      </p:sp>
      <p:sp>
        <p:nvSpPr>
          <p:cNvPr id="19" name="Text 17"/>
          <p:cNvSpPr/>
          <p:nvPr/>
        </p:nvSpPr>
        <p:spPr>
          <a:xfrm>
            <a:off x="960120" y="4069080"/>
            <a:ext cx="7680960" cy="310896"/>
          </a:xfrm>
          <a:prstGeom prst="rect">
            <a:avLst/>
          </a:prstGeom>
          <a:noFill/>
          <a:ln/>
        </p:spPr>
        <p:txBody>
          <a:bodyPr wrap="square" lIns="0" tIns="0" rIns="0" bIns="0" rtlCol="0" anchor="ctr"/>
          <a:lstStyle/>
          <a:p>
            <a:pPr marL="0" indent="0">
              <a:buNone/>
            </a:pPr>
            <a:r>
              <a:rPr lang="en-US" sz="1050" dirty="0">
                <a:solidFill>
                  <a:srgbClr val="64748B"/>
                </a:solidFill>
                <a:latin typeface="Calibri" pitchFamily="34" charset="0"/>
                <a:ea typeface="Calibri" pitchFamily="34" charset="-122"/>
                <a:cs typeface="Calibri" pitchFamily="34" charset="-120"/>
              </a:rPr>
              <a:t>"This week your bandeja was on; your smash bled 12 points. Drill X."</a:t>
            </a:r>
            <a:endParaRPr lang="en-US" sz="1050" dirty="0"/>
          </a:p>
        </p:txBody>
      </p:sp>
      <p:sp>
        <p:nvSpPr>
          <p:cNvPr id="20" name="Text 18"/>
          <p:cNvSpPr/>
          <p:nvPr/>
        </p:nvSpPr>
        <p:spPr>
          <a:xfrm>
            <a:off x="365760" y="4846320"/>
            <a:ext cx="73152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PadelLens · DV4S Exam · Politecnico Milano · AY 2025/2026</a:t>
            </a:r>
            <a:endParaRPr lang="en-US" sz="900" dirty="0"/>
          </a:p>
        </p:txBody>
      </p:sp>
      <p:sp>
        <p:nvSpPr>
          <p:cNvPr id="21" name="Text 19"/>
          <p:cNvSpPr/>
          <p:nvPr/>
        </p:nvSpPr>
        <p:spPr>
          <a:xfrm>
            <a:off x="8503920" y="4846320"/>
            <a:ext cx="36576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bg>
      <p:bgPr>
        <a:solidFill>
          <a:srgbClr val="1E293B"/>
        </a:solidFill>
        <a:effectLst/>
      </p:bgPr>
    </p:bg>
    <p:spTree>
      <p:nvGrpSpPr>
        <p:cNvPr id="1" name=""/>
        <p:cNvGrpSpPr/>
        <p:nvPr/>
      </p:nvGrpSpPr>
      <p:grpSpPr>
        <a:xfrm>
          <a:off x="0" y="0"/>
          <a:ext cx="0" cy="0"/>
          <a:chOff x="0" y="0"/>
          <a:chExt cx="0" cy="0"/>
        </a:xfrm>
      </p:grpSpPr>
      <p:sp>
        <p:nvSpPr>
          <p:cNvPr id="2" name="Text 0"/>
          <p:cNvSpPr/>
          <p:nvPr/>
        </p:nvSpPr>
        <p:spPr>
          <a:xfrm>
            <a:off x="548640" y="1554480"/>
            <a:ext cx="8046720" cy="822960"/>
          </a:xfrm>
          <a:prstGeom prst="rect">
            <a:avLst/>
          </a:prstGeom>
          <a:noFill/>
          <a:ln/>
        </p:spPr>
        <p:txBody>
          <a:bodyPr wrap="square" lIns="0" tIns="0" rIns="0" bIns="0" rtlCol="0" anchor="ctr"/>
          <a:lstStyle/>
          <a:p>
            <a:pPr marL="0" indent="0" algn="ctr">
              <a:buNone/>
            </a:pPr>
            <a:r>
              <a:rPr lang="en-US" sz="4600" b="1" dirty="0">
                <a:solidFill>
                  <a:srgbClr val="FFFFFF"/>
                </a:solidFill>
                <a:latin typeface="Calibri" pitchFamily="34" charset="0"/>
                <a:ea typeface="Calibri" pitchFamily="34" charset="-122"/>
                <a:cs typeface="Calibri" pitchFamily="34" charset="-120"/>
              </a:rPr>
              <a:t>THANK YOU</a:t>
            </a:r>
            <a:endParaRPr lang="en-US" sz="4600" dirty="0"/>
          </a:p>
        </p:txBody>
      </p:sp>
      <p:sp>
        <p:nvSpPr>
          <p:cNvPr id="3" name="Text 1"/>
          <p:cNvSpPr/>
          <p:nvPr/>
        </p:nvSpPr>
        <p:spPr>
          <a:xfrm>
            <a:off x="548640" y="2468880"/>
            <a:ext cx="8046720" cy="457200"/>
          </a:xfrm>
          <a:prstGeom prst="rect">
            <a:avLst/>
          </a:prstGeom>
          <a:noFill/>
          <a:ln/>
        </p:spPr>
        <p:txBody>
          <a:bodyPr wrap="square" lIns="0" tIns="0" rIns="0" bIns="0" rtlCol="0" anchor="ctr"/>
          <a:lstStyle/>
          <a:p>
            <a:pPr marL="0" indent="0" algn="ctr">
              <a:buNone/>
            </a:pPr>
            <a:r>
              <a:rPr lang="en-US" sz="2200" dirty="0">
                <a:solidFill>
                  <a:srgbClr val="0EA5E9"/>
                </a:solidFill>
                <a:latin typeface="Calibri" pitchFamily="34" charset="0"/>
                <a:ea typeface="Calibri" pitchFamily="34" charset="-122"/>
                <a:cs typeface="Calibri" pitchFamily="34" charset="-120"/>
              </a:rPr>
              <a:t>Questions?</a:t>
            </a:r>
            <a:endParaRPr lang="en-US" sz="2200" dirty="0"/>
          </a:p>
        </p:txBody>
      </p:sp>
      <p:sp>
        <p:nvSpPr>
          <p:cNvPr id="4" name="Text 2"/>
          <p:cNvSpPr/>
          <p:nvPr/>
        </p:nvSpPr>
        <p:spPr>
          <a:xfrm>
            <a:off x="1135780" y="2966185"/>
            <a:ext cx="6949440" cy="548640"/>
          </a:xfrm>
          <a:prstGeom prst="rect">
            <a:avLst/>
          </a:prstGeom>
          <a:noFill/>
          <a:ln/>
        </p:spPr>
        <p:txBody>
          <a:bodyPr wrap="square" lIns="0" tIns="0" rIns="0" bIns="0" rtlCol="0" anchor="ctr"/>
          <a:lstStyle/>
          <a:p>
            <a:pPr algn="ctr"/>
            <a:r>
              <a:rPr lang="en-US" sz="1200" dirty="0">
                <a:solidFill>
                  <a:srgbClr val="CBD5E1"/>
                </a:solidFill>
                <a:latin typeface="Calibri" pitchFamily="34" charset="0"/>
                <a:ea typeface="Calibri" pitchFamily="34" charset="-122"/>
                <a:cs typeface="Calibri" pitchFamily="34" charset="-120"/>
              </a:rPr>
              <a:t>GitHub repo: </a:t>
            </a:r>
            <a:r>
              <a:rPr lang="en-US" sz="1200" dirty="0">
                <a:hlinkClick r:id="rId3"/>
              </a:rPr>
              <a:t>Abdullahsaeed10/</a:t>
            </a:r>
            <a:r>
              <a:rPr lang="en-US" sz="1200" dirty="0" err="1">
                <a:hlinkClick r:id="rId3"/>
              </a:rPr>
              <a:t>PadelLens</a:t>
            </a:r>
            <a:endParaRPr lang="en-US" sz="1200" dirty="0"/>
          </a:p>
        </p:txBody>
      </p:sp>
      <p:sp>
        <p:nvSpPr>
          <p:cNvPr id="5" name="Text 3"/>
          <p:cNvSpPr/>
          <p:nvPr/>
        </p:nvSpPr>
        <p:spPr>
          <a:xfrm>
            <a:off x="1097280" y="3840480"/>
            <a:ext cx="6949440" cy="457200"/>
          </a:xfrm>
          <a:prstGeom prst="rect">
            <a:avLst/>
          </a:prstGeom>
          <a:noFill/>
          <a:ln/>
        </p:spPr>
        <p:txBody>
          <a:bodyPr wrap="square" lIns="0" tIns="0" rIns="0" bIns="0" rtlCol="0" anchor="ctr"/>
          <a:lstStyle/>
          <a:p>
            <a:pPr marL="0" indent="0" algn="ctr">
              <a:buNone/>
            </a:pPr>
            <a:r>
              <a:rPr lang="en-US" sz="1400" i="1" dirty="0">
                <a:solidFill>
                  <a:srgbClr val="E2E8F0"/>
                </a:solidFill>
                <a:latin typeface="Calibri" pitchFamily="34" charset="0"/>
                <a:ea typeface="Calibri" pitchFamily="34" charset="-122"/>
                <a:cs typeface="Calibri" pitchFamily="34" charset="-120"/>
              </a:rPr>
              <a:t>"You don't have to feel your game - you can see it."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AF1FB5D3107E7408D5F23931A3F94F5" ma:contentTypeVersion="14" ma:contentTypeDescription="Create a new document." ma:contentTypeScope="" ma:versionID="fc96dcf1a8f5c64d0e6a1a72b76d422f">
  <xsd:schema xmlns:xsd="http://www.w3.org/2001/XMLSchema" xmlns:xs="http://www.w3.org/2001/XMLSchema" xmlns:p="http://schemas.microsoft.com/office/2006/metadata/properties" xmlns:ns3="a86ae8af-4702-4c98-a1d1-be13efd82698" xmlns:ns4="8face71c-f606-4986-9791-21ca3fde1bd7" targetNamespace="http://schemas.microsoft.com/office/2006/metadata/properties" ma:root="true" ma:fieldsID="e6acee3497a701afa13b08cc7dae00a9" ns3:_="" ns4:_="">
    <xsd:import namespace="a86ae8af-4702-4c98-a1d1-be13efd82698"/>
    <xsd:import namespace="8face71c-f606-4986-9791-21ca3fde1bd7"/>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SearchProperties" minOccurs="0"/>
                <xsd:element ref="ns3:MediaServiceObjectDetectorVersions" minOccurs="0"/>
                <xsd:element ref="ns3:MediaServiceDateTaken" minOccurs="0"/>
                <xsd:element ref="ns3:MediaServiceSystemTags" minOccurs="0"/>
                <xsd:element ref="ns3:MediaServiceGenerationTime" minOccurs="0"/>
                <xsd:element ref="ns3:MediaServiceEventHashCode" minOccurs="0"/>
                <xsd:element ref="ns3:MediaLengthInSeconds" minOccurs="0"/>
                <xsd:element ref="ns3: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6ae8af-4702-4c98-a1d1-be13efd82698"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SearchProperties" ma:index="14" nillable="true" ma:displayName="MediaServiceSearchProperties" ma:hidden="true" ma:internalName="MediaServiceSearchProperties" ma:readOnly="true">
      <xsd:simpleType>
        <xsd:restriction base="dms:Note"/>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OCR" ma:index="21"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8face71c-f606-4986-9791-21ca3fde1bd7" elementFormDefault="qualified">
    <xsd:import namespace="http://schemas.microsoft.com/office/2006/documentManagement/types"/>
    <xsd:import namespace="http://schemas.microsoft.com/office/infopath/2007/PartnerControls"/>
    <xsd:element name="SharedWithUsers" ma:index="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Shared With Details" ma:internalName="SharedWithDetails" ma:readOnly="true">
      <xsd:simpleType>
        <xsd:restriction base="dms:Note">
          <xsd:maxLength value="255"/>
        </xsd:restriction>
      </xsd:simpleType>
    </xsd:element>
    <xsd:element name="SharingHintHash" ma:index="11"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a86ae8af-4702-4c98-a1d1-be13efd82698" xsi:nil="true"/>
  </documentManagement>
</p:properties>
</file>

<file path=customXml/itemProps1.xml><?xml version="1.0" encoding="utf-8"?>
<ds:datastoreItem xmlns:ds="http://schemas.openxmlformats.org/officeDocument/2006/customXml" ds:itemID="{2F6CDB6A-D4D8-44B2-8226-1BAB33740F3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6ae8af-4702-4c98-a1d1-be13efd82698"/>
    <ds:schemaRef ds:uri="8face71c-f606-4986-9791-21ca3fde1bd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3143489-F2F4-46B0-A513-D639784C94AC}">
  <ds:schemaRefs>
    <ds:schemaRef ds:uri="http://schemas.microsoft.com/sharepoint/v3/contenttype/forms"/>
  </ds:schemaRefs>
</ds:datastoreItem>
</file>

<file path=customXml/itemProps3.xml><?xml version="1.0" encoding="utf-8"?>
<ds:datastoreItem xmlns:ds="http://schemas.openxmlformats.org/officeDocument/2006/customXml" ds:itemID="{06318C98-7AA7-4349-AD65-A052C0E8EF40}">
  <ds:schemaRefs>
    <ds:schemaRef ds:uri="http://schemas.microsoft.com/office/infopath/2007/PartnerControls"/>
    <ds:schemaRef ds:uri="http://www.w3.org/XML/1998/namespace"/>
    <ds:schemaRef ds:uri="http://schemas.microsoft.com/office/2006/documentManagement/types"/>
    <ds:schemaRef ds:uri="http://purl.org/dc/elements/1.1/"/>
    <ds:schemaRef ds:uri="http://purl.org/dc/terms/"/>
    <ds:schemaRef ds:uri="a86ae8af-4702-4c98-a1d1-be13efd82698"/>
    <ds:schemaRef ds:uri="http://schemas.microsoft.com/office/2006/metadata/properties"/>
    <ds:schemaRef ds:uri="http://schemas.openxmlformats.org/package/2006/metadata/core-properties"/>
    <ds:schemaRef ds:uri="8face71c-f606-4986-9791-21ca3fde1bd7"/>
    <ds:schemaRef ds:uri="http://purl.org/dc/dcmitype/"/>
  </ds:schemaRefs>
</ds:datastoreItem>
</file>

<file path=docProps/app.xml><?xml version="1.0" encoding="utf-8"?>
<Properties xmlns="http://schemas.openxmlformats.org/officeDocument/2006/extended-properties" xmlns:vt="http://schemas.openxmlformats.org/officeDocument/2006/docPropsVTypes">
  <TotalTime>160</TotalTime>
  <Words>4246</Words>
  <Application>Microsoft Office PowerPoint</Application>
  <PresentationFormat>On-screen Show (16:9)</PresentationFormat>
  <Paragraphs>495</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PadelLens - DV4S Exam Presentation</dc:title>
  <dc:subject>PptxGenJS Presentation</dc:subject>
  <dc:creator>Sensei</dc:creator>
  <cp:lastModifiedBy>Abdullah Saeed [Application Developer]</cp:lastModifiedBy>
  <cp:revision>4</cp:revision>
  <dcterms:created xsi:type="dcterms:W3CDTF">2026-06-25T06:31:33Z</dcterms:created>
  <dcterms:modified xsi:type="dcterms:W3CDTF">2026-06-25T09:29:35Z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0x0101005AF1FB5D3107E7408D5F23931A3F94F5</vt:lpwstr>
  </property>
</Properties>
</file>