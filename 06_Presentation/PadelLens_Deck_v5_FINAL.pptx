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57" r:id="rId6"/>
    <p:sldId id="284" r:id="rId38"/>
    <p:sldId id="258" r:id="rId7"/>
    <p:sldId id="259" r:id="rId8"/>
    <p:sldId id="260" r:id="rId9"/>
    <p:sldId id="261" r:id="rId10"/>
    <p:sldId id="262" r:id="rId11"/>
    <p:sldId id="263" r:id="rId12"/>
    <p:sldId id="264" r:id="rId13"/>
    <p:sldId id="265" r:id="rId14"/>
    <p:sldId id="266" r:id="rId15"/>
    <p:sldId id="267" r:id="rId16"/>
    <p:sldId id="293" r:id="rId47"/>
    <p:sldId id="294" r:id="rId48"/>
    <p:sldId id="295" r:id="rId49"/>
    <p:sldId id="287" r:id="rId41"/>
    <p:sldId id="288" r:id="rId42"/>
    <p:sldId id="289" r:id="rId43"/>
    <p:sldId id="268" r:id="rId17"/>
    <p:sldId id="269" r:id="rId18"/>
    <p:sldId id="270" r:id="rId19"/>
    <p:sldId id="271" r:id="rId20"/>
    <p:sldId id="272" r:id="rId21"/>
    <p:sldId id="285" r:id="rId39"/>
    <p:sldId id="273" r:id="rId24"/>
    <p:sldId id="274" r:id="rId25"/>
    <p:sldId id="275" r:id="rId26"/>
    <p:sldId id="290" r:id="rId44"/>
    <p:sldId id="291" r:id="rId45"/>
    <p:sldId id="292" r:id="rId46"/>
    <p:sldId id="276" r:id="rId27"/>
    <p:sldId id="277" r:id="rId28"/>
    <p:sldId id="278" r:id="rId22"/>
    <p:sldId id="279" r:id="rId23"/>
    <p:sldId id="286" r:id="rId40"/>
    <p:sldId id="280" r:id="rId29"/>
    <p:sldId id="281" r:id="rId30"/>
    <p:sldId id="282" r:id="rId31"/>
    <p:sldId id="283"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4779" autoAdjust="0"/>
  </p:normalViewPr>
  <p:slideViewPr>
    <p:cSldViewPr snapToGrid="0" snapToObjects="1">
      <p:cViewPr>
        <p:scale>
          <a:sx n="132" d="100"/>
          <a:sy n="132" d="100"/>
        </p:scale>
        <p:origin x="7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34.xml"/><Relationship Id="rId23" Type="http://schemas.openxmlformats.org/officeDocument/2006/relationships/slide" Target="slides/slide3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7.xml"/><Relationship Id="rId30" Type="http://schemas.openxmlformats.org/officeDocument/2006/relationships/slide" Target="slides/slide38.xml"/><Relationship Id="rId31" Type="http://schemas.openxmlformats.org/officeDocument/2006/relationships/slide" Target="slides/slide39.xml"/><Relationship Id="rId32" Type="http://schemas.openxmlformats.org/officeDocument/2006/relationships/slide" Target="slides/slide40.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xml"/><Relationship Id="rId39" Type="http://schemas.openxmlformats.org/officeDocument/2006/relationships/slide" Target="slides/slide25.xml"/><Relationship Id="rId40" Type="http://schemas.openxmlformats.org/officeDocument/2006/relationships/slide" Target="slides/slide3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14.xml"/><Relationship Id="rId48" Type="http://schemas.openxmlformats.org/officeDocument/2006/relationships/slide" Target="slides/slide15.xml"/><Relationship Id="rId4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0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restructured this talk to tell the whole story from the beginning, not just what changed. You'll see the same six parts as my first submission, but now Part 2 and Part 4 carry real discovered findings instead of assumptions, and validation has moved from absent to scheduled. Every slide that's new or different carries a small badge -- blue for new content, gray for updated -- so you can see exactly where the improvements landed without me having to tell you twice. I'd rather you evaluate the whole project fresh, with the changes clearly marked, than jump straight to a diff.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and Luca haven't changed -- the problem and the two personas are still exactly what I pitched originally. What's different is how I'm grounding them. Instead of inventing plausible-sounding personas from my own assumptions, I've built a real survey and interview guide in 07_Validation, ready to run with actual club players and coaches. That's a direct response to the criticism that personas had no research foundation. I haven't run the sessions yet -- I'm not going to pretend I have -- but the instruments exist and Marco and Luca will be replaced by real respondent data very soon.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p>
          <a:p>
            <a:endParaRPr lang="en-US" dirty="0"/>
          </a:p>
          <a:p>
            <a:r>
              <a:rPr lang="en-US" b="1" dirty="0"/>
              <a:t>- </a:t>
            </a:r>
            <a:r>
              <a:rPr lang="en-US" dirty="0"/>
              <a:t>helping a player look back at their own game </a:t>
            </a:r>
            <a:r>
              <a:rPr lang="en-US" b="1" dirty="0"/>
              <a:t>temporal</a:t>
            </a:r>
            <a:r>
              <a:rPr lang="en-US" dirty="0"/>
              <a:t> (trends across matches over time), </a:t>
            </a:r>
            <a:r>
              <a:rPr lang="en-US" b="1" dirty="0"/>
              <a:t>categorical</a:t>
            </a:r>
            <a:r>
              <a:rPr lang="en-US" dirty="0"/>
              <a:t> (by partner, shot type, surface), and </a:t>
            </a:r>
            <a:r>
              <a:rPr lang="en-US" b="1" dirty="0"/>
              <a:t>comparative</a:t>
            </a:r>
            <a:r>
              <a:rPr lang="en-US" dirty="0"/>
              <a:t> (this period vs. another, or you vs. a pro)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change in the whole project. The pro data used to be a small demo pull -- thirty players, two hundred seventy-six matches. Now it's the real thing: padelapi.org, a REST API, called with my own API key, covering the entire 2026 Premier Padel season so far -- seven hundred seventy-six completed matches, twenty-six tournaments, full draws from round of sixty-four to the final, both tours, twenty-one sixty-five ranked players. Everything downstream -- the exploration, the findings, the calibration case study -- is built on this real dataset, not a curated sample.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Acquiring this data meant designing around real constraints, not an idealized API. The free tier caps me at ten requests a minute, so the fetcher throttles itself and backs off properly on a 429. It's restartable by tournament, which mattered because the full pull took over ten minutes and I didn't want to lose progress on an interruption. And every single raw response gets archived to disk before I touch it with any cleaning logic -- that archive is what let me fix a real bug later without re-fetching a single byte. The synthetic personal log is still here, but now it's honestly labeled.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one real bug I hit. I wrote my first score parser assuming the API returned a comma-separated string, like what you'd see on a results page. It doesn't -- it's a JSON array of set objects. I only caught that by actually reading the raw archived responses during examination, not by trusting my own assumption. Because acquisition and transformation are separate scripts, fixing the parser cost me one file and zero re-fetching. That separation is the entire argument for keeping these stages apart instead of one script that does everything in a single pass.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method, not results -- the findings themselves come next. I ran ten hypotheses against the real dataset, every one of them a two-sided test at the standard alpha of point-oh-five, and every proportion in the report carries a Wilson ninety-five percent confidence interval, not just a bare number. Critically, I built in three possible verdicts, not two: a finding can be a signal, a null, or genuinely insufficient data. That third option is what separates real exploratory analysis from cherry-picking -- I'm about to show you results from all three categories, including the ones that didn't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stack itself -- Python, Streamlit, Pandas, Plotly -- hasn't changed. What's underneath it has. CSV reads are replaced by a SQLite database with a users table, so the schema is multi-user-ready even though today it still runs single-user. There's a brand-new analytics.py module -- Elo ratings, a win-probability model, confidence intervals -- backed by twelve out of twelve passing unit tests. Every pro-tour view now captions its data source, so nothing pretends to be more authoritative than it is. And run_app.bat installs dependencies, builds the database, and launches the app in one step, tested end to end on this machine.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inventory itself hasn't been rebuilt from scratch -- it's still the same nine chart types, each mapped to a specific place in the app and a specific finding. What's new is scope: the Insights page adds seven more purpose-built charts on top of that nine, bringing the working inventory to sixteen. I've listed those seven at the bottom rather than expanding the table itself, because they follow the same principle as everything above -- one chart type, one finding, chosen and defended against real alternatives, not decoration.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content hasn't changed at all -- the color system, the accessibility checks, all of it is exactly what I presented the first time and it held up well in the evaluation. What changed is purely the label: this used to sit under a divider mislabeled 'Part 5,' when it's actually Part 4 content. Fixing the section numbering throughout the deck was one of the concrete, mechanical criticisms from the first submission, and this is one of the two renumbered slides -- simple to fix, but worth doing properly and verifying end to end.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interactivity and annotation layers are the same ones I presented before -- sidebar filters, drill-downs, hover tooltips, and the layered annotation rule of static headline plus dynamic hover detail. What's new is the sixth bullet: every one of the new Insights-page cards follows that same annotation discipline, but adds something the first submission didn't have -- a method note under the chart stating the test, the sample size, and the p-value. Interactivity earns trust when the reader can verify a claim without leaving the chart, and that's exactly what these method notes are for.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walkthrough itself follows the same five-step structure as before -- Home, Log Match, My Stats, Compare -- but I've swapped the final stop. Instead of ending on Pro Tour, I now land on the brand-new Insights page: seven discovery cards, each with its own purpose-built chart, an in-canvas headline, and a method note underneath. I also want to flag something you'll see directly on screen during the demo: every personal page now carries a visible synthetic-demo-data badge, so there's no ambiguity about which parts of the app are running on real data and which are still the seeded log.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five items are genuinely new priorities, not aspirational leftovers. Running the scheduled user tests and getting a real SUS score is first -- that's the validation loop closing for real. Second, I start logging my own matches immediately, retiring the synthetic layer piece by piece instead of all at once. Third, one month of the API's paid tier for nineteen euros unlocks the full multi-season history, over two thousand matches. And fourth, a public Streamlit Cloud deployment means Marco and Luca could actually use this without installing anything. The weekly digest idea survives from the original list.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I walk through the whole story again from the beginning, here's the honest summary of what actually changed since my first submission, which scored twenty-one out of thirty. Six things: a real seven hundred seventy-six match dataset instead of a small demo pull; genuine data exploration that surfaced seven findings, including an honest null; a new analytics layer with Elo ratings, a win model, and confidence intervals; an upgraded SQLite-backed multi-user app with a new Insights page; validation instruments that are ready with real sessions scheduled; and a polished, machine-verified deliverable -- this deck. Every badge you see from here on marks exactly 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direct criticism I got -- validation was essentially absent. Here's what exists now: a persona-grounding survey in English and Italian, an interview guide, a full SUS questionnaire with its scoring sheet, a task-based user-testing protocol, and a second round of heuristic evaluation for external evaluators to run. What I want to be completely honest about is status: sessions with real club players are scheduled, not yet run. I will not stand up here and give you an invented SUS score. The instruments are ready and rigorous -- the numbers will come from real people, not from 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didn't exist in the first submission at all -- the project had no modelling or analytical tooling, which was a direct criticism.There's also a small-sample guard: if fewer than ten matches back a stat, the app refuses to make a claim rather than show a misleadingly precise number. This is the analytical backbone the evaluation asked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discoveries here. First, momentum: win the first set and you win the match eighty-six percent of the time -- a huge, real signal across genders and levels. But narrow that to matches that actually reach a third set, and the set-one winner's edge completely disappears, down to forty-nine percent, a coin flip. Second, chemistry: pairs win about forty percent of matches in their first three together, climbing to sixty-seven percent past sixteen matches. I want to flag the catch immediately -- that's survivorship as much as chemistry, since losing pairs simply stop playing together. I'll come back to that caveat in the chart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discovered findings. Rankings genuinely predict: the team with more combined points wins seventy-eight and a half percent of the time, and a logistic model on that gap gets an AUC of point eight eight -- a real, strong signal, though I treat it as an upper bound because the points snapshot has some look-ahead bias. Upsets are rarer than they feel -- only twenty-two percent of seeded matches -- and non-monotonic by round, spiking to a coin flip in the final. And efficiency matters: teams that win their previous round in fewer games have a real edge next match, fifty-nine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my ten questions came back null or insufficient, and I'm showing them to you on purpose. Home advantage: teams playing in their own country won only forty-three percent of home-versus-away matches -- not significant, no real edge. Age gap between winners and losers: statistically indistinguishable from zero. And handedness and height simply don't have enough data coverage -- under the sixty percent threshold I set before I'd trust a comparison -- so I labeled them insufficient rather than forcing a conclusion. A project that only shows you the findings that worked isn't doing exploratory analysis, it's doing marketing.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set one looks like it decides the match -- eighty-six percent of the time it does. But I didn't want to stop there, because that number hides every two-set blowout along with the close matches. So I asked a sharper question: of the matches that actually went the distance, does the set-one winner still have the edge? The answer is no -- forty-nine percent, a coin flip. I drew that as two connected dots instead of two bars, because the point isn't the two numbers, it's the drop between them. A slope chart puts that collapse directly in the 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who play more matches together win a lot more -- forty percent early on, sixty-eight percent past sixteen matches. It's tempting to read that as practice making a pair better. But only thirty-nine percent of pairs ever reach five matches together, and the obvious rival explanation is survivorship: winning pairs keep getting picked again, losing pairs get split up. I didn't want that caveat to live in a sentence half the room skips, so I put it directly in the chart -- the confidence band narrows as you move right, and a callout spells out exactly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do predict outcomes -- favorites win seventy-eight and a half percent of the time, with an AUC of point eight eight. I checked that with an ROC curve and a calibration plot, and both looked good, but neither one went anywhere near this final design, because they answer 'is this model honest,' not the question my audience actually has. What I built instead shows the same finding sliced by how big the ranking gap is: barely better than a coin flip in the closest quintile, near a sure thing in the widest. Rankings predict -- they don't decide.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 headline before the methods get technical. The dataset is a full 2026 Premier Padel season from padelapi.org, called with my own API key -- seven hundred seventy-six completed matches, twenty-six tournaments, twenty-one sixty-five ranked players, full draws round of sixty-four to the final. Everything downstream runs on this, not a curated sample. One honesty note: statistics use the seven hundred sixty-three matches that finished normally -- thirteen retirements and walkovers are excluded so they don't distort win rates. Every raw API response is archived as JSONL before any cleaning, which is what makes the pipeline reproducible end to end.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here's how I tested them. Everything is two-sided at alpha zero point zero five, with every proportion carrying a ninety-five percent Wilson interval -- said aloud: p-hat plus z-squared over two n, plus or minus z times the square root of p-hat times one minus p-hat over n, plus z-squared over four n-squared, all over one plus z-squared over n, z equal to one point nine six. It never leaves zero to one. Binomial test asks if a rate differs from a coin flip -- momentum, favorites, upsets. Chi-squared checks the chemistry buckets, and Welch's t-test compares duration means without assuming equal variance.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models turn tests into predictions. The logistic win model: probability team one wins equals one over one plus e to the negative of beta-zero plus beta-one times the log of the points ratio, because ranking advantages multiply. AUC is zero point eighty-eight -- it ranked the winner higher in most pairs. The Elo engine: expected score is one over one plus ten to the rating difference over four hundred; rating updates by K times actual minus expected score, K equal to thirty-two, unit-tested zero-sum. That gap flags over- and under-rated players. both in analytics.py, twelve of twelve tests passing.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hyperlink" Target="https://www.figma.com/design/Kyqnt8CnTDmD9yWxxcK4Ec/"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hyperlink" Target="https://padellens.streamlit.ap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github.com/Abdullahsaeed10/PadelLe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txBody>
          <a:bodyPr/>
          <a:lstStyle/>
          <a:p>
            <a:endParaRPr lang="en-US"/>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buNone/>
            </a:pPr>
            <a:r>
              <a:rPr lang="en-US" sz="6000" b="1" kern="0" spc="20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marL="0" indent="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9" name="Text Resub Subtitle"/>
          <p:cNvSpPr/>
          <p:nvPr/>
        </p:nvSpPr>
        <p:spPr>
          <a:xfrm>
            <a:off x="457200" y="3520440"/>
            <a:ext cx="8229600" cy="292608"/>
          </a:xfrm>
          <a:prstGeom prst="rect">
            <a:avLst/>
          </a:prstGeom>
          <a:noFill/>
          <a:ln/>
        </p:spPr>
        <p:txBody>
          <a:bodyPr wrap="square" lIns="0" tIns="0" rIns="0" bIns="0" rtlCol="0" anchor="ctr"/>
          <a:lstStyle/>
          <a:p>
            <a:pPr marL="0" indent="0">
              <a:buNone/>
            </a:pPr>
            <a:r>
              <a:rPr lang="en-US" sz="1300" b="1" i="1" dirty="0">
                <a:solidFill>
                  <a:srgbClr val="0EA5E9"/>
                </a:solidFill>
                <a:latin typeface="Calibri" pitchFamily="34" charset="0"/>
                <a:ea typeface="Calibri" pitchFamily="34" charset="-122"/>
                <a:cs typeface="Calibri" pitchFamily="34" charset="-120"/>
              </a:rPr>
              <a:t>Resubmission — with real data &amp; discovered insights</a:t>
            </a:r>
            <a:endParaRPr lang="en-US" sz="1300" dirty="0"/>
          </a:p>
        </p:txBody>
      </p:sp>
      <p:sp>
        <p:nvSpPr>
          <p:cNvPr id="6" name="Shape 4"/>
          <p:cNvSpPr/>
          <p:nvPr/>
        </p:nvSpPr>
        <p:spPr>
          <a:xfrm>
            <a:off x="457200" y="4160520"/>
            <a:ext cx="54864" cy="548640"/>
          </a:xfrm>
          <a:prstGeom prst="rect">
            <a:avLst/>
          </a:prstGeom>
          <a:solidFill>
            <a:srgbClr val="0EA5E9"/>
          </a:solidFill>
          <a:ln/>
        </p:spPr>
        <p:txBody>
          <a:bodyPr/>
          <a:lstStyle/>
          <a:p>
            <a:endParaRPr lang="en-US"/>
          </a:p>
        </p:txBody>
      </p:sp>
      <p:sp>
        <p:nvSpPr>
          <p:cNvPr id="7" name="Text 5"/>
          <p:cNvSpPr/>
          <p:nvPr/>
        </p:nvSpPr>
        <p:spPr>
          <a:xfrm>
            <a:off x="640080" y="4160520"/>
            <a:ext cx="7315200" cy="54864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Visualization for Sport  ·  Sports Engineering MSc</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pic>
        <p:nvPicPr>
          <p:cNvPr id="8" name="Picture 7" descr="Plus de 20 images de Pádel et de Padel - Pixabay">
            <a:extLst>
              <a:ext uri="{FF2B5EF4-FFF2-40B4-BE49-F238E27FC236}">
                <a16:creationId xmlns:a16="http://schemas.microsoft.com/office/drawing/2014/main" id="{DCC3CE6F-1640-3499-9954-2CA8F6F95017}"/>
              </a:ext>
            </a:extLst>
          </p:cNvPr>
          <p:cNvPicPr>
            <a:picLocks noChangeAspect="1"/>
          </p:cNvPicPr>
          <p:nvPr/>
        </p:nvPicPr>
        <p:blipFill>
          <a:blip r:embed="rId3"/>
          <a:stretch>
            <a:fillRect/>
          </a:stretch>
        </p:blipFill>
        <p:spPr>
          <a:xfrm>
            <a:off x="4478739" y="0"/>
            <a:ext cx="4665262"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txBody>
          <a:bodyPr/>
          <a:lstStyle/>
          <a:p>
            <a:endParaRPr lang="en-US"/>
          </a:p>
        </p:txBody>
      </p:sp>
      <p:sp>
        <p:nvSpPr>
          <p:cNvPr id="6" name="Text 4"/>
          <p:cNvSpPr/>
          <p:nvPr/>
        </p:nvSpPr>
        <p:spPr>
          <a:xfrm>
            <a:off x="457200" y="1371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txBody>
          <a:bodyPr/>
          <a:lstStyle/>
          <a:p>
            <a:endParaRPr lang="en-US"/>
          </a:p>
        </p:txBody>
      </p:sp>
      <p:sp>
        <p:nvSpPr>
          <p:cNvPr id="10" name="Text 8"/>
          <p:cNvSpPr/>
          <p:nvPr/>
        </p:nvSpPr>
        <p:spPr>
          <a:xfrm>
            <a:off x="45720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txBody>
          <a:bodyPr/>
          <a:lstStyle/>
          <a:p>
            <a:endParaRPr lang="en-US"/>
          </a:p>
        </p:txBody>
      </p:sp>
      <p:sp>
        <p:nvSpPr>
          <p:cNvPr id="14" name="Text 12"/>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p:nvPr/>
        </p:nvSpPr>
        <p:spPr>
          <a:xfrm>
            <a:off x="457200" y="2880360"/>
            <a:ext cx="365760" cy="365760"/>
          </a:xfrm>
          <a:prstGeom prst="ellipse">
            <a:avLst/>
          </a:prstGeom>
          <a:solidFill>
            <a:srgbClr val="0EA5E9"/>
          </a:solidFill>
          <a:ln/>
        </p:spPr>
        <p:txBody>
          <a:bodyPr/>
          <a:lstStyle/>
          <a:p>
            <a:endParaRPr lang="en-US"/>
          </a:p>
        </p:txBody>
      </p:sp>
      <p:sp>
        <p:nvSpPr>
          <p:cNvPr id="18" name="Text 16"/>
          <p:cNvSpPr/>
          <p:nvPr/>
        </p:nvSpPr>
        <p:spPr>
          <a:xfrm>
            <a:off x="4572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Shape 19"/>
          <p:cNvSpPr/>
          <p:nvPr/>
        </p:nvSpPr>
        <p:spPr>
          <a:xfrm>
            <a:off x="457200" y="3383280"/>
            <a:ext cx="365760" cy="365760"/>
          </a:xfrm>
          <a:prstGeom prst="ellipse">
            <a:avLst/>
          </a:prstGeom>
          <a:solidFill>
            <a:srgbClr val="0EA5E9"/>
          </a:solidFill>
          <a:ln/>
        </p:spPr>
        <p:txBody>
          <a:bodyPr/>
          <a:lstStyle/>
          <a:p>
            <a:endParaRPr lang="en-US"/>
          </a:p>
        </p:txBody>
      </p:sp>
      <p:sp>
        <p:nvSpPr>
          <p:cNvPr id="22" name="Text 20"/>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Shape 23"/>
          <p:cNvSpPr/>
          <p:nvPr/>
        </p:nvSpPr>
        <p:spPr>
          <a:xfrm>
            <a:off x="457200" y="3886200"/>
            <a:ext cx="365760" cy="365760"/>
          </a:xfrm>
          <a:prstGeom prst="ellipse">
            <a:avLst/>
          </a:prstGeom>
          <a:solidFill>
            <a:srgbClr val="0EA5E9"/>
          </a:solidFill>
          <a:ln/>
        </p:spPr>
        <p:txBody>
          <a:bodyPr/>
          <a:lstStyle/>
          <a:p>
            <a:endParaRPr lang="en-US"/>
          </a:p>
        </p:txBody>
      </p:sp>
      <p:sp>
        <p:nvSpPr>
          <p:cNvPr id="26" name="Text 24"/>
          <p:cNvSpPr/>
          <p:nvPr/>
        </p:nvSpPr>
        <p:spPr>
          <a:xfrm>
            <a:off x="457200" y="3886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40" name="Text Updated Note"/>
          <p:cNvSpPr/>
          <p:nvPr/>
        </p:nvSpPr>
        <p:spPr>
          <a:xfrm>
            <a:off x="457200" y="4389120"/>
            <a:ext cx="8229600" cy="292608"/>
          </a:xfrm>
          <a:prstGeom prst="rect">
            <a:avLst/>
          </a:prstGeom>
          <a:noFill/>
          <a:ln/>
        </p:spPr>
        <p:txBody>
          <a:bodyPr wrap="square" lIns="0" tIns="0" rIns="0" bIns="0" rtlCol="0" anchor="ctr"/>
          <a:lstStyle/>
          <a:p>
            <a:pPr marL="0" indent="0">
              <a:buNone/>
            </a:pPr>
            <a:r>
              <a:rPr lang="en-US" sz="1100" i="1" dirty="0">
                <a:solidFill>
                  <a:srgbClr val="0EA5E9"/>
                </a:solidFill>
                <a:latin typeface="Calibri" pitchFamily="34" charset="0"/>
                <a:ea typeface="Calibri" pitchFamily="34" charset="-122"/>
                <a:cs typeface="Calibri" pitchFamily="34" charset="-120"/>
              </a:rPr>
              <a:t>Slides marked NEW/UPDATED show what changed since the first submission.</a:t>
            </a:r>
            <a:endParaRPr lang="en-US" sz="11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31" name="Text 17">
            <a:extLst>
              <a:ext uri="{FF2B5EF4-FFF2-40B4-BE49-F238E27FC236}">
                <a16:creationId xmlns:a16="http://schemas.microsoft.com/office/drawing/2014/main" id="{808A806C-C4DA-3B76-1339-D21350B7B912}"/>
              </a:ext>
            </a:extLst>
          </p:cNvPr>
          <p:cNvSpPr>
            <a:spLocks/>
          </p:cNvSpPr>
          <p:nvPr/>
        </p:nvSpPr>
        <p:spPr>
          <a:xfrm>
            <a:off x="1005840" y="3401930"/>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32" name="Text 18">
            <a:extLst>
              <a:ext uri="{FF2B5EF4-FFF2-40B4-BE49-F238E27FC236}">
                <a16:creationId xmlns:a16="http://schemas.microsoft.com/office/drawing/2014/main" id="{32636B9A-A187-86A6-DBB9-83BF23A76B3A}"/>
              </a:ext>
            </a:extLst>
          </p:cNvPr>
          <p:cNvSpPr>
            <a:spLocks/>
          </p:cNvSpPr>
          <p:nvPr/>
        </p:nvSpPr>
        <p:spPr>
          <a:xfrm>
            <a:off x="3383280" y="339158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33" name="Text 21">
            <a:extLst>
              <a:ext uri="{FF2B5EF4-FFF2-40B4-BE49-F238E27FC236}">
                <a16:creationId xmlns:a16="http://schemas.microsoft.com/office/drawing/2014/main" id="{7F301614-53E2-0DF7-BB5D-59D7B12DABF7}"/>
              </a:ext>
            </a:extLst>
          </p:cNvPr>
          <p:cNvSpPr>
            <a:spLocks/>
          </p:cNvSpPr>
          <p:nvPr/>
        </p:nvSpPr>
        <p:spPr>
          <a:xfrm>
            <a:off x="1005840" y="2882407"/>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34" name="Text 22">
            <a:extLst>
              <a:ext uri="{FF2B5EF4-FFF2-40B4-BE49-F238E27FC236}">
                <a16:creationId xmlns:a16="http://schemas.microsoft.com/office/drawing/2014/main" id="{A8AFDB81-9206-0977-FE59-4A29A7A805B2}"/>
              </a:ext>
            </a:extLst>
          </p:cNvPr>
          <p:cNvSpPr>
            <a:spLocks/>
          </p:cNvSpPr>
          <p:nvPr/>
        </p:nvSpPr>
        <p:spPr>
          <a:xfrm>
            <a:off x="3383280" y="292692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WHAT CHANGED</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changed since the first submission — at a glance</a:t>
            </a:r>
            <a:endParaRPr lang="en-US" sz="2600" dirty="0"/>
          </a:p>
        </p:txBody>
      </p:sp>
      <p:sp>
        <p:nvSpPr>
          <p:cNvPr id="100" name="Text 100"/>
          <p:cNvSpPr/>
          <p:nvPr/>
        </p:nvSpPr>
        <p:spPr>
          <a:xfrm>
            <a:off x="502920" y="13776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411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real 776-match dataset</a:t>
            </a:r>
            <a:endParaRPr lang="en-US" sz="1300" dirty="0"/>
          </a:p>
        </p:txBody>
      </p:sp>
      <p:sp>
        <p:nvSpPr>
          <p:cNvPr id="102" name="Text 102"/>
          <p:cNvSpPr/>
          <p:nvPr/>
        </p:nvSpPr>
        <p:spPr>
          <a:xfrm>
            <a:off x="960120" y="16154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padelapi.org, 2026 season — 26 tournaments, 2,165 ranked players, my own API key.</a:t>
            </a:r>
            <a:endParaRPr lang="en-US" sz="1000" dirty="0"/>
          </a:p>
        </p:txBody>
      </p:sp>
      <p:sp>
        <p:nvSpPr>
          <p:cNvPr id="103" name="Text 103"/>
          <p:cNvSpPr/>
          <p:nvPr/>
        </p:nvSpPr>
        <p:spPr>
          <a:xfrm>
            <a:off x="502920" y="189585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85928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Genuine data exploration</a:t>
            </a:r>
            <a:endParaRPr lang="en-US" sz="1300" dirty="0"/>
          </a:p>
        </p:txBody>
      </p:sp>
      <p:sp>
        <p:nvSpPr>
          <p:cNvPr id="105" name="Text 105"/>
          <p:cNvSpPr/>
          <p:nvPr/>
        </p:nvSpPr>
        <p:spPr>
          <a:xfrm>
            <a:off x="960120" y="213360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Ten hypotheses tested; seven discovered findings, including an honest null.</a:t>
            </a:r>
            <a:endParaRPr lang="en-US" sz="1000" dirty="0"/>
          </a:p>
        </p:txBody>
      </p:sp>
      <p:sp>
        <p:nvSpPr>
          <p:cNvPr id="106" name="Text 106"/>
          <p:cNvSpPr/>
          <p:nvPr/>
        </p:nvSpPr>
        <p:spPr>
          <a:xfrm>
            <a:off x="502920" y="241401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37744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new analytics layer</a:t>
            </a:r>
            <a:endParaRPr lang="en-US" sz="1300" dirty="0"/>
          </a:p>
        </p:txBody>
      </p:sp>
      <p:sp>
        <p:nvSpPr>
          <p:cNvPr id="108" name="Text 108"/>
          <p:cNvSpPr/>
          <p:nvPr/>
        </p:nvSpPr>
        <p:spPr>
          <a:xfrm>
            <a:off x="960120" y="265176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Elo ratings, a logistic win-probability model, and confidence intervals on every statistic</a:t>
            </a:r>
            <a:endParaRPr lang="en-US" sz="1000" dirty="0"/>
          </a:p>
        </p:txBody>
      </p:sp>
      <p:sp>
        <p:nvSpPr>
          <p:cNvPr id="109" name="Text 109"/>
          <p:cNvSpPr/>
          <p:nvPr/>
        </p:nvSpPr>
        <p:spPr>
          <a:xfrm>
            <a:off x="502920" y="293217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89560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An upgraded application</a:t>
            </a:r>
            <a:endParaRPr lang="en-US" sz="1300" dirty="0"/>
          </a:p>
        </p:txBody>
      </p:sp>
      <p:sp>
        <p:nvSpPr>
          <p:cNvPr id="111" name="Text 111"/>
          <p:cNvSpPr/>
          <p:nvPr/>
        </p:nvSpPr>
        <p:spPr>
          <a:xfrm>
            <a:off x="960120" y="316992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SQLite-backed, multi-user-ready, with a new Insights page (seven discovery cards).</a:t>
            </a:r>
            <a:endParaRPr lang="en-US" sz="1000" dirty="0"/>
          </a:p>
        </p:txBody>
      </p:sp>
      <p:sp>
        <p:nvSpPr>
          <p:cNvPr id="112" name="Text 112"/>
          <p:cNvSpPr/>
          <p:nvPr/>
        </p:nvSpPr>
        <p:spPr>
          <a:xfrm>
            <a:off x="502920" y="3450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41376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Validation, honestly reported</a:t>
            </a:r>
            <a:endParaRPr lang="en-US" sz="1300" dirty="0"/>
          </a:p>
        </p:txBody>
      </p:sp>
      <p:sp>
        <p:nvSpPr>
          <p:cNvPr id="114" name="Text 114"/>
          <p:cNvSpPr/>
          <p:nvPr/>
        </p:nvSpPr>
        <p:spPr>
          <a:xfrm>
            <a:off x="960120" y="368808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Instruments ready (survey, SUS, protocols); sessions with real club players scheduled.</a:t>
            </a:r>
            <a:endParaRPr lang="en-US" sz="1000" dirty="0"/>
          </a:p>
        </p:txBody>
      </p:sp>
      <p:sp>
        <p:nvSpPr>
          <p:cNvPr id="115" name="Text 115"/>
          <p:cNvSpPr/>
          <p:nvPr/>
        </p:nvSpPr>
        <p:spPr>
          <a:xfrm>
            <a:off x="502920" y="39684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6" name="Text 116"/>
          <p:cNvSpPr/>
          <p:nvPr/>
        </p:nvSpPr>
        <p:spPr>
          <a:xfrm>
            <a:off x="960120" y="39319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polished, verified deliverable</a:t>
            </a:r>
            <a:endParaRPr lang="en-US" sz="1300" dirty="0"/>
          </a:p>
        </p:txBody>
      </p:sp>
      <p:sp>
        <p:nvSpPr>
          <p:cNvPr id="117" name="Text 117"/>
          <p:cNvSpPr/>
          <p:nvPr/>
        </p:nvSpPr>
        <p:spPr>
          <a:xfrm>
            <a:off x="960120" y="42062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This deck: consistent numbering, zero placeholders, speaker notes on every slide.</a:t>
            </a:r>
            <a:endParaRPr lang="en-US" sz="100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749040" cy="457200"/>
          </a:xfrm>
          <a:prstGeom prst="rect">
            <a:avLst/>
          </a:prstGeom>
          <a:noFill/>
          <a:ln/>
        </p:spPr>
        <p:txBody>
          <a:bodyPr wrap="square" lIns="0" tIns="0" rIns="0" bIns="0" rtlCol="0" anchor="ctr"/>
          <a:lstStyle/>
          <a:p>
            <a:pPr marL="0" indent="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marL="0" indent="0">
              <a:buNone/>
            </a:pPr>
            <a:r>
              <a:rPr lang="en-US" sz="3600" b="1" dirty="0">
                <a:solidFill>
                  <a:srgbClr val="0EA5E9"/>
                </a:solidFill>
              </a:rPr>
              <a:t>1.1M+</a:t>
            </a: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marL="0" indent="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marL="0" indent="0">
              <a:buNone/>
            </a:pPr>
            <a:r>
              <a:rPr lang="en-US" sz="1300" b="1" dirty="0">
                <a:solidFill>
                  <a:srgbClr val="1F2937"/>
                </a:solidFill>
              </a:rPr>
              <a:t>Pros have analytics. </a:t>
            </a:r>
            <a:endParaRPr lang="en-US" sz="1300" dirty="0"/>
          </a:p>
          <a:p>
            <a:pPr marL="0" indent="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marL="0" indent="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5029200" y="1508760"/>
            <a:ext cx="3474720" cy="274320"/>
          </a:xfrm>
          <a:prstGeom prst="rect">
            <a:avLst/>
          </a:prstGeom>
          <a:noFill/>
          <a:ln/>
        </p:spPr>
        <p:txBody>
          <a:bodyPr wrap="square" lIns="0" tIns="0" rIns="0" bIns="0" rtlCol="0" anchor="ctr"/>
          <a:lstStyle/>
          <a:p>
            <a:pPr marL="0" indent="0">
              <a:buNone/>
            </a:pPr>
            <a:r>
              <a:rPr lang="en-US" sz="1000" b="1" kern="0" spc="40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marL="0" indent="0">
              <a:spcAft>
                <a:spcPts val="400"/>
              </a:spcAft>
              <a:buNone/>
            </a:pPr>
            <a:r>
              <a:rPr lang="en-US" sz="1200" i="1" dirty="0">
                <a:solidFill>
                  <a:srgbClr val="64748B"/>
                </a:solidFill>
              </a:rPr>
              <a:t>"I always lose in the third set."</a:t>
            </a:r>
            <a:endParaRPr lang="en-US" sz="1200" dirty="0"/>
          </a:p>
          <a:p>
            <a:pPr marL="0" indent="0">
              <a:spcAft>
                <a:spcPts val="400"/>
              </a:spcAft>
              <a:buNone/>
            </a:pPr>
            <a:r>
              <a:rPr lang="en-US" sz="1200" i="1" dirty="0">
                <a:solidFill>
                  <a:srgbClr val="64748B"/>
                </a:solidFill>
              </a:rPr>
              <a:t>"I play better with Luca."</a:t>
            </a:r>
            <a:endParaRPr lang="en-US" sz="1200" dirty="0"/>
          </a:p>
          <a:p>
            <a:pPr marL="0" indent="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marL="0" indent="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marL="0" indent="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txBody>
          <a:bodyPr/>
          <a:lstStyle/>
          <a:p>
            <a:endParaRPr lang="en-US"/>
          </a:p>
        </p:txBody>
      </p:sp>
      <p:sp>
        <p:nvSpPr>
          <p:cNvPr id="6" name="Text 4"/>
          <p:cNvSpPr/>
          <p:nvPr/>
        </p:nvSpPr>
        <p:spPr>
          <a:xfrm>
            <a:off x="731520" y="1463040"/>
            <a:ext cx="7680960" cy="640080"/>
          </a:xfrm>
          <a:prstGeom prst="rect">
            <a:avLst/>
          </a:prstGeom>
          <a:noFill/>
          <a:ln/>
        </p:spPr>
        <p:txBody>
          <a:bodyPr wrap="square" lIns="0" tIns="0" rIns="0" bIns="0" rtlCol="0" anchor="ctr"/>
          <a:lstStyle/>
          <a:p>
            <a:pPr marL="0" indent="0">
              <a:spcAft>
                <a:spcPts val="400"/>
              </a:spcAft>
              <a:buNone/>
            </a:pPr>
            <a:r>
              <a:rPr lang="en-US" sz="900" b="1" kern="0" spc="400" dirty="0">
                <a:solidFill>
                  <a:srgbClr val="0EA5E9"/>
                </a:solidFill>
              </a:rPr>
              <a:t>PROBLEM STATEMENT</a:t>
            </a:r>
            <a:endParaRPr lang="en-US" sz="900" dirty="0"/>
          </a:p>
          <a:p>
            <a:pPr marL="0" indent="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30" name="Text Validation Note"/>
          <p:cNvSpPr/>
          <p:nvPr/>
        </p:nvSpPr>
        <p:spPr>
          <a:xfrm>
            <a:off x="457200" y="2213610"/>
            <a:ext cx="8229600" cy="182880"/>
          </a:xfrm>
          <a:prstGeom prst="rect">
            <a:avLst/>
          </a:prstGeom>
          <a:noFill/>
          <a:ln/>
        </p:spPr>
        <p:txBody>
          <a:bodyPr wrap="square" lIns="0" tIns="0" rIns="0" bIns="0" rtlCol="0" anchor="ctr"/>
          <a:lstStyle/>
          <a:p>
            <a:pPr marL="0" indent="0">
              <a:buNone/>
            </a:pPr>
            <a:r>
              <a:rPr lang="en-US" sz="1000" b="1" i="1" dirty="0">
                <a:solidFill>
                  <a:srgbClr val="0EA5E9"/>
                </a:solidFill>
                <a:latin typeface="Calibri" pitchFamily="34" charset="0"/>
                <a:ea typeface="Calibri" pitchFamily="34" charset="-122"/>
                <a:cs typeface="Calibri" pitchFamily="34" charset="-120"/>
              </a:rPr>
              <a:t>Personas now being grounded in a real survey + interviews (07_Validation)</a:t>
            </a:r>
            <a:endParaRPr lang="en-US" sz="10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8" name="Text 6"/>
          <p:cNvSpPr/>
          <p:nvPr/>
        </p:nvSpPr>
        <p:spPr>
          <a:xfrm>
            <a:off x="64008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1-5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508760"/>
            <a:ext cx="1097280" cy="256032"/>
          </a:xfrm>
          <a:prstGeom prst="rect">
            <a:avLst/>
          </a:prstGeom>
          <a:solidFill>
            <a:srgbClr val="EF4444"/>
          </a:solidFill>
          <a:ln/>
        </p:spPr>
        <p:txBody>
          <a:bodyPr/>
          <a:lstStyle/>
          <a:p>
            <a:endParaRPr lang="en-US"/>
          </a:p>
        </p:txBody>
      </p:sp>
      <p:sp>
        <p:nvSpPr>
          <p:cNvPr id="7" name="Text 5"/>
          <p:cNvSpPr/>
          <p:nvPr/>
        </p:nvSpPr>
        <p:spPr>
          <a:xfrm>
            <a:off x="64008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3429000" y="1508760"/>
            <a:ext cx="1097280" cy="256032"/>
          </a:xfrm>
          <a:prstGeom prst="rect">
            <a:avLst/>
          </a:prstGeom>
          <a:solidFill>
            <a:srgbClr val="10B981"/>
          </a:solidFill>
          <a:ln/>
        </p:spPr>
        <p:txBody>
          <a:bodyPr/>
          <a:lstStyle/>
          <a:p>
            <a:endParaRPr lang="en-US"/>
          </a:p>
        </p:txBody>
      </p:sp>
      <p:sp>
        <p:nvSpPr>
          <p:cNvPr id="13" name="Text 11"/>
          <p:cNvSpPr/>
          <p:nvPr/>
        </p:nvSpPr>
        <p:spPr>
          <a:xfrm>
            <a:off x="342900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6217920" y="1508760"/>
            <a:ext cx="1097280" cy="256032"/>
          </a:xfrm>
          <a:prstGeom prst="rect">
            <a:avLst/>
          </a:prstGeom>
          <a:solidFill>
            <a:srgbClr val="0EA5E9"/>
          </a:solidFill>
          <a:ln/>
        </p:spPr>
        <p:txBody>
          <a:bodyPr/>
          <a:lstStyle/>
          <a:p>
            <a:endParaRPr lang="en-US"/>
          </a:p>
        </p:txBody>
      </p:sp>
      <p:sp>
        <p:nvSpPr>
          <p:cNvPr id="19" name="Text 17"/>
          <p:cNvSpPr/>
          <p:nvPr/>
        </p:nvSpPr>
        <p:spPr>
          <a:xfrm>
            <a:off x="621792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37160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txBody>
          <a:bodyPr/>
          <a:lstStyle/>
          <a:p>
            <a:endParaRPr lang="en-US"/>
          </a:p>
        </p:txBody>
      </p:sp>
      <p:sp>
        <p:nvSpPr>
          <p:cNvPr id="8" name="Text 6"/>
          <p:cNvSpPr/>
          <p:nvPr/>
        </p:nvSpPr>
        <p:spPr>
          <a:xfrm>
            <a:off x="2286000" y="149047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marL="0" indent="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txBody>
          <a:bodyPr/>
          <a:lstStyle/>
          <a:p>
            <a:endParaRPr lang="en-US"/>
          </a:p>
        </p:txBody>
      </p:sp>
      <p:sp>
        <p:nvSpPr>
          <p:cNvPr id="11" name="Text 9"/>
          <p:cNvSpPr/>
          <p:nvPr/>
        </p:nvSpPr>
        <p:spPr>
          <a:xfrm>
            <a:off x="640080" y="196596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txBody>
          <a:bodyPr/>
          <a:lstStyle/>
          <a:p>
            <a:endParaRPr lang="en-US"/>
          </a:p>
        </p:txBody>
      </p:sp>
      <p:sp>
        <p:nvSpPr>
          <p:cNvPr id="13" name="Text 11"/>
          <p:cNvSpPr/>
          <p:nvPr/>
        </p:nvSpPr>
        <p:spPr>
          <a:xfrm>
            <a:off x="2286000"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marL="0" indent="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txBody>
          <a:bodyPr/>
          <a:lstStyle/>
          <a:p>
            <a:endParaRPr lang="en-US"/>
          </a:p>
        </p:txBody>
      </p:sp>
      <p:sp>
        <p:nvSpPr>
          <p:cNvPr id="16" name="Text 14"/>
          <p:cNvSpPr/>
          <p:nvPr/>
        </p:nvSpPr>
        <p:spPr>
          <a:xfrm>
            <a:off x="640080" y="256032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txBody>
          <a:bodyPr/>
          <a:lstStyle/>
          <a:p>
            <a:endParaRPr lang="en-US"/>
          </a:p>
        </p:txBody>
      </p:sp>
      <p:sp>
        <p:nvSpPr>
          <p:cNvPr id="18" name="Text 16"/>
          <p:cNvSpPr/>
          <p:nvPr/>
        </p:nvSpPr>
        <p:spPr>
          <a:xfrm>
            <a:off x="228600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marL="0" indent="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640080" y="315468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txBody>
          <a:bodyPr/>
          <a:lstStyle/>
          <a:p>
            <a:endParaRPr lang="en-US"/>
          </a:p>
        </p:txBody>
      </p:sp>
      <p:sp>
        <p:nvSpPr>
          <p:cNvPr id="23" name="Text 21"/>
          <p:cNvSpPr/>
          <p:nvPr/>
        </p:nvSpPr>
        <p:spPr>
          <a:xfrm>
            <a:off x="2286000" y="327355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marL="0" indent="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txBody>
          <a:bodyPr/>
          <a:lstStyle/>
          <a:p>
            <a:endParaRPr lang="en-US"/>
          </a:p>
        </p:txBody>
      </p:sp>
      <p:sp>
        <p:nvSpPr>
          <p:cNvPr id="26" name="Text 24"/>
          <p:cNvSpPr/>
          <p:nvPr/>
        </p:nvSpPr>
        <p:spPr>
          <a:xfrm>
            <a:off x="457200" y="4023360"/>
            <a:ext cx="8229600" cy="548640"/>
          </a:xfrm>
          <a:prstGeom prst="rect">
            <a:avLst/>
          </a:prstGeom>
          <a:noFill/>
          <a:ln/>
        </p:spPr>
        <p:txBody>
          <a:bodyPr wrap="square" lIns="0" tIns="0" rIns="0" bIns="0" rtlCol="0" anchor="ctr"/>
          <a:lstStyle/>
          <a:p>
            <a:pPr marL="0" indent="0" algn="ctr">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2.0 PRO DATA SOURCE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Premier Padel: the elite circuit behind our data</a:t>
            </a:r>
            <a:endParaRPr lang="en-US" sz="2600" dirty="0"/>
          </a:p>
        </p:txBody>
      </p:sp>
      <p:sp>
        <p:nvSpPr>
          <p:cNvPr id="5" name="Text 3"/>
          <p:cNvSpPr/>
          <p:nvPr/>
        </p:nvSpPr>
        <p:spPr>
          <a:xfrm>
            <a:off x="512064" y="1152144"/>
            <a:ext cx="822960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 official global professional padel tour (launched 2022, run by the FIP and Qatar Sports Investments). Data comes from padelapi.org, a real REST API called with my own API key, covering the full 2026 season: 776 completed matches and 2,165 ranked players.</a:t>
            </a:r>
            <a:endParaRPr lang="en-US" sz="1150" dirty="0"/>
          </a:p>
        </p:txBody>
      </p:sp>
      <p:pic>
        <p:nvPicPr>
          <p:cNvPr id="6" name="Image 0" descr="/sessions/jolly-nifty-archimedes/mnt/Padel-Project/06_Presentation/assets/premier_padel_court.png"/>
          <p:cNvPicPr>
            <a:picLocks noChangeAspect="1"/>
          </p:cNvPicPr>
          <p:nvPr/>
        </p:nvPicPr>
        <p:blipFill>
          <a:blip r:embed="rId3"/>
          <a:stretch>
            <a:fillRect/>
          </a:stretch>
        </p:blipFill>
        <p:spPr>
          <a:xfrm>
            <a:off x="457200" y="1783080"/>
            <a:ext cx="2743200" cy="2743200"/>
          </a:xfrm>
          <a:prstGeom prst="rect">
            <a:avLst/>
          </a:prstGeom>
        </p:spPr>
      </p:pic>
      <p:sp>
        <p:nvSpPr>
          <p:cNvPr id="7" name="Text 4"/>
          <p:cNvSpPr/>
          <p:nvPr/>
        </p:nvSpPr>
        <p:spPr>
          <a:xfrm>
            <a:off x="457200" y="4553712"/>
            <a:ext cx="27432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Premier Padel court (top-down). Swap in an official photo if you have rights.</a:t>
            </a:r>
            <a:endParaRPr lang="en-US" sz="1000" dirty="0"/>
          </a:p>
        </p:txBody>
      </p:sp>
      <p:sp>
        <p:nvSpPr>
          <p:cNvPr id="8" name="Shape 5"/>
          <p:cNvSpPr/>
          <p:nvPr/>
        </p:nvSpPr>
        <p:spPr>
          <a:xfrm>
            <a:off x="3520440" y="1783080"/>
            <a:ext cx="5257800" cy="658368"/>
          </a:xfrm>
          <a:prstGeom prst="roundRect">
            <a:avLst>
              <a:gd name="adj" fmla="val 8333"/>
            </a:avLst>
          </a:prstGeom>
          <a:solidFill>
            <a:srgbClr val="EAF6FD"/>
          </a:solidFill>
          <a:ln w="9525">
            <a:solidFill>
              <a:srgbClr val="0EA5E9"/>
            </a:solidFill>
            <a:prstDash val="solid"/>
          </a:ln>
        </p:spPr>
        <p:txBody>
          <a:bodyPr/>
          <a:lstStyle/>
          <a:p>
            <a:endParaRPr lang="en-US"/>
          </a:p>
        </p:txBody>
      </p:sp>
      <p:sp>
        <p:nvSpPr>
          <p:cNvPr id="9" name="Text 6"/>
          <p:cNvSpPr/>
          <p:nvPr/>
        </p:nvSpPr>
        <p:spPr>
          <a:xfrm>
            <a:off x="3703320" y="1783080"/>
            <a:ext cx="4937760" cy="658368"/>
          </a:xfrm>
          <a:prstGeom prst="rect">
            <a:avLst/>
          </a:prstGeom>
          <a:noFill/>
          <a:ln/>
        </p:spPr>
        <p:txBody>
          <a:bodyPr wrap="square" lIns="0" tIns="0" rIns="0" bIns="0" rtlCol="0" anchor="ctr"/>
          <a:lstStyle/>
          <a:p>
            <a:pPr marL="0" indent="0">
              <a:buNone/>
            </a:pPr>
            <a:r>
              <a:rPr lang="en-US" sz="2600" b="1" dirty="0">
                <a:solidFill>
                  <a:srgbClr val="0369A1"/>
                </a:solidFill>
                <a:latin typeface="Calibri" pitchFamily="34" charset="0"/>
                <a:ea typeface="Calibri" pitchFamily="34" charset="-122"/>
                <a:cs typeface="Calibri" pitchFamily="34" charset="-120"/>
              </a:rPr>
              <a:t>~26  </a:t>
            </a:r>
            <a:r>
              <a:rPr lang="en-US" sz="1200" dirty="0">
                <a:solidFill>
                  <a:srgbClr val="1F2937"/>
                </a:solidFill>
                <a:latin typeface="Calibri" pitchFamily="34" charset="0"/>
                <a:ea typeface="Calibri" pitchFamily="34" charset="-122"/>
                <a:cs typeface="Calibri" pitchFamily="34" charset="-120"/>
              </a:rPr>
              <a:t>tournaments per season, on 5 continents (Majors + P1 + P2 + Finals)</a:t>
            </a:r>
            <a:endParaRPr lang="en-US" sz="2600" dirty="0"/>
          </a:p>
        </p:txBody>
      </p:sp>
      <p:sp>
        <p:nvSpPr>
          <p:cNvPr id="10" name="Text 7"/>
          <p:cNvSpPr/>
          <p:nvPr/>
        </p:nvSpPr>
        <p:spPr>
          <a:xfrm>
            <a:off x="3566160" y="26060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Majors</a:t>
            </a:r>
            <a:endParaRPr lang="en-US" sz="1400" dirty="0"/>
          </a:p>
        </p:txBody>
      </p:sp>
      <p:sp>
        <p:nvSpPr>
          <p:cNvPr id="11" name="Text 8"/>
          <p:cNvSpPr/>
          <p:nvPr/>
        </p:nvSpPr>
        <p:spPr>
          <a:xfrm>
            <a:off x="4617720" y="26426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2,000 pts</a:t>
            </a:r>
            <a:endParaRPr lang="en-US" sz="1100" dirty="0"/>
          </a:p>
        </p:txBody>
      </p:sp>
      <p:sp>
        <p:nvSpPr>
          <p:cNvPr id="12" name="Text 9"/>
          <p:cNvSpPr/>
          <p:nvPr/>
        </p:nvSpPr>
        <p:spPr>
          <a:xfrm>
            <a:off x="5715000" y="26060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Top tier - 4 a year (Qatar, Italy, France, Mexico)</a:t>
            </a:r>
            <a:endParaRPr lang="en-US" sz="1100" dirty="0"/>
          </a:p>
        </p:txBody>
      </p:sp>
      <p:sp>
        <p:nvSpPr>
          <p:cNvPr id="13" name="Text 10"/>
          <p:cNvSpPr/>
          <p:nvPr/>
        </p:nvSpPr>
        <p:spPr>
          <a:xfrm>
            <a:off x="3566160" y="30632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P1</a:t>
            </a:r>
            <a:endParaRPr lang="en-US" sz="1400" dirty="0"/>
          </a:p>
        </p:txBody>
      </p:sp>
      <p:sp>
        <p:nvSpPr>
          <p:cNvPr id="14" name="Text 11"/>
          <p:cNvSpPr/>
          <p:nvPr/>
        </p:nvSpPr>
        <p:spPr>
          <a:xfrm>
            <a:off x="4617720" y="30998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1,000 pts</a:t>
            </a:r>
            <a:endParaRPr lang="en-US" sz="1100" dirty="0"/>
          </a:p>
        </p:txBody>
      </p:sp>
      <p:sp>
        <p:nvSpPr>
          <p:cNvPr id="15" name="Text 12"/>
          <p:cNvSpPr/>
          <p:nvPr/>
        </p:nvSpPr>
        <p:spPr>
          <a:xfrm>
            <a:off x="5715000" y="30632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Second tier - e.g. Madrid, Milano, Dubai, London</a:t>
            </a:r>
            <a:endParaRPr lang="en-US" sz="1100" dirty="0"/>
          </a:p>
        </p:txBody>
      </p:sp>
      <p:sp>
        <p:nvSpPr>
          <p:cNvPr id="16" name="Text 13"/>
          <p:cNvSpPr/>
          <p:nvPr/>
        </p:nvSpPr>
        <p:spPr>
          <a:xfrm>
            <a:off x="3566160" y="35204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P2</a:t>
            </a:r>
            <a:endParaRPr lang="en-US" sz="1400" dirty="0"/>
          </a:p>
        </p:txBody>
      </p:sp>
      <p:sp>
        <p:nvSpPr>
          <p:cNvPr id="17" name="Text 14"/>
          <p:cNvSpPr/>
          <p:nvPr/>
        </p:nvSpPr>
        <p:spPr>
          <a:xfrm>
            <a:off x="4617720" y="3557016"/>
            <a:ext cx="960120" cy="310896"/>
          </a:xfrm>
          <a:prstGeom prst="roundRect">
            <a:avLst>
              <a:gd name="adj" fmla="val 14706"/>
            </a:avLst>
          </a:prstGeom>
          <a:solidFill>
            <a:srgbClr val="64748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~500 pts</a:t>
            </a:r>
            <a:endParaRPr lang="en-US" sz="1100" dirty="0"/>
          </a:p>
        </p:txBody>
      </p:sp>
      <p:sp>
        <p:nvSpPr>
          <p:cNvPr id="18" name="Text 15"/>
          <p:cNvSpPr/>
          <p:nvPr/>
        </p:nvSpPr>
        <p:spPr>
          <a:xfrm>
            <a:off x="5715000" y="35204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Entry tier - e.g. Brussels, Rotterdam, Germany</a:t>
            </a:r>
            <a:endParaRPr lang="en-US" sz="1100" dirty="0"/>
          </a:p>
        </p:txBody>
      </p:sp>
      <p:sp>
        <p:nvSpPr>
          <p:cNvPr id="19" name="Text 16"/>
          <p:cNvSpPr/>
          <p:nvPr/>
        </p:nvSpPr>
        <p:spPr>
          <a:xfrm>
            <a:off x="3566160" y="39776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Finals</a:t>
            </a:r>
            <a:endParaRPr lang="en-US" sz="1400" dirty="0"/>
          </a:p>
        </p:txBody>
      </p:sp>
      <p:sp>
        <p:nvSpPr>
          <p:cNvPr id="20" name="Text 17"/>
          <p:cNvSpPr/>
          <p:nvPr/>
        </p:nvSpPr>
        <p:spPr>
          <a:xfrm>
            <a:off x="4617720" y="4014216"/>
            <a:ext cx="960120" cy="310896"/>
          </a:xfrm>
          <a:prstGeom prst="roundRect">
            <a:avLst>
              <a:gd name="adj" fmla="val 14706"/>
            </a:avLst>
          </a:prstGeom>
          <a:solidFill>
            <a:srgbClr val="0369A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1,500 pts</a:t>
            </a:r>
            <a:endParaRPr lang="en-US" sz="1100" dirty="0"/>
          </a:p>
        </p:txBody>
      </p:sp>
      <p:sp>
        <p:nvSpPr>
          <p:cNvPr id="21" name="Text 18"/>
          <p:cNvSpPr/>
          <p:nvPr/>
        </p:nvSpPr>
        <p:spPr>
          <a:xfrm>
            <a:off x="5715000" y="39776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Season finale - top 16 pairs, Barcelona</a:t>
            </a:r>
            <a:endParaRPr lang="en-US" sz="1100" dirty="0"/>
          </a:p>
        </p:txBody>
      </p:sp>
      <p:sp>
        <p:nvSpPr>
          <p:cNvPr id="22" name="Text 19"/>
          <p:cNvSpPr/>
          <p:nvPr/>
        </p:nvSpPr>
        <p:spPr>
          <a:xfrm>
            <a:off x="3566160" y="4526280"/>
            <a:ext cx="5212080" cy="457200"/>
          </a:xfrm>
          <a:prstGeom prst="rect">
            <a:avLst/>
          </a:prstGeom>
          <a:noFill/>
          <a:ln/>
        </p:spPr>
        <p:txBody>
          <a:bodyPr wrap="square" lIns="0" tIns="0" rIns="0" bIns="0" rtlCol="0" anchor="ctr"/>
          <a:lstStyle/>
          <a:p>
            <a:pPr marL="0" indent="0">
              <a:buNone/>
            </a:pPr>
            <a:r>
              <a:rPr lang="en-US" sz="1050" b="1" dirty="0">
                <a:solidFill>
                  <a:srgbClr val="1F2937"/>
                </a:solidFill>
                <a:latin typeface="Calibri" pitchFamily="34" charset="0"/>
                <a:ea typeface="Calibri" pitchFamily="34" charset="-122"/>
                <a:cs typeface="Calibri" pitchFamily="34" charset="-120"/>
              </a:rPr>
              <a:t>2026 season, real data: </a:t>
            </a:r>
            <a:r>
              <a:rPr lang="en-US" sz="1050" dirty="0">
                <a:solidFill>
                  <a:srgbClr val="64748B"/>
                </a:solidFill>
                <a:latin typeface="Calibri" pitchFamily="34" charset="0"/>
                <a:ea typeface="Calibri" pitchFamily="34" charset="-122"/>
                <a:cs typeface="Calibri" pitchFamily="34" charset="-120"/>
              </a:rPr>
              <a:t>776 completed matches, 26 tournaments, full draws Round-of-64 to Final, men's and women's competitions, 2,165 ranked players.</a:t>
            </a:r>
            <a:endParaRPr lang="en-US" sz="1050" dirty="0"/>
          </a:p>
        </p:txBody>
      </p:sp>
      <p:sp>
        <p:nvSpPr>
          <p:cNvPr id="23" name="Text 2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3200400"/>
          </a:xfrm>
          <a:prstGeom prst="rect">
            <a:avLst/>
          </a:prstGeom>
          <a:solidFill>
            <a:srgbClr val="0EA5E9"/>
          </a:solidFill>
          <a:ln/>
        </p:spPr>
        <p:txBody>
          <a:bodyPr/>
          <a:lstStyle/>
          <a:p>
            <a:endParaRPr lang="en-US"/>
          </a:p>
        </p:txBody>
      </p:sp>
      <p:sp>
        <p:nvSpPr>
          <p:cNvPr id="7" name="Text 5"/>
          <p:cNvSpPr/>
          <p:nvPr/>
        </p:nvSpPr>
        <p:spPr>
          <a:xfrm>
            <a:off x="68580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9144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Rankings + real 2026-season match results</a:t>
            </a:r>
            <a:endParaRPr lang="en-US" sz="1150" dirty="0"/>
          </a:p>
          <a:p>
            <a:pPr marL="342900" indent="-342900">
              <a:spcAft>
                <a:spcPts val="300"/>
              </a:spcAft>
              <a:buSzPct val="100000"/>
              <a:buChar char="●"/>
            </a:pPr>
            <a:r>
              <a:rPr lang="en-US" sz="1150" dirty="0">
                <a:solidFill>
                  <a:srgbClr val="64748B"/>
                </a:solidFill>
              </a:rPr>
              <a:t>10 req/min throttle, under the free-tier cap</a:t>
            </a:r>
            <a:endParaRPr lang="en-US" sz="1150" dirty="0"/>
          </a:p>
          <a:p>
            <a:pPr marL="342900" indent="-342900">
              <a:spcAft>
                <a:spcPts val="300"/>
              </a:spcAft>
              <a:buSzPct val="100000"/>
              <a:buChar char="●"/>
            </a:pPr>
            <a:r>
              <a:rPr lang="en-US" sz="1150" dirty="0">
                <a:solidFill>
                  <a:srgbClr val="64748B"/>
                </a:solidFill>
              </a:rPr>
              <a:t>Restartable: one file per tournament</a:t>
            </a:r>
            <a:endParaRPr lang="en-US" sz="1150" dirty="0"/>
          </a:p>
          <a:p>
            <a:pPr marL="342900" indent="-342900">
              <a:spcAft>
                <a:spcPts val="300"/>
              </a:spcAft>
              <a:buSzPct val="100000"/>
              <a:buChar char="○"/>
            </a:pPr>
            <a:r>
              <a:rPr lang="en-US" sz="1150" i="1" dirty="0">
                <a:solidFill>
                  <a:srgbClr val="1F2937"/>
                </a:solidFill>
              </a:rPr>
              <a:t>Archives every raw response first</a:t>
            </a:r>
            <a:endParaRPr lang="en-US" sz="1150" dirty="0"/>
          </a:p>
        </p:txBody>
      </p:sp>
      <p:sp>
        <p:nvSpPr>
          <p:cNvPr id="10" name="Text 8"/>
          <p:cNvSpPr/>
          <p:nvPr/>
        </p:nvSpPr>
        <p:spPr>
          <a:xfrm>
            <a:off x="685800" y="320040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SAFEGUARDS</a:t>
            </a:r>
            <a:endParaRPr lang="en-US" sz="900" dirty="0"/>
          </a:p>
        </p:txBody>
      </p:sp>
      <p:sp>
        <p:nvSpPr>
          <p:cNvPr id="11" name="Text 9"/>
          <p:cNvSpPr/>
          <p:nvPr/>
        </p:nvSpPr>
        <p:spPr>
          <a:xfrm>
            <a:off x="685800" y="3474720"/>
            <a:ext cx="3657600" cy="10058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429 backoff, up to 4 retries</a:t>
            </a:r>
            <a:endParaRPr lang="en-US" sz="1100" dirty="0"/>
          </a:p>
          <a:p>
            <a:pPr marL="342900" indent="-342900">
              <a:spcAft>
                <a:spcPts val="200"/>
              </a:spcAft>
              <a:buSzPct val="100000"/>
              <a:buChar char="●"/>
            </a:pPr>
            <a:r>
              <a:rPr lang="en-US" sz="1100" dirty="0">
                <a:solidFill>
                  <a:srgbClr val="64748B"/>
                </a:solidFill>
              </a:rPr>
              <a:t>hidden_free_plan values are skipped</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3" name="Shape 11"/>
          <p:cNvSpPr/>
          <p:nvPr/>
        </p:nvSpPr>
        <p:spPr>
          <a:xfrm>
            <a:off x="4663440" y="1371600"/>
            <a:ext cx="73152" cy="3200400"/>
          </a:xfrm>
          <a:prstGeom prst="rect">
            <a:avLst/>
          </a:prstGeom>
          <a:solidFill>
            <a:srgbClr val="F59E0B"/>
          </a:solidFill>
          <a:ln/>
        </p:spPr>
        <p:txBody>
          <a:bodyPr/>
          <a:lstStyle/>
          <a:p>
            <a:endParaRPr lang="en-US"/>
          </a:p>
        </p:txBody>
      </p:sp>
      <p:sp>
        <p:nvSpPr>
          <p:cNvPr id="14" name="Text 12"/>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b="1" kern="0" spc="30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marL="0" indent="0">
              <a:buNone/>
            </a:pPr>
            <a:r>
              <a:rPr lang="en-US" sz="1100" b="1" dirty="0">
                <a:solidFill>
                  <a:srgbClr val="1F2937"/>
                </a:solidFill>
              </a:rPr>
              <a:t>No public amateur padel match data exists.</a:t>
            </a:r>
            <a:endParaRPr lang="en-US" sz="1100" dirty="0"/>
          </a:p>
          <a:p>
            <a:pPr marL="0" indent="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Every personal page shows a visible SYNTHETIC DEMO DATA badge</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CSVs — and the bug I caught</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2697480" cy="292608"/>
          </a:xfrm>
          <a:prstGeom prst="rect">
            <a:avLst/>
          </a:prstGeom>
          <a:solidFill>
            <a:srgbClr val="0EA5E9"/>
          </a:solidFill>
          <a:ln/>
        </p:spPr>
        <p:txBody>
          <a:bodyPr/>
          <a:lstStyle/>
          <a:p>
            <a:endParaRPr lang="en-US"/>
          </a:p>
        </p:txBody>
      </p:sp>
      <p:sp>
        <p:nvSpPr>
          <p:cNvPr id="7" name="Text 5"/>
          <p:cNvSpPr/>
          <p:nvPr/>
        </p:nvSpPr>
        <p:spPr>
          <a:xfrm>
            <a:off x="59436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pro_players_real.csv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2,165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age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+ 2 more (hand/height, patchy)</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3246120" y="1371600"/>
            <a:ext cx="2697480" cy="292608"/>
          </a:xfrm>
          <a:prstGeom prst="rect">
            <a:avLst/>
          </a:prstGeom>
          <a:solidFill>
            <a:srgbClr val="0EA5E9"/>
          </a:solidFill>
          <a:ln/>
        </p:spPr>
        <p:txBody>
          <a:bodyPr/>
          <a:lstStyle/>
          <a:p>
            <a:endParaRPr lang="en-US"/>
          </a:p>
        </p:txBody>
      </p:sp>
      <p:sp>
        <p:nvSpPr>
          <p:cNvPr id="12" name="Text 10"/>
          <p:cNvSpPr/>
          <p:nvPr/>
        </p:nvSpPr>
        <p:spPr>
          <a:xfrm>
            <a:off x="338328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pro_matches_real.csv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776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source (API record 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035040" y="1371600"/>
            <a:ext cx="2697480" cy="292608"/>
          </a:xfrm>
          <a:prstGeom prst="rect">
            <a:avLst/>
          </a:prstGeom>
          <a:solidFill>
            <a:srgbClr val="F59E0B"/>
          </a:solidFill>
          <a:ln/>
        </p:spPr>
        <p:txBody>
          <a:bodyPr/>
          <a:lstStyle/>
          <a:p>
            <a:endParaRPr lang="en-US"/>
          </a:p>
        </p:txBody>
      </p:sp>
      <p:sp>
        <p:nvSpPr>
          <p:cNvPr id="17" name="Text 15"/>
          <p:cNvSpPr/>
          <p:nvPr/>
        </p:nvSpPr>
        <p:spPr>
          <a:xfrm>
            <a:off x="617220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my_matches.csv (demo)</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50" name="Text Score Bug Callout"/>
          <p:cNvSpPr/>
          <p:nvPr/>
        </p:nvSpPr>
        <p:spPr>
          <a:xfrm>
            <a:off x="457200" y="4525963"/>
            <a:ext cx="8229600" cy="256032"/>
          </a:xfrm>
          <a:prstGeom prst="rect">
            <a:avLst/>
          </a:prstGeom>
          <a:noFill/>
          <a:ln/>
        </p:spPr>
        <p:txBody>
          <a:bodyPr wrap="square" lIns="0" tIns="0" rIns="0" bIns="0" rtlCol="0" anchor="ctr"/>
          <a:lstStyle/>
          <a:p>
            <a:pPr marL="0" indent="0">
              <a:buNone/>
            </a:pPr>
            <a:r>
              <a:rPr lang="en-US" sz="1000" b="1" dirty="0">
                <a:solidFill>
                  <a:srgbClr val="0369A1"/>
                </a:solidFill>
                <a:latin typeface="Calibri" pitchFamily="34" charset="0"/>
                <a:ea typeface="Calibri" pitchFamily="34" charset="-122"/>
                <a:cs typeface="Calibri" pitchFamily="34" charset="-120"/>
              </a:rPr>
              <a:t>Examination caught a real bug: </a:t>
            </a:r>
            <a:r>
              <a:rPr lang="en-US" sz="1000" dirty="0">
                <a:solidFill>
                  <a:srgbClr val="64748B"/>
                </a:solidFill>
                <a:latin typeface="Calibri" pitchFamily="34" charset="0"/>
                <a:ea typeface="Calibri" pitchFamily="34" charset="-122"/>
                <a:cs typeface="Calibri" pitchFamily="34" charset="-120"/>
              </a:rPr>
              <a:t>the API returns scores as a JSON array of sets, not the comma-string my first parser assumed — fixed in build_real_csv.py, zero re-fetching.</a:t>
            </a:r>
            <a:endParaRPr lang="en-US" sz="10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2.3 EXPLORATION — HOW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I explored, before I trusted a single number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SCOPE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10 tests</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hypotheses, E1-E10</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All ten run against the real 776-match dataset, two-sided tests at alpha=0.05 — nothing cherry-picked.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CONFIDENCE</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Wilson 95% CI</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on every proportion</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Every win rate in this report ships with a confidence interval, never a bare point estimate.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VERDICTS</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3 honest labels</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signal · null · insufficient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A finding that fails a test is reported as a null or insufficient — never hidden or rounded up.</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2"/>
          <p:cNvSpPr/>
          <p:nvPr/>
        </p:nvSpPr>
        <p:spPr>
          <a:xfrm>
            <a:off x="365760" y="384048"/>
            <a:ext cx="64008" cy="292608"/>
          </a:xfrm>
          <a:prstGeom prst="rect">
            <a:avLst/>
          </a:prstGeom>
          <a:solidFill>
            <a:srgbClr val="0EA5E9"/>
          </a:solidFill>
          <a:ln/>
        </p:spPr>
        <p:txBody>
          <a:bodyPr/>
          <a:lstStyle/>
          <a:p>
            <a:endParaRPr lang="en-US"/>
          </a:p>
        </p:txBody>
      </p:sp>
      <p:sp>
        <p:nvSpPr>
          <p:cNvPr id="3" name="Text 3"/>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2.4 THE DATASET IN NUMBERS</a:t>
            </a:r>
            <a:endParaRPr lang="en-US" sz="1000" dirty="0"/>
          </a:p>
        </p:txBody>
      </p:sp>
      <p:sp>
        <p:nvSpPr>
          <p:cNvPr id="4" name="Text 4"/>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A full professional season, captured end to end</a:t>
            </a:r>
            <a:endParaRPr lang="en-US" sz="2600" dirty="0"/>
          </a:p>
        </p:txBody>
      </p:sp>
      <p:sp>
        <p:nvSpPr>
          <p:cNvPr id="5" name="Text 5"/>
          <p:cNvSpPr/>
          <p:nvPr/>
        </p:nvSpPr>
        <p:spPr>
          <a:xfrm>
            <a:off x="457200" y="1173480"/>
            <a:ext cx="8229600" cy="246888"/>
          </a:xfrm>
          <a:prstGeom prst="rect">
            <a:avLst/>
          </a:prstGeom>
          <a:noFill/>
          <a:ln/>
        </p:spPr>
        <p:txBody>
          <a:bodyPr wrap="square" lIns="0" tIns="0" rIns="0" bIns="0" rtlCol="0" anchor="ctr"/>
          <a:lstStyle/>
          <a:p>
            <a:pPr marL="0" indent="0">
              <a:buNone/>
            </a:pPr>
            <a:r>
              <a:rPr lang="en-US" sz="1100" b="0" i="1" kern="0" dirty="0">
                <a:solidFill>
                  <a:srgbClr val="64748B"/>
                </a:solidFill>
                <a:latin typeface="Calibri" pitchFamily="34" charset="0"/>
                <a:ea typeface="Calibri" pitchFamily="34" charset="-122"/>
                <a:cs typeface="Calibri" pitchFamily="34" charset="-120"/>
              </a:rPr>
              <a:t>Source: padelapi.org REST API (official professional padel data service) · personal API key · season window Feb–Jul 2026</a:t>
            </a:r>
            <a:endParaRPr lang="en-US" sz="1100" dirty="0"/>
          </a:p>
        </p:txBody>
      </p:sp>
      <p:sp>
        <p:nvSpPr>
          <p:cNvPr id="6" name="Shape 6"/>
          <p:cNvSpPr/>
          <p:nvPr/>
        </p:nvSpPr>
        <p:spPr>
          <a:xfrm>
            <a:off x="45720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7" name="Shape 7"/>
          <p:cNvSpPr/>
          <p:nvPr/>
        </p:nvSpPr>
        <p:spPr>
          <a:xfrm>
            <a:off x="457200" y="1572768"/>
            <a:ext cx="73152" cy="1150000"/>
          </a:xfrm>
          <a:prstGeom prst="rect">
            <a:avLst/>
          </a:prstGeom>
          <a:solidFill>
            <a:srgbClr val="0EA5E9"/>
          </a:solidFill>
          <a:ln/>
        </p:spPr>
        <p:txBody>
          <a:bodyPr/>
          <a:lstStyle/>
          <a:p>
            <a:endParaRPr lang="en-US"/>
          </a:p>
        </p:txBody>
      </p:sp>
      <p:sp>
        <p:nvSpPr>
          <p:cNvPr id="8" name="Text 8"/>
          <p:cNvSpPr/>
          <p:nvPr/>
        </p:nvSpPr>
        <p:spPr>
          <a:xfrm>
            <a:off x="68580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MATCHES</a:t>
            </a:r>
            <a:endParaRPr lang="en-US" sz="900" dirty="0"/>
          </a:p>
        </p:txBody>
      </p:sp>
      <p:sp>
        <p:nvSpPr>
          <p:cNvPr id="9" name="Text 9"/>
          <p:cNvSpPr/>
          <p:nvPr/>
        </p:nvSpPr>
        <p:spPr>
          <a:xfrm>
            <a:off x="68580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776</a:t>
            </a:r>
            <a:endParaRPr lang="en-US" sz="3600" dirty="0"/>
          </a:p>
        </p:txBody>
      </p:sp>
      <p:sp>
        <p:nvSpPr>
          <p:cNvPr id="10" name="Text 10"/>
          <p:cNvSpPr/>
          <p:nvPr/>
        </p:nvSpPr>
        <p:spPr>
          <a:xfrm>
            <a:off x="68580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completed, 2026 season</a:t>
            </a:r>
            <a:endParaRPr lang="en-US" sz="1000" dirty="0"/>
          </a:p>
        </p:txBody>
      </p:sp>
      <p:sp>
        <p:nvSpPr>
          <p:cNvPr id="11" name="Shape 11"/>
          <p:cNvSpPr/>
          <p:nvPr/>
        </p:nvSpPr>
        <p:spPr>
          <a:xfrm>
            <a:off x="326136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12" name="Shape 12"/>
          <p:cNvSpPr/>
          <p:nvPr/>
        </p:nvSpPr>
        <p:spPr>
          <a:xfrm>
            <a:off x="3261360" y="1572768"/>
            <a:ext cx="73152" cy="1150000"/>
          </a:xfrm>
          <a:prstGeom prst="rect">
            <a:avLst/>
          </a:prstGeom>
          <a:solidFill>
            <a:srgbClr val="0EA5E9"/>
          </a:solidFill>
          <a:ln/>
        </p:spPr>
        <p:txBody>
          <a:bodyPr/>
          <a:lstStyle/>
          <a:p>
            <a:endParaRPr lang="en-US"/>
          </a:p>
        </p:txBody>
      </p:sp>
      <p:sp>
        <p:nvSpPr>
          <p:cNvPr id="13" name="Text 13"/>
          <p:cNvSpPr/>
          <p:nvPr/>
        </p:nvSpPr>
        <p:spPr>
          <a:xfrm>
            <a:off x="348996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TOURNAMENTS</a:t>
            </a:r>
            <a:endParaRPr lang="en-US" sz="900" dirty="0"/>
          </a:p>
        </p:txBody>
      </p:sp>
      <p:sp>
        <p:nvSpPr>
          <p:cNvPr id="14" name="Text 14"/>
          <p:cNvSpPr/>
          <p:nvPr/>
        </p:nvSpPr>
        <p:spPr>
          <a:xfrm>
            <a:off x="348996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26</a:t>
            </a:r>
            <a:endParaRPr lang="en-US" sz="3600" dirty="0"/>
          </a:p>
        </p:txBody>
      </p:sp>
      <p:sp>
        <p:nvSpPr>
          <p:cNvPr id="15" name="Text 15"/>
          <p:cNvSpPr/>
          <p:nvPr/>
        </p:nvSpPr>
        <p:spPr>
          <a:xfrm>
            <a:off x="348996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Feb–Jul 2026, 5 continents</a:t>
            </a:r>
            <a:endParaRPr lang="en-US" sz="1000" dirty="0"/>
          </a:p>
        </p:txBody>
      </p:sp>
      <p:sp>
        <p:nvSpPr>
          <p:cNvPr id="16" name="Shape 16"/>
          <p:cNvSpPr/>
          <p:nvPr/>
        </p:nvSpPr>
        <p:spPr>
          <a:xfrm>
            <a:off x="606552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17" name="Shape 17"/>
          <p:cNvSpPr/>
          <p:nvPr/>
        </p:nvSpPr>
        <p:spPr>
          <a:xfrm>
            <a:off x="6065520" y="1572768"/>
            <a:ext cx="73152" cy="1150000"/>
          </a:xfrm>
          <a:prstGeom prst="rect">
            <a:avLst/>
          </a:prstGeom>
          <a:solidFill>
            <a:srgbClr val="0EA5E9"/>
          </a:solidFill>
          <a:ln/>
        </p:spPr>
        <p:txBody>
          <a:bodyPr/>
          <a:lstStyle/>
          <a:p>
            <a:endParaRPr lang="en-US"/>
          </a:p>
        </p:txBody>
      </p:sp>
      <p:sp>
        <p:nvSpPr>
          <p:cNvPr id="18" name="Text 18"/>
          <p:cNvSpPr/>
          <p:nvPr/>
        </p:nvSpPr>
        <p:spPr>
          <a:xfrm>
            <a:off x="629412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PLAYERS</a:t>
            </a:r>
            <a:endParaRPr lang="en-US" sz="900" dirty="0"/>
          </a:p>
        </p:txBody>
      </p:sp>
      <p:sp>
        <p:nvSpPr>
          <p:cNvPr id="19" name="Text 19"/>
          <p:cNvSpPr/>
          <p:nvPr/>
        </p:nvSpPr>
        <p:spPr>
          <a:xfrm>
            <a:off x="629412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2,165</a:t>
            </a:r>
            <a:endParaRPr lang="en-US" sz="3600" dirty="0"/>
          </a:p>
        </p:txBody>
      </p:sp>
      <p:sp>
        <p:nvSpPr>
          <p:cNvPr id="20" name="Text 20"/>
          <p:cNvSpPr/>
          <p:nvPr/>
        </p:nvSpPr>
        <p:spPr>
          <a:xfrm>
            <a:off x="629412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ranked, men + women</a:t>
            </a:r>
            <a:endParaRPr lang="en-US" sz="1000" dirty="0"/>
          </a:p>
        </p:txBody>
      </p:sp>
      <p:sp>
        <p:nvSpPr>
          <p:cNvPr id="21" name="Shape 21"/>
          <p:cNvSpPr/>
          <p:nvPr/>
        </p:nvSpPr>
        <p:spPr>
          <a:xfrm>
            <a:off x="45720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22" name="Shape 22"/>
          <p:cNvSpPr/>
          <p:nvPr/>
        </p:nvSpPr>
        <p:spPr>
          <a:xfrm>
            <a:off x="457200" y="2875168"/>
            <a:ext cx="2621280" cy="292608"/>
          </a:xfrm>
          <a:prstGeom prst="rect">
            <a:avLst/>
          </a:prstGeom>
          <a:solidFill>
            <a:srgbClr val="0EA5E9"/>
          </a:solidFill>
          <a:ln/>
        </p:spPr>
        <p:txBody>
          <a:bodyPr/>
          <a:lstStyle/>
          <a:p>
            <a:endParaRPr lang="en-US"/>
          </a:p>
        </p:txBody>
      </p:sp>
      <p:sp>
        <p:nvSpPr>
          <p:cNvPr id="23" name="Text 23"/>
          <p:cNvSpPr/>
          <p:nvPr/>
        </p:nvSpPr>
        <p:spPr>
          <a:xfrm>
            <a:off x="59436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COVERAGE</a:t>
            </a:r>
            <a:endParaRPr lang="en-US" sz="1000" dirty="0"/>
          </a:p>
        </p:txBody>
      </p:sp>
      <p:sp>
        <p:nvSpPr>
          <p:cNvPr id="24" name="Text 24"/>
          <p:cNvSpPr/>
          <p:nvPr/>
        </p:nvSpPr>
        <p:spPr>
          <a:xfrm>
            <a:off x="59436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Round-of-64 → Final</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Men 456 · Women 320</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P2 350 · P1 340 · Major 86</a:t>
            </a:r>
            <a:endParaRPr lang="en-US" sz="1000" dirty="0"/>
          </a:p>
        </p:txBody>
      </p:sp>
      <p:sp>
        <p:nvSpPr>
          <p:cNvPr id="25" name="Shape 25"/>
          <p:cNvSpPr/>
          <p:nvPr/>
        </p:nvSpPr>
        <p:spPr>
          <a:xfrm>
            <a:off x="326136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26" name="Shape 26"/>
          <p:cNvSpPr/>
          <p:nvPr/>
        </p:nvSpPr>
        <p:spPr>
          <a:xfrm>
            <a:off x="3261360" y="2875168"/>
            <a:ext cx="2621280" cy="292608"/>
          </a:xfrm>
          <a:prstGeom prst="rect">
            <a:avLst/>
          </a:prstGeom>
          <a:solidFill>
            <a:srgbClr val="0EA5E9"/>
          </a:solidFill>
          <a:ln/>
        </p:spPr>
        <p:txBody>
          <a:bodyPr/>
          <a:lstStyle/>
          <a:p>
            <a:endParaRPr lang="en-US"/>
          </a:p>
        </p:txBody>
      </p:sp>
      <p:sp>
        <p:nvSpPr>
          <p:cNvPr id="27" name="Text 27"/>
          <p:cNvSpPr/>
          <p:nvPr/>
        </p:nvSpPr>
        <p:spPr>
          <a:xfrm>
            <a:off x="339852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PER-MATCH FIELDS</a:t>
            </a:r>
            <a:endParaRPr lang="en-US" sz="1000" dirty="0"/>
          </a:p>
        </p:txBody>
      </p:sp>
      <p:sp>
        <p:nvSpPr>
          <p:cNvPr id="28" name="Text 28"/>
          <p:cNvSpPr/>
          <p:nvPr/>
        </p:nvSpPr>
        <p:spPr>
          <a:xfrm>
            <a:off x="339852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date, round, seeds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player IDs, court sides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set scores, duration</a:t>
            </a:r>
            <a:endParaRPr lang="en-US" sz="1000" dirty="0"/>
          </a:p>
        </p:txBody>
      </p:sp>
      <p:sp>
        <p:nvSpPr>
          <p:cNvPr id="29" name="Shape 29"/>
          <p:cNvSpPr/>
          <p:nvPr/>
        </p:nvSpPr>
        <p:spPr>
          <a:xfrm>
            <a:off x="606552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30" name="Shape 30"/>
          <p:cNvSpPr/>
          <p:nvPr/>
        </p:nvSpPr>
        <p:spPr>
          <a:xfrm>
            <a:off x="6065520" y="2875168"/>
            <a:ext cx="2621280" cy="292608"/>
          </a:xfrm>
          <a:prstGeom prst="rect">
            <a:avLst/>
          </a:prstGeom>
          <a:solidFill>
            <a:srgbClr val="0EA5E9"/>
          </a:solidFill>
          <a:ln/>
        </p:spPr>
        <p:txBody>
          <a:bodyPr/>
          <a:lstStyle/>
          <a:p>
            <a:endParaRPr lang="en-US"/>
          </a:p>
        </p:txBody>
      </p:sp>
      <p:sp>
        <p:nvSpPr>
          <p:cNvPr id="31" name="Text 31"/>
          <p:cNvSpPr/>
          <p:nvPr/>
        </p:nvSpPr>
        <p:spPr>
          <a:xfrm>
            <a:off x="620268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PER-PLAYER FIELDS</a:t>
            </a:r>
            <a:endParaRPr lang="en-US" sz="1000" dirty="0"/>
          </a:p>
        </p:txBody>
      </p:sp>
      <p:sp>
        <p:nvSpPr>
          <p:cNvPr id="32" name="Text 32"/>
          <p:cNvSpPr/>
          <p:nvPr/>
        </p:nvSpPr>
        <p:spPr>
          <a:xfrm>
            <a:off x="620268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ranking, points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age, nationality</a:t>
            </a:r>
            <a:endParaRPr lang="en-US" sz="1000" dirty="0"/>
          </a:p>
        </p:txBody>
      </p:sp>
      <p:sp>
        <p:nvSpPr>
          <p:cNvPr id="33" name="Text 33"/>
          <p:cNvSpPr/>
          <p:nvPr/>
        </p:nvSpPr>
        <p:spPr>
          <a:xfrm>
            <a:off x="457200" y="4460600"/>
            <a:ext cx="8229600" cy="340000"/>
          </a:xfrm>
          <a:prstGeom prst="rect">
            <a:avLst/>
          </a:prstGeom>
          <a:noFill/>
          <a:ln/>
        </p:spPr>
        <p:txBody>
          <a:bodyPr wrap="square" lIns="0" tIns="0" rIns="0" bIns="0" rtlCol="0" anchor="ctr"/>
          <a:lstStyle/>
          <a:p>
            <a:pPr marL="0" indent="0">
              <a:buNone/>
            </a:pPr>
            <a:r>
              <a:rPr lang="en-US" sz="1000" b="1" i="0" kern="0" dirty="0">
                <a:solidFill>
                  <a:srgbClr val="1E293B"/>
                </a:solidFill>
                <a:latin typeface="Calibri" pitchFamily="34" charset="0"/>
                <a:ea typeface="Calibri" pitchFamily="34" charset="-122"/>
                <a:cs typeface="Calibri" pitchFamily="34" charset="-120"/>
              </a:rPr>
              <a:t>Data hygiene: </a:t>
            </a:r>
            <a:r>
              <a:rPr lang="en-US" sz="1000" b="0" i="0" kern="0" dirty="0">
                <a:solidFill>
                  <a:srgbClr val="64748B"/>
                </a:solidFill>
                <a:latin typeface="Calibri" pitchFamily="34" charset="0"/>
                <a:ea typeface="Calibri" pitchFamily="34" charset="-122"/>
                <a:cs typeface="Calibri" pitchFamily="34" charset="-120"/>
              </a:rPr>
              <a:t>statistics use the 763 matches that finished normally — 13 retired/walkovers excluded. Every raw API response is archived as JSONL before transformation (fetch → archive → clean → SQLite).</a:t>
            </a:r>
            <a:endParaRPr lang="en-US" sz="1000" dirty="0"/>
          </a:p>
        </p:txBody>
      </p:sp>
      <p:sp>
        <p:nvSpPr>
          <p:cNvPr id="34" name="Text 34"/>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5" name="Text 35"/>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36" name="Shape 36"/>
          <p:cNvSpPr/>
          <p:nvPr/>
        </p:nvSpPr>
        <p:spPr>
          <a:xfrm>
            <a:off x="365760" y="384048"/>
            <a:ext cx="64008" cy="292608"/>
          </a:xfrm>
          <a:prstGeom prst="rect">
            <a:avLst/>
          </a:prstGeom>
          <a:solidFill>
            <a:srgbClr val="0EA5E9"/>
          </a:solidFill>
          <a:ln/>
        </p:spPr>
        <p:txBody>
          <a:bodyPr/>
          <a:lstStyle/>
          <a:p>
            <a:endParaRPr lang="en-US"/>
          </a:p>
        </p:txBody>
      </p:sp>
      <p:sp>
        <p:nvSpPr>
          <p:cNvPr id="37" name="Text 37"/>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2.5 STATISTICAL TOOLKIT — TESTS</a:t>
            </a:r>
            <a:endParaRPr lang="en-US" sz="1000" dirty="0"/>
          </a:p>
        </p:txBody>
      </p:sp>
      <p:sp>
        <p:nvSpPr>
          <p:cNvPr id="38" name="Text 38"/>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Four tools, applied the same way every time</a:t>
            </a:r>
            <a:endParaRPr lang="en-US" sz="2600" dirty="0"/>
          </a:p>
        </p:txBody>
      </p:sp>
      <p:sp>
        <p:nvSpPr>
          <p:cNvPr id="39" name="Text 39"/>
          <p:cNvSpPr/>
          <p:nvPr/>
        </p:nvSpPr>
        <p:spPr>
          <a:xfrm>
            <a:off x="457200" y="1180000"/>
            <a:ext cx="8229600" cy="1764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All tests two-sided, α = 0.05 · every proportion carries a 95% Wilson confidence interval · win rates with n &lt; 10 are never shown as claims</a:t>
            </a:r>
            <a:endParaRPr lang="en-US" sz="1000" dirty="0"/>
          </a:p>
        </p:txBody>
      </p:sp>
      <p:sp>
        <p:nvSpPr>
          <p:cNvPr id="40" name="Shape 40"/>
          <p:cNvSpPr/>
          <p:nvPr/>
        </p:nvSpPr>
        <p:spPr>
          <a:xfrm>
            <a:off x="457200" y="1371600"/>
            <a:ext cx="8229600" cy="710000"/>
          </a:xfrm>
          <a:prstGeom prst="rect">
            <a:avLst/>
          </a:prstGeom>
          <a:solidFill>
            <a:srgbClr val="FFFFFF"/>
          </a:solidFill>
          <a:ln w="9525">
            <a:solidFill>
              <a:srgbClr val="CFD6DD"/>
            </a:solidFill>
            <a:prstDash val="solid"/>
          </a:ln>
        </p:spPr>
        <p:txBody>
          <a:bodyPr/>
          <a:lstStyle/>
          <a:p>
            <a:endParaRPr lang="en-US"/>
          </a:p>
        </p:txBody>
      </p:sp>
      <p:sp>
        <p:nvSpPr>
          <p:cNvPr id="41" name="Shape 41"/>
          <p:cNvSpPr/>
          <p:nvPr/>
        </p:nvSpPr>
        <p:spPr>
          <a:xfrm>
            <a:off x="457200" y="1371600"/>
            <a:ext cx="73152" cy="710000"/>
          </a:xfrm>
          <a:prstGeom prst="rect">
            <a:avLst/>
          </a:prstGeom>
          <a:solidFill>
            <a:srgbClr val="0EA5E9"/>
          </a:solidFill>
          <a:ln/>
        </p:spPr>
        <p:txBody>
          <a:bodyPr/>
          <a:lstStyle/>
          <a:p>
            <a:endParaRPr lang="en-US"/>
          </a:p>
        </p:txBody>
      </p:sp>
      <p:sp>
        <p:nvSpPr>
          <p:cNvPr id="42" name="Text 42"/>
          <p:cNvSpPr/>
          <p:nvPr/>
        </p:nvSpPr>
        <p:spPr>
          <a:xfrm>
            <a:off x="685800" y="143660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Wilson 95% CI  —  </a:t>
            </a:r>
            <a:r>
              <a:rPr lang="en-US" sz="1150" b="1" i="0" kern="0" dirty="0">
                <a:solidFill>
                  <a:srgbClr val="1E293B"/>
                </a:solidFill>
                <a:latin typeface="Cambria" pitchFamily="34" charset="0"/>
                <a:ea typeface="Cambria" pitchFamily="34" charset="-122"/>
                <a:cs typeface="Cambria" pitchFamily="34" charset="-120"/>
              </a:rPr>
              <a:t>(p̂ + z²/2n ± z·√(p̂(1−p̂)/n + z²/4n²)) / (1 + z²/n),  z = 1.96</a:t>
            </a:r>
            <a:endParaRPr lang="en-US" sz="1150" dirty="0"/>
          </a:p>
        </p:txBody>
      </p:sp>
      <p:sp>
        <p:nvSpPr>
          <p:cNvPr id="43" name="Text 43"/>
          <p:cNvSpPr/>
          <p:nvPr/>
        </p:nvSpPr>
        <p:spPr>
          <a:xfrm>
            <a:off x="685800" y="173660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Unlike the naive interval it stays inside [0,1] and is reliable for small n.</a:t>
            </a:r>
            <a:endParaRPr lang="en-US" sz="1000" dirty="0"/>
          </a:p>
        </p:txBody>
      </p:sp>
      <p:sp>
        <p:nvSpPr>
          <p:cNvPr id="44" name="Shape 44"/>
          <p:cNvSpPr/>
          <p:nvPr/>
        </p:nvSpPr>
        <p:spPr>
          <a:xfrm>
            <a:off x="457200" y="2173040"/>
            <a:ext cx="8229600" cy="710000"/>
          </a:xfrm>
          <a:prstGeom prst="rect">
            <a:avLst/>
          </a:prstGeom>
          <a:solidFill>
            <a:srgbClr val="FFFFFF"/>
          </a:solidFill>
          <a:ln w="9525">
            <a:solidFill>
              <a:srgbClr val="CFD6DD"/>
            </a:solidFill>
            <a:prstDash val="solid"/>
          </a:ln>
        </p:spPr>
        <p:txBody>
          <a:bodyPr/>
          <a:lstStyle/>
          <a:p>
            <a:endParaRPr lang="en-US"/>
          </a:p>
        </p:txBody>
      </p:sp>
      <p:sp>
        <p:nvSpPr>
          <p:cNvPr id="45" name="Shape 45"/>
          <p:cNvSpPr/>
          <p:nvPr/>
        </p:nvSpPr>
        <p:spPr>
          <a:xfrm>
            <a:off x="457200" y="2173040"/>
            <a:ext cx="73152" cy="710000"/>
          </a:xfrm>
          <a:prstGeom prst="rect">
            <a:avLst/>
          </a:prstGeom>
          <a:solidFill>
            <a:srgbClr val="0EA5E9"/>
          </a:solidFill>
          <a:ln/>
        </p:spPr>
        <p:txBody>
          <a:bodyPr/>
          <a:lstStyle/>
          <a:p>
            <a:endParaRPr lang="en-US"/>
          </a:p>
        </p:txBody>
      </p:sp>
      <p:sp>
        <p:nvSpPr>
          <p:cNvPr id="46" name="Text 46"/>
          <p:cNvSpPr/>
          <p:nvPr/>
        </p:nvSpPr>
        <p:spPr>
          <a:xfrm>
            <a:off x="685800" y="223804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Binomial test  —  </a:t>
            </a:r>
            <a:r>
              <a:rPr lang="en-US" sz="1150" b="0" i="0" kern="0" dirty="0">
                <a:solidFill>
                  <a:srgbClr val="1E293B"/>
                </a:solidFill>
                <a:latin typeface="Calibri" pitchFamily="34" charset="0"/>
                <a:ea typeface="Calibri" pitchFamily="34" charset="-122"/>
                <a:cs typeface="Calibri" pitchFamily="34" charset="-120"/>
              </a:rPr>
              <a:t>is an observed proportion different from 50/50?</a:t>
            </a:r>
            <a:endParaRPr lang="en-US" sz="1150" dirty="0"/>
          </a:p>
        </p:txBody>
      </p:sp>
      <p:sp>
        <p:nvSpPr>
          <p:cNvPr id="47" name="Text 47"/>
          <p:cNvSpPr/>
          <p:nvPr/>
        </p:nvSpPr>
        <p:spPr>
          <a:xfrm>
            <a:off x="685800" y="253804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Used for momentum (86%), favorites (78.5%), upsets (22.4%).</a:t>
            </a:r>
            <a:endParaRPr lang="en-US" sz="1000" dirty="0"/>
          </a:p>
        </p:txBody>
      </p:sp>
      <p:sp>
        <p:nvSpPr>
          <p:cNvPr id="48" name="Shape 48"/>
          <p:cNvSpPr/>
          <p:nvPr/>
        </p:nvSpPr>
        <p:spPr>
          <a:xfrm>
            <a:off x="457200" y="2974480"/>
            <a:ext cx="8229600" cy="710000"/>
          </a:xfrm>
          <a:prstGeom prst="rect">
            <a:avLst/>
          </a:prstGeom>
          <a:solidFill>
            <a:srgbClr val="FFFFFF"/>
          </a:solidFill>
          <a:ln w="9525">
            <a:solidFill>
              <a:srgbClr val="CFD6DD"/>
            </a:solidFill>
            <a:prstDash val="solid"/>
          </a:ln>
        </p:spPr>
        <p:txBody>
          <a:bodyPr/>
          <a:lstStyle/>
          <a:p>
            <a:endParaRPr lang="en-US"/>
          </a:p>
        </p:txBody>
      </p:sp>
      <p:sp>
        <p:nvSpPr>
          <p:cNvPr id="49" name="Shape 49"/>
          <p:cNvSpPr/>
          <p:nvPr/>
        </p:nvSpPr>
        <p:spPr>
          <a:xfrm>
            <a:off x="457200" y="2974480"/>
            <a:ext cx="73152" cy="710000"/>
          </a:xfrm>
          <a:prstGeom prst="rect">
            <a:avLst/>
          </a:prstGeom>
          <a:solidFill>
            <a:srgbClr val="0EA5E9"/>
          </a:solidFill>
          <a:ln/>
        </p:spPr>
        <p:txBody>
          <a:bodyPr/>
          <a:lstStyle/>
          <a:p>
            <a:endParaRPr lang="en-US"/>
          </a:p>
        </p:txBody>
      </p:sp>
      <p:sp>
        <p:nvSpPr>
          <p:cNvPr id="50" name="Text 50"/>
          <p:cNvSpPr/>
          <p:nvPr/>
        </p:nvSpPr>
        <p:spPr>
          <a:xfrm>
            <a:off x="685800" y="303948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Chi-square test  —  </a:t>
            </a:r>
            <a:r>
              <a:rPr lang="en-US" sz="1150" b="1" i="0" kern="0" dirty="0">
                <a:solidFill>
                  <a:srgbClr val="1E293B"/>
                </a:solidFill>
                <a:latin typeface="Cambria" pitchFamily="34" charset="0"/>
                <a:ea typeface="Cambria" pitchFamily="34" charset="-122"/>
                <a:cs typeface="Cambria" pitchFamily="34" charset="-120"/>
              </a:rPr>
              <a:t>χ² = Σ (O−E)²/E</a:t>
            </a:r>
            <a:r>
              <a:rPr lang="en-US" sz="1150" b="0" i="0" kern="0" dirty="0">
                <a:solidFill>
                  <a:srgbClr val="1E293B"/>
                </a:solidFill>
                <a:latin typeface="Calibri" pitchFamily="34" charset="0"/>
                <a:ea typeface="Calibri" pitchFamily="34" charset="-122"/>
                <a:cs typeface="Calibri" pitchFamily="34" charset="-120"/>
              </a:rPr>
              <a:t>   — are win rates equal across groups?</a:t>
            </a:r>
            <a:endParaRPr lang="en-US" sz="1150" dirty="0"/>
          </a:p>
        </p:txBody>
      </p:sp>
      <p:sp>
        <p:nvSpPr>
          <p:cNvPr id="51" name="Text 51"/>
          <p:cNvSpPr/>
          <p:nvPr/>
        </p:nvSpPr>
        <p:spPr>
          <a:xfrm>
            <a:off x="685800" y="333948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Used for the 4 chemistry buckets (1-3, 4-7, 8-15, 16+ matches together).</a:t>
            </a:r>
            <a:endParaRPr lang="en-US" sz="1000" dirty="0"/>
          </a:p>
        </p:txBody>
      </p:sp>
      <p:sp>
        <p:nvSpPr>
          <p:cNvPr id="52" name="Shape 52"/>
          <p:cNvSpPr/>
          <p:nvPr/>
        </p:nvSpPr>
        <p:spPr>
          <a:xfrm>
            <a:off x="457200" y="3775920"/>
            <a:ext cx="8229600" cy="710000"/>
          </a:xfrm>
          <a:prstGeom prst="rect">
            <a:avLst/>
          </a:prstGeom>
          <a:solidFill>
            <a:srgbClr val="FFFFFF"/>
          </a:solidFill>
          <a:ln w="9525">
            <a:solidFill>
              <a:srgbClr val="CFD6DD"/>
            </a:solidFill>
            <a:prstDash val="solid"/>
          </a:ln>
        </p:spPr>
        <p:txBody>
          <a:bodyPr/>
          <a:lstStyle/>
          <a:p>
            <a:endParaRPr lang="en-US"/>
          </a:p>
        </p:txBody>
      </p:sp>
      <p:sp>
        <p:nvSpPr>
          <p:cNvPr id="53" name="Shape 53"/>
          <p:cNvSpPr/>
          <p:nvPr/>
        </p:nvSpPr>
        <p:spPr>
          <a:xfrm>
            <a:off x="457200" y="3775920"/>
            <a:ext cx="73152" cy="710000"/>
          </a:xfrm>
          <a:prstGeom prst="rect">
            <a:avLst/>
          </a:prstGeom>
          <a:solidFill>
            <a:srgbClr val="0EA5E9"/>
          </a:solidFill>
          <a:ln/>
        </p:spPr>
        <p:txBody>
          <a:bodyPr/>
          <a:lstStyle/>
          <a:p>
            <a:endParaRPr lang="en-US"/>
          </a:p>
        </p:txBody>
      </p:sp>
      <p:sp>
        <p:nvSpPr>
          <p:cNvPr id="54" name="Text 54"/>
          <p:cNvSpPr/>
          <p:nvPr/>
        </p:nvSpPr>
        <p:spPr>
          <a:xfrm>
            <a:off x="685800" y="384092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Welch t-test  —  </a:t>
            </a:r>
            <a:r>
              <a:rPr lang="en-US" sz="1150" b="1" i="0" kern="0" dirty="0">
                <a:solidFill>
                  <a:srgbClr val="1E293B"/>
                </a:solidFill>
                <a:latin typeface="Cambria" pitchFamily="34" charset="0"/>
                <a:ea typeface="Cambria" pitchFamily="34" charset="-122"/>
                <a:cs typeface="Cambria" pitchFamily="34" charset="-120"/>
              </a:rPr>
              <a:t>t = (x̄₁−x̄₂) / √(s₁²/n₁ + s₂²/n₂)</a:t>
            </a:r>
            <a:endParaRPr lang="en-US" sz="1150" dirty="0"/>
          </a:p>
        </p:txBody>
      </p:sp>
      <p:sp>
        <p:nvSpPr>
          <p:cNvPr id="55" name="Text 55"/>
          <p:cNvSpPr/>
          <p:nvPr/>
        </p:nvSpPr>
        <p:spPr>
          <a:xfrm>
            <a:off x="685800" y="414092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Difference of means without assuming equal variance — used for match durations.</a:t>
            </a:r>
            <a:endParaRPr lang="en-US" sz="1000" dirty="0"/>
          </a:p>
        </p:txBody>
      </p:sp>
      <p:sp>
        <p:nvSpPr>
          <p:cNvPr id="56" name="Text 5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57" name="Text 5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58" name="Shape 58"/>
          <p:cNvSpPr/>
          <p:nvPr/>
        </p:nvSpPr>
        <p:spPr>
          <a:xfrm>
            <a:off x="365760" y="384048"/>
            <a:ext cx="64008" cy="292608"/>
          </a:xfrm>
          <a:prstGeom prst="rect">
            <a:avLst/>
          </a:prstGeom>
          <a:solidFill>
            <a:srgbClr val="0EA5E9"/>
          </a:solidFill>
          <a:ln/>
        </p:spPr>
        <p:txBody>
          <a:bodyPr/>
          <a:lstStyle/>
          <a:p>
            <a:endParaRPr lang="en-US"/>
          </a:p>
        </p:txBody>
      </p:sp>
      <p:sp>
        <p:nvSpPr>
          <p:cNvPr id="59" name="Text 59"/>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2.6 STATISTICAL TOOLKIT — MODELS</a:t>
            </a:r>
            <a:endParaRPr lang="en-US" sz="1000" dirty="0"/>
          </a:p>
        </p:txBody>
      </p:sp>
      <p:sp>
        <p:nvSpPr>
          <p:cNvPr id="60" name="Text 60"/>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Two models turn tests into predictions</a:t>
            </a:r>
            <a:endParaRPr lang="en-US" sz="2600" dirty="0"/>
          </a:p>
        </p:txBody>
      </p:sp>
      <p:sp>
        <p:nvSpPr>
          <p:cNvPr id="61" name="Shape 61"/>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2" name="Shape 62"/>
          <p:cNvSpPr/>
          <p:nvPr/>
        </p:nvSpPr>
        <p:spPr>
          <a:xfrm>
            <a:off x="457200" y="1371600"/>
            <a:ext cx="73152" cy="960120"/>
          </a:xfrm>
          <a:prstGeom prst="rect">
            <a:avLst/>
          </a:prstGeom>
          <a:solidFill>
            <a:srgbClr val="0EA5E9"/>
          </a:solidFill>
          <a:ln/>
        </p:spPr>
        <p:txBody>
          <a:bodyPr/>
          <a:lstStyle/>
          <a:p>
            <a:endParaRPr lang="en-US"/>
          </a:p>
        </p:txBody>
      </p:sp>
      <p:sp>
        <p:nvSpPr>
          <p:cNvPr id="63" name="Text 63"/>
          <p:cNvSpPr/>
          <p:nvPr/>
        </p:nvSpPr>
        <p:spPr>
          <a:xfrm>
            <a:off x="685800" y="1463040"/>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LOGISTIC MODEL</a:t>
            </a:r>
            <a:endParaRPr lang="en-US" sz="900" dirty="0"/>
          </a:p>
        </p:txBody>
      </p:sp>
      <p:sp>
        <p:nvSpPr>
          <p:cNvPr id="64" name="Text 64"/>
          <p:cNvSpPr/>
          <p:nvPr/>
        </p:nvSpPr>
        <p:spPr>
          <a:xfrm>
            <a:off x="685800" y="1691640"/>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AUC 0.88</a:t>
            </a:r>
            <a:endParaRPr lang="en-US" sz="2800" dirty="0"/>
          </a:p>
        </p:txBody>
      </p:sp>
      <p:sp>
        <p:nvSpPr>
          <p:cNvPr id="65" name="Text 65"/>
          <p:cNvSpPr/>
          <p:nvPr/>
        </p:nvSpPr>
        <p:spPr>
          <a:xfrm>
            <a:off x="685800" y="2071720"/>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decile calib. vs y = x</a:t>
            </a:r>
            <a:endParaRPr lang="en-US" sz="1000" dirty="0"/>
          </a:p>
        </p:txBody>
      </p:sp>
      <p:sp>
        <p:nvSpPr>
          <p:cNvPr id="66" name="Text 66"/>
          <p:cNvSpPr/>
          <p:nvPr/>
        </p:nvSpPr>
        <p:spPr>
          <a:xfrm>
            <a:off x="2834640" y="1371600"/>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P(team1 wins) = 1 / (1 + e^−(β₀ + β₁·log(pts₁/pts₂))) — log of the points ratio, because ranking advantages act multiplicatively. In 88% of winner-loser pairs the model ranked the winner higher.</a:t>
            </a:r>
            <a:endParaRPr lang="en-US" sz="1200" dirty="0"/>
          </a:p>
        </p:txBody>
      </p:sp>
      <p:sp>
        <p:nvSpPr>
          <p:cNvPr id="67" name="Shape 67"/>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68" name="Shape 68"/>
          <p:cNvSpPr/>
          <p:nvPr/>
        </p:nvSpPr>
        <p:spPr>
          <a:xfrm>
            <a:off x="457200" y="2450592"/>
            <a:ext cx="73152" cy="960120"/>
          </a:xfrm>
          <a:prstGeom prst="rect">
            <a:avLst/>
          </a:prstGeom>
          <a:solidFill>
            <a:srgbClr val="0EA5E9"/>
          </a:solidFill>
          <a:ln/>
        </p:spPr>
        <p:txBody>
          <a:bodyPr/>
          <a:lstStyle/>
          <a:p>
            <a:endParaRPr lang="en-US"/>
          </a:p>
        </p:txBody>
      </p:sp>
      <p:sp>
        <p:nvSpPr>
          <p:cNvPr id="69" name="Text 69"/>
          <p:cNvSpPr/>
          <p:nvPr/>
        </p:nvSpPr>
        <p:spPr>
          <a:xfrm>
            <a:off x="685800" y="2542032"/>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ELO ENGINE</a:t>
            </a:r>
            <a:endParaRPr lang="en-US" sz="900" dirty="0"/>
          </a:p>
        </p:txBody>
      </p:sp>
      <p:sp>
        <p:nvSpPr>
          <p:cNvPr id="70" name="Text 70"/>
          <p:cNvSpPr/>
          <p:nvPr/>
        </p:nvSpPr>
        <p:spPr>
          <a:xfrm>
            <a:off x="685800" y="2770632"/>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K = 32</a:t>
            </a:r>
            <a:endParaRPr lang="en-US" sz="2800" dirty="0"/>
          </a:p>
        </p:txBody>
      </p:sp>
      <p:sp>
        <p:nvSpPr>
          <p:cNvPr id="71" name="Text 71"/>
          <p:cNvSpPr/>
          <p:nvPr/>
        </p:nvSpPr>
        <p:spPr>
          <a:xfrm>
            <a:off x="685800" y="3150712"/>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start 1500, chronological</a:t>
            </a:r>
            <a:endParaRPr lang="en-US" sz="1000" dirty="0"/>
          </a:p>
        </p:txBody>
      </p:sp>
      <p:sp>
        <p:nvSpPr>
          <p:cNvPr id="72" name="Text 72"/>
          <p:cNvSpPr/>
          <p:nvPr/>
        </p:nvSpPr>
        <p:spPr>
          <a:xfrm>
            <a:off x="2834640" y="2450592"/>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Expected score E_A = 1/(1+10^((R_B−R_A)/400)); update R′_A = R_A + K·(S_A−E_A), zero-sum and unit-tested. Disagreement between Elo and official points is the over/under-rated-players insight.</a:t>
            </a:r>
            <a:endParaRPr lang="en-US" sz="1200" dirty="0"/>
          </a:p>
        </p:txBody>
      </p:sp>
      <p:sp>
        <p:nvSpPr>
          <p:cNvPr id="79" name="Text 79"/>
          <p:cNvSpPr/>
          <p:nvPr/>
        </p:nvSpPr>
        <p:spPr>
          <a:xfrm>
            <a:off x="457200" y="3712000"/>
            <a:ext cx="8229600" cy="256032"/>
          </a:xfrm>
          <a:prstGeom prst="rect">
            <a:avLst/>
          </a:prstGeom>
          <a:noFill/>
          <a:ln/>
        </p:spPr>
        <p:txBody>
          <a:bodyPr wrap="square" lIns="0" tIns="0" rIns="0" bIns="0" rtlCol="0" anchor="ctr"/>
          <a:lstStyle/>
          <a:p>
            <a:pPr marL="0" indent="0">
              <a:buNone/>
            </a:pPr>
            <a:r>
              <a:rPr lang="en-US" sz="1000" b="0" i="0" kern="0" dirty="0">
                <a:solidFill>
                  <a:srgbClr val="64748B"/>
                </a:solidFill>
                <a:latin typeface="Calibri" pitchFamily="34" charset="0"/>
                <a:ea typeface="Calibri" pitchFamily="34" charset="-122"/>
                <a:cs typeface="Calibri" pitchFamily="34" charset="-120"/>
              </a:rPr>
              <a:t>All implemented in analytics.py — 12/12 unit tests passing.</a:t>
            </a:r>
            <a:endParaRPr lang="en-US" sz="1000" dirty="0"/>
          </a:p>
        </p:txBody>
      </p:sp>
      <p:sp>
        <p:nvSpPr>
          <p:cNvPr id="80" name="Text 8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81" name="Text 8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2.7 FINDINGS — MOMENTUM &amp; CHEMISTRY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The first set decides a lot. Chemistry takes longer.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MOMENTUM</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86%</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match after set 1</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n=668, p&lt;0.001 — consistent across gender and level. A near-decisive early lead.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DECIDING SET</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~49%</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coin flip in a decider</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Once a match actually reaches a 3rd set, the set-1 winner's edge evaporates (n=207).</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CHEMISTRY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40% → 67%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rate, 1-3 vs 16+ matches together</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p&lt;0.001 across buckets. Caveat: survivorship — winning pairs simply get more reps together.</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2.8 FINDINGS — RANKING, UPSETS, EFFICIENCY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Rankings predict. They just don’t decide.</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RANKING</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78.5%</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favorite (by points) wins</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Logistic model AUC 0.88. Caveat: points are a single end-of-window snapshot, not match-date values.</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UPSETS</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22.4%</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of seeded matches</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n=165, p&lt;0.001. Non-monotonic by round — finals land close to a coin flip (50%).</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EFFICIENCY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59.7%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next-match win rate</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n=233, p=0.004 — fewer games in the previous round is a real efficiency/fatigue signal.</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2.9 THE HONEST NULLS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the data honestly does NOT show</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6B7280"/>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HOME ADVANTAGE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43%</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home-team win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n=109, p=0.18 — not significant. No detectable home advantage overall.</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6B7280"/>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AGE GAP</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No effect</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winner vs loser age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Mean gap ≈0 years (p=0.277). A within-pair correlation is significant but explains &lt;1% of variance.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6B7280"/>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HANDEDNESS / HEIGHT</a:t>
            </a:r>
            <a:endParaRPr lang="en-US" sz="900" dirty="0"/>
          </a:p>
        </p:txBody>
      </p:sp>
      <p:sp>
        <p:nvSpPr>
          <p:cNvPr id="20" name="Text 18"/>
          <p:cNvSpPr/>
          <p:nvPr/>
        </p:nvSpPr>
        <p:spPr>
          <a:xfrm>
            <a:off x="685800" y="3906000"/>
            <a:ext cx="2011680" cy="360000"/>
          </a:xfrm>
          <a:prstGeom prst="rect">
            <a:avLst/>
          </a:prstGeom>
          <a:noFill/>
          <a:ln/>
        </p:spPr>
        <p:txBody>
          <a:bodyPr wrap="square" lIns="0" tIns="0" rIns="0" bIns="0" rtlCol="0" anchor="ctr"/>
          <a:lstStyle/>
          <a:p>
            <a:pPr marL="0" indent="0">
              <a:buNone/>
            </a:pPr>
            <a:r>
              <a:rPr lang="en-US" sz="1900" b="1" dirty="0">
                <a:solidFill>
                  <a:srgbClr val="1F2937"/>
                </a:solidFill>
              </a:rPr>
              <a:t>Insufficient data</a:t>
            </a:r>
            <a:endParaRPr lang="en-US" sz="2800" dirty="0"/>
          </a:p>
        </p:txBody>
      </p:sp>
      <p:sp>
        <p:nvSpPr>
          <p:cNvPr id="50" name="Text Closing Line"/>
          <p:cNvSpPr/>
          <p:nvPr/>
        </p:nvSpPr>
        <p:spPr>
          <a:xfrm>
            <a:off x="457200" y="4526280"/>
            <a:ext cx="8229600" cy="256032"/>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Trustworthy analysis reports what the data does NOT show.</a:t>
            </a:r>
            <a:endParaRPr lang="en-US" sz="115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coverage too low to test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Hand data covers 38.4% of participants, height 33.8% — both below the 60% usability threshold.</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txBody>
          <a:bodyPr/>
          <a:lstStyle/>
          <a:p>
            <a:endParaRPr lang="en-US"/>
          </a:p>
        </p:txBody>
      </p:sp>
      <p:sp>
        <p:nvSpPr>
          <p:cNvPr id="6" name="Text 4"/>
          <p:cNvSpPr/>
          <p:nvPr/>
        </p:nvSpPr>
        <p:spPr>
          <a:xfrm>
            <a:off x="132588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txBody>
          <a:bodyPr/>
          <a:lstStyle/>
          <a:p>
            <a:endParaRPr lang="en-US"/>
          </a:p>
        </p:txBody>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59436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txBody>
          <a:bodyPr/>
          <a:lstStyle/>
          <a:p>
            <a:endParaRPr lang="en-US"/>
          </a:p>
        </p:txBody>
      </p:sp>
      <p:sp>
        <p:nvSpPr>
          <p:cNvPr id="12" name="Text 10"/>
          <p:cNvSpPr/>
          <p:nvPr/>
        </p:nvSpPr>
        <p:spPr>
          <a:xfrm>
            <a:off x="342900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txBody>
          <a:bodyPr/>
          <a:lstStyle/>
          <a:p>
            <a:endParaRPr lang="en-US"/>
          </a:p>
        </p:txBody>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15" name="Text 13"/>
          <p:cNvSpPr/>
          <p:nvPr/>
        </p:nvSpPr>
        <p:spPr>
          <a:xfrm>
            <a:off x="269748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txBody>
          <a:bodyPr/>
          <a:lstStyle/>
          <a:p>
            <a:endParaRPr lang="en-US"/>
          </a:p>
        </p:txBody>
      </p:sp>
      <p:sp>
        <p:nvSpPr>
          <p:cNvPr id="18" name="Text 16"/>
          <p:cNvSpPr/>
          <p:nvPr/>
        </p:nvSpPr>
        <p:spPr>
          <a:xfrm>
            <a:off x="553212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txBody>
          <a:bodyPr/>
          <a:lstStyle/>
          <a:p>
            <a:endParaRPr lang="en-US"/>
          </a:p>
        </p:txBody>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480060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txBody>
          <a:bodyPr/>
          <a:lstStyle/>
          <a:p>
            <a:endParaRPr lang="en-US"/>
          </a:p>
        </p:txBody>
      </p:sp>
      <p:sp>
        <p:nvSpPr>
          <p:cNvPr id="24" name="Text 22"/>
          <p:cNvSpPr/>
          <p:nvPr/>
        </p:nvSpPr>
        <p:spPr>
          <a:xfrm>
            <a:off x="763524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6" name="Text 24"/>
          <p:cNvSpPr/>
          <p:nvPr/>
        </p:nvSpPr>
        <p:spPr>
          <a:xfrm>
            <a:off x="690372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High-fi, working app. No click-prototype.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Last 10 + partner + shot DNA</a:t>
            </a:r>
            <a:endParaRPr lang="en-US" sz="1000" dirty="0"/>
          </a:p>
        </p:txBody>
      </p:sp>
      <p:pic>
        <p:nvPicPr>
          <p:cNvPr id="8" name="Image 1" descr="/sessions/jolly-nifty-archimedes/mnt/Padel-Project/06_Presentation/assets/02_pro_tour.png"/>
          <p:cNvPicPr>
            <a:picLocks noChangeAspect="1"/>
          </p:cNvPicPr>
          <p:nvPr/>
        </p:nvPicPr>
        <p:blipFill>
          <a:blip r:embed="rId4"/>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Rankings + filters</a:t>
            </a:r>
            <a:endParaRPr lang="en-US" sz="10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Personal dashboard</a:t>
            </a:r>
            <a:endParaRPr lang="en-US" sz="1000" dirty="0"/>
          </a:p>
        </p:txBody>
      </p:sp>
      <p:pic>
        <p:nvPicPr>
          <p:cNvPr id="14" name="Image 3" descr="/sessions/jolly-nifty-archimedes/mnt/Padel-Project/06_Presentation/assets/04_log_match.png"/>
          <p:cNvPicPr>
            <a:picLocks noChangeAspect="1"/>
          </p:cNvPicPr>
          <p:nvPr/>
        </p:nvPicPr>
        <p:blipFill>
          <a:blip r:embed="rId6"/>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90-second data entry</a:t>
            </a:r>
            <a:endParaRPr lang="en-US" sz="1000" dirty="0"/>
          </a:p>
        </p:txBody>
      </p:sp>
      <p:pic>
        <p:nvPicPr>
          <p:cNvPr id="17" name="Image 4" descr="/sessions/jolly-nifty-archimedes/mnt/Padel-Project/06_Presentation/assets/05_compare.png"/>
          <p:cNvPicPr>
            <a:picLocks noChangeAspect="1"/>
          </p:cNvPicPr>
          <p:nvPr/>
        </p:nvPicPr>
        <p:blipFill>
          <a:blip r:embed="rId7"/>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txBody>
          <a:bodyPr/>
          <a:lstStyle/>
          <a:p>
            <a:endParaRPr lang="en-US" dirty="0"/>
          </a:p>
        </p:txBody>
      </p:sp>
      <p:sp>
        <p:nvSpPr>
          <p:cNvPr id="21" name="Text 14"/>
          <p:cNvSpPr/>
          <p:nvPr/>
        </p:nvSpPr>
        <p:spPr>
          <a:xfrm>
            <a:off x="640080" y="3383280"/>
            <a:ext cx="7863840" cy="365760"/>
          </a:xfrm>
          <a:prstGeom prst="rect">
            <a:avLst/>
          </a:prstGeom>
          <a:noFill/>
          <a:ln/>
        </p:spPr>
        <p:txBody>
          <a:bodyPr wrap="square" lIns="0" tIns="0" rIns="0" bIns="0" rtlCol="0" anchor="ctr"/>
          <a:lstStyle/>
          <a:p>
            <a:pPr marL="0" indent="0">
              <a:buNone/>
            </a:pPr>
            <a:r>
              <a:rPr lang="en-US" sz="1400" b="1" dirty="0">
                <a:solidFill>
                  <a:srgbClr val="1F2937"/>
                </a:solidFill>
              </a:rPr>
              <a:t>Each page answers ONE task from the brief.  </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marL="0" indent="0">
              <a:buNone/>
            </a:pPr>
            <a:r>
              <a:rPr lang="en-US" sz="1100" b="1" dirty="0">
                <a:solidFill>
                  <a:srgbClr val="64748B"/>
                </a:solidFill>
              </a:rPr>
              <a:t>Home → </a:t>
            </a:r>
            <a:r>
              <a:rPr lang="en-US" sz="1100" dirty="0">
                <a:solidFill>
                  <a:srgbClr val="64748B"/>
                </a:solidFill>
              </a:rPr>
              <a:t>"How am I doing right now?" · </a:t>
            </a:r>
            <a:r>
              <a:rPr lang="en-US" sz="1100" b="1" dirty="0">
                <a:solidFill>
                  <a:srgbClr val="64748B"/>
                </a:solidFill>
              </a:rPr>
              <a:t>Pro Tour → </a:t>
            </a:r>
            <a:r>
              <a:rPr lang="en-US" sz="1100" dirty="0">
                <a:solidFill>
                  <a:srgbClr val="64748B"/>
                </a:solidFill>
              </a:rPr>
              <a:t>"Explore the pro game" · </a:t>
            </a:r>
            <a:r>
              <a:rPr lang="en-US" sz="1100" b="1" dirty="0">
                <a:solidFill>
                  <a:srgbClr val="64748B"/>
                </a:solidFill>
              </a:rPr>
              <a:t>My Stats → </a:t>
            </a:r>
            <a:r>
              <a:rPr lang="en-US" sz="1100" dirty="0">
                <a:solidFill>
                  <a:srgbClr val="64748B"/>
                </a:solidFill>
              </a:rPr>
              <a:t>"Why am I winning/losing?" · </a:t>
            </a:r>
            <a:r>
              <a:rPr lang="en-US" sz="1100" b="1" dirty="0">
                <a:solidFill>
                  <a:srgbClr val="64748B"/>
                </a:solidFill>
              </a:rPr>
              <a:t>Log Match → </a:t>
            </a:r>
            <a:r>
              <a:rPr lang="en-US" sz="1100" dirty="0">
                <a:solidFill>
                  <a:srgbClr val="64748B"/>
                </a:solidFill>
              </a:rPr>
              <a:t>"Add today's match" · </a:t>
            </a:r>
            <a:r>
              <a:rPr lang="en-US" sz="1100" b="1" dirty="0">
                <a:solidFill>
                  <a:srgbClr val="64748B"/>
                </a:solidFill>
              </a:rPr>
              <a:t>Compare → </a:t>
            </a: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
        <p:nvSpPr>
          <p:cNvPr id="27" name="Shape 13">
            <a:hlinkClick r:id="rId8"/>
            <a:extLst>
              <a:ext uri="{FF2B5EF4-FFF2-40B4-BE49-F238E27FC236}">
                <a16:creationId xmlns:a16="http://schemas.microsoft.com/office/drawing/2014/main" id="{988E3AF2-DDFA-E0D4-B930-FEED7A0C267C}"/>
              </a:ext>
            </a:extLst>
          </p:cNvPr>
          <p:cNvSpPr/>
          <p:nvPr/>
        </p:nvSpPr>
        <p:spPr>
          <a:xfrm>
            <a:off x="7260336" y="3336593"/>
            <a:ext cx="1323474" cy="279134"/>
          </a:xfrm>
          <a:prstGeom prst="rect">
            <a:avLst/>
          </a:prstGeom>
          <a:solidFill>
            <a:srgbClr val="0EA5E9"/>
          </a:solidFill>
          <a:ln/>
        </p:spPr>
        <p:txBody>
          <a:bodyPr/>
          <a:lstStyle/>
          <a:p>
            <a:r>
              <a:rPr lang="en-US" sz="1200" dirty="0"/>
              <a:t>Figma Wireframes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618488"/>
            <a:ext cx="411480" cy="411480"/>
          </a:xfrm>
          <a:prstGeom prst="ellipse">
            <a:avLst/>
          </a:prstGeom>
          <a:solidFill>
            <a:srgbClr val="0EA5E9"/>
          </a:solidFill>
          <a:ln/>
        </p:spPr>
        <p:txBody>
          <a:bodyPr/>
          <a:lstStyle/>
          <a:p>
            <a:endParaRPr lang="en-US"/>
          </a:p>
        </p:txBody>
      </p:sp>
      <p:sp>
        <p:nvSpPr>
          <p:cNvPr id="7" name="Text 5"/>
          <p:cNvSpPr/>
          <p:nvPr/>
        </p:nvSpPr>
        <p:spPr>
          <a:xfrm>
            <a:off x="64008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4800600" y="1618488"/>
            <a:ext cx="411480" cy="411480"/>
          </a:xfrm>
          <a:prstGeom prst="ellipse">
            <a:avLst/>
          </a:prstGeom>
          <a:solidFill>
            <a:srgbClr val="0EA5E9"/>
          </a:solidFill>
          <a:ln/>
        </p:spPr>
        <p:txBody>
          <a:bodyPr/>
          <a:lstStyle/>
          <a:p>
            <a:endParaRPr lang="en-US"/>
          </a:p>
        </p:txBody>
      </p:sp>
      <p:sp>
        <p:nvSpPr>
          <p:cNvPr id="12" name="Text 10"/>
          <p:cNvSpPr/>
          <p:nvPr/>
        </p:nvSpPr>
        <p:spPr>
          <a:xfrm>
            <a:off x="480060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40080" y="2670048"/>
            <a:ext cx="411480" cy="411480"/>
          </a:xfrm>
          <a:prstGeom prst="ellipse">
            <a:avLst/>
          </a:prstGeom>
          <a:solidFill>
            <a:srgbClr val="0EA5E9"/>
          </a:solidFill>
          <a:ln/>
        </p:spPr>
        <p:txBody>
          <a:bodyPr/>
          <a:lstStyle/>
          <a:p>
            <a:endParaRPr lang="en-US"/>
          </a:p>
        </p:txBody>
      </p:sp>
      <p:sp>
        <p:nvSpPr>
          <p:cNvPr id="17" name="Text 15"/>
          <p:cNvSpPr/>
          <p:nvPr/>
        </p:nvSpPr>
        <p:spPr>
          <a:xfrm>
            <a:off x="64008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21" name="Shape 19"/>
          <p:cNvSpPr/>
          <p:nvPr/>
        </p:nvSpPr>
        <p:spPr>
          <a:xfrm>
            <a:off x="4800600" y="2670048"/>
            <a:ext cx="411480" cy="411480"/>
          </a:xfrm>
          <a:prstGeom prst="ellipse">
            <a:avLst/>
          </a:prstGeom>
          <a:solidFill>
            <a:srgbClr val="0EA5E9"/>
          </a:solidFill>
          <a:ln/>
        </p:spPr>
        <p:txBody>
          <a:bodyPr/>
          <a:lstStyle/>
          <a:p>
            <a:endParaRPr lang="en-US"/>
          </a:p>
        </p:txBody>
      </p:sp>
      <p:sp>
        <p:nvSpPr>
          <p:cNvPr id="22" name="Text 20"/>
          <p:cNvSpPr/>
          <p:nvPr/>
        </p:nvSpPr>
        <p:spPr>
          <a:xfrm>
            <a:off x="480060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26" name="Shape 24"/>
          <p:cNvSpPr/>
          <p:nvPr/>
        </p:nvSpPr>
        <p:spPr>
          <a:xfrm>
            <a:off x="640080" y="3721608"/>
            <a:ext cx="411480" cy="411480"/>
          </a:xfrm>
          <a:prstGeom prst="ellipse">
            <a:avLst/>
          </a:prstGeom>
          <a:solidFill>
            <a:srgbClr val="0EA5E9"/>
          </a:solidFill>
          <a:ln/>
        </p:spPr>
        <p:txBody>
          <a:bodyPr/>
          <a:lstStyle/>
          <a:p>
            <a:endParaRPr lang="en-US"/>
          </a:p>
        </p:txBody>
      </p:sp>
      <p:sp>
        <p:nvSpPr>
          <p:cNvPr id="27" name="Text 25"/>
          <p:cNvSpPr/>
          <p:nvPr/>
        </p:nvSpPr>
        <p:spPr>
          <a:xfrm>
            <a:off x="64008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31" name="Shape 29"/>
          <p:cNvSpPr/>
          <p:nvPr/>
        </p:nvSpPr>
        <p:spPr>
          <a:xfrm>
            <a:off x="4800600" y="3721608"/>
            <a:ext cx="411480" cy="411480"/>
          </a:xfrm>
          <a:prstGeom prst="ellipse">
            <a:avLst/>
          </a:prstGeom>
          <a:solidFill>
            <a:srgbClr val="0EA5E9"/>
          </a:solidFill>
          <a:ln/>
        </p:spPr>
        <p:txBody>
          <a:bodyPr/>
          <a:lstStyle/>
          <a:p>
            <a:endParaRPr lang="en-US"/>
          </a:p>
        </p:txBody>
      </p:sp>
      <p:sp>
        <p:nvSpPr>
          <p:cNvPr id="32" name="Text 30"/>
          <p:cNvSpPr/>
          <p:nvPr/>
        </p:nvSpPr>
        <p:spPr>
          <a:xfrm>
            <a:off x="480060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1005840" cy="1371600"/>
          </a:xfrm>
          <a:prstGeom prst="rect">
            <a:avLst/>
          </a:prstGeom>
          <a:solidFill>
            <a:srgbClr val="1E293B"/>
          </a:solidFill>
          <a:ln/>
        </p:spPr>
        <p:txBody>
          <a:bodyPr/>
          <a:lstStyle/>
          <a:p>
            <a:endParaRPr lang="en-US"/>
          </a:p>
        </p:txBody>
      </p:sp>
      <p:sp>
        <p:nvSpPr>
          <p:cNvPr id="7" name="Text 5"/>
          <p:cNvSpPr/>
          <p:nvPr/>
        </p:nvSpPr>
        <p:spPr>
          <a:xfrm>
            <a:off x="457200" y="155448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marL="0" indent="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txBody>
          <a:bodyPr/>
          <a:lstStyle/>
          <a:p>
            <a:endParaRPr lang="en-US"/>
          </a:p>
        </p:txBody>
      </p:sp>
      <p:sp>
        <p:nvSpPr>
          <p:cNvPr id="12" name="Text 10"/>
          <p:cNvSpPr/>
          <p:nvPr/>
        </p:nvSpPr>
        <p:spPr>
          <a:xfrm>
            <a:off x="5486400" y="150876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marL="0" indent="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txBody>
          <a:bodyPr/>
          <a:lstStyle/>
          <a:p>
            <a:endParaRPr lang="en-US"/>
          </a:p>
        </p:txBody>
      </p:sp>
      <p:sp>
        <p:nvSpPr>
          <p:cNvPr id="15" name="Shape 13"/>
          <p:cNvSpPr/>
          <p:nvPr/>
        </p:nvSpPr>
        <p:spPr>
          <a:xfrm>
            <a:off x="457200" y="2880360"/>
            <a:ext cx="1005840" cy="1371600"/>
          </a:xfrm>
          <a:prstGeom prst="rect">
            <a:avLst/>
          </a:prstGeom>
          <a:solidFill>
            <a:srgbClr val="1E293B"/>
          </a:solidFill>
          <a:ln/>
        </p:spPr>
        <p:txBody>
          <a:bodyPr/>
          <a:lstStyle/>
          <a:p>
            <a:endParaRPr lang="en-US"/>
          </a:p>
        </p:txBody>
      </p:sp>
      <p:sp>
        <p:nvSpPr>
          <p:cNvPr id="16" name="Text 14"/>
          <p:cNvSpPr/>
          <p:nvPr/>
        </p:nvSpPr>
        <p:spPr>
          <a:xfrm>
            <a:off x="457200" y="306324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marL="0" indent="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txBody>
          <a:bodyPr/>
          <a:lstStyle/>
          <a:p>
            <a:endParaRPr lang="en-US"/>
          </a:p>
        </p:txBody>
      </p:sp>
      <p:sp>
        <p:nvSpPr>
          <p:cNvPr id="21" name="Text 19"/>
          <p:cNvSpPr/>
          <p:nvPr/>
        </p:nvSpPr>
        <p:spPr>
          <a:xfrm>
            <a:off x="5486400" y="301752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marL="0" indent="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3.5 CLOSING THE VALIDATION LOOP</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Instruments ready. Sessions scheduled. No invented score.</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Persona-grounding survey (EN/IT)</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Grounds Marco and Luca in real respondents instead of assumptions.</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Interview guide</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Semi-structured questions for club players, to probe beyond the survey.</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SUS questionnaire + scoring sheet</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Standard 10-item System Usability Scale, ready to run — not yet run.</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Task-based user-testing protocol</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Concrete tasks (log a match, compare to a pro) with success criteria.</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Heuristic evaluation round 2</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 template for external evaluators, going beyond my own first pass.</a:t>
            </a:r>
            <a:endParaRPr lang="en-US" sz="1050" dirty="0"/>
          </a:p>
        </p:txBody>
      </p:sp>
      <p:sp>
        <p:nvSpPr>
          <p:cNvPr id="60" name="Text Status Line"/>
          <p:cNvSpPr/>
          <p:nvPr/>
        </p:nvSpPr>
        <p:spPr>
          <a:xfrm>
            <a:off x="502920" y="4450000"/>
            <a:ext cx="8138160" cy="365760"/>
          </a:xfrm>
          <a:prstGeom prst="rect">
            <a:avLst/>
          </a:prstGeom>
          <a:noFill/>
          <a:ln/>
        </p:spPr>
        <p:txBody>
          <a:bodyPr wrap="square" lIns="0" tIns="0" rIns="0" bIns="0" rtlCol="0" anchor="ctr"/>
          <a:lstStyle/>
          <a:p>
            <a:pPr marL="0" indent="0">
              <a:buNone/>
            </a:pPr>
            <a:r>
              <a:rPr lang="en-US" sz="1150" b="1" i="1" dirty="0">
                <a:solidFill>
                  <a:srgbClr val="0369A1"/>
                </a:solidFill>
                <a:latin typeface="Calibri" pitchFamily="34" charset="0"/>
                <a:ea typeface="Calibri" pitchFamily="34" charset="-122"/>
                <a:cs typeface="Calibri" pitchFamily="34" charset="-120"/>
              </a:rPr>
              <a:t>Status, honestly: sessions with real club players are scheduled — no SUS score is invented.</a:t>
            </a:r>
            <a:endParaRPr lang="en-US" sz="11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Sixteen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txBody>
          <a:bodyPr/>
          <a:lstStyle/>
          <a:p>
            <a:endParaRPr lang="en-US"/>
          </a:p>
        </p:txBody>
      </p:sp>
      <p:sp>
        <p:nvSpPr>
          <p:cNvPr id="6" name="Text 4"/>
          <p:cNvSpPr/>
          <p:nvPr/>
        </p:nvSpPr>
        <p:spPr>
          <a:xfrm>
            <a:off x="64008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WHAT does it Represent ?</a:t>
            </a:r>
            <a:endParaRPr lang="en-US" sz="1000" dirty="0"/>
          </a:p>
        </p:txBody>
      </p:sp>
      <p:sp>
        <p:nvSpPr>
          <p:cNvPr id="9" name="Shape 7"/>
          <p:cNvSpPr/>
          <p:nvPr/>
        </p:nvSpPr>
        <p:spPr>
          <a:xfrm>
            <a:off x="457200" y="1691640"/>
            <a:ext cx="8229600" cy="292608"/>
          </a:xfrm>
          <a:prstGeom prst="rect">
            <a:avLst/>
          </a:prstGeom>
          <a:solidFill>
            <a:srgbClr val="FFFFFF"/>
          </a:solidFill>
          <a:ln/>
        </p:spPr>
        <p:txBody>
          <a:bodyPr/>
          <a:lstStyle/>
          <a:p>
            <a:endParaRPr lang="en-US"/>
          </a:p>
        </p:txBody>
      </p:sp>
      <p:sp>
        <p:nvSpPr>
          <p:cNvPr id="10" name="Text 8"/>
          <p:cNvSpPr/>
          <p:nvPr/>
        </p:nvSpPr>
        <p:spPr>
          <a:xfrm>
            <a:off x="640080" y="169164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marL="0" indent="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marL="0" indent="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txBody>
          <a:bodyPr/>
          <a:lstStyle/>
          <a:p>
            <a:endParaRPr lang="en-US"/>
          </a:p>
        </p:txBody>
      </p:sp>
      <p:sp>
        <p:nvSpPr>
          <p:cNvPr id="17" name="Text 15"/>
          <p:cNvSpPr/>
          <p:nvPr/>
        </p:nvSpPr>
        <p:spPr>
          <a:xfrm>
            <a:off x="640080" y="227685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marL="0" indent="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marL="0" indent="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txBody>
          <a:bodyPr/>
          <a:lstStyle/>
          <a:p>
            <a:endParaRPr lang="en-US"/>
          </a:p>
        </p:txBody>
      </p:sp>
      <p:sp>
        <p:nvSpPr>
          <p:cNvPr id="24" name="Text 22"/>
          <p:cNvSpPr/>
          <p:nvPr/>
        </p:nvSpPr>
        <p:spPr>
          <a:xfrm>
            <a:off x="640080" y="2862072"/>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marL="0" indent="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marL="0" indent="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txBody>
          <a:bodyPr/>
          <a:lstStyle/>
          <a:p>
            <a:endParaRPr lang="en-US"/>
          </a:p>
        </p:txBody>
      </p:sp>
      <p:sp>
        <p:nvSpPr>
          <p:cNvPr id="31" name="Text 29"/>
          <p:cNvSpPr/>
          <p:nvPr/>
        </p:nvSpPr>
        <p:spPr>
          <a:xfrm>
            <a:off x="640080" y="344728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marL="0" indent="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marL="0" indent="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marL="0" indent="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txBody>
          <a:bodyPr/>
          <a:lstStyle/>
          <a:p>
            <a:endParaRPr lang="en-US"/>
          </a:p>
        </p:txBody>
      </p:sp>
      <p:sp>
        <p:nvSpPr>
          <p:cNvPr id="38" name="Text 36"/>
          <p:cNvSpPr/>
          <p:nvPr/>
        </p:nvSpPr>
        <p:spPr>
          <a:xfrm>
            <a:off x="640080" y="403250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marL="0" indent="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marL="0" indent="0">
              <a:buNone/>
            </a:pPr>
            <a:r>
              <a:rPr lang="en-US" sz="1100" dirty="0">
                <a:solidFill>
                  <a:srgbClr val="64748B"/>
                </a:solidFill>
              </a:rPr>
              <a:t>Headline numbers</a:t>
            </a:r>
            <a:endParaRPr lang="en-US" sz="1100" dirty="0"/>
          </a:p>
        </p:txBody>
      </p:sp>
      <p:sp>
        <p:nvSpPr>
          <p:cNvPr id="41" name="Text 39"/>
          <p:cNvSpPr/>
          <p:nvPr/>
        </p:nvSpPr>
        <p:spPr>
          <a:xfrm>
            <a:off x="457200" y="4343400"/>
            <a:ext cx="8229600" cy="502920"/>
          </a:xfrm>
          <a:prstGeom prst="rect">
            <a:avLst/>
          </a:prstGeom>
          <a:noFill/>
          <a:ln/>
        </p:spPr>
        <p:txBody>
          <a:bodyPr wrap="square" lIns="0" tIns="0" rIns="0" bIns="0" rtlCol="0" anchor="ctr"/>
          <a:lstStyle/>
          <a:p>
            <a:pPr marL="0" indent="0">
              <a:spcAft>
                <a:spcPts val="200"/>
              </a:spcAft>
              <a:buNone/>
            </a:pPr>
            <a:r>
              <a:rPr lang="en-US" sz="850" i="1" dirty="0">
                <a:solidFill>
                  <a:srgbClr val="9AA3AD"/>
                </a:solidFill>
                <a:latin typeface="Calibri" pitchFamily="34" charset="0"/>
                <a:ea typeface="Calibri" pitchFamily="34" charset="-122"/>
                <a:cs typeface="Calibri" pitchFamily="34" charset="-120"/>
              </a:rPr>
              <a:t>Rejected: pie charts, court heatmaps, Sankeys, 3D bars, animated rankings — each lost head-to-head against a simpler alternative.</a:t>
            </a:r>
            <a:endParaRPr lang="en-US" sz="850" dirty="0"/>
          </a:p>
          <a:p>
            <a:pPr marL="0" indent="0">
              <a:buNone/>
            </a:pPr>
            <a:r>
              <a:rPr lang="en-US" sz="850" b="1" dirty="0">
                <a:solidFill>
                  <a:srgbClr val="0369A1"/>
                </a:solidFill>
                <a:latin typeface="Calibri" pitchFamily="34" charset="0"/>
                <a:ea typeface="Calibri" pitchFamily="34" charset="-122"/>
                <a:cs typeface="Calibri" pitchFamily="34" charset="-120"/>
              </a:rPr>
              <a:t>+ 7 new Insights-page charts (v3): </a:t>
            </a:r>
            <a:r>
              <a:rPr lang="en-US" sz="850" dirty="0">
                <a:solidFill>
                  <a:srgbClr val="64748B"/>
                </a:solidFill>
                <a:latin typeface="Calibri" pitchFamily="34" charset="0"/>
                <a:ea typeface="Calibri" pitchFamily="34" charset="-122"/>
                <a:cs typeface="Calibri" pitchFamily="34" charset="-120"/>
              </a:rPr>
              <a:t>momentum slope · chemistry band · calibration lollipop · Elo delta · upset-by-round · efficiency · home-advantage null.</a:t>
            </a:r>
            <a:endParaRPr lang="en-US" sz="85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Pie of shot share - hides the zero line.</a:t>
            </a:r>
            <a:endParaRPr lang="en-US" sz="1150" dirty="0"/>
          </a:p>
          <a:p>
            <a:pPr marL="0" indent="0">
              <a:spcAft>
                <a:spcPts val="300"/>
              </a:spcAft>
              <a:buNone/>
            </a:pPr>
            <a:r>
              <a:rPr lang="en-US" sz="1150" dirty="0">
                <a:solidFill>
                  <a:srgbClr val="EF4444"/>
                </a:solidFill>
              </a:rPr>
              <a:t>Stacked bar - needs eye traversal.</a:t>
            </a:r>
            <a:endParaRPr lang="en-US" sz="1150" dirty="0"/>
          </a:p>
          <a:p>
            <a:pPr marL="0" indent="0">
              <a:spcAft>
                <a:spcPts val="300"/>
              </a:spcAft>
              <a:buNone/>
            </a:pPr>
            <a:r>
              <a:rPr lang="en-US" sz="1150" dirty="0">
                <a:solidFill>
                  <a:srgbClr val="EF4444"/>
                </a:solidFill>
              </a:rPr>
              <a:t>Two side-by-side bar charts - same problem.</a:t>
            </a:r>
            <a:endParaRPr lang="en-US" sz="1150" dirty="0"/>
          </a:p>
          <a:p>
            <a:pPr marL="0" indent="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txBody>
          <a:bodyPr/>
          <a:lstStyle/>
          <a:p>
            <a:endParaRPr lang="en-US"/>
          </a:p>
        </p:txBody>
      </p:sp>
      <p:sp>
        <p:nvSpPr>
          <p:cNvPr id="14" name="Text 12"/>
          <p:cNvSpPr/>
          <p:nvPr/>
        </p:nvSpPr>
        <p:spPr>
          <a:xfrm>
            <a:off x="7360920" y="4160520"/>
            <a:ext cx="274320" cy="182880"/>
          </a:xfrm>
          <a:prstGeom prst="rect">
            <a:avLst/>
          </a:prstGeom>
          <a:noFill/>
          <a:ln/>
        </p:spPr>
        <p:txBody>
          <a:bodyPr wrap="square" lIns="0" tIns="0" rIns="0" bIns="0" rtlCol="0" anchor="ctr"/>
          <a:lstStyle/>
          <a:p>
            <a:pPr marL="0" indent="0" algn="ctr">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txBody>
          <a:bodyPr/>
          <a:lstStyle/>
          <a:p>
            <a:endParaRPr lang="en-US"/>
          </a:p>
        </p:txBody>
      </p:sp>
      <p:sp>
        <p:nvSpPr>
          <p:cNvPr id="17" name="Text 15"/>
          <p:cNvSpPr/>
          <p:nvPr/>
        </p:nvSpPr>
        <p:spPr>
          <a:xfrm>
            <a:off x="8178394" y="1965960"/>
            <a:ext cx="502920" cy="274320"/>
          </a:xfrm>
          <a:prstGeom prst="rect">
            <a:avLst/>
          </a:prstGeom>
          <a:noFill/>
          <a:ln/>
        </p:spPr>
        <p:txBody>
          <a:bodyPr wrap="square" lIns="0" tIns="0" rIns="0" bIns="0" rtlCol="0" anchor="ctr"/>
          <a:lstStyle/>
          <a:p>
            <a:pPr marL="0" indent="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txBody>
          <a:bodyPr/>
          <a:lstStyle/>
          <a:p>
            <a:endParaRPr lang="en-US"/>
          </a:p>
        </p:txBody>
      </p:sp>
      <p:sp>
        <p:nvSpPr>
          <p:cNvPr id="20" name="Text 18"/>
          <p:cNvSpPr/>
          <p:nvPr/>
        </p:nvSpPr>
        <p:spPr>
          <a:xfrm>
            <a:off x="7852867" y="2331720"/>
            <a:ext cx="502920" cy="274320"/>
          </a:xfrm>
          <a:prstGeom prst="rect">
            <a:avLst/>
          </a:prstGeom>
          <a:noFill/>
          <a:ln/>
        </p:spPr>
        <p:txBody>
          <a:bodyPr wrap="square" lIns="0" tIns="0" rIns="0" bIns="0" rtlCol="0" anchor="ctr"/>
          <a:lstStyle/>
          <a:p>
            <a:pPr marL="0" indent="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txBody>
          <a:bodyPr/>
          <a:lstStyle/>
          <a:p>
            <a:endParaRPr lang="en-US"/>
          </a:p>
        </p:txBody>
      </p:sp>
      <p:sp>
        <p:nvSpPr>
          <p:cNvPr id="23" name="Text 21"/>
          <p:cNvSpPr/>
          <p:nvPr/>
        </p:nvSpPr>
        <p:spPr>
          <a:xfrm>
            <a:off x="7849210" y="2697480"/>
            <a:ext cx="502920" cy="274320"/>
          </a:xfrm>
          <a:prstGeom prst="rect">
            <a:avLst/>
          </a:prstGeom>
          <a:noFill/>
          <a:ln/>
        </p:spPr>
        <p:txBody>
          <a:bodyPr wrap="square" lIns="0" tIns="0" rIns="0" bIns="0" rtlCol="0" anchor="ctr"/>
          <a:lstStyle/>
          <a:p>
            <a:pPr marL="0" indent="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txBody>
          <a:bodyPr/>
          <a:lstStyle/>
          <a:p>
            <a:endParaRPr lang="en-US"/>
          </a:p>
        </p:txBody>
      </p:sp>
      <p:sp>
        <p:nvSpPr>
          <p:cNvPr id="26" name="Text 24"/>
          <p:cNvSpPr/>
          <p:nvPr/>
        </p:nvSpPr>
        <p:spPr>
          <a:xfrm>
            <a:off x="5715000" y="3063240"/>
            <a:ext cx="1309421" cy="274320"/>
          </a:xfrm>
          <a:prstGeom prst="rect">
            <a:avLst/>
          </a:prstGeom>
          <a:noFill/>
          <a:ln/>
        </p:spPr>
        <p:txBody>
          <a:bodyPr wrap="square" lIns="0" tIns="0" rIns="0" bIns="0" rtlCol="0" anchor="ctr"/>
          <a:lstStyle/>
          <a:p>
            <a:pPr marL="0" indent="0" algn="r">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txBody>
          <a:bodyPr/>
          <a:lstStyle/>
          <a:p>
            <a:endParaRPr lang="en-US"/>
          </a:p>
        </p:txBody>
      </p:sp>
      <p:sp>
        <p:nvSpPr>
          <p:cNvPr id="29" name="Text 27"/>
          <p:cNvSpPr/>
          <p:nvPr/>
        </p:nvSpPr>
        <p:spPr>
          <a:xfrm>
            <a:off x="5715000" y="3429000"/>
            <a:ext cx="1115568" cy="274320"/>
          </a:xfrm>
          <a:prstGeom prst="rect">
            <a:avLst/>
          </a:prstGeom>
          <a:noFill/>
          <a:ln/>
        </p:spPr>
        <p:txBody>
          <a:bodyPr wrap="square" lIns="0" tIns="0" rIns="0" bIns="0" rtlCol="0" anchor="ctr"/>
          <a:lstStyle/>
          <a:p>
            <a:pPr marL="0" indent="0" algn="r">
              <a:buNone/>
            </a:pPr>
            <a:r>
              <a:rPr lang="en-US" sz="1000" dirty="0">
                <a:solidFill>
                  <a:srgbClr val="EF4444"/>
                </a:solidFill>
              </a:rPr>
              <a:t>-170</a:t>
            </a:r>
            <a:endParaRPr lang="en-US" sz="1000" dirty="0"/>
          </a:p>
        </p:txBody>
      </p:sp>
      <p:sp>
        <p:nvSpPr>
          <p:cNvPr id="30" name="Text 28"/>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4.3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slope chart for momentum?</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If I win set 1, how much does that really tell me — and does it survive a decider?</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A two-part story on purpose: a strong signal (86%) that quietly evaporates under one condition (49%).</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Grouped bars - the 37-pt collapse has to live in a caption, not the ink.</a:t>
            </a:r>
            <a:endParaRPr lang="en-US" sz="1150" dirty="0"/>
          </a:p>
          <a:p>
            <a:pPr marL="0" indent="0">
              <a:spcAft>
                <a:spcPts val="300"/>
              </a:spcAft>
              <a:buNone/>
            </a:pPr>
            <a:r>
              <a:rPr lang="en-US" sz="1150" dirty="0">
                <a:solidFill>
                  <a:srgbClr val="EF4444"/>
                </a:solidFill>
              </a:rPr>
              <a:t>Waterfall - implies an additive step that doesn't exist; different subsets.</a:t>
            </a:r>
            <a:endParaRPr lang="en-US" sz="1150" dirty="0"/>
          </a:p>
          <a:p>
            <a:pPr marL="0" indent="0">
              <a:spcAft>
                <a:spcPts val="300"/>
              </a:spcAft>
              <a:buNone/>
            </a:pPr>
            <a:r>
              <a:rPr lang="en-US" sz="1150" dirty="0">
                <a:solidFill>
                  <a:srgbClr val="EF4444"/>
                </a:solidFill>
              </a:rPr>
              <a:t>Sankey - ribbon width implies a population flow that isn't actually true here.</a:t>
            </a:r>
            <a:endParaRPr lang="en-US" sz="1150" dirty="0"/>
          </a:p>
          <a:p>
            <a:pPr marL="0" indent="0">
              <a:spcAft>
                <a:spcPts val="300"/>
              </a:spcAft>
              <a:buNone/>
            </a:pPr>
            <a:r>
              <a:rPr lang="en-US" sz="1150" b="1" dirty="0">
                <a:solidFill>
                  <a:srgbClr val="10B981"/>
                </a:solidFill>
              </a:rPr>
              <a:t>Two-point slope chart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SET-1 WIN RATE → DECIDER WIN RATE</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3025000"/>
            <a:ext cx="3600000" cy="0"/>
          </a:xfrm>
          <a:prstGeom prst="line">
            <a:avLst/>
          </a:prstGeom>
          <a:noFill/>
          <a:ln w="9525">
            <a:solidFill>
              <a:srgbClr val="94A3B8"/>
            </a:solidFill>
            <a:prstDash val="dash"/>
          </a:ln>
        </p:spPr>
        <p:txBody>
          <a:bodyPr/>
          <a:lstStyle/>
          <a:p>
            <a:endParaRPr lang="en-US"/>
          </a:p>
        </p:txBody>
      </p:sp>
      <p:sp>
        <p:nvSpPr>
          <p:cNvPr id="1008" name="AutoText"/>
          <p:cNvSpPr/>
          <p:nvPr/>
        </p:nvSpPr>
        <p:spPr>
          <a:xfrm>
            <a:off x="8000000" y="2765000"/>
            <a:ext cx="55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coin flip</a:t>
            </a:r>
            <a:endParaRPr lang="en-US" sz="850" dirty="0"/>
          </a:p>
        </p:txBody>
      </p:sp>
      <p:sp>
        <p:nvSpPr>
          <p:cNvPr id="1009" name="Line"/>
          <p:cNvSpPr/>
          <p:nvPr/>
        </p:nvSpPr>
        <p:spPr>
          <a:xfrm>
            <a:off x="5470000" y="2107000"/>
            <a:ext cx="2500000" cy="943500"/>
          </a:xfrm>
          <a:prstGeom prst="line">
            <a:avLst/>
          </a:prstGeom>
          <a:noFill/>
          <a:ln w="28575">
            <a:solidFill>
              <a:srgbClr val="0EA5E9"/>
            </a:solidFill>
            <a:prstDash val="solid"/>
          </a:ln>
        </p:spPr>
        <p:txBody>
          <a:bodyPr/>
          <a:lstStyle/>
          <a:p>
            <a:endParaRPr lang="en-US"/>
          </a:p>
        </p:txBody>
      </p:sp>
      <p:sp>
        <p:nvSpPr>
          <p:cNvPr id="1010" name="Dot"/>
          <p:cNvSpPr/>
          <p:nvPr/>
        </p:nvSpPr>
        <p:spPr>
          <a:xfrm>
            <a:off x="5340000" y="1977000"/>
            <a:ext cx="260000" cy="260000"/>
          </a:xfrm>
          <a:prstGeom prst="ellipse">
            <a:avLst/>
          </a:prstGeom>
          <a:solidFill>
            <a:srgbClr val="0EA5E9"/>
          </a:solidFill>
          <a:ln w="12700">
            <a:solidFill>
              <a:srgbClr val="FFFFFF"/>
            </a:solidFill>
          </a:ln>
        </p:spPr>
        <p:txBody>
          <a:bodyPr/>
          <a:lstStyle/>
          <a:p>
            <a:endParaRPr lang="en-US"/>
          </a:p>
        </p:txBody>
      </p:sp>
      <p:sp>
        <p:nvSpPr>
          <p:cNvPr id="1011" name="Dot"/>
          <p:cNvSpPr/>
          <p:nvPr/>
        </p:nvSpPr>
        <p:spPr>
          <a:xfrm>
            <a:off x="7840000" y="2920500"/>
            <a:ext cx="260000" cy="260000"/>
          </a:xfrm>
          <a:prstGeom prst="ellipse">
            <a:avLst/>
          </a:prstGeom>
          <a:solidFill>
            <a:srgbClr val="0EA5E9"/>
          </a:solidFill>
          <a:ln w="12700">
            <a:solidFill>
              <a:srgbClr val="FFFFFF"/>
            </a:solidFill>
          </a:ln>
        </p:spPr>
        <p:txBody>
          <a:bodyPr/>
          <a:lstStyle/>
          <a:p>
            <a:endParaRPr lang="en-US"/>
          </a:p>
        </p:txBody>
      </p:sp>
      <p:sp>
        <p:nvSpPr>
          <p:cNvPr id="1012" name="AutoText"/>
          <p:cNvSpPr/>
          <p:nvPr/>
        </p:nvSpPr>
        <p:spPr>
          <a:xfrm>
            <a:off x="5120000" y="16370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86%</a:t>
            </a:r>
            <a:endParaRPr lang="en-US" sz="1800" dirty="0"/>
          </a:p>
        </p:txBody>
      </p:sp>
      <p:sp>
        <p:nvSpPr>
          <p:cNvPr id="1013" name="AutoText"/>
          <p:cNvSpPr/>
          <p:nvPr/>
        </p:nvSpPr>
        <p:spPr>
          <a:xfrm>
            <a:off x="4970000" y="2257000"/>
            <a:ext cx="10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win match after set 1</a:t>
            </a:r>
            <a:endParaRPr lang="en-US" sz="800" dirty="0"/>
          </a:p>
        </p:txBody>
      </p:sp>
      <p:sp>
        <p:nvSpPr>
          <p:cNvPr id="1014" name="AutoText"/>
          <p:cNvSpPr/>
          <p:nvPr/>
        </p:nvSpPr>
        <p:spPr>
          <a:xfrm>
            <a:off x="7620000" y="25805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49%</a:t>
            </a:r>
            <a:endParaRPr lang="en-US" sz="1800" dirty="0"/>
          </a:p>
        </p:txBody>
      </p:sp>
      <p:sp>
        <p:nvSpPr>
          <p:cNvPr id="1015" name="AutoText"/>
          <p:cNvSpPr/>
          <p:nvPr/>
        </p:nvSpPr>
        <p:spPr>
          <a:xfrm>
            <a:off x="7420000" y="3200500"/>
            <a:ext cx="11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coin flip in a decider</a:t>
            </a:r>
            <a:endParaRPr lang="en-US" sz="800" dirty="0"/>
          </a:p>
        </p:txBody>
      </p:sp>
      <p:sp>
        <p:nvSpPr>
          <p:cNvPr id="1016"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86% → 49%: your set-1 lead evaporates once it's a decider.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4.4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Does chemistry build with reps — or is it survivorship?</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Does playing more matches together make a pair better, or are we just watching the survivors?</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Unlike momentum, this finding needs a caveat that is structural, not a footnote: the sample shrinks as buckets grow.</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Bar per bucket - no room left to layer in the shrinking-sample signal.</a:t>
            </a:r>
            <a:endParaRPr lang="en-US" sz="1150" dirty="0"/>
          </a:p>
          <a:p>
            <a:pPr marL="0" indent="0">
              <a:spcAft>
                <a:spcPts val="300"/>
              </a:spcAft>
              <a:buNone/>
            </a:pPr>
            <a:r>
              <a:rPr lang="en-US" sz="1150" dirty="0">
                <a:solidFill>
                  <a:srgbClr val="EF4444"/>
                </a:solidFill>
              </a:rPr>
              <a:t>Scatter per pair - noisy at low n; the thin high-x tail is easy to miss.</a:t>
            </a:r>
            <a:endParaRPr lang="en-US" sz="1150" dirty="0"/>
          </a:p>
          <a:p>
            <a:pPr marL="0" indent="0">
              <a:spcAft>
                <a:spcPts val="300"/>
              </a:spcAft>
              <a:buNone/>
            </a:pPr>
            <a:r>
              <a:rPr lang="en-US" sz="1150" dirty="0">
                <a:solidFill>
                  <a:srgbClr val="EF4444"/>
                </a:solidFill>
              </a:rPr>
              <a:t>Small multiples - solves a re-stitching problem this finding doesn't have.</a:t>
            </a:r>
            <a:endParaRPr lang="en-US" sz="1150" dirty="0"/>
          </a:p>
          <a:p>
            <a:pPr marL="0" indent="0">
              <a:spcAft>
                <a:spcPts val="300"/>
              </a:spcAft>
              <a:buNone/>
            </a:pPr>
            <a:r>
              <a:rPr lang="en-US" sz="1150" b="1" dirty="0">
                <a:solidFill>
                  <a:srgbClr val="10B981"/>
                </a:solidFill>
              </a:rPr>
              <a:t>Line + CI, narrowing wedge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BY MATCHES TOGETHER</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4300000"/>
            <a:ext cx="3600000" cy="0"/>
          </a:xfrm>
          <a:prstGeom prst="line">
            <a:avLst/>
          </a:prstGeom>
          <a:noFill/>
          <a:ln w="9525">
            <a:solidFill>
              <a:srgbClr val="E2E8F0"/>
            </a:solidFill>
            <a:prstDash val="solid"/>
          </a:ln>
        </p:spPr>
        <p:txBody>
          <a:bodyPr/>
          <a:lstStyle/>
          <a:p>
            <a:endParaRPr lang="en-US"/>
          </a:p>
        </p:txBody>
      </p:sp>
      <p:sp>
        <p:nvSpPr>
          <p:cNvPr id="1008" name="Line"/>
          <p:cNvSpPr/>
          <p:nvPr/>
        </p:nvSpPr>
        <p:spPr>
          <a:xfrm flipV="1">
            <a:off x="5350000" y="3144850"/>
            <a:ext cx="900000" cy="140250"/>
          </a:xfrm>
          <a:prstGeom prst="line">
            <a:avLst/>
          </a:prstGeom>
          <a:noFill/>
          <a:ln w="25400">
            <a:solidFill>
              <a:srgbClr val="0EA5E9"/>
            </a:solidFill>
            <a:prstDash val="solid"/>
          </a:ln>
        </p:spPr>
        <p:txBody>
          <a:bodyPr/>
          <a:lstStyle/>
          <a:p>
            <a:endParaRPr lang="en-US"/>
          </a:p>
        </p:txBody>
      </p:sp>
      <p:sp>
        <p:nvSpPr>
          <p:cNvPr id="1009" name="Line"/>
          <p:cNvSpPr/>
          <p:nvPr/>
        </p:nvSpPr>
        <p:spPr>
          <a:xfrm flipV="1">
            <a:off x="6250000" y="2976550"/>
            <a:ext cx="900000" cy="168300"/>
          </a:xfrm>
          <a:prstGeom prst="line">
            <a:avLst/>
          </a:prstGeom>
          <a:noFill/>
          <a:ln w="25400">
            <a:solidFill>
              <a:srgbClr val="0EA5E9"/>
            </a:solidFill>
            <a:prstDash val="solid"/>
          </a:ln>
        </p:spPr>
        <p:txBody>
          <a:bodyPr/>
          <a:lstStyle/>
          <a:p>
            <a:endParaRPr lang="en-US"/>
          </a:p>
        </p:txBody>
      </p:sp>
      <p:sp>
        <p:nvSpPr>
          <p:cNvPr id="1010" name="Line"/>
          <p:cNvSpPr/>
          <p:nvPr/>
        </p:nvSpPr>
        <p:spPr>
          <a:xfrm flipV="1">
            <a:off x="7150000" y="2560900"/>
            <a:ext cx="900000" cy="415650"/>
          </a:xfrm>
          <a:prstGeom prst="line">
            <a:avLst/>
          </a:prstGeom>
          <a:noFill/>
          <a:ln w="25400">
            <a:solidFill>
              <a:srgbClr val="0EA5E9"/>
            </a:solidFill>
            <a:prstDash val="solid"/>
          </a:ln>
        </p:spPr>
        <p:txBody>
          <a:bodyPr/>
          <a:lstStyle/>
          <a:p>
            <a:endParaRPr lang="en-US"/>
          </a:p>
        </p:txBody>
      </p:sp>
      <p:sp>
        <p:nvSpPr>
          <p:cNvPr id="1011" name="Line"/>
          <p:cNvSpPr/>
          <p:nvPr/>
        </p:nvSpPr>
        <p:spPr>
          <a:xfrm>
            <a:off x="5350000" y="3175450"/>
            <a:ext cx="0" cy="219300"/>
          </a:xfrm>
          <a:prstGeom prst="line">
            <a:avLst/>
          </a:prstGeom>
          <a:noFill/>
          <a:ln w="9525">
            <a:solidFill>
              <a:srgbClr val="94A3B8"/>
            </a:solidFill>
            <a:prstDash val="solid"/>
          </a:ln>
        </p:spPr>
        <p:txBody>
          <a:bodyPr/>
          <a:lstStyle/>
          <a:p>
            <a:endParaRPr lang="en-US"/>
          </a:p>
        </p:txBody>
      </p:sp>
      <p:sp>
        <p:nvSpPr>
          <p:cNvPr id="1012" name="Line"/>
          <p:cNvSpPr/>
          <p:nvPr/>
        </p:nvSpPr>
        <p:spPr>
          <a:xfrm>
            <a:off x="6250000" y="3019900"/>
            <a:ext cx="0" cy="249900"/>
          </a:xfrm>
          <a:prstGeom prst="line">
            <a:avLst/>
          </a:prstGeom>
          <a:noFill/>
          <a:ln w="9525">
            <a:solidFill>
              <a:srgbClr val="94A3B8"/>
            </a:solidFill>
            <a:prstDash val="solid"/>
          </a:ln>
        </p:spPr>
        <p:txBody>
          <a:bodyPr/>
          <a:lstStyle/>
          <a:p>
            <a:endParaRPr lang="en-US"/>
          </a:p>
        </p:txBody>
      </p:sp>
      <p:sp>
        <p:nvSpPr>
          <p:cNvPr id="1013" name="Line"/>
          <p:cNvSpPr/>
          <p:nvPr/>
        </p:nvSpPr>
        <p:spPr>
          <a:xfrm>
            <a:off x="7150000" y="2828650"/>
            <a:ext cx="0" cy="295800"/>
          </a:xfrm>
          <a:prstGeom prst="line">
            <a:avLst/>
          </a:prstGeom>
          <a:noFill/>
          <a:ln w="9525">
            <a:solidFill>
              <a:srgbClr val="94A3B8"/>
            </a:solidFill>
            <a:prstDash val="solid"/>
          </a:ln>
        </p:spPr>
        <p:txBody>
          <a:bodyPr/>
          <a:lstStyle/>
          <a:p>
            <a:endParaRPr lang="en-US"/>
          </a:p>
        </p:txBody>
      </p:sp>
      <p:sp>
        <p:nvSpPr>
          <p:cNvPr id="1014" name="Line"/>
          <p:cNvSpPr/>
          <p:nvPr/>
        </p:nvSpPr>
        <p:spPr>
          <a:xfrm>
            <a:off x="8050000" y="2435950"/>
            <a:ext cx="0" cy="249900"/>
          </a:xfrm>
          <a:prstGeom prst="line">
            <a:avLst/>
          </a:prstGeom>
          <a:noFill/>
          <a:ln w="9525">
            <a:solidFill>
              <a:srgbClr val="94A3B8"/>
            </a:solidFill>
            <a:prstDash val="solid"/>
          </a:ln>
        </p:spPr>
        <p:txBody>
          <a:bodyPr/>
          <a:lstStyle/>
          <a:p>
            <a:endParaRPr lang="en-US"/>
          </a:p>
        </p:txBody>
      </p:sp>
      <p:sp>
        <p:nvSpPr>
          <p:cNvPr id="1015" name="Dot"/>
          <p:cNvSpPr/>
          <p:nvPr/>
        </p:nvSpPr>
        <p:spPr>
          <a:xfrm>
            <a:off x="5240000" y="3175100"/>
            <a:ext cx="220000" cy="220000"/>
          </a:xfrm>
          <a:prstGeom prst="ellipse">
            <a:avLst/>
          </a:prstGeom>
          <a:solidFill>
            <a:srgbClr val="0EA5E9"/>
          </a:solidFill>
          <a:ln w="12700">
            <a:solidFill>
              <a:srgbClr val="FFFFFF"/>
            </a:solidFill>
          </a:ln>
        </p:spPr>
        <p:txBody>
          <a:bodyPr/>
          <a:lstStyle/>
          <a:p>
            <a:endParaRPr lang="en-US"/>
          </a:p>
        </p:txBody>
      </p:sp>
      <p:sp>
        <p:nvSpPr>
          <p:cNvPr id="1016" name="AutoText"/>
          <p:cNvSpPr/>
          <p:nvPr/>
        </p:nvSpPr>
        <p:spPr>
          <a:xfrm>
            <a:off x="5000000" y="28251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40%</a:t>
            </a:r>
            <a:endParaRPr lang="en-US" sz="1400" dirty="0"/>
          </a:p>
        </p:txBody>
      </p:sp>
      <p:sp>
        <p:nvSpPr>
          <p:cNvPr id="1017" name="AutoText"/>
          <p:cNvSpPr/>
          <p:nvPr/>
        </p:nvSpPr>
        <p:spPr>
          <a:xfrm>
            <a:off x="50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1-3</a:t>
            </a:r>
            <a:endParaRPr lang="en-US" sz="900" dirty="0"/>
          </a:p>
        </p:txBody>
      </p:sp>
      <p:sp>
        <p:nvSpPr>
          <p:cNvPr id="1018" name="Dot"/>
          <p:cNvSpPr/>
          <p:nvPr/>
        </p:nvSpPr>
        <p:spPr>
          <a:xfrm>
            <a:off x="6140000" y="3034850"/>
            <a:ext cx="220000" cy="220000"/>
          </a:xfrm>
          <a:prstGeom prst="ellipse">
            <a:avLst/>
          </a:prstGeom>
          <a:solidFill>
            <a:srgbClr val="0EA5E9"/>
          </a:solidFill>
          <a:ln w="12700">
            <a:solidFill>
              <a:srgbClr val="FFFFFF"/>
            </a:solidFill>
          </a:ln>
        </p:spPr>
        <p:txBody>
          <a:bodyPr/>
          <a:lstStyle/>
          <a:p>
            <a:endParaRPr lang="en-US"/>
          </a:p>
        </p:txBody>
      </p:sp>
      <p:sp>
        <p:nvSpPr>
          <p:cNvPr id="1019" name="AutoText"/>
          <p:cNvSpPr/>
          <p:nvPr/>
        </p:nvSpPr>
        <p:spPr>
          <a:xfrm>
            <a:off x="5900000" y="26848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45%</a:t>
            </a:r>
            <a:endParaRPr lang="en-US" sz="1400" dirty="0"/>
          </a:p>
        </p:txBody>
      </p:sp>
      <p:sp>
        <p:nvSpPr>
          <p:cNvPr id="1020" name="AutoText"/>
          <p:cNvSpPr/>
          <p:nvPr/>
        </p:nvSpPr>
        <p:spPr>
          <a:xfrm>
            <a:off x="59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4-8</a:t>
            </a:r>
            <a:endParaRPr lang="en-US" sz="900" dirty="0"/>
          </a:p>
        </p:txBody>
      </p:sp>
      <p:sp>
        <p:nvSpPr>
          <p:cNvPr id="1021" name="Dot"/>
          <p:cNvSpPr/>
          <p:nvPr/>
        </p:nvSpPr>
        <p:spPr>
          <a:xfrm>
            <a:off x="7040000" y="2866550"/>
            <a:ext cx="220000" cy="220000"/>
          </a:xfrm>
          <a:prstGeom prst="ellipse">
            <a:avLst/>
          </a:prstGeom>
          <a:solidFill>
            <a:srgbClr val="0EA5E9"/>
          </a:solidFill>
          <a:ln w="12700">
            <a:solidFill>
              <a:srgbClr val="FFFFFF"/>
            </a:solidFill>
          </a:ln>
        </p:spPr>
        <p:txBody>
          <a:bodyPr/>
          <a:lstStyle/>
          <a:p>
            <a:endParaRPr lang="en-US"/>
          </a:p>
        </p:txBody>
      </p:sp>
      <p:sp>
        <p:nvSpPr>
          <p:cNvPr id="1022" name="AutoText"/>
          <p:cNvSpPr/>
          <p:nvPr/>
        </p:nvSpPr>
        <p:spPr>
          <a:xfrm>
            <a:off x="6800000" y="25165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52%</a:t>
            </a:r>
            <a:endParaRPr lang="en-US" sz="1400" dirty="0"/>
          </a:p>
        </p:txBody>
      </p:sp>
      <p:sp>
        <p:nvSpPr>
          <p:cNvPr id="1023" name="AutoText"/>
          <p:cNvSpPr/>
          <p:nvPr/>
        </p:nvSpPr>
        <p:spPr>
          <a:xfrm>
            <a:off x="68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9-15</a:t>
            </a:r>
            <a:endParaRPr lang="en-US" sz="900" dirty="0"/>
          </a:p>
        </p:txBody>
      </p:sp>
      <p:sp>
        <p:nvSpPr>
          <p:cNvPr id="1024" name="Dot"/>
          <p:cNvSpPr/>
          <p:nvPr/>
        </p:nvSpPr>
        <p:spPr>
          <a:xfrm>
            <a:off x="7940000" y="2450900"/>
            <a:ext cx="220000" cy="220000"/>
          </a:xfrm>
          <a:prstGeom prst="ellipse">
            <a:avLst/>
          </a:prstGeom>
          <a:solidFill>
            <a:srgbClr val="0EA5E9"/>
          </a:solidFill>
          <a:ln w="12700">
            <a:solidFill>
              <a:srgbClr val="FFFFFF"/>
            </a:solidFill>
          </a:ln>
        </p:spPr>
        <p:txBody>
          <a:bodyPr/>
          <a:lstStyle/>
          <a:p>
            <a:endParaRPr lang="en-US"/>
          </a:p>
        </p:txBody>
      </p:sp>
      <p:sp>
        <p:nvSpPr>
          <p:cNvPr id="1025" name="AutoText"/>
          <p:cNvSpPr/>
          <p:nvPr/>
        </p:nvSpPr>
        <p:spPr>
          <a:xfrm>
            <a:off x="7700000" y="21009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68%</a:t>
            </a:r>
            <a:endParaRPr lang="en-US" sz="1400" dirty="0"/>
          </a:p>
        </p:txBody>
      </p:sp>
      <p:sp>
        <p:nvSpPr>
          <p:cNvPr id="1026" name="AutoText"/>
          <p:cNvSpPr/>
          <p:nvPr/>
        </p:nvSpPr>
        <p:spPr>
          <a:xfrm>
            <a:off x="77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16+</a:t>
            </a:r>
            <a:endParaRPr lang="en-US" sz="900" dirty="0"/>
          </a:p>
        </p:txBody>
      </p:sp>
      <p:sp>
        <p:nvSpPr>
          <p:cNvPr id="1027" name="AutoText"/>
          <p:cNvSpPr/>
          <p:nvPr/>
        </p:nvSpPr>
        <p:spPr>
          <a:xfrm>
            <a:off x="4900000" y="1490000"/>
            <a:ext cx="360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Matches together, ordered left to right</a:t>
            </a:r>
            <a:endParaRPr lang="en-US" sz="850" dirty="0"/>
          </a:p>
        </p:txBody>
      </p:sp>
      <p:sp>
        <p:nvSpPr>
          <p:cNvPr id="1028"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Only 39% of pairs (89 of 230) ever reach 5+ matches together — the rise partly reflects who stays paired.</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4.5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 rankings predict — or decide?</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How much should a ranking gap change my expectations, and does trust scale with gap size?</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audience (Marco, Luca) never asked whether the model is honest — they asked whether the gap matters.</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ROC curve - answers 'is the model good', not 'does the gap matter'.</a:t>
            </a:r>
            <a:endParaRPr lang="en-US" sz="1150" dirty="0"/>
          </a:p>
          <a:p>
            <a:pPr marL="0" indent="0">
              <a:spcAft>
                <a:spcPts val="300"/>
              </a:spcAft>
              <a:buNone/>
            </a:pPr>
            <a:r>
              <a:rPr lang="en-US" sz="1150" dirty="0">
                <a:solidFill>
                  <a:srgbClr val="EF4444"/>
                </a:solidFill>
              </a:rPr>
              <a:t>Calibration-vs-diagonal plot - presupposes the reader accepts a model's output.</a:t>
            </a:r>
            <a:endParaRPr lang="en-US" sz="1150" dirty="0"/>
          </a:p>
          <a:p>
            <a:pPr marL="0" indent="0">
              <a:spcAft>
                <a:spcPts val="300"/>
              </a:spcAft>
              <a:buNone/>
            </a:pPr>
            <a:r>
              <a:rPr lang="en-US" sz="1150" dirty="0">
                <a:solidFill>
                  <a:srgbClr val="EF4444"/>
                </a:solidFill>
              </a:rPr>
              <a:t>Simple KPI (78.5%) - hides that the average masks a 58.8-96.7% range.</a:t>
            </a:r>
            <a:endParaRPr lang="en-US" sz="1150" dirty="0"/>
          </a:p>
          <a:p>
            <a:pPr marL="0" indent="0">
              <a:spcAft>
                <a:spcPts val="300"/>
              </a:spcAft>
              <a:buNone/>
            </a:pPr>
            <a:r>
              <a:rPr lang="en-US" sz="1150" b="1" dirty="0">
                <a:solidFill>
                  <a:srgbClr val="10B981"/>
                </a:solidFill>
              </a:rPr>
              <a:t>Lollipop by ranking-gap size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ABOVE A COIN FLIP, BY RANKING GAP</a:t>
            </a:r>
            <a:endParaRPr lang="en-US" sz="900" dirty="0"/>
          </a:p>
        </p:txBody>
      </p:sp>
      <p:sp>
        <p:nvSpPr>
          <p:cNvPr id="1003" name="Line"/>
          <p:cNvSpPr/>
          <p:nvPr/>
        </p:nvSpPr>
        <p:spPr>
          <a:xfrm>
            <a:off x="5300000" y="1900000"/>
            <a:ext cx="0" cy="2250000"/>
          </a:xfrm>
          <a:prstGeom prst="line">
            <a:avLst/>
          </a:prstGeom>
          <a:noFill/>
          <a:ln w="12700">
            <a:solidFill>
              <a:srgbClr val="94A3B8"/>
            </a:solidFill>
            <a:prstDash val="dash"/>
          </a:ln>
        </p:spPr>
        <p:txBody>
          <a:bodyPr/>
          <a:lstStyle/>
          <a:p>
            <a:endParaRPr lang="en-US"/>
          </a:p>
        </p:txBody>
      </p:sp>
      <p:sp>
        <p:nvSpPr>
          <p:cNvPr id="1004" name="AutoText"/>
          <p:cNvSpPr/>
          <p:nvPr/>
        </p:nvSpPr>
        <p:spPr>
          <a:xfrm>
            <a:off x="4840000" y="4190000"/>
            <a:ext cx="9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coin flip (50%)</a:t>
            </a:r>
            <a:endParaRPr lang="en-US" sz="800" dirty="0"/>
          </a:p>
        </p:txBody>
      </p:sp>
      <p:sp>
        <p:nvSpPr>
          <p:cNvPr id="1005" name="Line"/>
          <p:cNvSpPr/>
          <p:nvPr/>
        </p:nvSpPr>
        <p:spPr>
          <a:xfrm>
            <a:off x="7124000" y="1900000"/>
            <a:ext cx="0" cy="2250000"/>
          </a:xfrm>
          <a:prstGeom prst="line">
            <a:avLst/>
          </a:prstGeom>
          <a:noFill/>
          <a:ln w="9525">
            <a:solidFill>
              <a:srgbClr val="CBD5E1"/>
            </a:solidFill>
            <a:prstDash val="dash"/>
          </a:ln>
        </p:spPr>
        <p:txBody>
          <a:bodyPr/>
          <a:lstStyle/>
          <a:p>
            <a:endParaRPr lang="en-US"/>
          </a:p>
        </p:txBody>
      </p:sp>
      <p:sp>
        <p:nvSpPr>
          <p:cNvPr id="1006" name="AutoText"/>
          <p:cNvSpPr/>
          <p:nvPr/>
        </p:nvSpPr>
        <p:spPr>
          <a:xfrm>
            <a:off x="6474000" y="1640000"/>
            <a:ext cx="13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season average (78.5%)</a:t>
            </a:r>
            <a:endParaRPr lang="en-US" sz="800" dirty="0"/>
          </a:p>
        </p:txBody>
      </p:sp>
      <p:sp>
        <p:nvSpPr>
          <p:cNvPr id="1007" name="AutoText"/>
          <p:cNvSpPr/>
          <p:nvPr/>
        </p:nvSpPr>
        <p:spPr>
          <a:xfrm>
            <a:off x="2600000" y="212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Closest gap</a:t>
            </a:r>
            <a:endParaRPr lang="en-US" sz="1000" dirty="0"/>
          </a:p>
        </p:txBody>
      </p:sp>
      <p:sp>
        <p:nvSpPr>
          <p:cNvPr id="1008" name="Line"/>
          <p:cNvSpPr/>
          <p:nvPr/>
        </p:nvSpPr>
        <p:spPr>
          <a:xfrm>
            <a:off x="5300000" y="2250000"/>
            <a:ext cx="563200" cy="0"/>
          </a:xfrm>
          <a:prstGeom prst="line">
            <a:avLst/>
          </a:prstGeom>
          <a:noFill/>
          <a:ln w="25400">
            <a:solidFill>
              <a:srgbClr val="0EA5E9"/>
            </a:solidFill>
            <a:prstDash val="solid"/>
          </a:ln>
        </p:spPr>
        <p:txBody>
          <a:bodyPr/>
          <a:lstStyle/>
          <a:p>
            <a:endParaRPr lang="en-US"/>
          </a:p>
        </p:txBody>
      </p:sp>
      <p:sp>
        <p:nvSpPr>
          <p:cNvPr id="1009" name="Dot"/>
          <p:cNvSpPr/>
          <p:nvPr/>
        </p:nvSpPr>
        <p:spPr>
          <a:xfrm>
            <a:off x="5763200" y="2150000"/>
            <a:ext cx="200000" cy="200000"/>
          </a:xfrm>
          <a:prstGeom prst="ellipse">
            <a:avLst/>
          </a:prstGeom>
          <a:solidFill>
            <a:srgbClr val="0EA5E9"/>
          </a:solidFill>
          <a:ln w="12700">
            <a:solidFill>
              <a:srgbClr val="FFFFFF"/>
            </a:solidFill>
          </a:ln>
        </p:spPr>
        <p:txBody>
          <a:bodyPr/>
          <a:lstStyle/>
          <a:p>
            <a:endParaRPr lang="en-US"/>
          </a:p>
        </p:txBody>
      </p:sp>
      <p:sp>
        <p:nvSpPr>
          <p:cNvPr id="1010" name="AutoText"/>
          <p:cNvSpPr/>
          <p:nvPr/>
        </p:nvSpPr>
        <p:spPr>
          <a:xfrm>
            <a:off x="6013200" y="211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58.8%</a:t>
            </a:r>
            <a:endParaRPr lang="en-US" sz="1200" dirty="0"/>
          </a:p>
        </p:txBody>
      </p:sp>
      <p:sp>
        <p:nvSpPr>
          <p:cNvPr id="1011" name="AutoText"/>
          <p:cNvSpPr/>
          <p:nvPr/>
        </p:nvSpPr>
        <p:spPr>
          <a:xfrm>
            <a:off x="2600000" y="2895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Season average</a:t>
            </a:r>
            <a:endParaRPr lang="en-US" sz="1000" dirty="0"/>
          </a:p>
        </p:txBody>
      </p:sp>
      <p:sp>
        <p:nvSpPr>
          <p:cNvPr id="1012" name="Line"/>
          <p:cNvSpPr/>
          <p:nvPr/>
        </p:nvSpPr>
        <p:spPr>
          <a:xfrm>
            <a:off x="5300000" y="3025000"/>
            <a:ext cx="1824000" cy="0"/>
          </a:xfrm>
          <a:prstGeom prst="line">
            <a:avLst/>
          </a:prstGeom>
          <a:noFill/>
          <a:ln w="25400">
            <a:solidFill>
              <a:srgbClr val="0EA5E9"/>
            </a:solidFill>
            <a:prstDash val="solid"/>
          </a:ln>
        </p:spPr>
        <p:txBody>
          <a:bodyPr/>
          <a:lstStyle/>
          <a:p>
            <a:endParaRPr lang="en-US"/>
          </a:p>
        </p:txBody>
      </p:sp>
      <p:sp>
        <p:nvSpPr>
          <p:cNvPr id="1013" name="Dot"/>
          <p:cNvSpPr/>
          <p:nvPr/>
        </p:nvSpPr>
        <p:spPr>
          <a:xfrm>
            <a:off x="7024000" y="2925000"/>
            <a:ext cx="200000" cy="200000"/>
          </a:xfrm>
          <a:prstGeom prst="ellipse">
            <a:avLst/>
          </a:prstGeom>
          <a:solidFill>
            <a:srgbClr val="0EA5E9"/>
          </a:solidFill>
          <a:ln w="12700">
            <a:solidFill>
              <a:srgbClr val="FFFFFF"/>
            </a:solidFill>
          </a:ln>
        </p:spPr>
        <p:txBody>
          <a:bodyPr/>
          <a:lstStyle/>
          <a:p>
            <a:endParaRPr lang="en-US"/>
          </a:p>
        </p:txBody>
      </p:sp>
      <p:sp>
        <p:nvSpPr>
          <p:cNvPr id="1014" name="AutoText"/>
          <p:cNvSpPr/>
          <p:nvPr/>
        </p:nvSpPr>
        <p:spPr>
          <a:xfrm>
            <a:off x="7274000" y="2885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78.5%</a:t>
            </a:r>
            <a:endParaRPr lang="en-US" sz="1200" dirty="0"/>
          </a:p>
        </p:txBody>
      </p:sp>
      <p:sp>
        <p:nvSpPr>
          <p:cNvPr id="1015" name="AutoText"/>
          <p:cNvSpPr/>
          <p:nvPr/>
        </p:nvSpPr>
        <p:spPr>
          <a:xfrm>
            <a:off x="2600000" y="367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Widest gap</a:t>
            </a:r>
            <a:endParaRPr lang="en-US" sz="1000" dirty="0"/>
          </a:p>
        </p:txBody>
      </p:sp>
      <p:sp>
        <p:nvSpPr>
          <p:cNvPr id="1016" name="Line"/>
          <p:cNvSpPr/>
          <p:nvPr/>
        </p:nvSpPr>
        <p:spPr>
          <a:xfrm>
            <a:off x="5300000" y="3800000"/>
            <a:ext cx="2988800" cy="0"/>
          </a:xfrm>
          <a:prstGeom prst="line">
            <a:avLst/>
          </a:prstGeom>
          <a:noFill/>
          <a:ln w="25400">
            <a:solidFill>
              <a:srgbClr val="0EA5E9"/>
            </a:solidFill>
            <a:prstDash val="solid"/>
          </a:ln>
        </p:spPr>
        <p:txBody>
          <a:bodyPr/>
          <a:lstStyle/>
          <a:p>
            <a:endParaRPr lang="en-US"/>
          </a:p>
        </p:txBody>
      </p:sp>
      <p:sp>
        <p:nvSpPr>
          <p:cNvPr id="1017" name="Dot"/>
          <p:cNvSpPr/>
          <p:nvPr/>
        </p:nvSpPr>
        <p:spPr>
          <a:xfrm>
            <a:off x="8188800" y="3700000"/>
            <a:ext cx="200000" cy="200000"/>
          </a:xfrm>
          <a:prstGeom prst="ellipse">
            <a:avLst/>
          </a:prstGeom>
          <a:solidFill>
            <a:srgbClr val="0EA5E9"/>
          </a:solidFill>
          <a:ln w="12700">
            <a:solidFill>
              <a:srgbClr val="FFFFFF"/>
            </a:solidFill>
          </a:ln>
        </p:spPr>
        <p:txBody>
          <a:bodyPr/>
          <a:lstStyle/>
          <a:p>
            <a:endParaRPr lang="en-US"/>
          </a:p>
        </p:txBody>
      </p:sp>
      <p:sp>
        <p:nvSpPr>
          <p:cNvPr id="1018" name="AutoText"/>
          <p:cNvSpPr/>
          <p:nvPr/>
        </p:nvSpPr>
        <p:spPr>
          <a:xfrm>
            <a:off x="8438800" y="366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96.7%</a:t>
            </a:r>
            <a:endParaRPr lang="en-US" sz="1200" dirty="0"/>
          </a:p>
        </p:txBody>
      </p:sp>
      <p:sp>
        <p:nvSpPr>
          <p:cNvPr id="1019"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Even the closest gap tips to the favorite (59%); the widest gap is almost a sure thing (97%).</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4.6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txBody>
          <a:bodyPr/>
          <a:lstStyle/>
          <a:p>
            <a:endParaRPr lang="en-US"/>
          </a:p>
        </p:txBody>
      </p:sp>
      <p:sp>
        <p:nvSpPr>
          <p:cNvPr id="6" name="Text 4"/>
          <p:cNvSpPr/>
          <p:nvPr/>
        </p:nvSpPr>
        <p:spPr>
          <a:xfrm>
            <a:off x="137160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txBody>
          <a:bodyPr/>
          <a:lstStyle/>
          <a:p>
            <a:endParaRPr lang="en-US"/>
          </a:p>
        </p:txBody>
      </p:sp>
      <p:sp>
        <p:nvSpPr>
          <p:cNvPr id="10" name="Text 8"/>
          <p:cNvSpPr/>
          <p:nvPr/>
        </p:nvSpPr>
        <p:spPr>
          <a:xfrm>
            <a:off x="416052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txBody>
          <a:bodyPr/>
          <a:lstStyle/>
          <a:p>
            <a:endParaRPr lang="en-US"/>
          </a:p>
        </p:txBody>
      </p:sp>
      <p:sp>
        <p:nvSpPr>
          <p:cNvPr id="14" name="Text 12"/>
          <p:cNvSpPr/>
          <p:nvPr/>
        </p:nvSpPr>
        <p:spPr>
          <a:xfrm>
            <a:off x="694944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txBody>
          <a:bodyPr/>
          <a:lstStyle/>
          <a:p>
            <a:endParaRPr lang="en-US"/>
          </a:p>
        </p:txBody>
      </p:sp>
      <p:sp>
        <p:nvSpPr>
          <p:cNvPr id="18" name="Text 16"/>
          <p:cNvSpPr/>
          <p:nvPr/>
        </p:nvSpPr>
        <p:spPr>
          <a:xfrm>
            <a:off x="137160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txBody>
          <a:bodyPr/>
          <a:lstStyle/>
          <a:p>
            <a:endParaRPr lang="en-US"/>
          </a:p>
        </p:txBody>
      </p:sp>
      <p:sp>
        <p:nvSpPr>
          <p:cNvPr id="22" name="Text 20"/>
          <p:cNvSpPr/>
          <p:nvPr/>
        </p:nvSpPr>
        <p:spPr>
          <a:xfrm>
            <a:off x="416052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txBody>
          <a:bodyPr/>
          <a:lstStyle/>
          <a:p>
            <a:endParaRPr lang="en-US"/>
          </a:p>
        </p:txBody>
      </p:sp>
      <p:sp>
        <p:nvSpPr>
          <p:cNvPr id="26" name="Text 24"/>
          <p:cNvSpPr/>
          <p:nvPr/>
        </p:nvSpPr>
        <p:spPr>
          <a:xfrm>
            <a:off x="694944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txBody>
          <a:bodyPr/>
          <a:lstStyle/>
          <a:p>
            <a:endParaRPr lang="en-US"/>
          </a:p>
        </p:txBody>
      </p:sp>
      <p:sp>
        <p:nvSpPr>
          <p:cNvPr id="30" name="Text 28"/>
          <p:cNvSpPr/>
          <p:nvPr/>
        </p:nvSpPr>
        <p:spPr>
          <a:xfrm>
            <a:off x="640080" y="3749040"/>
            <a:ext cx="7863840" cy="274320"/>
          </a:xfrm>
          <a:prstGeom prst="rect">
            <a:avLst/>
          </a:prstGeom>
          <a:noFill/>
          <a:ln/>
        </p:spPr>
        <p:txBody>
          <a:bodyPr wrap="square" lIns="0" tIns="0" rIns="0" bIns="0" rtlCol="0" anchor="ctr"/>
          <a:lstStyle/>
          <a:p>
            <a:pPr marL="0" indent="0">
              <a:buNone/>
            </a:pPr>
            <a:r>
              <a:rPr lang="en-US" sz="900" b="1" kern="0" spc="30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marL="0" indent="0">
              <a:buNone/>
            </a:pPr>
            <a:r>
              <a:rPr lang="en-US" sz="1200" dirty="0">
                <a:solidFill>
                  <a:srgbClr val="FFFFFF"/>
                </a:solidFill>
              </a:rPr>
              <a:t>WCAG AA body-text contrast 12.6:1 ✓ · Blue/red palette: deuteranopia &amp; protanopia safe ✓ · No green/red pairs · </a:t>
            </a: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4.7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320"/>
              </a:spcAft>
              <a:buSzPct val="100000"/>
              <a:buChar char="●"/>
            </a:pPr>
            <a:r>
              <a:rPr lang="en-US" sz="1050" dirty="0">
                <a:solidFill>
                  <a:srgbClr val="1F2937"/>
                </a:solidFill>
              </a:rPr>
              <a:t>Static in-canvas: the headline ("-40 pp")</a:t>
            </a:r>
            <a:endParaRPr lang="en-US" sz="1050" dirty="0"/>
          </a:p>
          <a:p>
            <a:pPr marL="342900" indent="-342900">
              <a:spcAft>
                <a:spcPts val="320"/>
              </a:spcAft>
              <a:buSzPct val="100000"/>
              <a:buChar char="●"/>
            </a:pPr>
            <a:r>
              <a:rPr lang="en-US" sz="1050" dirty="0">
                <a:solidFill>
                  <a:srgbClr val="1F2937"/>
                </a:solidFill>
              </a:rPr>
              <a:t>Dynamic hover: the detail (exact value, date)</a:t>
            </a:r>
            <a:endParaRPr lang="en-US" sz="1050" dirty="0"/>
          </a:p>
          <a:p>
            <a:pPr marL="342900" indent="-342900">
              <a:spcAft>
                <a:spcPts val="320"/>
              </a:spcAft>
              <a:buSzPct val="100000"/>
              <a:buChar char="●"/>
            </a:pPr>
            <a:r>
              <a:rPr lang="en-US" sz="1050" dirty="0">
                <a:solidFill>
                  <a:srgbClr val="1F2937"/>
                </a:solidFill>
              </a:rPr>
              <a:t>Captions outside the chart: WHAT</a:t>
            </a:r>
            <a:endParaRPr lang="en-US" sz="1050" dirty="0"/>
          </a:p>
          <a:p>
            <a:pPr marL="342900" indent="-342900">
              <a:spcAft>
                <a:spcPts val="320"/>
              </a:spcAft>
              <a:buSzPct val="100000"/>
              <a:buChar char="●"/>
            </a:pPr>
            <a:r>
              <a:rPr lang="en-US" sz="1050" dirty="0">
                <a:solidFill>
                  <a:srgbClr val="1F2937"/>
                </a:solidFill>
              </a:rPr>
              <a:t>Callouts inside the chart: WHY you should care</a:t>
            </a:r>
            <a:endParaRPr lang="en-US" sz="1050" dirty="0"/>
          </a:p>
          <a:p>
            <a:pPr marL="342900" indent="-342900">
              <a:spcAft>
                <a:spcPts val="320"/>
              </a:spcAft>
              <a:buSzPct val="100000"/>
              <a:buChar char="●"/>
            </a:pPr>
            <a:r>
              <a:rPr lang="en-US" sz="1050" dirty="0">
                <a:solidFill>
                  <a:srgbClr val="1F2937"/>
                </a:solidFill>
              </a:rPr>
              <a:t>Color-coded gap cards on Compare (red→amber→green)</a:t>
            </a:r>
            <a:endParaRPr lang="en-US" sz="1050" dirty="0"/>
          </a:p>
          <a:p>
            <a:pPr marL="342900" indent="-342900">
              <a:spcAft>
                <a:spcPts val="320"/>
              </a:spcAft>
              <a:buSzPct val="100000"/>
              <a:buChar char="●"/>
            </a:pPr>
            <a:r>
              <a:rPr lang="en-US" sz="1050" dirty="0">
                <a:solidFill>
                  <a:srgbClr val="1F2937"/>
                </a:solidFill>
              </a:rPr>
              <a:t>Every insight card: in-canvas headline annotation + method note (test, n, p)</a:t>
            </a:r>
            <a:endParaRPr lang="en-US" sz="105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Language</a:t>
            </a:r>
            <a:endParaRPr lang="en-US" sz="1100" dirty="0"/>
          </a:p>
        </p:txBody>
      </p:sp>
      <p:sp>
        <p:nvSpPr>
          <p:cNvPr id="9" name="Text 7"/>
          <p:cNvSpPr/>
          <p:nvPr/>
        </p:nvSpPr>
        <p:spPr>
          <a:xfrm>
            <a:off x="640080" y="230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0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Multi-page web app framework</a:t>
            </a:r>
            <a:endParaRPr lang="en-US" sz="1100" dirty="0"/>
          </a:p>
        </p:txBody>
      </p:sp>
      <p:sp>
        <p:nvSpPr>
          <p:cNvPr id="11" name="Text 9"/>
          <p:cNvSpPr/>
          <p:nvPr/>
        </p:nvSpPr>
        <p:spPr>
          <a:xfrm>
            <a:off x="640080" y="277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77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Data wrangling, groupby, rolling means</a:t>
            </a:r>
            <a:endParaRPr lang="en-US" sz="1100" dirty="0"/>
          </a:p>
        </p:txBody>
      </p:sp>
      <p:sp>
        <p:nvSpPr>
          <p:cNvPr id="13" name="Text 11"/>
          <p:cNvSpPr/>
          <p:nvPr/>
        </p:nvSpPr>
        <p:spPr>
          <a:xfrm>
            <a:off x="640080" y="325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25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Interactive charts (hover, zoom, brush)</a:t>
            </a:r>
            <a:endParaRPr lang="en-US" sz="1100" dirty="0"/>
          </a:p>
        </p:txBody>
      </p:sp>
      <p:sp>
        <p:nvSpPr>
          <p:cNvPr id="15" name="Text 13"/>
          <p:cNvSpPr/>
          <p:nvPr/>
        </p:nvSpPr>
        <p:spPr>
          <a:xfrm>
            <a:off x="640080" y="37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SQLite3</a:t>
            </a:r>
            <a:endParaRPr lang="en-US" sz="1300" dirty="0"/>
          </a:p>
        </p:txBody>
      </p:sp>
      <p:sp>
        <p:nvSpPr>
          <p:cNvPr id="16" name="Text 14"/>
          <p:cNvSpPr/>
          <p:nvPr/>
        </p:nvSpPr>
        <p:spPr>
          <a:xfrm>
            <a:off x="2286000" y="37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Embedded DB — users table, multi-user-ready</a:t>
            </a:r>
            <a:endParaRPr lang="en-US" sz="1100" dirty="0"/>
          </a:p>
        </p:txBody>
      </p:sp>
      <p:sp>
        <p:nvSpPr>
          <p:cNvPr id="90" name="Text Stack Row6a"/>
          <p:cNvSpPr/>
          <p:nvPr/>
        </p:nvSpPr>
        <p:spPr>
          <a:xfrm>
            <a:off x="640080" y="4203800"/>
            <a:ext cx="18288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analytics.py</a:t>
            </a:r>
            <a:endParaRPr lang="en-US" sz="1400" dirty="0"/>
          </a:p>
        </p:txBody>
      </p:sp>
      <p:sp>
        <p:nvSpPr>
          <p:cNvPr id="91" name="Text Stack Row6b"/>
          <p:cNvSpPr/>
          <p:nvPr/>
        </p:nvSpPr>
        <p:spPr>
          <a:xfrm>
            <a:off x="2286000" y="4203800"/>
            <a:ext cx="2103120" cy="2743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Elo · win model · Wilson CIs (12/12 tests)</a:t>
            </a:r>
            <a:endParaRPr lang="en-US" sz="14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8" name="Text 16"/>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0" name="Text 18"/>
          <p:cNvSpPr/>
          <p:nvPr/>
        </p:nvSpPr>
        <p:spPr>
          <a:xfrm>
            <a:off x="484632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3" name="Text 21"/>
          <p:cNvSpPr/>
          <p:nvPr/>
        </p:nvSpPr>
        <p:spPr>
          <a:xfrm>
            <a:off x="676656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SQLite DB</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users table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txBody>
          <a:bodyPr/>
          <a:lstStyle/>
          <a:p>
            <a:endParaRPr lang="en-US"/>
          </a:p>
        </p:txBody>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txBody>
          <a:bodyPr/>
          <a:lstStyle/>
          <a:p>
            <a:endParaRPr lang="en-US"/>
          </a:p>
        </p:txBody>
      </p:sp>
      <p:sp>
        <p:nvSpPr>
          <p:cNvPr id="27" name="Text 25"/>
          <p:cNvSpPr/>
          <p:nvPr/>
        </p:nvSpPr>
        <p:spPr>
          <a:xfrm>
            <a:off x="5806440" y="265176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txBody>
          <a:bodyPr/>
          <a:lstStyle/>
          <a:p>
            <a:endParaRPr lang="en-US"/>
          </a:p>
        </p:txBody>
      </p:sp>
      <p:sp>
        <p:nvSpPr>
          <p:cNvPr id="30" name="Shape 28"/>
          <p:cNvSpPr/>
          <p:nvPr/>
        </p:nvSpPr>
        <p:spPr>
          <a:xfrm>
            <a:off x="7635240" y="2331720"/>
            <a:ext cx="0" cy="274320"/>
          </a:xfrm>
          <a:prstGeom prst="line">
            <a:avLst/>
          </a:prstGeom>
          <a:noFill/>
          <a:ln w="12700">
            <a:solidFill>
              <a:srgbClr val="64748B"/>
            </a:solidFill>
            <a:prstDash val="solid"/>
            <a:tailEnd type="triangle"/>
          </a:ln>
        </p:spPr>
        <p:txBody>
          <a:bodyPr/>
          <a:lstStyle/>
          <a:p>
            <a:endParaRPr lang="en-US"/>
          </a:p>
        </p:txBody>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txBody>
          <a:bodyPr/>
          <a:lstStyle/>
          <a:p>
            <a:endParaRPr lang="en-US"/>
          </a:p>
        </p:txBody>
      </p:sp>
      <p:sp>
        <p:nvSpPr>
          <p:cNvPr id="32" name="Text 30"/>
          <p:cNvSpPr/>
          <p:nvPr/>
        </p:nvSpPr>
        <p:spPr>
          <a:xfrm>
            <a:off x="5806440" y="342900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txBody>
          <a:bodyPr/>
          <a:lstStyle/>
          <a:p>
            <a:endParaRPr lang="en-US"/>
          </a:p>
        </p:txBody>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txBody>
          <a:bodyPr/>
          <a:lstStyle/>
          <a:p>
            <a:endParaRPr lang="en-US"/>
          </a:p>
        </p:txBody>
      </p:sp>
      <p:sp>
        <p:nvSpPr>
          <p:cNvPr id="92" name="Text Provenance Caption"/>
          <p:cNvSpPr/>
          <p:nvPr/>
        </p:nvSpPr>
        <p:spPr>
          <a:xfrm>
            <a:off x="4846320" y="4572000"/>
            <a:ext cx="36576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Every pro view captions its data source.</a:t>
            </a:r>
            <a:endParaRPr lang="en-US" sz="900" dirty="0"/>
          </a:p>
        </p:txBody>
      </p:sp>
      <p:sp>
        <p:nvSpPr>
          <p:cNvPr id="36" name="Text 34"/>
          <p:cNvSpPr/>
          <p:nvPr/>
        </p:nvSpPr>
        <p:spPr>
          <a:xfrm>
            <a:off x="4846320" y="4206240"/>
            <a:ext cx="3566160" cy="228600"/>
          </a:xfrm>
          <a:prstGeom prst="rect">
            <a:avLst/>
          </a:prstGeom>
          <a:noFill/>
          <a:ln/>
        </p:spPr>
        <p:txBody>
          <a:bodyPr wrap="square" lIns="0" tIns="0" rIns="0" bIns="0" rtlCol="0" anchor="ctr"/>
          <a:lstStyle/>
          <a:p>
            <a:pPr marL="0" indent="0" algn="ctr">
              <a:buNone/>
            </a:pPr>
            <a:r>
              <a:rPr lang="en-US" sz="1000" b="1" dirty="0">
                <a:solidFill>
                  <a:srgbClr val="1F2937"/>
                </a:solidFill>
              </a:rPr>
              <a:t>Streamlit · run_app.bat launcher</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txBody>
          <a:bodyPr/>
          <a:lstStyle/>
          <a:p>
            <a:endParaRPr lang="en-US"/>
          </a:p>
        </p:txBody>
      </p:sp>
      <p:sp>
        <p:nvSpPr>
          <p:cNvPr id="38" name="Text 3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5.2 THE ANALYTICS MODULE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raw CSVs to a real modelling layer</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Elo rating engine</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Per-player ratings computed chronologically over all 776 real matches (K=32, base 1500).</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Logistic win model + calibration</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Predicts win probability from the ranking gap; decile calibration checked against outcomes.</a:t>
            </a:r>
            <a:endParaRPr lang="en-US" sz="1050" dirty="0"/>
          </a:p>
        </p:txBody>
      </p:sp>
      <p:sp>
        <p:nvSpPr>
          <p:cNvPr id="109" name="Text 10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Wilson confidence intervals</a:t>
            </a:r>
            <a:endParaRPr lang="en-US" sz="1400" dirty="0"/>
          </a:p>
        </p:txBody>
      </p:sp>
      <p:sp>
        <p:nvSpPr>
          <p:cNvPr id="111" name="Text 1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Computed on every win rate shown in the app — never a bare point estimate.</a:t>
            </a:r>
            <a:endParaRPr lang="en-US" sz="1050" dirty="0"/>
          </a:p>
        </p:txBody>
      </p:sp>
      <p:sp>
        <p:nvSpPr>
          <p:cNvPr id="112" name="Text 1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Small-n guard</a:t>
            </a:r>
            <a:endParaRPr lang="en-US" sz="1400" dirty="0"/>
          </a:p>
        </p:txBody>
      </p:sp>
      <p:sp>
        <p:nvSpPr>
          <p:cNvPr id="114" name="Text 1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Fewer than 10 matches behind a stat, and the app refuses to make a claim.</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Open the app. Last 10: 7-3. Partner card shows Luca on top, Davide red.</a:t>
            </a:r>
            <a:endParaRPr lang="en-US" sz="900" dirty="0"/>
          </a:p>
        </p:txBody>
      </p:sp>
      <p:pic>
        <p:nvPicPr>
          <p:cNvPr id="8" name="Image 1" descr="/sessions/jolly-nifty-archimedes/mnt/Padel-Project/06_Presentation/assets/04_log_match.png"/>
          <p:cNvPicPr>
            <a:picLocks noChangeAspect="1"/>
          </p:cNvPicPr>
          <p:nvPr/>
        </p:nvPicPr>
        <p:blipFill>
          <a:blip r:embed="rId4"/>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Add today's match in 30 seconds. Watch the auto-result update.</a:t>
            </a:r>
            <a:endParaRPr lang="en-US" sz="9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last 60 days. Read the partner &amp; fatigue panels.</a:t>
            </a:r>
            <a:endParaRPr lang="en-US" sz="900" dirty="0"/>
          </a:p>
        </p:txBody>
      </p:sp>
      <p:pic>
        <p:nvPicPr>
          <p:cNvPr id="14" name="Image 3" descr="/sessions/jolly-nifty-archimedes/mnt/Padel-Project/06_Presentation/assets/05_compare.png"/>
          <p:cNvPicPr>
            <a:picLocks noChangeAspect="1"/>
          </p:cNvPicPr>
          <p:nvPr/>
        </p:nvPicPr>
        <p:blipFill>
          <a:blip r:embed="rId6"/>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Toggle to a specific pro. See the radar gap on the smash.</a:t>
            </a:r>
            <a:endParaRPr lang="en-US" sz="900" dirty="0"/>
          </a:p>
        </p:txBody>
      </p:sp>
      <p:pic>
        <p:nvPicPr>
          <p:cNvPr id="17" name="Image 4" descr="/sessions/jolly-nifty-archimedes/mnt/Padel-Project/06_Presentation/assets/02_pro_tour.png"/>
          <p:cNvPicPr>
            <a:picLocks noChangeAspect="1"/>
          </p:cNvPicPr>
          <p:nvPr/>
        </p:nvPicPr>
        <p:blipFill>
          <a:blip r:embed="rId7"/>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5 · Insights</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Land on the new Insights page: 7 discovery cards, each with its method note.</a:t>
            </a:r>
            <a:endParaRPr lang="en-US" sz="900" dirty="0"/>
          </a:p>
        </p:txBody>
      </p:sp>
      <p:sp>
        <p:nvSpPr>
          <p:cNvPr id="20" name="Shape 13"/>
          <p:cNvSpPr/>
          <p:nvPr/>
        </p:nvSpPr>
        <p:spPr>
          <a:xfrm>
            <a:off x="457200" y="4160520"/>
            <a:ext cx="8229600" cy="457200"/>
          </a:xfrm>
          <a:prstGeom prst="rect">
            <a:avLst/>
          </a:prstGeom>
          <a:solidFill>
            <a:srgbClr val="0EA5E9"/>
          </a:solidFill>
          <a:ln/>
        </p:spPr>
        <p:txBody>
          <a:bodyPr/>
          <a:lstStyle/>
          <a:p>
            <a:endParaRPr lang="en-US"/>
          </a:p>
        </p:txBody>
      </p:sp>
      <p:sp>
        <p:nvSpPr>
          <p:cNvPr id="70" name="Text Synthetic Note"/>
          <p:cNvSpPr/>
          <p:nvPr/>
        </p:nvSpPr>
        <p:spPr>
          <a:xfrm>
            <a:off x="457200" y="4640580"/>
            <a:ext cx="8229600" cy="182880"/>
          </a:xfrm>
          <a:prstGeom prst="rect">
            <a:avLst/>
          </a:prstGeom>
          <a:noFill/>
          <a:ln/>
        </p:spPr>
        <p:txBody>
          <a:bodyPr wrap="square" lIns="0" tIns="0" rIns="0" bIns="0" rtlCol="0" anchor="ctr"/>
          <a:lstStyle/>
          <a:p>
            <a:pPr marL="0" indent="0" algn="ctr">
              <a:buNone/>
            </a:pPr>
            <a:r>
              <a:rPr lang="en-US" sz="950" i="1" dirty="0">
                <a:solidFill>
                  <a:srgbClr val="F59E0B"/>
                </a:solidFill>
                <a:latin typeface="Calibri" pitchFamily="34" charset="0"/>
                <a:ea typeface="Calibri" pitchFamily="34" charset="-122"/>
                <a:cs typeface="Calibri" pitchFamily="34" charset="-120"/>
              </a:rPr>
              <a:t>Every personal page shows a visible SYNTHETIC DEMO DATA badge.</a:t>
            </a:r>
            <a:endParaRPr lang="en-US" sz="950" dirty="0"/>
          </a:p>
        </p:txBody>
      </p:sp>
      <p:sp>
        <p:nvSpPr>
          <p:cNvPr id="21" name="Text 14"/>
          <p:cNvSpPr/>
          <p:nvPr/>
        </p:nvSpPr>
        <p:spPr>
          <a:xfrm>
            <a:off x="457200" y="4160520"/>
            <a:ext cx="8229600" cy="457200"/>
          </a:xfrm>
          <a:prstGeom prst="rect">
            <a:avLst/>
          </a:prstGeom>
          <a:noFill/>
          <a:ln/>
        </p:spPr>
        <p:txBody>
          <a:bodyPr wrap="square" lIns="0" tIns="0" rIns="0" bIns="0" rtlCol="0" anchor="ctr"/>
          <a:lstStyle/>
          <a:p>
            <a:pPr algn="ctr"/>
            <a:r>
              <a:rPr lang="en-US" sz="1400" dirty="0" err="1">
                <a:hlinkClick r:id="rId8"/>
              </a:rPr>
              <a:t>PadelLens</a:t>
            </a:r>
            <a:r>
              <a:rPr lang="en-US" sz="1400" dirty="0">
                <a:hlinkClick r:id="rId8"/>
              </a:rPr>
              <a:t> - Dashboard · </a:t>
            </a:r>
            <a:r>
              <a:rPr lang="en-US" sz="1400" dirty="0" err="1">
                <a:hlinkClick r:id="rId8"/>
              </a:rPr>
              <a:t>Streamlit</a:t>
            </a:r>
            <a:endParaRPr lang="en-US" sz="13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happens next</a:t>
            </a:r>
            <a:endParaRPr lang="en-US" sz="2600" dirty="0"/>
          </a:p>
        </p:txBody>
      </p:sp>
      <p:sp>
        <p:nvSpPr>
          <p:cNvPr id="5" name="Text 3"/>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Run the scheduled user tests + SUS</a:t>
            </a:r>
            <a:endParaRPr lang="en-US" sz="1400" dirty="0"/>
          </a:p>
        </p:txBody>
      </p:sp>
      <p:sp>
        <p:nvSpPr>
          <p:cNvPr id="7" name="Text 5"/>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Sessions with real club players are booked; SUS scoring sheet is ready. No score is invented ahead of time.</a:t>
            </a:r>
            <a:endParaRPr lang="en-US" sz="1050" dirty="0"/>
          </a:p>
        </p:txBody>
      </p:sp>
      <p:sp>
        <p:nvSpPr>
          <p:cNvPr id="8" name="Text 6"/>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Real personal logging, replacing the synthetic layer</a:t>
            </a:r>
            <a:endParaRPr lang="en-US" sz="1400" dirty="0"/>
          </a:p>
        </p:txBody>
      </p:sp>
      <p:sp>
        <p:nvSpPr>
          <p:cNvPr id="10" name="Text 8"/>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Every match I actually play gets logged from now on, retiring the seeded demo data match by match.</a:t>
            </a:r>
            <a:endParaRPr lang="en-US" sz="1050" dirty="0"/>
          </a:p>
        </p:txBody>
      </p:sp>
      <p:sp>
        <p:nvSpPr>
          <p:cNvPr id="11" name="Text 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Full-history ingestion (paid API tier)</a:t>
            </a:r>
            <a:endParaRPr lang="en-US" sz="1400" dirty="0"/>
          </a:p>
        </p:txBody>
      </p:sp>
      <p:sp>
        <p:nvSpPr>
          <p:cNvPr id="13" name="Text 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One month at €19 unlocks multi-season history: 2,000+ matches and ranking evolution over time.</a:t>
            </a:r>
            <a:endParaRPr lang="en-US" sz="1050" dirty="0"/>
          </a:p>
        </p:txBody>
      </p:sp>
      <p:sp>
        <p:nvSpPr>
          <p:cNvPr id="14" name="Text 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Streamlit Cloud deployment</a:t>
            </a:r>
            <a:endParaRPr lang="en-US" sz="1400" dirty="0"/>
          </a:p>
        </p:txBody>
      </p:sp>
      <p:sp>
        <p:nvSpPr>
          <p:cNvPr id="16" name="Text 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Ship a public link so Marco and Luca can use PadelLens without installing anything.</a:t>
            </a:r>
            <a:endParaRPr lang="en-US" sz="1050" dirty="0"/>
          </a:p>
        </p:txBody>
      </p:sp>
      <p:sp>
        <p:nvSpPr>
          <p:cNvPr id="17" name="Text 15"/>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LLM-generated weekly digest</a:t>
            </a:r>
            <a:endParaRPr lang="en-US" sz="1400" dirty="0"/>
          </a:p>
        </p:txBody>
      </p:sp>
      <p:sp>
        <p:nvSpPr>
          <p:cNvPr id="19" name="Text 17"/>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"This week your bandeja was on; your smash bled 12 points. Drill X."</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8">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548640" y="2468880"/>
            <a:ext cx="8046720" cy="457200"/>
          </a:xfrm>
          <a:prstGeom prst="rect">
            <a:avLst/>
          </a:prstGeom>
          <a:noFill/>
          <a:ln/>
        </p:spPr>
        <p:txBody>
          <a:bodyPr wrap="square" lIns="0" tIns="0" rIns="0" bIns="0" rtlCol="0" anchor="ctr"/>
          <a:lstStyle/>
          <a:p>
            <a:pPr marL="0" indent="0" algn="ctr">
              <a:buNone/>
            </a:pPr>
            <a:r>
              <a:rPr lang="en-US" sz="2200" dirty="0">
                <a:solidFill>
                  <a:srgbClr val="0EA5E9"/>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1135780" y="2966185"/>
            <a:ext cx="6949440" cy="548640"/>
          </a:xfrm>
          <a:prstGeom prst="rect">
            <a:avLst/>
          </a:prstGeom>
          <a:noFill/>
          <a:ln/>
        </p:spPr>
        <p:txBody>
          <a:bodyPr wrap="square" lIns="0" tIns="0" rIns="0" bIns="0" rtlCol="0" anchor="ctr"/>
          <a:lstStyle/>
          <a:p>
            <a:pPr algn="ctr"/>
            <a:r>
              <a:rPr lang="en-US" sz="1200" dirty="0">
                <a:solidFill>
                  <a:srgbClr val="CBD5E1"/>
                </a:solidFill>
                <a:latin typeface="Calibri" pitchFamily="34" charset="0"/>
                <a:ea typeface="Calibri" pitchFamily="34" charset="-122"/>
                <a:cs typeface="Calibri" pitchFamily="34" charset="-120"/>
              </a:rPr>
              <a:t>GitHub repo: </a:t>
            </a:r>
            <a:r>
              <a:rPr lang="en-US" sz="1200" dirty="0">
                <a:hlinkClick r:id="rId3"/>
              </a:rPr>
              <a:t>Abdullahsaeed10/</a:t>
            </a:r>
            <a:r>
              <a:rPr lang="en-US" sz="1200" dirty="0" err="1">
                <a:hlinkClick r:id="rId3"/>
              </a:rPr>
              <a:t>PadelLens</a:t>
            </a:r>
            <a:endParaRPr lang="en-US" sz="1200" dirty="0"/>
          </a:p>
        </p:txBody>
      </p:sp>
      <p:sp>
        <p:nvSpPr>
          <p:cNvPr id="5" name="Text 3"/>
          <p:cNvSpPr/>
          <p:nvPr/>
        </p:nvSpPr>
        <p:spPr>
          <a:xfrm>
            <a:off x="1097280" y="3840480"/>
            <a:ext cx="6949440" cy="457200"/>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"You don't have to feel your game - you can see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F1FB5D3107E7408D5F23931A3F94F5" ma:contentTypeVersion="14" ma:contentTypeDescription="Create a new document." ma:contentTypeScope="" ma:versionID="fc96dcf1a8f5c64d0e6a1a72b76d422f">
  <xsd:schema xmlns:xsd="http://www.w3.org/2001/XMLSchema" xmlns:xs="http://www.w3.org/2001/XMLSchema" xmlns:p="http://schemas.microsoft.com/office/2006/metadata/properties" xmlns:ns3="a86ae8af-4702-4c98-a1d1-be13efd82698" xmlns:ns4="8face71c-f606-4986-9791-21ca3fde1bd7" targetNamespace="http://schemas.microsoft.com/office/2006/metadata/properties" ma:root="true" ma:fieldsID="e6acee3497a701afa13b08cc7dae00a9" ns3:_="" ns4:_="">
    <xsd:import namespace="a86ae8af-4702-4c98-a1d1-be13efd82698"/>
    <xsd:import namespace="8face71c-f606-4986-9791-21ca3fde1bd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6ae8af-4702-4c98-a1d1-be13efd8269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ace71c-f606-4986-9791-21ca3fde1bd7"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86ae8af-4702-4c98-a1d1-be13efd82698" xsi:nil="true"/>
  </documentManagement>
</p:properties>
</file>

<file path=customXml/itemProps1.xml><?xml version="1.0" encoding="utf-8"?>
<ds:datastoreItem xmlns:ds="http://schemas.openxmlformats.org/officeDocument/2006/customXml" ds:itemID="{2F6CDB6A-D4D8-44B2-8226-1BAB33740F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6ae8af-4702-4c98-a1d1-be13efd82698"/>
    <ds:schemaRef ds:uri="8face71c-f606-4986-9791-21ca3fde1b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143489-F2F4-46B0-A513-D639784C94AC}">
  <ds:schemaRefs>
    <ds:schemaRef ds:uri="http://schemas.microsoft.com/sharepoint/v3/contenttype/forms"/>
  </ds:schemaRefs>
</ds:datastoreItem>
</file>

<file path=customXml/itemProps3.xml><?xml version="1.0" encoding="utf-8"?>
<ds:datastoreItem xmlns:ds="http://schemas.openxmlformats.org/officeDocument/2006/customXml" ds:itemID="{06318C98-7AA7-4349-AD65-A052C0E8EF40}">
  <ds:schemaRefs>
    <ds:schemaRef ds:uri="http://schemas.microsoft.com/office/infopath/2007/PartnerControls"/>
    <ds:schemaRef ds:uri="http://www.w3.org/XML/1998/namespace"/>
    <ds:schemaRef ds:uri="http://schemas.microsoft.com/office/2006/documentManagement/types"/>
    <ds:schemaRef ds:uri="http://purl.org/dc/elements/1.1/"/>
    <ds:schemaRef ds:uri="http://purl.org/dc/terms/"/>
    <ds:schemaRef ds:uri="a86ae8af-4702-4c98-a1d1-be13efd82698"/>
    <ds:schemaRef ds:uri="http://schemas.microsoft.com/office/2006/metadata/properties"/>
    <ds:schemaRef ds:uri="http://schemas.openxmlformats.org/package/2006/metadata/core-properties"/>
    <ds:schemaRef ds:uri="8face71c-f606-4986-9791-21ca3fde1bd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160</TotalTime>
  <Words>4246</Words>
  <Application>Microsoft Office PowerPoint</Application>
  <PresentationFormat>On-screen Show (16:9)</PresentationFormat>
  <Paragraphs>495</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Abdullah Saeed [Application Developer]</cp:lastModifiedBy>
  <cp:revision>4</cp:revision>
  <dcterms:created xsi:type="dcterms:W3CDTF">2026-06-25T06:31:33Z</dcterms:created>
  <dcterms:modified xsi:type="dcterms:W3CDTF">2026-06-25T09:29:35Z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0x0101005AF1FB5D3107E7408D5F23931A3F94F5</vt:lpwstr>
  </property>
</Properties>
</file>