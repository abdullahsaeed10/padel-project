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Arial"/>
              </a:defRPr>
            </a:pPr>
            <a:r>
              <a:rPr sz="1300" b="0" i="0" u="none" strike="noStrike">
                <a:solidFill>
                  <a:srgbClr val="1F2937"/>
                </a:solidFill>
                <a:latin typeface="Arial"/>
              </a:rPr>
              <a:t>Winners (right) vs unforced errors (left), per shot</a:t>
            </a:r>
          </a:p>
        </c:rich>
      </c:tx>
      <c:layout/>
      <c:overlay val="0"/>
    </c:title>
    <c:autoTitleDeleted val="0"/>
    <c:plotArea>
      <c:layout/>
      <c:barChart>
        <c:barDir val="bar"/>
        <c:grouping val="stacked"/>
        <c:varyColors val="0"/>
        <c:ser>
          <c:idx val="0"/>
          <c:order val="0"/>
          <c:tx>
            <c:strRef>
              <c:f>Sheet1!$B$1</c:f>
              <c:strCache>
                <c:ptCount val="1"/>
                <c:pt idx="0">
                  <c:v>Errors</c:v>
                </c:pt>
              </c:strCache>
            </c:strRef>
          </c:tx>
          <c:spPr>
            <a:solidFill>
              <a:srgbClr val="EF4444"/>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Bandeja</c:v>
                  </c:pt>
                  <c:pt idx="1">
                    <c:v>Volley</c:v>
                  </c:pt>
                  <c:pt idx="2">
                    <c:v>Forehand</c:v>
                  </c:pt>
                  <c:pt idx="3">
                    <c:v>Backhand</c:v>
                  </c:pt>
                  <c:pt idx="4">
                    <c:v>Smash</c:v>
                  </c:pt>
                </c:lvl>
              </c:multiLvlStrCache>
            </c:multiLvlStrRef>
          </c:cat>
          <c:val>
            <c:numRef>
              <c:f>Sheet1!$B$2:$B$6</c:f>
              <c:numCache>
                <c:formatCode>General</c:formatCode>
                <c:ptCount val="5"/>
                <c:pt idx="0">
                  <c:v>-1.4</c:v>
                </c:pt>
                <c:pt idx="1">
                  <c:v>-1.8</c:v>
                </c:pt>
                <c:pt idx="2">
                  <c:v>-2.6</c:v>
                </c:pt>
                <c:pt idx="3">
                  <c:v>-3.7</c:v>
                </c:pt>
                <c:pt idx="4">
                  <c:v>-4.8</c:v>
                </c:pt>
              </c:numCache>
            </c:numRef>
          </c:val>
        </c:ser>
        <c:ser>
          <c:idx val="1"/>
          <c:order val="1"/>
          <c:tx>
            <c:strRef>
              <c:f>Sheet1!$C$1</c:f>
              <c:strCache>
                <c:ptCount val="1"/>
                <c:pt idx="0">
                  <c:v>Winners</c:v>
                </c:pt>
              </c:strCache>
            </c:strRef>
          </c:tx>
          <c:spPr>
            <a:solidFill>
              <a:srgbClr val="0EA5E9"/>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Bandeja</c:v>
                  </c:pt>
                  <c:pt idx="1">
                    <c:v>Volley</c:v>
                  </c:pt>
                  <c:pt idx="2">
                    <c:v>Forehand</c:v>
                  </c:pt>
                  <c:pt idx="3">
                    <c:v>Backhand</c:v>
                  </c:pt>
                  <c:pt idx="4">
                    <c:v>Smash</c:v>
                  </c:pt>
                </c:lvl>
              </c:multiLvlStrCache>
            </c:multiLvlStrRef>
          </c:cat>
          <c:val>
            <c:numRef>
              <c:f>Sheet1!$C$2:$C$6</c:f>
              <c:numCache>
                <c:formatCode>General</c:formatCode>
                <c:ptCount val="5"/>
                <c:pt idx="0">
                  <c:v>6.1</c:v>
                </c:pt>
                <c:pt idx="1">
                  <c:v>5.2</c:v>
                </c:pt>
                <c:pt idx="2">
                  <c:v>4.4</c:v>
                </c:pt>
                <c:pt idx="3">
                  <c:v>2.9</c:v>
                </c:pt>
                <c:pt idx="4">
                  <c:v>2.1</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Arial"/>
              </a:defRPr>
            </a:pPr>
            <a:r>
              <a:rPr sz="1300" b="0" i="0" u="none" strike="noStrike">
                <a:solidFill>
                  <a:srgbClr val="1F2937"/>
                </a:solidFill>
                <a:latin typeface="Arial"/>
              </a:rPr>
              <a:t>P(match winner = set-1 winner)</a:t>
            </a:r>
          </a:p>
        </c:rich>
      </c:tx>
      <c:layout/>
      <c:overlay val="0"/>
    </c:title>
    <c:autoTitleDeleted val="0"/>
    <c:plotArea>
      <c:layout/>
      <c:lineChart>
        <c:varyColors val="0"/>
        <c:ser>
          <c:idx val="0"/>
          <c:order val="0"/>
          <c:tx>
            <c:strRef>
              <c:f>Sheet1!$B$1</c:f>
              <c:strCache>
                <c:ptCount val="1"/>
                <c:pt idx="0">
                  <c:v>Win rate</c:v>
                </c:pt>
              </c:strCache>
            </c:strRef>
          </c:tx>
          <c:spPr>
            <a:solidFill>
              <a:srgbClr val="0EA5E9"/>
            </a:solidFill>
            <a:ln w="44450" cap="flat">
              <a:solidFill>
                <a:srgbClr val="0EA5E9"/>
              </a:solidFill>
              <a:prstDash val="solid"/>
              <a:round/>
            </a:ln>
            <a:effectLst/>
          </c:spPr>
          <c:invertIfNegative val="0"/>
          <c:dLbls>
            <c:numFmt formatCode="#,##0" sourceLinked="0"/>
            <c:txPr>
              <a:bodyPr/>
              <a:lstStyle/>
              <a:p>
                <a:pPr>
                  <a:defRPr b="1" i="0" strike="noStrike" sz="1400" u="none">
                    <a:solidFill>
                      <a:srgbClr val="1F2937"/>
                    </a:solidFill>
                    <a:latin typeface="Arial"/>
                  </a:defRPr>
                </a:pPr>
              </a:p>
            </c:txPr>
            <c:dLblPos val="t"/>
            <c:showLegendKey val="0"/>
            <c:showVal val="1"/>
            <c:showCatName val="0"/>
            <c:showSerName val="0"/>
            <c:showPercent val="0"/>
            <c:showBubbleSize val="0"/>
            <c:showLeaderLines val="0"/>
          </c:dLbls>
          <c:marker>
            <c:symbol val="circle"/>
            <c:size val="12"/>
            <c:spPr>
              <a:solidFill>
                <a:srgbClr val="0EA5E9"/>
              </a:solidFill>
              <a:ln w="9525" cap="flat">
                <a:solidFill>
                  <a:srgbClr val="0369A1"/>
                </a:solidFill>
                <a:prstDash val="solid"/>
                <a:round/>
              </a:ln>
              <a:effectLst/>
            </c:spPr>
          </c:marker>
          <c:cat>
            <c:multiLvlStrRef>
              <c:f>Sheet1!$A$2:$A$3</c:f>
              <c:multiLvlStrCache>
                <c:ptCount val="2"/>
                <c:lvl>
                  <c:pt idx="0">
                    <c:v>After winning set 1
(n=763)</c:v>
                  </c:pt>
                  <c:pt idx="1">
                    <c:v>Set-1 winner in a decider
(n=207)</c:v>
                  </c:pt>
                </c:lvl>
              </c:multiLvlStrCache>
            </c:multiLvlStrRef>
          </c:cat>
          <c:val>
            <c:numRef>
              <c:f>Sheet1!$B$2:$B$3</c:f>
              <c:numCache>
                <c:formatCode>General</c:formatCode>
                <c:ptCount val="2"/>
                <c:pt idx="0">
                  <c:v>86.2</c:v>
                </c:pt>
                <c:pt idx="1">
                  <c:v>49.3</c:v>
                </c:pt>
              </c:numCache>
            </c:numRef>
          </c:val>
          <c:smooth val="0"/>
        </c:ser>
        <c:dLbls>
          <c:numFmt formatCode="#,##0" sourceLinked="0"/>
          <c:txPr>
            <a:bodyPr/>
            <a:lstStyle/>
            <a:p>
              <a:pPr>
                <a:defRPr b="1" i="0" strike="noStrike" sz="1400" u="none">
                  <a:solidFill>
                    <a:srgbClr val="1F293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Coin flip (50%)</c:v>
                </c:pt>
              </c:strCache>
            </c:strRef>
          </c:tx>
          <c:spPr>
            <a:solidFill>
              <a:srgbClr val="9AA3AD"/>
            </a:solidFill>
            <a:ln w="19050" cap="flat">
              <a:solidFill>
                <a:srgbClr val="9AA3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3AD"/>
              </a:solidFill>
              <a:ln w="9525" cap="flat">
                <a:solidFill>
                  <a:srgbClr val="9AA3AD"/>
                </a:solidFill>
                <a:prstDash val="solid"/>
                <a:round/>
              </a:ln>
              <a:effectLst/>
            </c:spPr>
          </c:marker>
          <c:cat>
            <c:multiLvlStrRef>
              <c:f>Sheet1!$A$2:$A$3</c:f>
              <c:multiLvlStrCache>
                <c:ptCount val="2"/>
                <c:lvl>
                  <c:pt idx="0">
                    <c:v>After winning set 1
(n=763)</c:v>
                  </c:pt>
                  <c:pt idx="1">
                    <c:v>Set-1 winner in a decider
(n=207)</c:v>
                  </c:pt>
                </c:lvl>
              </c:multiLvlStrCache>
            </c:multiLvlStrRef>
          </c:cat>
          <c:val>
            <c:numRef>
              <c:f>Sheet1!$C$2:$C$3</c:f>
              <c:numCache>
                <c:formatCode>General</c:formatCode>
                <c:ptCount val="2"/>
                <c:pt idx="0">
                  <c:v>50</c:v>
                </c:pt>
                <c:pt idx="1">
                  <c:v>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Win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B728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F2937"/>
                </a:solidFill>
                <a:latin typeface="Arial"/>
              </a:defRPr>
            </a:pPr>
            <a:r>
              <a:rPr sz="1250" b="0" i="0" u="none" strike="noStrike">
                <a:solidFill>
                  <a:srgbClr val="1F2937"/>
                </a:solidFill>
                <a:latin typeface="Arial"/>
              </a:rPr>
              <a:t>Win rate by matches played together (chi-sq p&lt;0.001)</a:t>
            </a:r>
          </a:p>
        </c:rich>
      </c:tx>
      <c:layout/>
      <c:overlay val="0"/>
    </c:title>
    <c:autoTitleDeleted val="0"/>
    <c:plotArea>
      <c:layout/>
      <c:lineChart>
        <c:varyColors val="0"/>
        <c:ser>
          <c:idx val="0"/>
          <c:order val="0"/>
          <c:tx>
            <c:strRef>
              <c:f>Sheet1!$B$1</c:f>
              <c:strCache>
                <c:ptCount val="1"/>
                <c:pt idx="0">
                  <c:v>Win rate by reps together</c:v>
                </c:pt>
              </c:strCache>
            </c:strRef>
          </c:tx>
          <c:spPr>
            <a:solidFill>
              <a:srgbClr val="0EA5E9"/>
            </a:solidFill>
            <a:ln w="44450" cap="flat">
              <a:solidFill>
                <a:srgbClr val="0EA5E9"/>
              </a:solidFill>
              <a:prstDash val="solid"/>
              <a:round/>
            </a:ln>
            <a:effectLst/>
          </c:spPr>
          <c:invertIfNegative val="0"/>
          <c:dLbls>
            <c:numFmt formatCode="#,##0" sourceLinked="0"/>
            <c:txPr>
              <a:bodyPr/>
              <a:lstStyle/>
              <a:p>
                <a:pPr>
                  <a:defRPr b="1" i="0" strike="noStrike" sz="1300" u="none">
                    <a:solidFill>
                      <a:srgbClr val="1F2937"/>
                    </a:solidFill>
                    <a:latin typeface="Arial"/>
                  </a:defRPr>
                </a:pPr>
              </a:p>
            </c:txPr>
            <c:dLblPos val="t"/>
            <c:showLegendKey val="0"/>
            <c:showVal val="1"/>
            <c:showCatName val="0"/>
            <c:showSerName val="0"/>
            <c:showPercent val="0"/>
            <c:showBubbleSize val="0"/>
            <c:showLeaderLines val="0"/>
          </c:dLbls>
          <c:marker>
            <c:symbol val="circle"/>
            <c:size val="11"/>
            <c:spPr>
              <a:solidFill>
                <a:srgbClr val="0EA5E9"/>
              </a:solidFill>
              <a:ln w="9525" cap="flat">
                <a:solidFill>
                  <a:srgbClr val="0EA5E9"/>
                </a:solidFill>
                <a:prstDash val="solid"/>
                <a:round/>
              </a:ln>
              <a:effectLst/>
            </c:spPr>
          </c:marker>
          <c:cat>
            <c:multiLvlStrRef>
              <c:f>Sheet1!$A$2:$A$5</c:f>
              <c:multiLvlStrCache>
                <c:ptCount val="4"/>
                <c:lvl>
                  <c:pt idx="0">
                    <c:v>1–3 (n=488)</c:v>
                  </c:pt>
                  <c:pt idx="1">
                    <c:v>4–8 (n=400)</c:v>
                  </c:pt>
                  <c:pt idx="2">
                    <c:v>9–15 (n=289)</c:v>
                  </c:pt>
                  <c:pt idx="3">
                    <c:v>16+ (n=349)</c:v>
                  </c:pt>
                </c:lvl>
              </c:multiLvlStrCache>
            </c:multiLvlStrRef>
          </c:cat>
          <c:val>
            <c:numRef>
              <c:f>Sheet1!$B$2:$B$5</c:f>
              <c:numCache>
                <c:formatCode>General</c:formatCode>
                <c:ptCount val="4"/>
                <c:pt idx="0">
                  <c:v>39.8</c:v>
                </c:pt>
                <c:pt idx="1">
                  <c:v>45.3</c:v>
                </c:pt>
                <c:pt idx="2">
                  <c:v>51.9</c:v>
                </c:pt>
                <c:pt idx="3">
                  <c:v>68.2</c:v>
                </c:pt>
              </c:numCache>
            </c:numRef>
          </c:val>
          <c:smooth val="0"/>
        </c:ser>
        <c:dLbls>
          <c:numFmt formatCode="#,##0" sourceLinked="0"/>
          <c:txPr>
            <a:bodyPr/>
            <a:lstStyle/>
            <a:p>
              <a:pPr>
                <a:defRPr b="1" i="0" strike="noStrike" sz="1300" u="none">
                  <a:solidFill>
                    <a:srgbClr val="1F293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F2937"/>
                </a:solidFill>
                <a:latin typeface="Arial"/>
              </a:defRPr>
            </a:pPr>
            <a:r>
              <a:rPr sz="1250" b="0" i="0" u="none" strike="noStrike">
                <a:solidFill>
                  <a:srgbClr val="1F2937"/>
                </a:solidFill>
                <a:latin typeface="Arial"/>
              </a:rPr>
              <a:t>Favorite win rate, stems anchored at 50% ("no information")</a:t>
            </a:r>
          </a:p>
        </c:rich>
      </c:tx>
      <c:layout/>
      <c:overlay val="0"/>
    </c:title>
    <c:autoTitleDeleted val="0"/>
    <c:plotArea>
      <c:layout/>
      <c:barChart>
        <c:barDir val="col"/>
        <c:grouping val="clustered"/>
        <c:varyColors val="0"/>
        <c:ser>
          <c:idx val="0"/>
          <c:order val="0"/>
          <c:tx>
            <c:strRef>
              <c:f>Sheet1!$B$1</c:f>
              <c:strCache>
                <c:ptCount val="1"/>
                <c:pt idx="0">
                  <c:v>Favorite win rate</c:v>
                </c:pt>
              </c:strCache>
            </c:strRef>
          </c:tx>
          <c:spPr>
            <a:solidFill>
              <a:srgbClr val="0EA5E9"/>
            </a:solidFill>
            <a:effectLst/>
          </c:spPr>
          <c:invertIfNegative val="0"/>
          <c:dLbls>
            <c:numFmt formatCode="#,##0" sourceLinked="0"/>
            <c:txPr>
              <a:bodyPr/>
              <a:lstStyle/>
              <a:p>
                <a:pPr>
                  <a:defRPr b="1" i="0" strike="noStrike" sz="13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Closest ranking-gap
quintile (n≈153)</c:v>
                  </c:pt>
                  <c:pt idx="1">
                    <c:v>Season average
(all matches)</c:v>
                  </c:pt>
                  <c:pt idx="2">
                    <c:v>Widest ranking-gap
quintile (n≈153)</c:v>
                  </c:pt>
                </c:lvl>
              </c:multiLvlStrCache>
            </c:multiLvlStrRef>
          </c:cat>
          <c:val>
            <c:numRef>
              <c:f>Sheet1!$B$2:$B$4</c:f>
              <c:numCache>
                <c:formatCode>General</c:formatCode>
                <c:ptCount val="3"/>
                <c:pt idx="0">
                  <c:v>58.8</c:v>
                </c:pt>
                <c:pt idx="1">
                  <c:v>78.5</c:v>
                </c:pt>
                <c:pt idx="2">
                  <c:v>96.7</c:v>
                </c:pt>
              </c:numCache>
            </c:numRef>
          </c:val>
        </c:ser>
        <c:dLbls>
          <c:numFmt formatCode="#,##0" sourceLinked="0"/>
          <c:txPr>
            <a:bodyPr/>
            <a:lstStyle/>
            <a:p>
              <a:pPr>
                <a:defRPr b="1" i="0" strike="noStrike" sz="13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Abdullah Saeed Aly Elhusseiny, and this is PadelLens — Pro Tour Insights plus My Match Log, my project for Data Visualization for Sport here at Politecnico di Milano. This is the resit submission, and the short version of what changed is: everything downstream of the brief is now built on real data instead of a placeholder demo, with genuine analytics and an honest validation plan behind it. I'll walk through the brief, the data pipeline, the UX work, the chart design, the technical build, and finish with a live-style demo script and the honest limitations. Let's start with what actually changed since the first hand-in.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 I want to be upfront about what's different this time. The old deck used a thin synthetic dataset — now it's 776 real matches from the 2026 Premier Padel season. I ran a genuine exploratory analysis with ten questions, seven of which produced real findings and three of which honestly came back null or insufficient — I kept those in rather than hiding them. I added an analytics layer: Elo ratings, a logistic win model, k-means clustering, Wilson confidence intervals. The app now runs on SQLite and is multi-user ready, with a new Insights page. And I built a full validation instrument pack, with sessions scheduled against real club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growth curve in Italy is extraordinary — from around thirty thousand federated players in 2019 to over 1.1 million by 2024. But look at the tooling landscape and there's a real gap: pro-tour products like Premier Padel rankings or Worldpadeltour stats are irrelevant to a recreational player, and generic fitness trackers like Strava don't understand padel-specific dynamics — sets, the glass wall, rotating partners. Amateurs are playing one to four matches a week with almost no tool built for them. As a Sports Engineering student, that gap felt like exactly the right size to attack in one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sentence: amateur padel players want to see patterns in their own game that they can't feel during a match, but no simple tool exists that turns a player's own match log into honest visual feedback. Amateurs feel things — 'I always lose the third set,' 'I play better with this partner' — but they can't confirm any of it. My project takes those gut feelings and turns them into a number on a screen. The product is a Streamlit web app that lets a player keep a match journal and get immediate, clear visual answers to the questions they already ask themselves after every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target user is Marco — a club player, 22 to 40, plays a couple of times a week, willing to spend 90 seconds logging a match on his phone. Not a coach, not a pro. Luca is my secondary persona, an amateur coach who wants a 30-second visual summary before a lesson. Here's the honest update from the resit: these personas were originally drawn from my own assumptions, which the first evaluation correctly flagged. I've since built a persona validation survey and a semi-structured interview guide, mapped question-by-question to every trait, and sessions with real club players are scheduled to ground them in actual evidence, not just my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Kirk's framework, my angle is reflective self-analysis over time — temporal, categorical, comparative — deliberately not ball-tracking heatmaps, because I don't have that sensor data and Marco wouldn't read them anyway. Framing keeps only what an amateur can log in ninety seconds: your own matches, per-set shot tallies, partner and opponent names. It excludes ball trajectories, biometrics, and pro comparisons. And focus is the one number Marco actually wants when he opens the app — his last-ten-match win rate — plus one auto-generated plain-language insight, like 'you win 73% with Luca versus 41% with others.' Everything else is de-emphasized but still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 the project on Kirk's four relevance factors: timeliness and interestingness and pertinence all score a 3 — the user opens this right after or right before a match, it confirms or contradicts a gut feeling, and it's literally about them. Sufficiency scores a 2 on purpose — I deliberately don't go deeper than the amateur needs, no shot-by-shot rally tagging in version one. And the whole project collapses into one line I keep coming back to: you don't have to feel your game, you can see it. Every chart I'll show you later exists because it helps Marco see something he couldn't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of this slide comes from a real API — padelapi.org — not a static CSV I dressed up. I designed the fetch script around real constraints: a ten-requests-per-minute free-tier limit, so I throttle every call to 6.5 seconds and back off on a 429; and a rolling six-month data window, so anything hidden behind that window comes back as a literal string I skip rather than guess. I targeted season 5, 'Premier Padel 2026' — 26 tournaments, and thirteen of them simply hadn't been played yet when I pulled the data. That's not a bug, that's an honest snapshot of a season in progress. I also pulled the full player directory — 2,165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My first parser assumed the API's score field was a comma-separated string, like what you'd see on a results page. It wasn't — it's actually a JSON array of set objects. I only caught that by reading the raw archived API responses during examination, not by trusting my own assumption. Because I archive every raw response before transforming anything, fixing the parser cost me one file and zero re-fetching — I just re-ran the transformation script against data already sitting on disk. That's the entire argument for keeping acquisition and transformation as separate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is its own script, separate from fetching and analysis. It reads only the raw archive, applies the fixed score parser, and writes two clean CSVs — never touching the network. The result: 776 match rows across the 13 tournaments that had actually been played, sorted by date, spanning Round of 64 through the finals, men's and women's draws combined, plus 2,165 player rows with current ranking points and nationality. Every row keeps a literal source string pointing back to the exact API record, so if anyone asks me to trace a single EDA number back to its origin, I can,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Exploration is the fourth and final script, and it only ever reads the clean CSVs — never the raw JSON, never the network. It runs ten questions, E1 through E10, all as two-sided statistical tests at alpha 0.05, with Wilson 95% confidence intervals on every single proportion I report, not just the headline ones. The output is a reproducible report plus a JSON results file — no manual numbers anywhere. Keeping these four stages separate — acquisition, raw archiving, transformation, exploration — is what makes each step auditable, and it's exactly what let me fix that score-parsing bug earlier without re-fetching a single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questions went into the analysis, and I want to show you all of them, not just the ones that worked. Seven came back with real, statistically significant findings: momentum, ranking calibration, pair chemistry, seed upsets, scheduling efficiency, scoreline patterns, and what Elo sees that the ranking doesn't. Three came back null or insufficient — handedness, height, and overall home advantage — and I kept those in the report instead of quietly dropping them. A project that only shows you the findings that worked isn't doing exploratory analysis, it's doing marketing. I'll go deeper on three of the headline findings in the visual encoding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limitations I want on the record. First, this is a single-season snapshot — Premier Padel 2026 — with 13 of 26 tournaments still unplayed at fetch time, so there's no multi-year comparison possible. Second, the ranking-calibration finding uses each player's current points, not their points on the actual match date, because the free API tier has no historical point-in-time endpoint — so I treat that 78.5% and 0.88 AUC as an optimistic upper bound, not a clean prospective test. Third, court type just isn't exposed on this API tier, so indoor-versus-outdoor analysis, which existed in the synthetic first submission, can't be reproduced honestly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five pages, and each one maps to a specific task from the brief. Home answers 'how am I doing right now' above the fold. Pro Tour anchors the project in real data. My Stats is the deep-dive — partner effects, shot balance, fatigue. Log a Match is the friction killer, built for under ninety seconds. And Compare bridges the personal and pro-tour layers. I sketched on paper first, then moved to low-fidelity wireframes in Figma — these five, grayscale, layout-only. I deliberately stopped there instead of building a full click-prototype: the deliverable is a working Streamlit app, and a wireframe-to-Streamlit jump is a one-step move, not three more days of prototyping theatre.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Marco opens this app in bursts, right after or right before a match. Recognition over recall — filters stay visible in the sidebar, never hidden behind a button. Default to action — logging a match is the most prominent button on the home page, because that's what keeps the whole pipeline alive. Reduce entry friction — shot tallies are optional, only score and partner are required. Honest visual hierarchy — red only for negative signal, never decoration. And annotate, don't decorate — every chart carries at least one in-canvas callout, directly applying Kirk's focus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and two flagged real problems that changed the design. Error prevention: my original log form let you enter a set-three score even when sets one and two were already decided in straight sets — I added input gating so set three only unlocks once the first two sets are split. Recognition over recall: I'd originally hidden the Pro Tour filters behind a button — I moved them to an always-visible sidebar. These weren't theoretical checkbox items; they're the concrete difference between the paper sketch and what's in the wireframes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the first evaluation correctly called out as essentially absent — no user testing, no SUS score, and a heuristic evaluation that only found two changes. Here's the honest status: I've built the complete instrument pack — a persona survey, a semi-structured interview guide, the standard ten-item SUS in English and Italian, a five-task think-aloud testing protocol, and a Round 2 heuristic evaluation for two independent classmate evaluators against the live app, not sketches. What I haven't done yet is run the actual sessions — recruiting three to five club players is the bottleneck, and those sessions are scheduled before the oral defense. I'd rather report 'in progress, honestly' than fabricate a SUS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uses nine distinct chart types, and none of them are decorative — each one traces back to a specific EDA finding. I had a longer list initially and cut it down ruthlessly: a pie chart of shot share, a court heatmap, a Sankey of points to match wins, an animated ranking time-lapse — all rejected because they either communicate less than a simpler alternative or imply a precision I can't back up with the data I have. The rule was simple: every chart has to beat at least one specific alternative in a head-to-head comparison on the exact question it's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case study the first evaluation praised for reasoning against alternatives properly, so I'm keeping it as the model for the three new ones. Shot DNA is a diverging horizontal bar — winners to the right, unforced errors to the left, colored by whether the shot is net-positive or net-negative. The reason is that the underlying question is signed: bandeja is net positive, smash is net negative. A pie chart shows proportions, which isn't the question. Stacked bars hide the zero line. Diverging bars put that zero line dead center and let you read the sign instantly from which side the bar falls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decisive — 86% of the time the set-one winner takes the match. But that number hides a trap: it's dragging in every two-set blowout alongside the close matches. So I asked a sharper question — of the matches that actually reach a valid third set, does the set-one winner still have the edge? The answer is no: 49%, a coin flip. I drew this as two connected dots on a shared scale instead of two separate bars, with a dashed line at fifty percent, because the story isn't the two numbers, it's the 37-point collapse between them — a slope chart puts that drop directly in the geometry, not in a caption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around 40% in their first three matches, 68% once they've played sixteen-plus together. It's tempting to read that as 'practice builds chemistry.' But I made myself uncomfortable with that story before shipping the chart: only 39% of pairs ever even reach five matches together. The rival explanation is survivorship — winning pairs keep getting rebooked, losing pairs get split up. I didn't want that caveat buried in a caption half the room skips, so I built it into the chart itself: a gray band behind the line that visibly narrows toward the high end, with a callout that spells out exactly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78.5% of matches overall, and a logistic regression on the points gap reaches an AUC of 0.88, a genuinely strong number. I checked that with an ROC curve and a calibration plot first, and both looked good — but neither one made it into the final design, because they answer 'is this model honest,' not the question my audience actually has. What I built instead slices the same finding by how big the ranking gap actually is: in the closest quintile it's barely above a coin flip at 59%; in the widest gap it's a near-certainty at 97%. The stems start at 50%, not zero, because the baseline that matters here is 'no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here is doing editorial work, not decoration. Blue is the default — neutral, positive, interactive. Red is reserved narrowly, for negative signal that actually requires action: a partner you're losing with, a shot category that's net-negative. Gray marks the pro reference frame — we're not saying pros are better, just that they're the comparison point. I deliberately use no green at all, because blue-red is one of the safest pairs for color blindness, while red-green is the worst combination you could pick. And every red mark also carries an explicit minus sign or downward arrow, so the story survives even a black-and-white printout.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Interactivity follows the same editorial framework as everything else. Sidebar filters let the user re-frame the data — that's literally Kirk's framing layer, always visible, never hidden. Hover tooltips give exact values and dates on demand, without cluttering the chart surface. But the annotations that actually carry the headline are static and in-canvas — the '-40 percentage point' callout on the fatigue chart, the narrowing-wedge label on the chemistry chart — because those are the things a reader sees even if they never hover over anything. Captions outside the chart explain what it is; annotations inside explain why you should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straight line: raw JSON archived on disk, transformed into two CSVs by build_real_csv.py, migrated into a SQLite database by build_db.py, read by an analytics module, and rendered across six Streamlit pages — Dashboard, Pro Tour, My Stats, Log a Match, Compare, and the new Insights page. The stack is deliberately boring on purpose: Python, Streamlit for the multi-page framework and caching, Pandas for the data wrangling, Plotly for interactive charts, scikit-learn for the logistic regression and clustering, and plain sqlite3 with no ORM. Boring means I spend my time on the data logic, not on frontend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analytics.py is pure pandas and scikit-learn, no Streamlit dependency, so it's testable on its own. compute_elo runs a chronological Elo rating with K=32 starting from a base of 1500 across all 776 real matches. fit_win_model is a logistic regression on the log ranking-points ratio, reaching an AUC of 0.883, with a full decile calibration table. momentum_table and pair_chemistry both wrap Wilson 95% confidence intervals around every proportion they compute, so no win rate ever gets reported as a bare, uncertain-looking percentage. There's also a k-means clustering routine for player archetypes. All four feed directly into the Insights page's discovery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schema is already multi-user ready: my_matches carries a user_id column, and there's a users table seeded with a demo user. db.py reads SQLite when it exists and falls back transparently to the CSVs when it doesn't, so the app never hard-fails on a fresh checkout. What's honestly still missing is a login layer — right now the app always operates as user one, locally, with no cloud sync. My deployment plan is to add a simple authentication layer, host on Streamlit Community Cloud, and migrate from local SQLite to a hosted Postgres instance once there's more than one concurrent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 I'd show you live. I open Home and point at the KPI block and the weekly drill recommendation. Then I go to Log a Match and fill in a 6-4, 3-6, 6-2 win with a partner and opponents of my choice, watching the live auto-result preview update as I type — the whole thing takes under ninety seconds. I go back to Home and show the KPI and recent-matches table updating instantly, because the cache clears on submit. Then My Stats, where every win rate carries a Wilson confidence interval suffix, like '62% (CI 45 to 77, n=24)' — never a bare, overconfident number. Finally Insights, where the four discovery cards run live against the real 2026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findings side by side, as the honest takeaway table. Momentum: set-one winners take the match 86% of the time, but that collapses to a coin flip in deciders. Chemistry: win rate climbs from 40% to 68% with more matches together, survivorship caveat attached. Calibration: rankings predict at 78.5%, but don't decide. Elo versus ranking surfaces specific over- and under-rated players the official points miss. Upsets are rarer than they feel, at 22%. Efficiency: winning your previous round in fewer games gives you a real edge next round. And home advantage is a genuine null — I'm reporting that honestly rather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I want stated plainly, not buried in an appendix. The dataset is a single season snapshot with a rolling six-month free-tier window, so there's no historical comparison. The ranking-calibration number uses a snapshot of current points, not match-date points, so treat 78.5% and that 0.88 AUC as an optimistic upper bound. Court surface simply isn't available on this API tier. And validation is honestly in progress — the instruments are built and ready, but the actual sessions with real club players and external evaluators are scheduled, not yet run, so there's no SUS score or heuristic round-2 findings table to show you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past the exam: first priority is running the validation sessions and folding the SUS score and heuristic round-2 findings back into the app before the actual defense. Second, add real authentication and move to a hosted Postgres so PadelLens can genuinely support more than one player. Third, if I upgrade the API tier, a historical point-in-time ranking endpoint would let me redo the calibration analysis without the look-ahead caveat. Fourth, richer shot-by-shot tagging within a rally, once the ninety-second logging habit is actually established — sufficiency was a deliberate trade-off in version one, not a permanent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end to end — a real API pipeline, an honest exploratory analysis with seven findings and one stated null, chart choices I can defend against named alternatives, a working multi-user-ready Streamlit app, and a validation plan that's honestly still a work in progress rather than fabricated. The whole project comes back to one line: you don't have to feel your game, you can see it. Thank you — I'm happy to take questions, or to walk through the live app in more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9784080" y="-1463040"/>
            <a:ext cx="4754880" cy="4754880"/>
          </a:xfrm>
          <a:prstGeom prst="ellipse">
            <a:avLst/>
          </a:prstGeom>
          <a:solidFill>
            <a:srgbClr val="0369A1"/>
          </a:solidFill>
          <a:ln/>
        </p:spPr>
      </p:sp>
      <p:sp>
        <p:nvSpPr>
          <p:cNvPr id="3" name="Shape 1"/>
          <p:cNvSpPr/>
          <p:nvPr/>
        </p:nvSpPr>
        <p:spPr>
          <a:xfrm>
            <a:off x="-1645920" y="4754880"/>
            <a:ext cx="4023360" cy="4023360"/>
          </a:xfrm>
          <a:prstGeom prst="ellipse">
            <a:avLst/>
          </a:prstGeom>
          <a:solidFill>
            <a:srgbClr val="111827"/>
          </a:solidFill>
          <a:ln/>
        </p:spPr>
      </p:sp>
      <p:sp>
        <p:nvSpPr>
          <p:cNvPr id="4" name="Text 2"/>
          <p:cNvSpPr/>
          <p:nvPr/>
        </p:nvSpPr>
        <p:spPr>
          <a:xfrm>
            <a:off x="640080" y="1417320"/>
            <a:ext cx="10881360" cy="365760"/>
          </a:xfrm>
          <a:prstGeom prst="rect">
            <a:avLst/>
          </a:prstGeom>
          <a:noFill/>
          <a:ln/>
        </p:spPr>
        <p:txBody>
          <a:bodyPr wrap="square" rtlCol="0" anchor="ctr"/>
          <a:lstStyle/>
          <a:p>
            <a:pPr indent="0" marL="0">
              <a:buNone/>
            </a:pPr>
            <a:r>
              <a:rPr lang="en-US" sz="1300" b="1" spc="200" kern="0" dirty="0">
                <a:solidFill>
                  <a:srgbClr val="BAE6FD"/>
                </a:solidFill>
                <a:latin typeface="Calibri" pitchFamily="34" charset="0"/>
                <a:ea typeface="Calibri" pitchFamily="34" charset="-122"/>
                <a:cs typeface="Calibri" pitchFamily="34" charset="-120"/>
              </a:rPr>
              <a:t>DATA VISUALIZATION FOR SPORT · POLITECNICO DI MILANO · AY 2025/2026</a:t>
            </a:r>
            <a:endParaRPr lang="en-US" sz="1300" dirty="0"/>
          </a:p>
        </p:txBody>
      </p:sp>
      <p:sp>
        <p:nvSpPr>
          <p:cNvPr id="5" name="Text 3"/>
          <p:cNvSpPr/>
          <p:nvPr/>
        </p:nvSpPr>
        <p:spPr>
          <a:xfrm>
            <a:off x="594360" y="1874520"/>
            <a:ext cx="10881360" cy="1371600"/>
          </a:xfrm>
          <a:prstGeom prst="rect">
            <a:avLst/>
          </a:prstGeom>
          <a:noFill/>
          <a:ln/>
        </p:spPr>
        <p:txBody>
          <a:bodyPr wrap="square"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PadelLens</a:t>
            </a:r>
            <a:endParaRPr lang="en-US" sz="6400" dirty="0"/>
          </a:p>
        </p:txBody>
      </p:sp>
      <p:sp>
        <p:nvSpPr>
          <p:cNvPr id="6" name="Text 4"/>
          <p:cNvSpPr/>
          <p:nvPr/>
        </p:nvSpPr>
        <p:spPr>
          <a:xfrm>
            <a:off x="640080" y="3200400"/>
            <a:ext cx="10515600" cy="548640"/>
          </a:xfrm>
          <a:prstGeom prst="rect">
            <a:avLst/>
          </a:prstGeom>
          <a:noFill/>
          <a:ln/>
        </p:spPr>
        <p:txBody>
          <a:bodyPr wrap="square" rtlCol="0" anchor="ctr"/>
          <a:lstStyle/>
          <a:p>
            <a:pPr indent="0" marL="0">
              <a:buNone/>
            </a:pPr>
            <a:r>
              <a:rPr lang="en-US" sz="2200" dirty="0">
                <a:solidFill>
                  <a:srgbClr val="BAE6FD"/>
                </a:solidFill>
                <a:latin typeface="Calibri" pitchFamily="34" charset="0"/>
                <a:ea typeface="Calibri" pitchFamily="34" charset="-122"/>
                <a:cs typeface="Calibri" pitchFamily="34" charset="-120"/>
              </a:rPr>
              <a:t>Pro Tour Insights + My Match Log</a:t>
            </a:r>
            <a:endParaRPr lang="en-US" sz="2200" dirty="0"/>
          </a:p>
        </p:txBody>
      </p:sp>
      <p:sp>
        <p:nvSpPr>
          <p:cNvPr id="7" name="Shape 5"/>
          <p:cNvSpPr/>
          <p:nvPr/>
        </p:nvSpPr>
        <p:spPr>
          <a:xfrm>
            <a:off x="658368" y="3977640"/>
            <a:ext cx="2743200" cy="0"/>
          </a:xfrm>
          <a:prstGeom prst="line">
            <a:avLst/>
          </a:prstGeom>
          <a:noFill/>
          <a:ln w="25400">
            <a:solidFill>
              <a:srgbClr val="0EA5E9"/>
            </a:solidFill>
            <a:prstDash val="solid"/>
          </a:ln>
        </p:spPr>
      </p:sp>
      <p:sp>
        <p:nvSpPr>
          <p:cNvPr id="8" name="Text 6"/>
          <p:cNvSpPr/>
          <p:nvPr/>
        </p:nvSpPr>
        <p:spPr>
          <a:xfrm>
            <a:off x="658368" y="4160520"/>
            <a:ext cx="7772400" cy="457200"/>
          </a:xfrm>
          <a:prstGeom prst="rect">
            <a:avLst/>
          </a:prstGeom>
          <a:noFill/>
          <a:ln/>
        </p:spPr>
        <p:txBody>
          <a:bodyPr wrap="square" lIns="0" tIns="0" rIns="0" bIns="0" rtlCol="0" anchor="ctr"/>
          <a:lstStyle/>
          <a:p>
            <a:pPr indent="0" marL="0">
              <a:spcAft>
                <a:spcPts val="400"/>
              </a:spcAft>
              <a:buNone/>
            </a:pPr>
            <a:r>
              <a:rPr lang="en-US" sz="1600" i="1" dirty="0">
                <a:solidFill>
                  <a:srgbClr val="D1D5DB"/>
                </a:solidFill>
                <a:latin typeface="Calibri" pitchFamily="34" charset="0"/>
                <a:ea typeface="Calibri" pitchFamily="34" charset="-122"/>
                <a:cs typeface="Calibri" pitchFamily="34" charset="-120"/>
              </a:rPr>
              <a:t>“You don’t have to feel your game — you can see it.”</a:t>
            </a:r>
            <a:endParaRPr lang="en-US" sz="1600" dirty="0"/>
          </a:p>
        </p:txBody>
      </p:sp>
      <p:sp>
        <p:nvSpPr>
          <p:cNvPr id="9" name="Text 7"/>
          <p:cNvSpPr/>
          <p:nvPr/>
        </p:nvSpPr>
        <p:spPr>
          <a:xfrm>
            <a:off x="658368" y="5806440"/>
            <a:ext cx="54864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Abdullah Saeed Aly Elhusseiny</a:t>
            </a:r>
            <a:endParaRPr lang="en-US" sz="1600" dirty="0"/>
          </a:p>
        </p:txBody>
      </p:sp>
      <p:sp>
        <p:nvSpPr>
          <p:cNvPr id="10" name="Text 8"/>
          <p:cNvSpPr/>
          <p:nvPr/>
        </p:nvSpPr>
        <p:spPr>
          <a:xfrm>
            <a:off x="658368" y="6172200"/>
            <a:ext cx="5486400" cy="320040"/>
          </a:xfrm>
          <a:prstGeom prst="rect">
            <a:avLst/>
          </a:prstGeom>
          <a:noFill/>
          <a:ln/>
        </p:spPr>
        <p:txBody>
          <a:bodyPr wrap="square" rtlCol="0" anchor="ctr"/>
          <a:lstStyle/>
          <a:p>
            <a:pPr indent="0" marL="0">
              <a:buNone/>
            </a:pPr>
            <a:r>
              <a:rPr lang="en-US" sz="1250" dirty="0">
                <a:solidFill>
                  <a:srgbClr val="6B7280"/>
                </a:solidFill>
                <a:latin typeface="Calibri" pitchFamily="34" charset="0"/>
                <a:ea typeface="Calibri" pitchFamily="34" charset="-122"/>
                <a:cs typeface="Calibri" pitchFamily="34" charset="-120"/>
              </a:rPr>
              <a:t>Student presentation — resit submission</a:t>
            </a:r>
            <a:endParaRPr lang="en-US" sz="1250" dirty="0"/>
          </a:p>
        </p:txBody>
      </p:sp>
      <p:sp>
        <p:nvSpPr>
          <p:cNvPr id="11" name="Text 9"/>
          <p:cNvSpPr/>
          <p:nvPr/>
        </p:nvSpPr>
        <p:spPr>
          <a:xfrm>
            <a:off x="640080" y="6547104"/>
            <a:ext cx="1088136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PadelLens — DV4S 2025/26 — Title — slide 1/32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RESIT SUBMISSION</a:t>
            </a:r>
            <a:endParaRPr lang="en-US" sz="1250" dirty="0"/>
          </a:p>
        </p:txBody>
      </p:sp>
      <p:sp>
        <p:nvSpPr>
          <p:cNvPr id="3" name="Text 1"/>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What changed since the first submission</a:t>
            </a:r>
            <a:endParaRPr lang="en-US" sz="3000" dirty="0"/>
          </a:p>
        </p:txBody>
      </p:sp>
      <p:sp>
        <p:nvSpPr>
          <p:cNvPr id="4" name="Text 2"/>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Front Matter — slide 2/32</a:t>
            </a:r>
            <a:endParaRPr lang="en-US" sz="900" dirty="0"/>
          </a:p>
        </p:txBody>
      </p:sp>
      <p:sp>
        <p:nvSpPr>
          <p:cNvPr id="6" name="Shape 3"/>
          <p:cNvSpPr/>
          <p:nvPr/>
        </p:nvSpPr>
        <p:spPr>
          <a:xfrm>
            <a:off x="502920" y="1417320"/>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7" name="Shape 4"/>
          <p:cNvSpPr/>
          <p:nvPr/>
        </p:nvSpPr>
        <p:spPr>
          <a:xfrm>
            <a:off x="704088" y="1618488"/>
            <a:ext cx="329184" cy="329184"/>
          </a:xfrm>
          <a:prstGeom prst="ellipse">
            <a:avLst/>
          </a:prstGeom>
          <a:solidFill>
            <a:srgbClr val="0EA5E9"/>
          </a:solidFill>
          <a:ln/>
        </p:spPr>
      </p:sp>
      <p:sp>
        <p:nvSpPr>
          <p:cNvPr id="8" name="Text 5"/>
          <p:cNvSpPr/>
          <p:nvPr/>
        </p:nvSpPr>
        <p:spPr>
          <a:xfrm>
            <a:off x="704088"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1143000" y="1563624"/>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Real data</a:t>
            </a:r>
            <a:endParaRPr lang="en-US" sz="1450" dirty="0"/>
          </a:p>
        </p:txBody>
      </p:sp>
      <p:sp>
        <p:nvSpPr>
          <p:cNvPr id="10" name="Text 7"/>
          <p:cNvSpPr/>
          <p:nvPr/>
        </p:nvSpPr>
        <p:spPr>
          <a:xfrm>
            <a:off x="704088" y="1984248"/>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776-match, 2,165-player 2026 season dataset from padelapi.org replaces the thin synthetic demo CSV.</a:t>
            </a:r>
            <a:endParaRPr lang="en-US" sz="1150" dirty="0"/>
          </a:p>
        </p:txBody>
      </p:sp>
      <p:sp>
        <p:nvSpPr>
          <p:cNvPr id="11" name="Shape 8"/>
          <p:cNvSpPr/>
          <p:nvPr/>
        </p:nvSpPr>
        <p:spPr>
          <a:xfrm>
            <a:off x="6080760" y="1417320"/>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Shape 9"/>
          <p:cNvSpPr/>
          <p:nvPr/>
        </p:nvSpPr>
        <p:spPr>
          <a:xfrm>
            <a:off x="6281928" y="1618488"/>
            <a:ext cx="329184" cy="329184"/>
          </a:xfrm>
          <a:prstGeom prst="ellipse">
            <a:avLst/>
          </a:prstGeom>
          <a:solidFill>
            <a:srgbClr val="0EA5E9"/>
          </a:solidFill>
          <a:ln/>
        </p:spPr>
      </p:sp>
      <p:sp>
        <p:nvSpPr>
          <p:cNvPr id="13" name="Text 10"/>
          <p:cNvSpPr/>
          <p:nvPr/>
        </p:nvSpPr>
        <p:spPr>
          <a:xfrm>
            <a:off x="6281928"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p:nvPr/>
        </p:nvSpPr>
        <p:spPr>
          <a:xfrm>
            <a:off x="6720840" y="1563624"/>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Genuine exploration</a:t>
            </a:r>
            <a:endParaRPr lang="en-US" sz="1450" dirty="0"/>
          </a:p>
        </p:txBody>
      </p:sp>
      <p:sp>
        <p:nvSpPr>
          <p:cNvPr id="15" name="Text 12"/>
          <p:cNvSpPr/>
          <p:nvPr/>
        </p:nvSpPr>
        <p:spPr>
          <a:xfrm>
            <a:off x="6281928" y="1984248"/>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10 EDA questions, 7 real findings, and one honest null — kept in, not hidden.</a:t>
            </a:r>
            <a:endParaRPr lang="en-US" sz="1150" dirty="0"/>
          </a:p>
        </p:txBody>
      </p:sp>
      <p:sp>
        <p:nvSpPr>
          <p:cNvPr id="16" name="Shape 13"/>
          <p:cNvSpPr/>
          <p:nvPr/>
        </p:nvSpPr>
        <p:spPr>
          <a:xfrm>
            <a:off x="502920" y="3127248"/>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7" name="Shape 14"/>
          <p:cNvSpPr/>
          <p:nvPr/>
        </p:nvSpPr>
        <p:spPr>
          <a:xfrm>
            <a:off x="704088" y="3328416"/>
            <a:ext cx="329184" cy="329184"/>
          </a:xfrm>
          <a:prstGeom prst="ellipse">
            <a:avLst/>
          </a:prstGeom>
          <a:solidFill>
            <a:srgbClr val="0EA5E9"/>
          </a:solidFill>
          <a:ln/>
        </p:spPr>
      </p:sp>
      <p:sp>
        <p:nvSpPr>
          <p:cNvPr id="18" name="Text 15"/>
          <p:cNvSpPr/>
          <p:nvPr/>
        </p:nvSpPr>
        <p:spPr>
          <a:xfrm>
            <a:off x="704088" y="3328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143000" y="3273552"/>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Analytics layer</a:t>
            </a:r>
            <a:endParaRPr lang="en-US" sz="1450" dirty="0"/>
          </a:p>
        </p:txBody>
      </p:sp>
      <p:sp>
        <p:nvSpPr>
          <p:cNvPr id="20" name="Text 17"/>
          <p:cNvSpPr/>
          <p:nvPr/>
        </p:nvSpPr>
        <p:spPr>
          <a:xfrm>
            <a:off x="704088" y="3694176"/>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Elo ratings, a logistic win model, k-means player clustering, Wilson 95% CIs on every proportion.</a:t>
            </a:r>
            <a:endParaRPr lang="en-US" sz="1150" dirty="0"/>
          </a:p>
        </p:txBody>
      </p:sp>
      <p:sp>
        <p:nvSpPr>
          <p:cNvPr id="21" name="Shape 18"/>
          <p:cNvSpPr/>
          <p:nvPr/>
        </p:nvSpPr>
        <p:spPr>
          <a:xfrm>
            <a:off x="6080760" y="3127248"/>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2" name="Shape 19"/>
          <p:cNvSpPr/>
          <p:nvPr/>
        </p:nvSpPr>
        <p:spPr>
          <a:xfrm>
            <a:off x="6281928" y="3328416"/>
            <a:ext cx="329184" cy="329184"/>
          </a:xfrm>
          <a:prstGeom prst="ellipse">
            <a:avLst/>
          </a:prstGeom>
          <a:solidFill>
            <a:srgbClr val="0EA5E9"/>
          </a:solidFill>
          <a:ln/>
        </p:spPr>
      </p:sp>
      <p:sp>
        <p:nvSpPr>
          <p:cNvPr id="23" name="Text 20"/>
          <p:cNvSpPr/>
          <p:nvPr/>
        </p:nvSpPr>
        <p:spPr>
          <a:xfrm>
            <a:off x="6281928" y="3328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p:nvPr/>
        </p:nvSpPr>
        <p:spPr>
          <a:xfrm>
            <a:off x="6720840" y="3273552"/>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Multi-user app</a:t>
            </a:r>
            <a:endParaRPr lang="en-US" sz="1450" dirty="0"/>
          </a:p>
        </p:txBody>
      </p:sp>
      <p:sp>
        <p:nvSpPr>
          <p:cNvPr id="25" name="Text 22"/>
          <p:cNvSpPr/>
          <p:nvPr/>
        </p:nvSpPr>
        <p:spPr>
          <a:xfrm>
            <a:off x="6281928" y="3694176"/>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SQLite persistence (was raw CSV reads) plus a new Insights page surfacing the 7 findings live.</a:t>
            </a:r>
            <a:endParaRPr lang="en-US" sz="1150" dirty="0"/>
          </a:p>
        </p:txBody>
      </p:sp>
      <p:sp>
        <p:nvSpPr>
          <p:cNvPr id="26" name="Shape 23"/>
          <p:cNvSpPr/>
          <p:nvPr/>
        </p:nvSpPr>
        <p:spPr>
          <a:xfrm>
            <a:off x="502920" y="4837176"/>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7" name="Shape 24"/>
          <p:cNvSpPr/>
          <p:nvPr/>
        </p:nvSpPr>
        <p:spPr>
          <a:xfrm>
            <a:off x="704088" y="5038344"/>
            <a:ext cx="329184" cy="329184"/>
          </a:xfrm>
          <a:prstGeom prst="ellipse">
            <a:avLst/>
          </a:prstGeom>
          <a:solidFill>
            <a:srgbClr val="0EA5E9"/>
          </a:solidFill>
          <a:ln/>
        </p:spPr>
      </p:sp>
      <p:sp>
        <p:nvSpPr>
          <p:cNvPr id="28" name="Text 25"/>
          <p:cNvSpPr/>
          <p:nvPr/>
        </p:nvSpPr>
        <p:spPr>
          <a:xfrm>
            <a:off x="704088" y="50383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6"/>
          <p:cNvSpPr/>
          <p:nvPr/>
        </p:nvSpPr>
        <p:spPr>
          <a:xfrm>
            <a:off x="1143000" y="4983480"/>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Validation instruments</a:t>
            </a:r>
            <a:endParaRPr lang="en-US" sz="1450" dirty="0"/>
          </a:p>
        </p:txBody>
      </p:sp>
      <p:sp>
        <p:nvSpPr>
          <p:cNvPr id="30" name="Text 27"/>
          <p:cNvSpPr/>
          <p:nvPr/>
        </p:nvSpPr>
        <p:spPr>
          <a:xfrm>
            <a:off x="704088" y="5404104"/>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Persona survey, interview guide, SUS, testing protocol, heuristic round 2 — sessions scheduled with real club players.</a:t>
            </a:r>
            <a:endParaRPr lang="en-US" sz="1150" dirty="0"/>
          </a:p>
        </p:txBody>
      </p:sp>
      <p:sp>
        <p:nvSpPr>
          <p:cNvPr id="31" name="Shape 28"/>
          <p:cNvSpPr/>
          <p:nvPr/>
        </p:nvSpPr>
        <p:spPr>
          <a:xfrm>
            <a:off x="6080760" y="4837176"/>
            <a:ext cx="5349240" cy="1572768"/>
          </a:xfrm>
          <a:prstGeom prst="roundRect">
            <a:avLst>
              <a:gd name="adj" fmla="val 465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32" name="Shape 29"/>
          <p:cNvSpPr/>
          <p:nvPr/>
        </p:nvSpPr>
        <p:spPr>
          <a:xfrm>
            <a:off x="6281928" y="5038344"/>
            <a:ext cx="329184" cy="329184"/>
          </a:xfrm>
          <a:prstGeom prst="ellipse">
            <a:avLst/>
          </a:prstGeom>
          <a:solidFill>
            <a:srgbClr val="0EA5E9"/>
          </a:solidFill>
          <a:ln/>
        </p:spPr>
      </p:sp>
      <p:sp>
        <p:nvSpPr>
          <p:cNvPr id="33" name="Text 30"/>
          <p:cNvSpPr/>
          <p:nvPr/>
        </p:nvSpPr>
        <p:spPr>
          <a:xfrm>
            <a:off x="6281928" y="50383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1"/>
          <p:cNvSpPr/>
          <p:nvPr/>
        </p:nvSpPr>
        <p:spPr>
          <a:xfrm>
            <a:off x="6720840" y="4983480"/>
            <a:ext cx="452628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Immaculate deliverable</a:t>
            </a:r>
            <a:endParaRPr lang="en-US" sz="1450" dirty="0"/>
          </a:p>
        </p:txBody>
      </p:sp>
      <p:sp>
        <p:nvSpPr>
          <p:cNvPr id="35" name="Text 32"/>
          <p:cNvSpPr/>
          <p:nvPr/>
        </p:nvSpPr>
        <p:spPr>
          <a:xfrm>
            <a:off x="6281928" y="5404104"/>
            <a:ext cx="4937760" cy="886968"/>
          </a:xfrm>
          <a:prstGeom prst="rect">
            <a:avLst/>
          </a:prstGeom>
          <a:noFill/>
          <a:ln/>
        </p:spPr>
        <p:txBody>
          <a:bodyPr wrap="square" lIns="0" tIns="0" rIns="0" bIns="0" rtlCol="0" anchor="t"/>
          <a:lstStyle/>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Zero placeholder text, consistent §1–§6 numbering throughout this deck.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§1.1 SPORT DOMAIN &amp; CONTEXT</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Why padel?</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§1 The Brief — slide 3/32</a:t>
            </a:r>
            <a:endParaRPr lang="en-US" sz="900" dirty="0"/>
          </a:p>
        </p:txBody>
      </p:sp>
      <p:sp>
        <p:nvSpPr>
          <p:cNvPr id="8" name="Shape 5"/>
          <p:cNvSpPr/>
          <p:nvPr/>
        </p:nvSpPr>
        <p:spPr>
          <a:xfrm>
            <a:off x="502920" y="1417320"/>
            <a:ext cx="3657600" cy="4480560"/>
          </a:xfrm>
          <a:prstGeom prst="roundRect">
            <a:avLst>
              <a:gd name="adj" fmla="val 2000"/>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85800" y="1691640"/>
            <a:ext cx="32918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1.1M+</a:t>
            </a:r>
            <a:endParaRPr lang="en-US" sz="4600" dirty="0"/>
          </a:p>
        </p:txBody>
      </p:sp>
      <p:sp>
        <p:nvSpPr>
          <p:cNvPr id="10" name="Text 7"/>
          <p:cNvSpPr/>
          <p:nvPr/>
        </p:nvSpPr>
        <p:spPr>
          <a:xfrm>
            <a:off x="685800" y="2606040"/>
            <a:ext cx="3291840" cy="1005840"/>
          </a:xfrm>
          <a:prstGeom prst="rect">
            <a:avLst/>
          </a:prstGeom>
          <a:noFill/>
          <a:ln/>
        </p:spPr>
        <p:txBody>
          <a:bodyPr wrap="square" lIns="0" tIns="0" rIns="0" bIns="0" rtlCol="0" anchor="t"/>
          <a:lstStyle/>
          <a:p>
            <a:pPr indent="0" marL="0">
              <a:buNone/>
            </a:pPr>
            <a:r>
              <a:rPr lang="en-US" sz="1300" dirty="0">
                <a:solidFill>
                  <a:srgbClr val="E0F2FE"/>
                </a:solidFill>
                <a:latin typeface="Calibri" pitchFamily="34" charset="0"/>
                <a:ea typeface="Calibri" pitchFamily="34" charset="-122"/>
                <a:cs typeface="Calibri" pitchFamily="34" charset="-120"/>
              </a:rPr>
              <a:t>federated players in Italy, 2024 — up from ~30,000 in 2019 (FIP data)</a:t>
            </a:r>
            <a:endParaRPr lang="en-US" sz="1300" dirty="0"/>
          </a:p>
        </p:txBody>
      </p:sp>
      <p:sp>
        <p:nvSpPr>
          <p:cNvPr id="11" name="Text 8"/>
          <p:cNvSpPr/>
          <p:nvPr/>
        </p:nvSpPr>
        <p:spPr>
          <a:xfrm>
            <a:off x="685800" y="4160520"/>
            <a:ext cx="3291840" cy="1463040"/>
          </a:xfrm>
          <a:prstGeom prst="rect">
            <a:avLst/>
          </a:prstGeom>
          <a:noFill/>
          <a:ln/>
        </p:spPr>
        <p:txBody>
          <a:bodyPr wrap="square" lIns="0" tIns="0" rIns="0" bIns="0" rtlCol="0" anchor="t"/>
          <a:lstStyle/>
          <a:p>
            <a:pPr indent="0" marL="0">
              <a:buNone/>
            </a:pPr>
            <a:r>
              <a:rPr lang="en-US" sz="1300" i="1" dirty="0">
                <a:solidFill>
                  <a:srgbClr val="E0F2FE"/>
                </a:solidFill>
                <a:latin typeface="Calibri" pitchFamily="34" charset="0"/>
                <a:ea typeface="Calibri" pitchFamily="34" charset="-122"/>
                <a:cs typeface="Calibri" pitchFamily="34" charset="-120"/>
              </a:rPr>
              <a:t>Most are amateurs: 1–4 matches a week, rotating partners, indoor or outdoor club courts.</a:t>
            </a:r>
            <a:endParaRPr lang="en-US" sz="1300" dirty="0"/>
          </a:p>
        </p:txBody>
      </p:sp>
      <p:sp>
        <p:nvSpPr>
          <p:cNvPr id="12" name="Text 9"/>
          <p:cNvSpPr/>
          <p:nvPr/>
        </p:nvSpPr>
        <p:spPr>
          <a:xfrm>
            <a:off x="4434840" y="1417320"/>
            <a:ext cx="722376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The tooling gap</a:t>
            </a:r>
            <a:endParaRPr lang="en-US" sz="1600" dirty="0"/>
          </a:p>
        </p:txBody>
      </p:sp>
      <p:sp>
        <p:nvSpPr>
          <p:cNvPr id="13" name="Shape 10"/>
          <p:cNvSpPr/>
          <p:nvPr/>
        </p:nvSpPr>
        <p:spPr>
          <a:xfrm>
            <a:off x="4434840" y="1920240"/>
            <a:ext cx="7223760" cy="1234440"/>
          </a:xfrm>
          <a:prstGeom prst="roundRect">
            <a:avLst>
              <a:gd name="adj" fmla="val 5926"/>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Text 11"/>
          <p:cNvSpPr/>
          <p:nvPr/>
        </p:nvSpPr>
        <p:spPr>
          <a:xfrm>
            <a:off x="4663440" y="2029968"/>
            <a:ext cx="6766560" cy="292608"/>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Pro-tour analytics</a:t>
            </a:r>
            <a:endParaRPr lang="en-US" sz="1350" dirty="0"/>
          </a:p>
        </p:txBody>
      </p:sp>
      <p:sp>
        <p:nvSpPr>
          <p:cNvPr id="15" name="Text 12"/>
          <p:cNvSpPr/>
          <p:nvPr/>
        </p:nvSpPr>
        <p:spPr>
          <a:xfrm>
            <a:off x="4663440" y="2359152"/>
            <a:ext cx="676656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Premier Padel rankings, Worldpadeltour stats</a:t>
            </a:r>
            <a:endParaRPr lang="en-US" sz="1200" dirty="0"/>
          </a:p>
        </p:txBody>
      </p:sp>
      <p:sp>
        <p:nvSpPr>
          <p:cNvPr id="16" name="Text 13"/>
          <p:cNvSpPr/>
          <p:nvPr/>
        </p:nvSpPr>
        <p:spPr>
          <a:xfrm>
            <a:off x="4663440" y="2688336"/>
            <a:ext cx="6766560" cy="3657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Irrelevant to a recreational player</a:t>
            </a:r>
            <a:endParaRPr lang="en-US" sz="1250" dirty="0"/>
          </a:p>
        </p:txBody>
      </p:sp>
      <p:sp>
        <p:nvSpPr>
          <p:cNvPr id="17" name="Shape 14"/>
          <p:cNvSpPr/>
          <p:nvPr/>
        </p:nvSpPr>
        <p:spPr>
          <a:xfrm>
            <a:off x="4434840" y="3291840"/>
            <a:ext cx="7223760" cy="1234440"/>
          </a:xfrm>
          <a:prstGeom prst="roundRect">
            <a:avLst>
              <a:gd name="adj" fmla="val 5926"/>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4663440" y="3401568"/>
            <a:ext cx="6766560" cy="292608"/>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Generic fitness trackers</a:t>
            </a:r>
            <a:endParaRPr lang="en-US" sz="1350" dirty="0"/>
          </a:p>
        </p:txBody>
      </p:sp>
      <p:sp>
        <p:nvSpPr>
          <p:cNvPr id="19" name="Text 16"/>
          <p:cNvSpPr/>
          <p:nvPr/>
        </p:nvSpPr>
        <p:spPr>
          <a:xfrm>
            <a:off x="4663440" y="3730752"/>
            <a:ext cx="676656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Strava, Apple Fitness</a:t>
            </a:r>
            <a:endParaRPr lang="en-US" sz="1200" dirty="0"/>
          </a:p>
        </p:txBody>
      </p:sp>
      <p:sp>
        <p:nvSpPr>
          <p:cNvPr id="20" name="Text 17"/>
          <p:cNvSpPr/>
          <p:nvPr/>
        </p:nvSpPr>
        <p:spPr>
          <a:xfrm>
            <a:off x="4663440" y="4059936"/>
            <a:ext cx="6766560" cy="3657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Don't understand sets, the glass wall, partner pairings</a:t>
            </a:r>
            <a:endParaRPr lang="en-US" sz="1250" dirty="0"/>
          </a:p>
        </p:txBody>
      </p:sp>
      <p:sp>
        <p:nvSpPr>
          <p:cNvPr id="21" name="Shape 18"/>
          <p:cNvSpPr/>
          <p:nvPr/>
        </p:nvSpPr>
        <p:spPr>
          <a:xfrm>
            <a:off x="4434840" y="4663440"/>
            <a:ext cx="7223760" cy="1234440"/>
          </a:xfrm>
          <a:prstGeom prst="roundRect">
            <a:avLst>
              <a:gd name="adj" fmla="val 5926"/>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2" name="Text 19"/>
          <p:cNvSpPr/>
          <p:nvPr/>
        </p:nvSpPr>
        <p:spPr>
          <a:xfrm>
            <a:off x="4663440" y="4773168"/>
            <a:ext cx="6766560" cy="292608"/>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Amateur player</a:t>
            </a:r>
            <a:endParaRPr lang="en-US" sz="1350" dirty="0"/>
          </a:p>
        </p:txBody>
      </p:sp>
      <p:sp>
        <p:nvSpPr>
          <p:cNvPr id="23" name="Text 20"/>
          <p:cNvSpPr/>
          <p:nvPr/>
        </p:nvSpPr>
        <p:spPr>
          <a:xfrm>
            <a:off x="4663440" y="5102352"/>
            <a:ext cx="676656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Almost nothing built for them</a:t>
            </a:r>
            <a:endParaRPr lang="en-US" sz="1200" dirty="0"/>
          </a:p>
        </p:txBody>
      </p:sp>
      <p:sp>
        <p:nvSpPr>
          <p:cNvPr id="24" name="Text 21"/>
          <p:cNvSpPr/>
          <p:nvPr/>
        </p:nvSpPr>
        <p:spPr>
          <a:xfrm>
            <a:off x="4663440" y="5431536"/>
            <a:ext cx="6766560" cy="36576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The gap this project targets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§1.2 PROBLEM STATEMENT</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The problem</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§1 The Brief — slide 4/32</a:t>
            </a:r>
            <a:endParaRPr lang="en-US" sz="900" dirty="0"/>
          </a:p>
        </p:txBody>
      </p:sp>
      <p:sp>
        <p:nvSpPr>
          <p:cNvPr id="8" name="Shape 5"/>
          <p:cNvSpPr/>
          <p:nvPr/>
        </p:nvSpPr>
        <p:spPr>
          <a:xfrm>
            <a:off x="502920" y="1463040"/>
            <a:ext cx="11201400" cy="1828800"/>
          </a:xfrm>
          <a:prstGeom prst="roundRect">
            <a:avLst>
              <a:gd name="adj" fmla="val 4000"/>
            </a:avLst>
          </a:prstGeom>
          <a:solidFill>
            <a:srgbClr val="1F2937"/>
          </a:solidFill>
          <a:ln w="12700">
            <a:solidFill>
              <a:srgbClr val="CFD6DD"/>
            </a:solidFill>
            <a:prstDash val="solid"/>
          </a:ln>
        </p:spPr>
      </p:sp>
      <p:sp>
        <p:nvSpPr>
          <p:cNvPr id="9" name="Text 6"/>
          <p:cNvSpPr/>
          <p:nvPr/>
        </p:nvSpPr>
        <p:spPr>
          <a:xfrm>
            <a:off x="868680" y="1645920"/>
            <a:ext cx="10469880" cy="146304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“Amateur padel players want to see patterns in their own game that they can’t feel during a match — but no simple tool exists that takes a player’s own match log and turns it into actionable, honest visual feedback.”</a:t>
            </a:r>
            <a:endParaRPr lang="en-US" sz="2000" dirty="0"/>
          </a:p>
        </p:txBody>
      </p:sp>
      <p:sp>
        <p:nvSpPr>
          <p:cNvPr id="10" name="Shape 7"/>
          <p:cNvSpPr/>
          <p:nvPr/>
        </p:nvSpPr>
        <p:spPr>
          <a:xfrm>
            <a:off x="502920" y="3566160"/>
            <a:ext cx="3611880" cy="2331720"/>
          </a:xfrm>
          <a:prstGeom prst="roundRect">
            <a:avLst>
              <a:gd name="adj" fmla="val 3137"/>
            </a:avLst>
          </a:prstGeom>
          <a:solidFill>
            <a:srgbClr val="FECAC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1" name="Text 8"/>
          <p:cNvSpPr/>
          <p:nvPr/>
        </p:nvSpPr>
        <p:spPr>
          <a:xfrm>
            <a:off x="731520" y="3767328"/>
            <a:ext cx="3154680" cy="548640"/>
          </a:xfrm>
          <a:prstGeom prst="rect">
            <a:avLst/>
          </a:prstGeom>
          <a:noFill/>
          <a:ln/>
        </p:spPr>
        <p:txBody>
          <a:bodyPr wrap="square" lIns="0" tIns="0" rIns="0" bIns="0" rtlCol="0" anchor="ctr"/>
          <a:lstStyle/>
          <a:p>
            <a:pPr indent="0" marL="0">
              <a:buNone/>
            </a:pPr>
            <a:r>
              <a:rPr lang="en-US" sz="1450" b="1" dirty="0">
                <a:solidFill>
                  <a:srgbClr val="EF4444"/>
                </a:solidFill>
                <a:latin typeface="Calibri" pitchFamily="34" charset="0"/>
                <a:ea typeface="Calibri" pitchFamily="34" charset="-122"/>
                <a:cs typeface="Calibri" pitchFamily="34" charset="-120"/>
              </a:rPr>
              <a:t>What Marco feels</a:t>
            </a:r>
            <a:endParaRPr lang="en-US" sz="1450" dirty="0"/>
          </a:p>
        </p:txBody>
      </p:sp>
      <p:sp>
        <p:nvSpPr>
          <p:cNvPr id="12" name="Text 9"/>
          <p:cNvSpPr/>
          <p:nvPr/>
        </p:nvSpPr>
        <p:spPr>
          <a:xfrm>
            <a:off x="731520" y="4389120"/>
            <a:ext cx="3154680" cy="1325880"/>
          </a:xfrm>
          <a:prstGeom prst="rect">
            <a:avLst/>
          </a:prstGeom>
          <a:noFill/>
          <a:ln/>
        </p:spPr>
        <p:txBody>
          <a:bodyPr wrap="square" lIns="0" tIns="0" rIns="0" bIns="0"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“I always lose the third set.”</a:t>
            </a:r>
            <a:endParaRPr lang="en-US" sz="1300" dirty="0"/>
          </a:p>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“I play better with this partner.”</a:t>
            </a:r>
            <a:endParaRPr lang="en-US" sz="1300" dirty="0"/>
          </a:p>
        </p:txBody>
      </p:sp>
      <p:sp>
        <p:nvSpPr>
          <p:cNvPr id="13" name="Shape 10"/>
          <p:cNvSpPr/>
          <p:nvPr/>
        </p:nvSpPr>
        <p:spPr>
          <a:xfrm>
            <a:off x="4297680" y="3566160"/>
            <a:ext cx="36118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Text 11"/>
          <p:cNvSpPr/>
          <p:nvPr/>
        </p:nvSpPr>
        <p:spPr>
          <a:xfrm>
            <a:off x="4526280" y="3767328"/>
            <a:ext cx="3154680" cy="548640"/>
          </a:xfrm>
          <a:prstGeom prst="rect">
            <a:avLst/>
          </a:prstGeom>
          <a:noFill/>
          <a:ln/>
        </p:spPr>
        <p:txBody>
          <a:bodyPr wrap="square" lIns="0" tIns="0" rIns="0" bIns="0" rtlCol="0" anchor="ctr"/>
          <a:lstStyle/>
          <a:p>
            <a:pPr indent="0" marL="0">
              <a:buNone/>
            </a:pPr>
            <a:r>
              <a:rPr lang="en-US" sz="1450" b="1" dirty="0">
                <a:solidFill>
                  <a:srgbClr val="6B7280"/>
                </a:solidFill>
                <a:latin typeface="Calibri" pitchFamily="34" charset="0"/>
                <a:ea typeface="Calibri" pitchFamily="34" charset="-122"/>
                <a:cs typeface="Calibri" pitchFamily="34" charset="-120"/>
              </a:rPr>
              <a:t>What he can confirm today</a:t>
            </a:r>
            <a:endParaRPr lang="en-US" sz="1450" dirty="0"/>
          </a:p>
        </p:txBody>
      </p:sp>
      <p:sp>
        <p:nvSpPr>
          <p:cNvPr id="15" name="Text 12"/>
          <p:cNvSpPr/>
          <p:nvPr/>
        </p:nvSpPr>
        <p:spPr>
          <a:xfrm>
            <a:off x="4526280" y="4389120"/>
            <a:ext cx="3154680" cy="1325880"/>
          </a:xfrm>
          <a:prstGeom prst="rect">
            <a:avLst/>
          </a:prstGeom>
          <a:noFill/>
          <a:ln/>
        </p:spPr>
        <p:txBody>
          <a:bodyPr wrap="square" lIns="0" tIns="0" rIns="0" bIns="0"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Nothing — no tool exists to check either gut feeling.</a:t>
            </a:r>
            <a:endParaRPr lang="en-US" sz="1300" dirty="0"/>
          </a:p>
        </p:txBody>
      </p:sp>
      <p:sp>
        <p:nvSpPr>
          <p:cNvPr id="16" name="Shape 13"/>
          <p:cNvSpPr/>
          <p:nvPr/>
        </p:nvSpPr>
        <p:spPr>
          <a:xfrm>
            <a:off x="8092440" y="3566160"/>
            <a:ext cx="3611880" cy="2331720"/>
          </a:xfrm>
          <a:prstGeom prst="roundRect">
            <a:avLst>
              <a:gd name="adj" fmla="val 3137"/>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7" name="Text 14"/>
          <p:cNvSpPr/>
          <p:nvPr/>
        </p:nvSpPr>
        <p:spPr>
          <a:xfrm>
            <a:off x="8321040" y="3767328"/>
            <a:ext cx="3154680" cy="548640"/>
          </a:xfrm>
          <a:prstGeom prst="rect">
            <a:avLst/>
          </a:prstGeom>
          <a:noFill/>
          <a:ln/>
        </p:spPr>
        <p:txBody>
          <a:bodyPr wrap="square" lIns="0" tIns="0" rIns="0" bIns="0" rtlCol="0" anchor="ctr"/>
          <a:lstStyle/>
          <a:p>
            <a:pPr indent="0" marL="0">
              <a:buNone/>
            </a:pPr>
            <a:r>
              <a:rPr lang="en-US" sz="1450" b="1" dirty="0">
                <a:solidFill>
                  <a:srgbClr val="0369A1"/>
                </a:solidFill>
                <a:latin typeface="Calibri" pitchFamily="34" charset="0"/>
                <a:ea typeface="Calibri" pitchFamily="34" charset="-122"/>
                <a:cs typeface="Calibri" pitchFamily="34" charset="-120"/>
              </a:rPr>
              <a:t>What PadelLens gives him</a:t>
            </a:r>
            <a:endParaRPr lang="en-US" sz="1450" dirty="0"/>
          </a:p>
        </p:txBody>
      </p:sp>
      <p:sp>
        <p:nvSpPr>
          <p:cNvPr id="18" name="Text 15"/>
          <p:cNvSpPr/>
          <p:nvPr/>
        </p:nvSpPr>
        <p:spPr>
          <a:xfrm>
            <a:off x="8321040" y="4389120"/>
            <a:ext cx="3154680" cy="1325880"/>
          </a:xfrm>
          <a:prstGeom prst="rect">
            <a:avLst/>
          </a:prstGeom>
          <a:noFill/>
          <a:ln/>
        </p:spPr>
        <p:txBody>
          <a:bodyPr wrap="square" lIns="0" tIns="0" rIns="0" bIns="0"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A Streamlit web app: log a match, get clear, immediate visual answers.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§1.3 TARGET AUDIENCE</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Who it's for — Marco and Luca</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§1 The Brief — slide 5/32</a:t>
            </a:r>
            <a:endParaRPr lang="en-US" sz="900" dirty="0"/>
          </a:p>
        </p:txBody>
      </p:sp>
      <p:sp>
        <p:nvSpPr>
          <p:cNvPr id="8" name="Shape 5"/>
          <p:cNvSpPr/>
          <p:nvPr/>
        </p:nvSpPr>
        <p:spPr>
          <a:xfrm>
            <a:off x="502920" y="1417320"/>
            <a:ext cx="5440680" cy="2926080"/>
          </a:xfrm>
          <a:prstGeom prst="roundRect">
            <a:avLst>
              <a:gd name="adj" fmla="val 25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77240" y="1691640"/>
            <a:ext cx="640080" cy="640080"/>
          </a:xfrm>
          <a:prstGeom prst="ellipse">
            <a:avLst/>
          </a:prstGeom>
          <a:solidFill>
            <a:srgbClr val="0EA5E9"/>
          </a:solidFill>
          <a:ln/>
        </p:spPr>
      </p:sp>
      <p:sp>
        <p:nvSpPr>
          <p:cNvPr id="10" name="Text 7"/>
          <p:cNvSpPr/>
          <p:nvPr/>
        </p:nvSpPr>
        <p:spPr>
          <a:xfrm>
            <a:off x="777240" y="16916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t>
            </a:r>
            <a:endParaRPr lang="en-US" sz="2400" dirty="0"/>
          </a:p>
        </p:txBody>
      </p:sp>
      <p:sp>
        <p:nvSpPr>
          <p:cNvPr id="11" name="Text 8"/>
          <p:cNvSpPr/>
          <p:nvPr/>
        </p:nvSpPr>
        <p:spPr>
          <a:xfrm>
            <a:off x="1554480" y="1709928"/>
            <a:ext cx="4160520" cy="36576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Marco</a:t>
            </a:r>
            <a:endParaRPr lang="en-US" sz="1800" dirty="0"/>
          </a:p>
        </p:txBody>
      </p:sp>
      <p:sp>
        <p:nvSpPr>
          <p:cNvPr id="12" name="Text 9"/>
          <p:cNvSpPr/>
          <p:nvPr/>
        </p:nvSpPr>
        <p:spPr>
          <a:xfrm>
            <a:off x="1554480" y="2039112"/>
            <a:ext cx="4160520" cy="32004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club player (primary)</a:t>
            </a:r>
            <a:endParaRPr lang="en-US" sz="1250" dirty="0"/>
          </a:p>
        </p:txBody>
      </p:sp>
      <p:sp>
        <p:nvSpPr>
          <p:cNvPr id="13" name="Text 10"/>
          <p:cNvSpPr/>
          <p:nvPr/>
        </p:nvSpPr>
        <p:spPr>
          <a:xfrm>
            <a:off x="777240" y="2560320"/>
            <a:ext cx="4892040" cy="164592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22–40 years old, plays 1–3× a week</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Playing 6 months to 5 years</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Texts the group chat after a match; will spend ~90s logging</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Wants to improve, not a pro, no personal coach</a:t>
            </a:r>
            <a:endParaRPr lang="en-US" sz="1250" dirty="0"/>
          </a:p>
        </p:txBody>
      </p:sp>
      <p:sp>
        <p:nvSpPr>
          <p:cNvPr id="14" name="Shape 11"/>
          <p:cNvSpPr/>
          <p:nvPr/>
        </p:nvSpPr>
        <p:spPr>
          <a:xfrm>
            <a:off x="6172200" y="1417320"/>
            <a:ext cx="5440680" cy="2926080"/>
          </a:xfrm>
          <a:prstGeom prst="roundRect">
            <a:avLst>
              <a:gd name="adj" fmla="val 25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Shape 12"/>
          <p:cNvSpPr/>
          <p:nvPr/>
        </p:nvSpPr>
        <p:spPr>
          <a:xfrm>
            <a:off x="6446520" y="1691640"/>
            <a:ext cx="640080" cy="640080"/>
          </a:xfrm>
          <a:prstGeom prst="ellipse">
            <a:avLst/>
          </a:prstGeom>
          <a:solidFill>
            <a:srgbClr val="0369A1"/>
          </a:solidFill>
          <a:ln/>
        </p:spPr>
      </p:sp>
      <p:sp>
        <p:nvSpPr>
          <p:cNvPr id="16" name="Text 13"/>
          <p:cNvSpPr/>
          <p:nvPr/>
        </p:nvSpPr>
        <p:spPr>
          <a:xfrm>
            <a:off x="6446520" y="16916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L</a:t>
            </a:r>
            <a:endParaRPr lang="en-US" sz="2400" dirty="0"/>
          </a:p>
        </p:txBody>
      </p:sp>
      <p:sp>
        <p:nvSpPr>
          <p:cNvPr id="17" name="Text 14"/>
          <p:cNvSpPr/>
          <p:nvPr/>
        </p:nvSpPr>
        <p:spPr>
          <a:xfrm>
            <a:off x="7223760" y="1709928"/>
            <a:ext cx="4160520" cy="36576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Luca</a:t>
            </a:r>
            <a:endParaRPr lang="en-US" sz="1800" dirty="0"/>
          </a:p>
        </p:txBody>
      </p:sp>
      <p:sp>
        <p:nvSpPr>
          <p:cNvPr id="18" name="Text 15"/>
          <p:cNvSpPr/>
          <p:nvPr/>
        </p:nvSpPr>
        <p:spPr>
          <a:xfrm>
            <a:off x="7223760" y="2039112"/>
            <a:ext cx="4160520" cy="32004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amateur coach (secondary)</a:t>
            </a:r>
            <a:endParaRPr lang="en-US" sz="1250" dirty="0"/>
          </a:p>
        </p:txBody>
      </p:sp>
      <p:sp>
        <p:nvSpPr>
          <p:cNvPr id="19" name="Text 16"/>
          <p:cNvSpPr/>
          <p:nvPr/>
        </p:nvSpPr>
        <p:spPr>
          <a:xfrm>
            <a:off x="6446520" y="2560320"/>
            <a:ext cx="4892040" cy="164592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Gives weekly 1-hour lessons to club players</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Wants a 30-second visual summary before a session</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Cares about shot-type balance, error trends, partner effects</a:t>
            </a:r>
            <a:endParaRPr lang="en-US" sz="1250" dirty="0"/>
          </a:p>
        </p:txBody>
      </p:sp>
      <p:sp>
        <p:nvSpPr>
          <p:cNvPr id="20" name="Shape 17"/>
          <p:cNvSpPr/>
          <p:nvPr/>
        </p:nvSpPr>
        <p:spPr>
          <a:xfrm>
            <a:off x="502920" y="4526280"/>
            <a:ext cx="11201400" cy="1645920"/>
          </a:xfrm>
          <a:prstGeom prst="roundRect">
            <a:avLst>
              <a:gd name="adj" fmla="val 4444"/>
            </a:avLst>
          </a:prstGeom>
          <a:solidFill>
            <a:srgbClr val="BAE6FD"/>
          </a:solidFill>
          <a:ln w="12700">
            <a:solidFill>
              <a:srgbClr val="CFD6DD"/>
            </a:solidFill>
            <a:prstDash val="solid"/>
          </a:ln>
        </p:spPr>
      </p:sp>
      <p:sp>
        <p:nvSpPr>
          <p:cNvPr id="21" name="Text 18"/>
          <p:cNvSpPr/>
          <p:nvPr/>
        </p:nvSpPr>
        <p:spPr>
          <a:xfrm>
            <a:off x="777240" y="4663440"/>
            <a:ext cx="10607040" cy="320040"/>
          </a:xfrm>
          <a:prstGeom prst="rect">
            <a:avLst/>
          </a:prstGeom>
          <a:noFill/>
          <a:ln/>
        </p:spPr>
        <p:txBody>
          <a:bodyPr wrap="square" lIns="0" tIns="0" rIns="0" bIns="0" rtlCol="0" anchor="ctr"/>
          <a:lstStyle/>
          <a:p>
            <a:pPr indent="0" marL="0">
              <a:buNone/>
            </a:pPr>
            <a:r>
              <a:rPr lang="en-US" sz="1400" b="1" dirty="0">
                <a:solidFill>
                  <a:srgbClr val="0369A1"/>
                </a:solidFill>
                <a:latin typeface="Calibri" pitchFamily="34" charset="0"/>
                <a:ea typeface="Calibri" pitchFamily="34" charset="-122"/>
                <a:cs typeface="Calibri" pitchFamily="34" charset="-120"/>
              </a:rPr>
              <a:t>Grounded, not assumed</a:t>
            </a:r>
            <a:endParaRPr lang="en-US" sz="1400" dirty="0"/>
          </a:p>
        </p:txBody>
      </p:sp>
      <p:sp>
        <p:nvSpPr>
          <p:cNvPr id="22" name="Text 19"/>
          <p:cNvSpPr/>
          <p:nvPr/>
        </p:nvSpPr>
        <p:spPr>
          <a:xfrm>
            <a:off x="777240" y="5029200"/>
            <a:ext cx="10607040" cy="1051560"/>
          </a:xfrm>
          <a:prstGeom prst="rect">
            <a:avLst/>
          </a:prstGeom>
          <a:noFill/>
          <a:ln/>
        </p:spPr>
        <p:txBody>
          <a:bodyPr wrap="square" lIns="0" tIns="0" rIns="0" bIns="0" rtlCol="0" anchor="t"/>
          <a:lstStyle/>
          <a:p>
            <a:pPr indent="0" marL="0">
              <a:lnSpc>
                <a:spcPct val="110000"/>
              </a:lnSpc>
              <a:buNone/>
            </a:pPr>
            <a:r>
              <a:rPr lang="en-US" sz="1250" dirty="0">
                <a:solidFill>
                  <a:srgbClr val="1F2937"/>
                </a:solidFill>
                <a:latin typeface="Calibri" pitchFamily="34" charset="0"/>
                <a:ea typeface="Calibri" pitchFamily="34" charset="-122"/>
                <a:cs typeface="Calibri" pitchFamily="34" charset="-120"/>
              </a:rPr>
              <a:t>The first evaluation flagged these personas as drawn without a stated foundation. Response: a persona validation survey and a semi-structured interview guide (07_Validation/01, 02) map every attribute above — age, frequency, willingness to log, coach priorities — to a specific survey question. Sessions with 3–5 real club players are scheduled; the mapping table is ready to record Confirmed / Partially confirmed / Contradicted per attribute.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§1.5 EDITORIAL THINKING (KIRK)</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Angle, framing, focus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§1 The Brief — slide 6/32</a:t>
            </a:r>
            <a:endParaRPr lang="en-US" sz="900" dirty="0"/>
          </a:p>
        </p:txBody>
      </p:sp>
      <p:sp>
        <p:nvSpPr>
          <p:cNvPr id="8" name="Shape 5"/>
          <p:cNvSpPr/>
          <p:nvPr/>
        </p:nvSpPr>
        <p:spPr>
          <a:xfrm>
            <a:off x="502920" y="1417320"/>
            <a:ext cx="3611880" cy="4709160"/>
          </a:xfrm>
          <a:prstGeom prst="roundRect">
            <a:avLst>
              <a:gd name="adj" fmla="val 2025"/>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31520" y="1645920"/>
            <a:ext cx="1463040" cy="292608"/>
          </a:xfrm>
          <a:prstGeom prst="roundRect">
            <a:avLst>
              <a:gd name="adj" fmla="val 50000"/>
            </a:avLst>
          </a:prstGeom>
          <a:solidFill>
            <a:srgbClr val="BAE6FD"/>
          </a:solidFill>
          <a:ln/>
        </p:spPr>
      </p:sp>
      <p:sp>
        <p:nvSpPr>
          <p:cNvPr id="10" name="Text 7"/>
          <p:cNvSpPr/>
          <p:nvPr/>
        </p:nvSpPr>
        <p:spPr>
          <a:xfrm>
            <a:off x="731520" y="1645920"/>
            <a:ext cx="1463040" cy="292608"/>
          </a:xfrm>
          <a:prstGeom prst="rect">
            <a:avLst/>
          </a:prstGeom>
          <a:noFill/>
          <a:ln/>
        </p:spPr>
        <p:txBody>
          <a:bodyPr wrap="square" lIns="0" tIns="0" rIns="0" bIns="0"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Angle</a:t>
            </a:r>
            <a:endParaRPr lang="en-US" sz="1050" dirty="0"/>
          </a:p>
        </p:txBody>
      </p:sp>
      <p:sp>
        <p:nvSpPr>
          <p:cNvPr id="11" name="Text 8"/>
          <p:cNvSpPr/>
          <p:nvPr/>
        </p:nvSpPr>
        <p:spPr>
          <a:xfrm>
            <a:off x="731520" y="2075688"/>
            <a:ext cx="3154680" cy="5029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Reflective self-analysis over time.</a:t>
            </a:r>
            <a:endParaRPr lang="en-US" sz="1200" dirty="0"/>
          </a:p>
        </p:txBody>
      </p:sp>
      <p:sp>
        <p:nvSpPr>
          <p:cNvPr id="12" name="Text 9"/>
          <p:cNvSpPr/>
          <p:nvPr/>
        </p:nvSpPr>
        <p:spPr>
          <a:xfrm>
            <a:off x="731520" y="2651760"/>
            <a:ext cx="3154680" cy="329184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Temporal — trends across matches</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Categorical — partner, shot, surface</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Comparative — this period vs previous</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Excludes: ball-trajectory heatmaps (no sensor data)</a:t>
            </a:r>
            <a:endParaRPr lang="en-US" sz="1180" dirty="0"/>
          </a:p>
        </p:txBody>
      </p:sp>
      <p:sp>
        <p:nvSpPr>
          <p:cNvPr id="13" name="Shape 10"/>
          <p:cNvSpPr/>
          <p:nvPr/>
        </p:nvSpPr>
        <p:spPr>
          <a:xfrm>
            <a:off x="4297680" y="1417320"/>
            <a:ext cx="3611880" cy="4709160"/>
          </a:xfrm>
          <a:prstGeom prst="roundRect">
            <a:avLst>
              <a:gd name="adj" fmla="val 2025"/>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4526280" y="1645920"/>
            <a:ext cx="1463040" cy="292608"/>
          </a:xfrm>
          <a:prstGeom prst="roundRect">
            <a:avLst>
              <a:gd name="adj" fmla="val 50000"/>
            </a:avLst>
          </a:prstGeom>
          <a:solidFill>
            <a:srgbClr val="BAE6FD"/>
          </a:solidFill>
          <a:ln/>
        </p:spPr>
      </p:sp>
      <p:sp>
        <p:nvSpPr>
          <p:cNvPr id="15" name="Text 12"/>
          <p:cNvSpPr/>
          <p:nvPr/>
        </p:nvSpPr>
        <p:spPr>
          <a:xfrm>
            <a:off x="4526280" y="1645920"/>
            <a:ext cx="1463040" cy="292608"/>
          </a:xfrm>
          <a:prstGeom prst="rect">
            <a:avLst/>
          </a:prstGeom>
          <a:noFill/>
          <a:ln/>
        </p:spPr>
        <p:txBody>
          <a:bodyPr wrap="square" lIns="0" tIns="0" rIns="0" bIns="0"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Framing</a:t>
            </a:r>
            <a:endParaRPr lang="en-US" sz="1050" dirty="0"/>
          </a:p>
        </p:txBody>
      </p:sp>
      <p:sp>
        <p:nvSpPr>
          <p:cNvPr id="16" name="Text 13"/>
          <p:cNvSpPr/>
          <p:nvPr/>
        </p:nvSpPr>
        <p:spPr>
          <a:xfrm>
            <a:off x="4526280" y="2075688"/>
            <a:ext cx="3154680" cy="5029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What's inside vs outside the frame.</a:t>
            </a:r>
            <a:endParaRPr lang="en-US" sz="1200" dirty="0"/>
          </a:p>
        </p:txBody>
      </p:sp>
      <p:sp>
        <p:nvSpPr>
          <p:cNvPr id="17" name="Text 14"/>
          <p:cNvSpPr/>
          <p:nvPr/>
        </p:nvSpPr>
        <p:spPr>
          <a:xfrm>
            <a:off x="4526280" y="2651760"/>
            <a:ext cx="3154680" cy="329184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Inside: own matches, per-set shot tallies, partner/opponent, score</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Outside: trajectory data, biometrics, pro comparisons, opponent scouting</a:t>
            </a:r>
            <a:endParaRPr lang="en-US" sz="1180" dirty="0"/>
          </a:p>
        </p:txBody>
      </p:sp>
      <p:sp>
        <p:nvSpPr>
          <p:cNvPr id="18" name="Shape 15"/>
          <p:cNvSpPr/>
          <p:nvPr/>
        </p:nvSpPr>
        <p:spPr>
          <a:xfrm>
            <a:off x="8092440" y="1417320"/>
            <a:ext cx="3611880" cy="4709160"/>
          </a:xfrm>
          <a:prstGeom prst="roundRect">
            <a:avLst>
              <a:gd name="adj" fmla="val 2025"/>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8321040" y="1645920"/>
            <a:ext cx="1463040" cy="292608"/>
          </a:xfrm>
          <a:prstGeom prst="roundRect">
            <a:avLst>
              <a:gd name="adj" fmla="val 50000"/>
            </a:avLst>
          </a:prstGeom>
          <a:solidFill>
            <a:srgbClr val="BAE6FD"/>
          </a:solidFill>
          <a:ln/>
        </p:spPr>
      </p:sp>
      <p:sp>
        <p:nvSpPr>
          <p:cNvPr id="20" name="Text 17"/>
          <p:cNvSpPr/>
          <p:nvPr/>
        </p:nvSpPr>
        <p:spPr>
          <a:xfrm>
            <a:off x="8321040" y="1645920"/>
            <a:ext cx="1463040" cy="292608"/>
          </a:xfrm>
          <a:prstGeom prst="rect">
            <a:avLst/>
          </a:prstGeom>
          <a:noFill/>
          <a:ln/>
        </p:spPr>
        <p:txBody>
          <a:bodyPr wrap="square" lIns="0" tIns="0" rIns="0" bIns="0"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Focus</a:t>
            </a:r>
            <a:endParaRPr lang="en-US" sz="1050" dirty="0"/>
          </a:p>
        </p:txBody>
      </p:sp>
      <p:sp>
        <p:nvSpPr>
          <p:cNvPr id="21" name="Text 18"/>
          <p:cNvSpPr/>
          <p:nvPr/>
        </p:nvSpPr>
        <p:spPr>
          <a:xfrm>
            <a:off x="8321040" y="2075688"/>
            <a:ext cx="3154680" cy="50292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What we make impossible to ignore.</a:t>
            </a:r>
            <a:endParaRPr lang="en-US" sz="1200" dirty="0"/>
          </a:p>
        </p:txBody>
      </p:sp>
      <p:sp>
        <p:nvSpPr>
          <p:cNvPr id="22" name="Text 19"/>
          <p:cNvSpPr/>
          <p:nvPr/>
        </p:nvSpPr>
        <p:spPr>
          <a:xfrm>
            <a:off x="8321040" y="2651760"/>
            <a:ext cx="3154680" cy="329184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Last-10-match win rate — above the fold</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Net shot balance (winners − errors)</a:t>
            </a:r>
            <a:endParaRPr lang="en-US" sz="1180" dirty="0"/>
          </a:p>
          <a:p>
            <a:pPr marL="228600" indent="-228600">
              <a:lnSpc>
                <a:spcPct val="108000"/>
              </a:lnSpc>
              <a:spcAft>
                <a:spcPts val="1000"/>
              </a:spcAft>
              <a:buSzPct val="100000"/>
              <a:buChar char="▪"/>
            </a:pPr>
            <a:r>
              <a:rPr lang="en-US" sz="1180" dirty="0">
                <a:solidFill>
                  <a:srgbClr val="1F2937"/>
                </a:solidFill>
                <a:latin typeface="Calibri" pitchFamily="34" charset="0"/>
                <a:ea typeface="Calibri" pitchFamily="34" charset="-122"/>
                <a:cs typeface="Calibri" pitchFamily="34" charset="-120"/>
              </a:rPr>
              <a:t>One plain-language insight, auto-generated</a:t>
            </a:r>
            <a:endParaRPr lang="en-US" sz="11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§1.6–1.7 RELEVANCE &amp; CORE MESSAGE</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Why it matters, and the one line that guides it</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§1 The Brief — slide 7/32</a:t>
            </a:r>
            <a:endParaRPr lang="en-US" sz="900" dirty="0"/>
          </a:p>
        </p:txBody>
      </p:sp>
      <p:sp>
        <p:nvSpPr>
          <p:cNvPr id="8" name="Shape 5"/>
          <p:cNvSpPr/>
          <p:nvPr/>
        </p:nvSpPr>
        <p:spPr>
          <a:xfrm>
            <a:off x="502920" y="1417320"/>
            <a:ext cx="26974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85800" y="1554480"/>
            <a:ext cx="233172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Timeliness</a:t>
            </a:r>
            <a:endParaRPr lang="en-US" sz="1350" dirty="0"/>
          </a:p>
        </p:txBody>
      </p:sp>
      <p:sp>
        <p:nvSpPr>
          <p:cNvPr id="10" name="Text 7"/>
          <p:cNvSpPr/>
          <p:nvPr/>
        </p:nvSpPr>
        <p:spPr>
          <a:xfrm>
            <a:off x="685800" y="1920240"/>
            <a:ext cx="2331720" cy="365760"/>
          </a:xfrm>
          <a:prstGeom prst="rect">
            <a:avLst/>
          </a:prstGeom>
          <a:noFill/>
          <a:ln/>
        </p:spPr>
        <p:txBody>
          <a:bodyPr wrap="square" lIns="0" tIns="0" rIns="0" bIns="0" rtlCol="0" anchor="ctr"/>
          <a:lstStyle/>
          <a:p>
            <a:pP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1" name="Text 8"/>
          <p:cNvSpPr/>
          <p:nvPr/>
        </p:nvSpPr>
        <p:spPr>
          <a:xfrm>
            <a:off x="685800" y="2377440"/>
            <a:ext cx="2331720" cy="1280160"/>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Opened right after or right before a match — actionable now.</a:t>
            </a:r>
            <a:endParaRPr lang="en-US" sz="1130" dirty="0"/>
          </a:p>
        </p:txBody>
      </p:sp>
      <p:sp>
        <p:nvSpPr>
          <p:cNvPr id="12" name="Shape 9"/>
          <p:cNvSpPr/>
          <p:nvPr/>
        </p:nvSpPr>
        <p:spPr>
          <a:xfrm>
            <a:off x="3346704" y="1417320"/>
            <a:ext cx="26974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3" name="Text 10"/>
          <p:cNvSpPr/>
          <p:nvPr/>
        </p:nvSpPr>
        <p:spPr>
          <a:xfrm>
            <a:off x="3529584" y="1554480"/>
            <a:ext cx="233172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Interestingness</a:t>
            </a:r>
            <a:endParaRPr lang="en-US" sz="1350" dirty="0"/>
          </a:p>
        </p:txBody>
      </p:sp>
      <p:sp>
        <p:nvSpPr>
          <p:cNvPr id="14" name="Text 11"/>
          <p:cNvSpPr/>
          <p:nvPr/>
        </p:nvSpPr>
        <p:spPr>
          <a:xfrm>
            <a:off x="3529584" y="1920240"/>
            <a:ext cx="2331720" cy="365760"/>
          </a:xfrm>
          <a:prstGeom prst="rect">
            <a:avLst/>
          </a:prstGeom>
          <a:noFill/>
          <a:ln/>
        </p:spPr>
        <p:txBody>
          <a:bodyPr wrap="square" lIns="0" tIns="0" rIns="0" bIns="0" rtlCol="0" anchor="ctr"/>
          <a:lstStyle/>
          <a:p>
            <a:pP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3529584" y="2377440"/>
            <a:ext cx="2331720" cy="1280160"/>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Confirms or contradicts a gut feeling — both outcomes are interesting.</a:t>
            </a:r>
            <a:endParaRPr lang="en-US" sz="1130" dirty="0"/>
          </a:p>
        </p:txBody>
      </p:sp>
      <p:sp>
        <p:nvSpPr>
          <p:cNvPr id="16" name="Shape 13"/>
          <p:cNvSpPr/>
          <p:nvPr/>
        </p:nvSpPr>
        <p:spPr>
          <a:xfrm>
            <a:off x="6190488" y="1417320"/>
            <a:ext cx="26974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7" name="Text 14"/>
          <p:cNvSpPr/>
          <p:nvPr/>
        </p:nvSpPr>
        <p:spPr>
          <a:xfrm>
            <a:off x="6373368" y="1554480"/>
            <a:ext cx="233172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Pertinence</a:t>
            </a:r>
            <a:endParaRPr lang="en-US" sz="1350" dirty="0"/>
          </a:p>
        </p:txBody>
      </p:sp>
      <p:sp>
        <p:nvSpPr>
          <p:cNvPr id="18" name="Text 15"/>
          <p:cNvSpPr/>
          <p:nvPr/>
        </p:nvSpPr>
        <p:spPr>
          <a:xfrm>
            <a:off x="6373368" y="1920240"/>
            <a:ext cx="2331720" cy="365760"/>
          </a:xfrm>
          <a:prstGeom prst="rect">
            <a:avLst/>
          </a:prstGeom>
          <a:noFill/>
          <a:ln/>
        </p:spPr>
        <p:txBody>
          <a:bodyPr wrap="square" lIns="0" tIns="0" rIns="0" bIns="0" rtlCol="0" anchor="ctr"/>
          <a:lstStyle/>
          <a:p>
            <a:pP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9" name="Text 16"/>
          <p:cNvSpPr/>
          <p:nvPr/>
        </p:nvSpPr>
        <p:spPr>
          <a:xfrm>
            <a:off x="6373368" y="2377440"/>
            <a:ext cx="2331720" cy="1280160"/>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The user's own data about themselves — maximum personal connection.</a:t>
            </a:r>
            <a:endParaRPr lang="en-US" sz="1130" dirty="0"/>
          </a:p>
        </p:txBody>
      </p:sp>
      <p:sp>
        <p:nvSpPr>
          <p:cNvPr id="20" name="Shape 17"/>
          <p:cNvSpPr/>
          <p:nvPr/>
        </p:nvSpPr>
        <p:spPr>
          <a:xfrm>
            <a:off x="9034272" y="1417320"/>
            <a:ext cx="26974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9217152" y="1554480"/>
            <a:ext cx="233172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Sufficiency</a:t>
            </a:r>
            <a:endParaRPr lang="en-US" sz="1350" dirty="0"/>
          </a:p>
        </p:txBody>
      </p:sp>
      <p:sp>
        <p:nvSpPr>
          <p:cNvPr id="22" name="Text 19"/>
          <p:cNvSpPr/>
          <p:nvPr/>
        </p:nvSpPr>
        <p:spPr>
          <a:xfrm>
            <a:off x="9217152" y="1920240"/>
            <a:ext cx="2331720" cy="365760"/>
          </a:xfrm>
          <a:prstGeom prst="rect">
            <a:avLst/>
          </a:prstGeom>
          <a:noFill/>
          <a:ln/>
        </p:spPr>
        <p:txBody>
          <a:bodyPr wrap="square" lIns="0" tIns="0" rIns="0" bIns="0" rtlCol="0" anchor="ctr"/>
          <a:lstStyle/>
          <a:p>
            <a:pP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23" name="Text 20"/>
          <p:cNvSpPr/>
          <p:nvPr/>
        </p:nvSpPr>
        <p:spPr>
          <a:xfrm>
            <a:off x="9217152" y="2377440"/>
            <a:ext cx="2331720" cy="1280160"/>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Deliberate trade-off — enough to decide, not padded to look complete.</a:t>
            </a:r>
            <a:endParaRPr lang="en-US" sz="1130" dirty="0"/>
          </a:p>
        </p:txBody>
      </p:sp>
      <p:sp>
        <p:nvSpPr>
          <p:cNvPr id="24" name="Shape 21"/>
          <p:cNvSpPr/>
          <p:nvPr/>
        </p:nvSpPr>
        <p:spPr>
          <a:xfrm>
            <a:off x="502920" y="3977640"/>
            <a:ext cx="11201400" cy="2148840"/>
          </a:xfrm>
          <a:prstGeom prst="roundRect">
            <a:avLst>
              <a:gd name="adj" fmla="val 3404"/>
            </a:avLst>
          </a:prstGeom>
          <a:solidFill>
            <a:srgbClr val="1F2937"/>
          </a:solidFill>
          <a:ln w="12700">
            <a:solidFill>
              <a:srgbClr val="CFD6DD"/>
            </a:solidFill>
            <a:prstDash val="solid"/>
          </a:ln>
        </p:spPr>
      </p:sp>
      <p:sp>
        <p:nvSpPr>
          <p:cNvPr id="25" name="Text 22"/>
          <p:cNvSpPr/>
          <p:nvPr/>
        </p:nvSpPr>
        <p:spPr>
          <a:xfrm>
            <a:off x="868680" y="4160520"/>
            <a:ext cx="10424160" cy="320040"/>
          </a:xfrm>
          <a:prstGeom prst="rect">
            <a:avLst/>
          </a:prstGeom>
          <a:noFill/>
          <a:ln/>
        </p:spPr>
        <p:txBody>
          <a:bodyPr wrap="square" lIns="0" tIns="0" rIns="0" bIns="0" rtlCol="0" anchor="ctr"/>
          <a:lstStyle/>
          <a:p>
            <a:pPr indent="0" marL="0">
              <a:buNone/>
            </a:pPr>
            <a:r>
              <a:rPr lang="en-US" sz="1300" b="1" dirty="0">
                <a:solidFill>
                  <a:srgbClr val="BAE6FD"/>
                </a:solidFill>
                <a:latin typeface="Calibri" pitchFamily="34" charset="0"/>
                <a:ea typeface="Calibri" pitchFamily="34" charset="-122"/>
                <a:cs typeface="Calibri" pitchFamily="34" charset="-120"/>
              </a:rPr>
              <a:t>Core message</a:t>
            </a:r>
            <a:endParaRPr lang="en-US" sz="1300" dirty="0"/>
          </a:p>
        </p:txBody>
      </p:sp>
      <p:sp>
        <p:nvSpPr>
          <p:cNvPr id="26" name="Text 23"/>
          <p:cNvSpPr/>
          <p:nvPr/>
        </p:nvSpPr>
        <p:spPr>
          <a:xfrm>
            <a:off x="868680" y="4526280"/>
            <a:ext cx="10424160" cy="822960"/>
          </a:xfrm>
          <a:prstGeom prst="rect">
            <a:avLst/>
          </a:prstGeom>
          <a:noFill/>
          <a:ln/>
        </p:spPr>
        <p:txBody>
          <a:bodyPr wrap="square" lIns="0" tIns="0" rIns="0" bIns="0" rtlCol="0" anchor="ctr"/>
          <a:lstStyle/>
          <a:p>
            <a:pPr indent="0" marL="0">
              <a:buNone/>
            </a:pPr>
            <a:r>
              <a:rPr lang="en-US" sz="3000" b="1" i="1" dirty="0">
                <a:solidFill>
                  <a:srgbClr val="FFFFFF"/>
                </a:solidFill>
                <a:latin typeface="Cambria" pitchFamily="34" charset="0"/>
                <a:ea typeface="Cambria" pitchFamily="34" charset="-122"/>
                <a:cs typeface="Cambria" pitchFamily="34" charset="-120"/>
              </a:rPr>
              <a:t>“You don’t have to feel your game — you can see it.”</a:t>
            </a:r>
            <a:endParaRPr lang="en-US" sz="3000" dirty="0"/>
          </a:p>
        </p:txBody>
      </p:sp>
      <p:sp>
        <p:nvSpPr>
          <p:cNvPr id="27" name="Text 24"/>
          <p:cNvSpPr/>
          <p:nvPr/>
        </p:nvSpPr>
        <p:spPr>
          <a:xfrm>
            <a:off x="868680" y="5440680"/>
            <a:ext cx="10424160" cy="548640"/>
          </a:xfrm>
          <a:prstGeom prst="rect">
            <a:avLst/>
          </a:prstGeom>
          <a:noFill/>
          <a:ln/>
        </p:spPr>
        <p:txBody>
          <a:bodyPr wrap="square" lIns="0" tIns="0" rIns="0" bIns="0" rtlCol="0" anchor="ctr"/>
          <a:lstStyle/>
          <a:p>
            <a:pPr indent="0" marL="0">
              <a:buNone/>
            </a:pPr>
            <a:r>
              <a:rPr lang="en-US" sz="1350" dirty="0">
                <a:solidFill>
                  <a:srgbClr val="D1D5DB"/>
                </a:solidFill>
                <a:latin typeface="Calibri" pitchFamily="34" charset="0"/>
                <a:ea typeface="Calibri" pitchFamily="34" charset="-122"/>
                <a:cs typeface="Calibri" pitchFamily="34" charset="-120"/>
              </a:rPr>
              <a:t>If a chart doesn't help the user see something they couldn't feel, it doesn't go in the app.</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§2.1 ACQUISITION</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The padelapi.org pipeline</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8/32</a:t>
            </a:r>
            <a:endParaRPr lang="en-US" sz="900" dirty="0"/>
          </a:p>
        </p:txBody>
      </p:sp>
      <p:sp>
        <p:nvSpPr>
          <p:cNvPr id="8" name="Text 5"/>
          <p:cNvSpPr/>
          <p:nvPr/>
        </p:nvSpPr>
        <p:spPr>
          <a:xfrm>
            <a:off x="502920" y="1417320"/>
            <a:ext cx="6492240" cy="3566160"/>
          </a:xfrm>
          <a:prstGeom prst="rect">
            <a:avLst/>
          </a:prstGeom>
          <a:noFill/>
          <a:ln/>
        </p:spPr>
        <p:txBody>
          <a:bodyPr wrap="square" lIns="0" tIns="0" rIns="0" bIns="0" rtlCol="0" anchor="t"/>
          <a:lstStyle/>
          <a:p>
            <a:pPr marL="228600" indent="-228600">
              <a:lnSpc>
                <a:spcPct val="108000"/>
              </a:lnSpc>
              <a:spcAft>
                <a:spcPts val="1400"/>
              </a:spcAft>
              <a:buSzPct val="100000"/>
              <a:buChar char="▪"/>
            </a:pPr>
            <a:r>
              <a:rPr lang="en-US" sz="1400" b="1" dirty="0">
                <a:solidFill>
                  <a:srgbClr val="1F2937"/>
                </a:solidFill>
                <a:latin typeface="Calibri" pitchFamily="34" charset="0"/>
                <a:ea typeface="Calibri" pitchFamily="34" charset="-122"/>
                <a:cs typeface="Calibri" pitchFamily="34" charset="-120"/>
              </a:rPr>
              <a:t>REST API, bearer token (PADELAPI_TOKEN) — fetch_padelapi.py</a:t>
            </a:r>
            <a:endParaRPr lang="en-US" sz="1400" dirty="0"/>
          </a:p>
          <a:p>
            <a:pPr marL="228600" indent="-228600">
              <a:lnSpc>
                <a:spcPct val="108000"/>
              </a:lnSpc>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10 requests/minute free-tier cap → 6.5s throttle between calls; HTTP 429 backs off 65×(attempt+1)s, up to 4 tries</a:t>
            </a:r>
            <a:endParaRPr lang="en-US" sz="1400" dirty="0"/>
          </a:p>
          <a:p>
            <a:pPr marL="228600" indent="-228600">
              <a:lnSpc>
                <a:spcPct val="108000"/>
              </a:lnSpc>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Rolling ~6-month data window: anything hidden returns literal "hidden_free_plan" → skipped, never guessed</a:t>
            </a:r>
            <a:endParaRPr lang="en-US" sz="1400" dirty="0"/>
          </a:p>
          <a:p>
            <a:pPr marL="228600" indent="-228600">
              <a:lnSpc>
                <a:spcPct val="108000"/>
              </a:lnSpc>
              <a:spcAft>
                <a:spcPts val="1400"/>
              </a:spcAft>
              <a:buSzPct val="100000"/>
              <a:buChar char="▪"/>
            </a:pPr>
            <a:r>
              <a:rPr lang="en-US" sz="1400" dirty="0">
                <a:solidFill>
                  <a:srgbClr val="1F2937"/>
                </a:solidFill>
                <a:latin typeface="Calibri" pitchFamily="34" charset="0"/>
                <a:ea typeface="Calibri" pitchFamily="34" charset="-122"/>
                <a:cs typeface="Calibri" pitchFamily="34" charset="-120"/>
              </a:rPr>
              <a:t>Restartable by design: each tournament archived to its own .jsonl file; a re-run skips what's already on disk</a:t>
            </a:r>
            <a:endParaRPr lang="en-US" sz="1400" dirty="0"/>
          </a:p>
        </p:txBody>
      </p:sp>
      <p:sp>
        <p:nvSpPr>
          <p:cNvPr id="9" name="Shape 6"/>
          <p:cNvSpPr/>
          <p:nvPr/>
        </p:nvSpPr>
        <p:spPr>
          <a:xfrm>
            <a:off x="502920" y="5120640"/>
            <a:ext cx="2084832" cy="1234440"/>
          </a:xfrm>
          <a:prstGeom prst="roundRect">
            <a:avLst>
              <a:gd name="adj" fmla="val 5926"/>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0" name="Text 7"/>
          <p:cNvSpPr/>
          <p:nvPr/>
        </p:nvSpPr>
        <p:spPr>
          <a:xfrm>
            <a:off x="640080" y="5230368"/>
            <a:ext cx="18288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26</a:t>
            </a:r>
            <a:endParaRPr lang="en-US" sz="2600" dirty="0"/>
          </a:p>
        </p:txBody>
      </p:sp>
      <p:sp>
        <p:nvSpPr>
          <p:cNvPr id="11" name="Text 8"/>
          <p:cNvSpPr/>
          <p:nvPr/>
        </p:nvSpPr>
        <p:spPr>
          <a:xfrm>
            <a:off x="640080" y="5806440"/>
            <a:ext cx="1828800" cy="502920"/>
          </a:xfrm>
          <a:prstGeom prst="rect">
            <a:avLst/>
          </a:prstGeom>
          <a:noFill/>
          <a:ln/>
        </p:spPr>
        <p:txBody>
          <a:bodyPr wrap="square" lIns="0" tIns="0" rIns="0" bIns="0" rtlCol="0" anchor="t"/>
          <a:lstStyle/>
          <a:p>
            <a:pPr indent="0" marL="0">
              <a:buNone/>
            </a:pPr>
            <a:r>
              <a:rPr lang="en-US" sz="1050" dirty="0">
                <a:solidFill>
                  <a:srgbClr val="E0F2FE"/>
                </a:solidFill>
                <a:latin typeface="Calibri" pitchFamily="34" charset="0"/>
                <a:ea typeface="Calibri" pitchFamily="34" charset="-122"/>
                <a:cs typeface="Calibri" pitchFamily="34" charset="-120"/>
              </a:rPr>
              <a:t>tournaments in season</a:t>
            </a:r>
            <a:endParaRPr lang="en-US" sz="1050" dirty="0"/>
          </a:p>
        </p:txBody>
      </p:sp>
      <p:sp>
        <p:nvSpPr>
          <p:cNvPr id="12" name="Shape 9"/>
          <p:cNvSpPr/>
          <p:nvPr/>
        </p:nvSpPr>
        <p:spPr>
          <a:xfrm>
            <a:off x="2706624" y="5120640"/>
            <a:ext cx="2084832" cy="1234440"/>
          </a:xfrm>
          <a:prstGeom prst="roundRect">
            <a:avLst>
              <a:gd name="adj" fmla="val 5926"/>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3" name="Text 10"/>
          <p:cNvSpPr/>
          <p:nvPr/>
        </p:nvSpPr>
        <p:spPr>
          <a:xfrm>
            <a:off x="2843784" y="5230368"/>
            <a:ext cx="18288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 / 13</a:t>
            </a:r>
            <a:endParaRPr lang="en-US" sz="2600" dirty="0"/>
          </a:p>
        </p:txBody>
      </p:sp>
      <p:sp>
        <p:nvSpPr>
          <p:cNvPr id="14" name="Text 11"/>
          <p:cNvSpPr/>
          <p:nvPr/>
        </p:nvSpPr>
        <p:spPr>
          <a:xfrm>
            <a:off x="2843784" y="5806440"/>
            <a:ext cx="1828800" cy="502920"/>
          </a:xfrm>
          <a:prstGeom prst="rect">
            <a:avLst/>
          </a:prstGeom>
          <a:noFill/>
          <a:ln/>
        </p:spPr>
        <p:txBody>
          <a:bodyPr wrap="square" lIns="0" tIns="0" rIns="0" bIns="0" rtlCol="0" anchor="t"/>
          <a:lstStyle/>
          <a:p>
            <a:pPr indent="0" marL="0">
              <a:buNone/>
            </a:pPr>
            <a:r>
              <a:rPr lang="en-US" sz="1050" dirty="0">
                <a:solidFill>
                  <a:srgbClr val="E0F2FE"/>
                </a:solidFill>
                <a:latin typeface="Calibri" pitchFamily="34" charset="0"/>
                <a:ea typeface="Calibri" pitchFamily="34" charset="-122"/>
                <a:cs typeface="Calibri" pitchFamily="34" charset="-120"/>
              </a:rPr>
              <a:t>played vs. not yet</a:t>
            </a:r>
            <a:endParaRPr lang="en-US" sz="1050" dirty="0"/>
          </a:p>
        </p:txBody>
      </p:sp>
      <p:sp>
        <p:nvSpPr>
          <p:cNvPr id="15" name="Shape 12"/>
          <p:cNvSpPr/>
          <p:nvPr/>
        </p:nvSpPr>
        <p:spPr>
          <a:xfrm>
            <a:off x="4910328" y="5120640"/>
            <a:ext cx="2084832" cy="1234440"/>
          </a:xfrm>
          <a:prstGeom prst="roundRect">
            <a:avLst>
              <a:gd name="adj" fmla="val 5926"/>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6" name="Text 13"/>
          <p:cNvSpPr/>
          <p:nvPr/>
        </p:nvSpPr>
        <p:spPr>
          <a:xfrm>
            <a:off x="5047488" y="5230368"/>
            <a:ext cx="18288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2,165</a:t>
            </a:r>
            <a:endParaRPr lang="en-US" sz="2600" dirty="0"/>
          </a:p>
        </p:txBody>
      </p:sp>
      <p:sp>
        <p:nvSpPr>
          <p:cNvPr id="17" name="Text 14"/>
          <p:cNvSpPr/>
          <p:nvPr/>
        </p:nvSpPr>
        <p:spPr>
          <a:xfrm>
            <a:off x="5047488" y="5806440"/>
            <a:ext cx="1828800" cy="502920"/>
          </a:xfrm>
          <a:prstGeom prst="rect">
            <a:avLst/>
          </a:prstGeom>
          <a:noFill/>
          <a:ln/>
        </p:spPr>
        <p:txBody>
          <a:bodyPr wrap="square" lIns="0" tIns="0" rIns="0" bIns="0" rtlCol="0" anchor="t"/>
          <a:lstStyle/>
          <a:p>
            <a:pPr indent="0" marL="0">
              <a:buNone/>
            </a:pPr>
            <a:r>
              <a:rPr lang="en-US" sz="1050" dirty="0">
                <a:solidFill>
                  <a:srgbClr val="E0F2FE"/>
                </a:solidFill>
                <a:latin typeface="Calibri" pitchFamily="34" charset="0"/>
                <a:ea typeface="Calibri" pitchFamily="34" charset="-122"/>
                <a:cs typeface="Calibri" pitchFamily="34" charset="-120"/>
              </a:rPr>
              <a:t>players fetched</a:t>
            </a:r>
            <a:endParaRPr lang="en-US" sz="1050" dirty="0"/>
          </a:p>
        </p:txBody>
      </p:sp>
      <p:sp>
        <p:nvSpPr>
          <p:cNvPr id="18" name="Shape 15"/>
          <p:cNvSpPr/>
          <p:nvPr/>
        </p:nvSpPr>
        <p:spPr>
          <a:xfrm>
            <a:off x="7269480" y="1417320"/>
            <a:ext cx="4434840" cy="4937760"/>
          </a:xfrm>
          <a:prstGeom prst="roundRect">
            <a:avLst>
              <a:gd name="adj" fmla="val 1649"/>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Text 16"/>
          <p:cNvSpPr/>
          <p:nvPr/>
        </p:nvSpPr>
        <p:spPr>
          <a:xfrm>
            <a:off x="7498080" y="1600200"/>
            <a:ext cx="402336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Season targeted</a:t>
            </a:r>
            <a:endParaRPr lang="en-US" sz="1350" dirty="0"/>
          </a:p>
        </p:txBody>
      </p:sp>
      <p:sp>
        <p:nvSpPr>
          <p:cNvPr id="20" name="Text 17"/>
          <p:cNvSpPr/>
          <p:nvPr/>
        </p:nvSpPr>
        <p:spPr>
          <a:xfrm>
            <a:off x="7498080" y="1965960"/>
            <a:ext cx="4023360" cy="2011680"/>
          </a:xfrm>
          <a:prstGeom prst="rect">
            <a:avLst/>
          </a:prstGeom>
          <a:noFill/>
          <a:ln/>
        </p:spPr>
        <p:txBody>
          <a:bodyPr wrap="square" lIns="0" tIns="0" rIns="0" bIns="0" rtlCol="0" anchor="t"/>
          <a:lstStyle/>
          <a:p>
            <a:pPr indent="0" marL="0">
              <a:lnSpc>
                <a:spcPct val="115000"/>
              </a:lnSpc>
              <a:buNone/>
            </a:pPr>
            <a:r>
              <a:rPr lang="en-US" sz="1130" dirty="0">
                <a:solidFill>
                  <a:srgbClr val="6B7280"/>
                </a:solidFill>
                <a:latin typeface="Calibri" pitchFamily="34" charset="0"/>
                <a:ea typeface="Calibri" pitchFamily="34" charset="-122"/>
                <a:cs typeface="Calibri" pitchFamily="34" charset="-120"/>
              </a:rPr>
              <a:t>“Premier Padel 2026” (season id 5) — Riyadh P1, Gijón P2, Cancún P2, Miami P1, Newgiza P2, Brussels P2, Asunción P2, Buenos Aires P1, Italy Major, Valencia P1, Valladolid P2, Bordeaux P2, Málaga P1 played; 13 more (Madrid, Paris Major, Dubai, Barcelona Finals...) not yet played at fetch time.</a:t>
            </a:r>
            <a:endParaRPr lang="en-US" sz="1130" dirty="0"/>
          </a:p>
        </p:txBody>
      </p:sp>
      <p:sp>
        <p:nvSpPr>
          <p:cNvPr id="21" name="Text 18"/>
          <p:cNvSpPr/>
          <p:nvPr/>
        </p:nvSpPr>
        <p:spPr>
          <a:xfrm>
            <a:off x="7498080" y="4114800"/>
            <a:ext cx="4023360" cy="822960"/>
          </a:xfrm>
          <a:prstGeom prst="rect">
            <a:avLst/>
          </a:prstGeom>
          <a:noFill/>
          <a:ln/>
        </p:spPr>
        <p:txBody>
          <a:bodyPr wrap="square" lIns="0" tIns="0" rIns="0" bIns="0" rtlCol="0" anchor="t"/>
          <a:lstStyle/>
          <a:p>
            <a:pPr indent="0" marL="0">
              <a:buNone/>
            </a:pPr>
            <a:r>
              <a:rPr lang="en-US" sz="1200" i="1" dirty="0">
                <a:solidFill>
                  <a:srgbClr val="0369A1"/>
                </a:solidFill>
                <a:latin typeface="Calibri" pitchFamily="34" charset="0"/>
                <a:ea typeface="Calibri" pitchFamily="34" charset="-122"/>
                <a:cs typeface="Calibri" pitchFamily="34" charset="-120"/>
              </a:rPr>
              <a:t>This 13/13 split isn't a bug — it's the honest state of a season in progress.</a:t>
            </a:r>
            <a:endParaRPr lang="en-US" sz="1200" dirty="0"/>
          </a:p>
        </p:txBody>
      </p:sp>
      <p:sp>
        <p:nvSpPr>
          <p:cNvPr id="22" name="Text 19"/>
          <p:cNvSpPr/>
          <p:nvPr/>
        </p:nvSpPr>
        <p:spPr>
          <a:xfrm>
            <a:off x="7498080" y="5166360"/>
            <a:ext cx="4023360" cy="1005840"/>
          </a:xfrm>
          <a:prstGeom prst="rect">
            <a:avLst/>
          </a:prstGeom>
          <a:noFill/>
          <a:ln/>
        </p:spPr>
        <p:txBody>
          <a:bodyPr wrap="square" lIns="0" tIns="0" rIns="0" bIns="0" rtlCol="0" anchor="t"/>
          <a:lstStyle/>
          <a:p>
            <a:pPr indent="0" marL="0">
              <a:buNone/>
            </a:pPr>
            <a:r>
              <a:rPr lang="en-US" sz="1000" i="1" dirty="0">
                <a:solidFill>
                  <a:srgbClr val="9AA3AD"/>
                </a:solidFill>
                <a:latin typeface="Calibri" pitchFamily="34" charset="0"/>
                <a:ea typeface="Calibri" pitchFamily="34" charset="-122"/>
                <a:cs typeface="Calibri" pitchFamily="34" charset="-120"/>
              </a:rPr>
              <a:t>Source: 02_Data/fetch_padelapi.py · real/fetch_log.txt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§2.2–2.3 RAW ARCHIVING &amp; EXAMINATION</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The score-format discovery</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9/32</a:t>
            </a:r>
            <a:endParaRPr lang="en-US" sz="900" dirty="0"/>
          </a:p>
        </p:txBody>
      </p:sp>
      <p:sp>
        <p:nvSpPr>
          <p:cNvPr id="8" name="Shape 5"/>
          <p:cNvSpPr/>
          <p:nvPr/>
        </p:nvSpPr>
        <p:spPr>
          <a:xfrm>
            <a:off x="502920" y="1417320"/>
            <a:ext cx="5440680" cy="1965960"/>
          </a:xfrm>
          <a:prstGeom prst="roundRect">
            <a:avLst>
              <a:gd name="adj" fmla="val 3721"/>
            </a:avLst>
          </a:prstGeom>
          <a:solidFill>
            <a:srgbClr val="FECAC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731520" y="1581912"/>
            <a:ext cx="4983480" cy="320040"/>
          </a:xfrm>
          <a:prstGeom prst="rect">
            <a:avLst/>
          </a:prstGeom>
          <a:noFill/>
          <a:ln/>
        </p:spPr>
        <p:txBody>
          <a:bodyPr wrap="square" lIns="0" tIns="0" rIns="0" bIns="0" rtlCol="0" anchor="ctr"/>
          <a:lstStyle/>
          <a:p>
            <a:pPr indent="0" marL="0">
              <a:buNone/>
            </a:pPr>
            <a:r>
              <a:rPr lang="en-US" sz="1350" b="1" dirty="0">
                <a:solidFill>
                  <a:srgbClr val="EF4444"/>
                </a:solidFill>
                <a:latin typeface="Calibri" pitchFamily="34" charset="0"/>
                <a:ea typeface="Calibri" pitchFamily="34" charset="-122"/>
                <a:cs typeface="Calibri" pitchFamily="34" charset="-120"/>
              </a:rPr>
              <a:t>Assumed</a:t>
            </a:r>
            <a:endParaRPr lang="en-US" sz="1350" dirty="0"/>
          </a:p>
        </p:txBody>
      </p:sp>
      <p:sp>
        <p:nvSpPr>
          <p:cNvPr id="10" name="Text 7"/>
          <p:cNvSpPr/>
          <p:nvPr/>
        </p:nvSpPr>
        <p:spPr>
          <a:xfrm>
            <a:off x="731520" y="1947672"/>
            <a:ext cx="498348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"6-3, 4-6, 7-5"</a:t>
            </a:r>
            <a:endParaRPr lang="en-US" sz="1250" dirty="0"/>
          </a:p>
        </p:txBody>
      </p:sp>
      <p:sp>
        <p:nvSpPr>
          <p:cNvPr id="11" name="Text 8"/>
          <p:cNvSpPr/>
          <p:nvPr/>
        </p:nvSpPr>
        <p:spPr>
          <a:xfrm>
            <a:off x="731520" y="2587752"/>
            <a:ext cx="498348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 comma-separated display string — what the website shows</a:t>
            </a:r>
            <a:endParaRPr lang="en-US" sz="1150" dirty="0"/>
          </a:p>
        </p:txBody>
      </p:sp>
      <p:sp>
        <p:nvSpPr>
          <p:cNvPr id="12" name="Shape 9"/>
          <p:cNvSpPr/>
          <p:nvPr/>
        </p:nvSpPr>
        <p:spPr>
          <a:xfrm>
            <a:off x="6172200" y="1417320"/>
            <a:ext cx="5440680" cy="1965960"/>
          </a:xfrm>
          <a:prstGeom prst="roundRect">
            <a:avLst>
              <a:gd name="adj" fmla="val 3721"/>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3" name="Text 10"/>
          <p:cNvSpPr/>
          <p:nvPr/>
        </p:nvSpPr>
        <p:spPr>
          <a:xfrm>
            <a:off x="6400800" y="1581912"/>
            <a:ext cx="4983480" cy="320040"/>
          </a:xfrm>
          <a:prstGeom prst="rect">
            <a:avLst/>
          </a:prstGeom>
          <a:noFill/>
          <a:ln/>
        </p:spPr>
        <p:txBody>
          <a:bodyPr wrap="square" lIns="0" tIns="0" rIns="0" bIns="0" rtlCol="0" anchor="ctr"/>
          <a:lstStyle/>
          <a:p>
            <a:pPr indent="0" marL="0">
              <a:buNone/>
            </a:pPr>
            <a:r>
              <a:rPr lang="en-US" sz="1350" b="1" dirty="0">
                <a:solidFill>
                  <a:srgbClr val="0369A1"/>
                </a:solidFill>
                <a:latin typeface="Calibri" pitchFamily="34" charset="0"/>
                <a:ea typeface="Calibri" pitchFamily="34" charset="-122"/>
                <a:cs typeface="Calibri" pitchFamily="34" charset="-120"/>
              </a:rPr>
              <a:t>Actual</a:t>
            </a:r>
            <a:endParaRPr lang="en-US" sz="1350" dirty="0"/>
          </a:p>
        </p:txBody>
      </p:sp>
      <p:sp>
        <p:nvSpPr>
          <p:cNvPr id="14" name="Text 11"/>
          <p:cNvSpPr/>
          <p:nvPr/>
        </p:nvSpPr>
        <p:spPr>
          <a:xfrm>
            <a:off x="6400800" y="1947672"/>
            <a:ext cx="498348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[{"team_1":"6","team_2":"4"}, ...]</a:t>
            </a:r>
            <a:endParaRPr lang="en-US" sz="1250" dirty="0"/>
          </a:p>
        </p:txBody>
      </p:sp>
      <p:sp>
        <p:nvSpPr>
          <p:cNvPr id="15" name="Text 12"/>
          <p:cNvSpPr/>
          <p:nvPr/>
        </p:nvSpPr>
        <p:spPr>
          <a:xfrm>
            <a:off x="6400800" y="2587752"/>
            <a:ext cx="4983480" cy="7315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 JSON array of set objects — found only by reading raw archived responses</a:t>
            </a:r>
            <a:endParaRPr lang="en-US" sz="1150" dirty="0"/>
          </a:p>
        </p:txBody>
      </p:sp>
      <p:sp>
        <p:nvSpPr>
          <p:cNvPr id="16" name="Shape 13"/>
          <p:cNvSpPr/>
          <p:nvPr/>
        </p:nvSpPr>
        <p:spPr>
          <a:xfrm>
            <a:off x="502920" y="3611880"/>
            <a:ext cx="11201400" cy="1463040"/>
          </a:xfrm>
          <a:prstGeom prst="roundRect">
            <a:avLst>
              <a:gd name="adj" fmla="val 5000"/>
            </a:avLst>
          </a:prstGeom>
          <a:solidFill>
            <a:srgbClr val="1F2937"/>
          </a:solidFill>
          <a:ln w="12700">
            <a:solidFill>
              <a:srgbClr val="CFD6DD"/>
            </a:solidFill>
            <a:prstDash val="solid"/>
          </a:ln>
        </p:spPr>
      </p:sp>
      <p:sp>
        <p:nvSpPr>
          <p:cNvPr id="17" name="Text 14"/>
          <p:cNvSpPr/>
          <p:nvPr/>
        </p:nvSpPr>
        <p:spPr>
          <a:xfrm>
            <a:off x="777240" y="3749040"/>
            <a:ext cx="10652760" cy="274320"/>
          </a:xfrm>
          <a:prstGeom prst="rect">
            <a:avLst/>
          </a:prstGeom>
          <a:noFill/>
          <a:ln/>
        </p:spPr>
        <p:txBody>
          <a:bodyPr wrap="square" lIns="0" tIns="0" rIns="0" bIns="0" rtlCol="0" anchor="ctr"/>
          <a:lstStyle/>
          <a:p>
            <a:pPr indent="0" marL="0">
              <a:buNone/>
            </a:pPr>
            <a:r>
              <a:rPr lang="en-US" sz="1200" b="1" dirty="0">
                <a:solidFill>
                  <a:srgbClr val="BAE6FD"/>
                </a:solidFill>
                <a:latin typeface="Courier New" pitchFamily="34" charset="0"/>
                <a:ea typeface="Courier New" pitchFamily="34" charset="-122"/>
                <a:cs typeface="Courier New" pitchFamily="34" charset="-120"/>
              </a:rPr>
              <a:t>def sets_from_score(score):  # build_real_csv.py</a:t>
            </a:r>
            <a:endParaRPr lang="en-US" sz="1200" dirty="0"/>
          </a:p>
        </p:txBody>
      </p:sp>
      <p:sp>
        <p:nvSpPr>
          <p:cNvPr id="18" name="Text 15"/>
          <p:cNvSpPr/>
          <p:nvPr/>
        </p:nvSpPr>
        <p:spPr>
          <a:xfrm>
            <a:off x="777240" y="4069080"/>
            <a:ext cx="10652760" cy="82296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    if isinstance(score, list):</a:t>
            </a:r>
            <a:endParaRPr lang="en-US" sz="1200" dirty="0"/>
          </a:p>
          <a:p>
            <a:pPr indent="0" marL="0">
              <a:buNone/>
            </a:pPr>
            <a:r>
              <a:rPr lang="en-US" sz="1200" dirty="0">
                <a:solidFill>
                  <a:srgbClr val="D1D5DB"/>
                </a:solidFill>
                <a:latin typeface="Courier New" pitchFamily="34" charset="0"/>
                <a:ea typeface="Courier New" pitchFamily="34" charset="-122"/>
                <a:cs typeface="Courier New" pitchFamily="34" charset="-120"/>
              </a:rPr>
              <a:t>        for s in score: out.append(f"{s['team_1']}-{s['team_2']}")</a:t>
            </a:r>
            <a:endParaRPr lang="en-US" sz="1200" dirty="0"/>
          </a:p>
        </p:txBody>
      </p:sp>
      <p:sp>
        <p:nvSpPr>
          <p:cNvPr id="19" name="Text 16"/>
          <p:cNvSpPr/>
          <p:nvPr/>
        </p:nvSpPr>
        <p:spPr>
          <a:xfrm>
            <a:off x="502920" y="5257800"/>
            <a:ext cx="11201400" cy="141732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80" b="1" dirty="0">
                <a:solidFill>
                  <a:srgbClr val="1F2937"/>
                </a:solidFill>
                <a:latin typeface="Calibri" pitchFamily="34" charset="0"/>
                <a:ea typeface="Calibri" pitchFamily="34" charset="-122"/>
                <a:cs typeface="Calibri" pitchFamily="34" charset="-120"/>
              </a:rPr>
              <a:t>Found during examination — reading raw *.jsonl, not trusting the assumption</a:t>
            </a:r>
            <a:endParaRPr lang="en-US" sz="1280" dirty="0"/>
          </a:p>
          <a:p>
            <a:pPr marL="228600" indent="-228600">
              <a:lnSpc>
                <a:spcPct val="108000"/>
              </a:lnSpc>
              <a:spcAft>
                <a:spcPts val="900"/>
              </a:spcAft>
              <a:buSzPct val="100000"/>
              <a:buChar char="▪"/>
            </a:pPr>
            <a:r>
              <a:rPr lang="en-US" sz="1280" dirty="0">
                <a:solidFill>
                  <a:srgbClr val="1F2937"/>
                </a:solidFill>
                <a:latin typeface="Calibri" pitchFamily="34" charset="0"/>
                <a:ea typeface="Calibri" pitchFamily="34" charset="-122"/>
                <a:cs typeface="Calibri" pitchFamily="34" charset="-120"/>
              </a:rPr>
              <a:t>Fixed in one file, zero re-fetching: build_real_csv.py re-run against the already-archived JSON</a:t>
            </a:r>
            <a:endParaRPr lang="en-US" sz="1280" dirty="0"/>
          </a:p>
          <a:p>
            <a:pPr marL="228600" indent="-228600">
              <a:lnSpc>
                <a:spcPct val="108000"/>
              </a:lnSpc>
              <a:spcAft>
                <a:spcPts val="900"/>
              </a:spcAft>
              <a:buSzPct val="100000"/>
              <a:buChar char="▪"/>
            </a:pPr>
            <a:r>
              <a:rPr lang="en-US" sz="1280" dirty="0">
                <a:solidFill>
                  <a:srgbClr val="1F2937"/>
                </a:solidFill>
                <a:latin typeface="Calibri" pitchFamily="34" charset="0"/>
                <a:ea typeface="Calibri" pitchFamily="34" charset="-122"/>
                <a:cs typeface="Calibri" pitchFamily="34" charset="-120"/>
              </a:rPr>
              <a:t>hidden_free_plan values dropped, never guessed; only status ∈ {finished, ended, retired, walkover} kept (776 rows)</a:t>
            </a:r>
            <a:endParaRPr lang="en-US" sz="12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§2.4 TRANSFORMATION</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From raw JSON to clean, traceable CSVs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10/32</a:t>
            </a:r>
            <a:endParaRPr lang="en-US" sz="900" dirty="0"/>
          </a:p>
        </p:txBody>
      </p:sp>
      <p:sp>
        <p:nvSpPr>
          <p:cNvPr id="8" name="Shape 5"/>
          <p:cNvSpPr/>
          <p:nvPr/>
        </p:nvSpPr>
        <p:spPr>
          <a:xfrm>
            <a:off x="502920" y="1463040"/>
            <a:ext cx="2651760" cy="1417320"/>
          </a:xfrm>
          <a:prstGeom prst="roundRect">
            <a:avLst>
              <a:gd name="adj" fmla="val 5161"/>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67512" y="1627632"/>
            <a:ext cx="2322576"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776</a:t>
            </a:r>
            <a:endParaRPr lang="en-US" sz="3000" dirty="0"/>
          </a:p>
        </p:txBody>
      </p:sp>
      <p:sp>
        <p:nvSpPr>
          <p:cNvPr id="10" name="Text 7"/>
          <p:cNvSpPr/>
          <p:nvPr/>
        </p:nvSpPr>
        <p:spPr>
          <a:xfrm>
            <a:off x="667512" y="2304288"/>
            <a:ext cx="2322576" cy="45720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match rows</a:t>
            </a:r>
            <a:endParaRPr lang="en-US" sz="1150" dirty="0"/>
          </a:p>
        </p:txBody>
      </p:sp>
      <p:sp>
        <p:nvSpPr>
          <p:cNvPr id="11" name="Shape 8"/>
          <p:cNvSpPr/>
          <p:nvPr/>
        </p:nvSpPr>
        <p:spPr>
          <a:xfrm>
            <a:off x="3310128" y="1463040"/>
            <a:ext cx="2651760" cy="1417320"/>
          </a:xfrm>
          <a:prstGeom prst="roundRect">
            <a:avLst>
              <a:gd name="adj" fmla="val 5161"/>
            </a:avLst>
          </a:prstGeom>
          <a:solidFill>
            <a:srgbClr val="0369A1"/>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3474720" y="1627632"/>
            <a:ext cx="2322576"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13</a:t>
            </a:r>
            <a:endParaRPr lang="en-US" sz="3000" dirty="0"/>
          </a:p>
        </p:txBody>
      </p:sp>
      <p:sp>
        <p:nvSpPr>
          <p:cNvPr id="13" name="Text 10"/>
          <p:cNvSpPr/>
          <p:nvPr/>
        </p:nvSpPr>
        <p:spPr>
          <a:xfrm>
            <a:off x="3474720" y="2304288"/>
            <a:ext cx="2322576" cy="45720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tournaments played</a:t>
            </a:r>
            <a:endParaRPr lang="en-US" sz="1150" dirty="0"/>
          </a:p>
        </p:txBody>
      </p:sp>
      <p:sp>
        <p:nvSpPr>
          <p:cNvPr id="14" name="Shape 11"/>
          <p:cNvSpPr/>
          <p:nvPr/>
        </p:nvSpPr>
        <p:spPr>
          <a:xfrm>
            <a:off x="6117336" y="1463040"/>
            <a:ext cx="2651760" cy="1417320"/>
          </a:xfrm>
          <a:prstGeom prst="roundRect">
            <a:avLst>
              <a:gd name="adj" fmla="val 5161"/>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6281928" y="1627632"/>
            <a:ext cx="2322576"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2,165</a:t>
            </a:r>
            <a:endParaRPr lang="en-US" sz="3000" dirty="0"/>
          </a:p>
        </p:txBody>
      </p:sp>
      <p:sp>
        <p:nvSpPr>
          <p:cNvPr id="16" name="Text 13"/>
          <p:cNvSpPr/>
          <p:nvPr/>
        </p:nvSpPr>
        <p:spPr>
          <a:xfrm>
            <a:off x="6281928" y="2304288"/>
            <a:ext cx="2322576" cy="45720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player rows</a:t>
            </a:r>
            <a:endParaRPr lang="en-US" sz="1150" dirty="0"/>
          </a:p>
        </p:txBody>
      </p:sp>
      <p:sp>
        <p:nvSpPr>
          <p:cNvPr id="17" name="Shape 14"/>
          <p:cNvSpPr/>
          <p:nvPr/>
        </p:nvSpPr>
        <p:spPr>
          <a:xfrm>
            <a:off x="8924544" y="1463040"/>
            <a:ext cx="2651760" cy="1417320"/>
          </a:xfrm>
          <a:prstGeom prst="roundRect">
            <a:avLst>
              <a:gd name="adj" fmla="val 5161"/>
            </a:avLst>
          </a:prstGeom>
          <a:solidFill>
            <a:srgbClr val="0369A1"/>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9089136" y="1627632"/>
            <a:ext cx="2322576"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R64→F</a:t>
            </a:r>
            <a:endParaRPr lang="en-US" sz="3000" dirty="0"/>
          </a:p>
        </p:txBody>
      </p:sp>
      <p:sp>
        <p:nvSpPr>
          <p:cNvPr id="19" name="Text 16"/>
          <p:cNvSpPr/>
          <p:nvPr/>
        </p:nvSpPr>
        <p:spPr>
          <a:xfrm>
            <a:off x="9089136" y="2304288"/>
            <a:ext cx="2322576" cy="45720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round coverage</a:t>
            </a:r>
            <a:endParaRPr lang="en-US" sz="1150" dirty="0"/>
          </a:p>
        </p:txBody>
      </p:sp>
      <p:sp>
        <p:nvSpPr>
          <p:cNvPr id="20" name="Shape 17"/>
          <p:cNvSpPr/>
          <p:nvPr/>
        </p:nvSpPr>
        <p:spPr>
          <a:xfrm>
            <a:off x="502920" y="3108960"/>
            <a:ext cx="11201400" cy="2834640"/>
          </a:xfrm>
          <a:prstGeom prst="roundRect">
            <a:avLst>
              <a:gd name="adj" fmla="val 258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777240" y="3291840"/>
            <a:ext cx="1060704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build_real_csv.py — reads only real/raw/*.jsonl, never the network</a:t>
            </a:r>
            <a:endParaRPr lang="en-US" sz="1400" dirty="0"/>
          </a:p>
        </p:txBody>
      </p:sp>
      <p:sp>
        <p:nvSpPr>
          <p:cNvPr id="22" name="Text 19"/>
          <p:cNvSpPr/>
          <p:nvPr/>
        </p:nvSpPr>
        <p:spPr>
          <a:xfrm>
            <a:off x="777240" y="3703320"/>
            <a:ext cx="10607040" cy="2103120"/>
          </a:xfrm>
          <a:prstGeom prst="rect">
            <a:avLst/>
          </a:prstGeom>
          <a:noFill/>
          <a:ln/>
        </p:spPr>
        <p:txBody>
          <a:bodyPr wrap="square" lIns="0" tIns="0" rIns="0" bIns="0" rtlCol="0" anchor="t"/>
          <a:lstStyle/>
          <a:p>
            <a:pPr marL="228600" indent="-228600">
              <a:lnSpc>
                <a:spcPct val="108000"/>
              </a:lnSpc>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Per-match fields: id, date, tournament, tier, category, both teams (names + ids), side, seeds, winner, 3 set scores, duration, status, source string</a:t>
            </a:r>
            <a:endParaRPr lang="en-US" sz="1300" dirty="0"/>
          </a:p>
          <a:p>
            <a:pPr marL="228600" indent="-228600">
              <a:lnSpc>
                <a:spcPct val="108000"/>
              </a:lnSpc>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Player rows from the /players directory dump, falling back to "players seen in matches" if the directory pull failed — logged at run time</a:t>
            </a:r>
            <a:endParaRPr lang="en-US" sz="1300" dirty="0"/>
          </a:p>
          <a:p>
            <a:pPr marL="228600" indent="-228600">
              <a:lnSpc>
                <a:spcPct val="108000"/>
              </a:lnSpc>
              <a:spcAft>
                <a:spcPts val="1100"/>
              </a:spcAft>
              <a:buSzPct val="100000"/>
              <a:buChar char="▪"/>
            </a:pPr>
            <a:r>
              <a:rPr lang="en-US" sz="1300" dirty="0">
                <a:solidFill>
                  <a:srgbClr val="1F2937"/>
                </a:solidFill>
                <a:latin typeface="Calibri" pitchFamily="34" charset="0"/>
                <a:ea typeface="Calibri" pitchFamily="34" charset="-122"/>
                <a:cs typeface="Calibri" pitchFamily="34" charset="-120"/>
              </a:rPr>
              <a:t>Every row keeps a source string ("padelapi.org match &lt;id&gt;") — any number in the EDA traces back to one exact API record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§2.5 EXPLORATION — METHOD</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How we explored: 10 questions, no manual numbers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11/32</a:t>
            </a:r>
            <a:endParaRPr lang="en-US" sz="900" dirty="0"/>
          </a:p>
        </p:txBody>
      </p:sp>
      <p:sp>
        <p:nvSpPr>
          <p:cNvPr id="8" name="Shape 5"/>
          <p:cNvSpPr/>
          <p:nvPr/>
        </p:nvSpPr>
        <p:spPr>
          <a:xfrm>
            <a:off x="502920" y="1508760"/>
            <a:ext cx="2514600" cy="1371600"/>
          </a:xfrm>
          <a:prstGeom prst="roundRect">
            <a:avLst>
              <a:gd name="adj" fmla="val 533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40080" y="1645920"/>
            <a:ext cx="2240280" cy="1097280"/>
          </a:xfrm>
          <a:prstGeom prst="rect">
            <a:avLst/>
          </a:prstGeom>
          <a:noFill/>
          <a:ln/>
        </p:spPr>
        <p:txBody>
          <a:bodyPr wrap="square" lIns="0" tIns="0" rIns="0" bIns="0" rtlCol="0" anchor="ctr"/>
          <a:lstStyle/>
          <a:p>
            <a:pPr algn="ctr" indent="0" marL="0">
              <a:buNone/>
            </a:pPr>
            <a:r>
              <a:rPr lang="en-US" sz="1350" b="1" dirty="0">
                <a:solidFill>
                  <a:srgbClr val="1F2937"/>
                </a:solidFill>
                <a:latin typeface="Calibri" pitchFamily="34" charset="0"/>
                <a:ea typeface="Calibri" pitchFamily="34" charset="-122"/>
                <a:cs typeface="Calibri" pitchFamily="34" charset="-120"/>
              </a:rPr>
              <a:t>Acquisition</a:t>
            </a:r>
            <a:endParaRPr lang="en-US" sz="1350" dirty="0"/>
          </a:p>
          <a:p>
            <a:pPr algn="ctr" indent="0" marL="0">
              <a:buNone/>
            </a:pPr>
            <a:r>
              <a:rPr lang="en-US" sz="1350" b="1" dirty="0">
                <a:solidFill>
                  <a:srgbClr val="1F2937"/>
                </a:solidFill>
                <a:latin typeface="Calibri" pitchFamily="34" charset="0"/>
                <a:ea typeface="Calibri" pitchFamily="34" charset="-122"/>
                <a:cs typeface="Calibri" pitchFamily="34" charset="-120"/>
              </a:rPr>
              <a:t>(network)</a:t>
            </a:r>
            <a:endParaRPr lang="en-US" sz="1350" dirty="0"/>
          </a:p>
        </p:txBody>
      </p:sp>
      <p:sp>
        <p:nvSpPr>
          <p:cNvPr id="10" name="Text 7"/>
          <p:cNvSpPr/>
          <p:nvPr/>
        </p:nvSpPr>
        <p:spPr>
          <a:xfrm>
            <a:off x="3017520" y="1920240"/>
            <a:ext cx="320040" cy="548640"/>
          </a:xfrm>
          <a:prstGeom prst="rect">
            <a:avLst/>
          </a:prstGeom>
          <a:noFill/>
          <a:ln/>
        </p:spPr>
        <p:txBody>
          <a:bodyPr wrap="square" lIns="0" tIns="0" rIns="0" bIns="0" rtlCol="0" anchor="ctr"/>
          <a:lstStyle/>
          <a:p>
            <a:pPr algn="ctr" indent="0" marL="0">
              <a:buNone/>
            </a:pPr>
            <a:r>
              <a:rPr lang="en-US" sz="2200" dirty="0">
                <a:solidFill>
                  <a:srgbClr val="0EA5E9"/>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337560" y="1508760"/>
            <a:ext cx="2514600" cy="1371600"/>
          </a:xfrm>
          <a:prstGeom prst="roundRect">
            <a:avLst>
              <a:gd name="adj" fmla="val 533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3474720" y="1645920"/>
            <a:ext cx="2240280" cy="1097280"/>
          </a:xfrm>
          <a:prstGeom prst="rect">
            <a:avLst/>
          </a:prstGeom>
          <a:noFill/>
          <a:ln/>
        </p:spPr>
        <p:txBody>
          <a:bodyPr wrap="square" lIns="0" tIns="0" rIns="0" bIns="0" rtlCol="0" anchor="ctr"/>
          <a:lstStyle/>
          <a:p>
            <a:pPr algn="ctr" indent="0" marL="0">
              <a:buNone/>
            </a:pPr>
            <a:r>
              <a:rPr lang="en-US" sz="1350" b="1" dirty="0">
                <a:solidFill>
                  <a:srgbClr val="1F2937"/>
                </a:solidFill>
                <a:latin typeface="Calibri" pitchFamily="34" charset="0"/>
                <a:ea typeface="Calibri" pitchFamily="34" charset="-122"/>
                <a:cs typeface="Calibri" pitchFamily="34" charset="-120"/>
              </a:rPr>
              <a:t>Raw archiving</a:t>
            </a:r>
            <a:endParaRPr lang="en-US" sz="1350" dirty="0"/>
          </a:p>
          <a:p>
            <a:pPr algn="ctr" indent="0" marL="0">
              <a:buNone/>
            </a:pPr>
            <a:r>
              <a:rPr lang="en-US" sz="1350" b="1" dirty="0">
                <a:solidFill>
                  <a:srgbClr val="1F2937"/>
                </a:solidFill>
                <a:latin typeface="Calibri" pitchFamily="34" charset="0"/>
                <a:ea typeface="Calibri" pitchFamily="34" charset="-122"/>
                <a:cs typeface="Calibri" pitchFamily="34" charset="-120"/>
              </a:rPr>
              <a:t>(*.jsonl)</a:t>
            </a:r>
            <a:endParaRPr lang="en-US" sz="1350" dirty="0"/>
          </a:p>
        </p:txBody>
      </p:sp>
      <p:sp>
        <p:nvSpPr>
          <p:cNvPr id="13" name="Text 10"/>
          <p:cNvSpPr/>
          <p:nvPr/>
        </p:nvSpPr>
        <p:spPr>
          <a:xfrm>
            <a:off x="5852160" y="1920240"/>
            <a:ext cx="320040" cy="548640"/>
          </a:xfrm>
          <a:prstGeom prst="rect">
            <a:avLst/>
          </a:prstGeom>
          <a:noFill/>
          <a:ln/>
        </p:spPr>
        <p:txBody>
          <a:bodyPr wrap="square" lIns="0" tIns="0" rIns="0" bIns="0" rtlCol="0" anchor="ctr"/>
          <a:lstStyle/>
          <a:p>
            <a:pPr algn="ctr" indent="0" marL="0">
              <a:buNone/>
            </a:pPr>
            <a:r>
              <a:rPr lang="en-US" sz="2200" dirty="0">
                <a:solidFill>
                  <a:srgbClr val="0EA5E9"/>
                </a:solidFill>
                <a:latin typeface="Calibri" pitchFamily="34" charset="0"/>
                <a:ea typeface="Calibri" pitchFamily="34" charset="-122"/>
                <a:cs typeface="Calibri" pitchFamily="34" charset="-120"/>
              </a:rPr>
              <a:t>→</a:t>
            </a:r>
            <a:endParaRPr lang="en-US" sz="2200" dirty="0"/>
          </a:p>
        </p:txBody>
      </p:sp>
      <p:sp>
        <p:nvSpPr>
          <p:cNvPr id="14" name="Shape 11"/>
          <p:cNvSpPr/>
          <p:nvPr/>
        </p:nvSpPr>
        <p:spPr>
          <a:xfrm>
            <a:off x="6172200" y="1508760"/>
            <a:ext cx="2514600" cy="1371600"/>
          </a:xfrm>
          <a:prstGeom prst="roundRect">
            <a:avLst>
              <a:gd name="adj" fmla="val 533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6309360" y="1645920"/>
            <a:ext cx="2240280" cy="1097280"/>
          </a:xfrm>
          <a:prstGeom prst="rect">
            <a:avLst/>
          </a:prstGeom>
          <a:noFill/>
          <a:ln/>
        </p:spPr>
        <p:txBody>
          <a:bodyPr wrap="square" lIns="0" tIns="0" rIns="0" bIns="0" rtlCol="0" anchor="ctr"/>
          <a:lstStyle/>
          <a:p>
            <a:pPr algn="ctr" indent="0" marL="0">
              <a:buNone/>
            </a:pPr>
            <a:r>
              <a:rPr lang="en-US" sz="1350" b="1" dirty="0">
                <a:solidFill>
                  <a:srgbClr val="1F2937"/>
                </a:solidFill>
                <a:latin typeface="Calibri" pitchFamily="34" charset="0"/>
                <a:ea typeface="Calibri" pitchFamily="34" charset="-122"/>
                <a:cs typeface="Calibri" pitchFamily="34" charset="-120"/>
              </a:rPr>
              <a:t>Transformation</a:t>
            </a:r>
            <a:endParaRPr lang="en-US" sz="1350" dirty="0"/>
          </a:p>
          <a:p>
            <a:pPr algn="ctr" indent="0" marL="0">
              <a:buNone/>
            </a:pPr>
            <a:r>
              <a:rPr lang="en-US" sz="1350" b="1" dirty="0">
                <a:solidFill>
                  <a:srgbClr val="1F2937"/>
                </a:solidFill>
                <a:latin typeface="Calibri" pitchFamily="34" charset="0"/>
                <a:ea typeface="Calibri" pitchFamily="34" charset="-122"/>
                <a:cs typeface="Calibri" pitchFamily="34" charset="-120"/>
              </a:rPr>
              <a:t>(clean CSVs)</a:t>
            </a:r>
            <a:endParaRPr lang="en-US" sz="1350" dirty="0"/>
          </a:p>
        </p:txBody>
      </p:sp>
      <p:sp>
        <p:nvSpPr>
          <p:cNvPr id="16" name="Text 13"/>
          <p:cNvSpPr/>
          <p:nvPr/>
        </p:nvSpPr>
        <p:spPr>
          <a:xfrm>
            <a:off x="8686800" y="1920240"/>
            <a:ext cx="320040" cy="548640"/>
          </a:xfrm>
          <a:prstGeom prst="rect">
            <a:avLst/>
          </a:prstGeom>
          <a:noFill/>
          <a:ln/>
        </p:spPr>
        <p:txBody>
          <a:bodyPr wrap="square" lIns="0" tIns="0" rIns="0" bIns="0" rtlCol="0" anchor="ctr"/>
          <a:lstStyle/>
          <a:p>
            <a:pPr algn="ctr" indent="0" marL="0">
              <a:buNone/>
            </a:pPr>
            <a:r>
              <a:rPr lang="en-US" sz="2200" dirty="0">
                <a:solidFill>
                  <a:srgbClr val="0EA5E9"/>
                </a:solidFill>
                <a:latin typeface="Calibri" pitchFamily="34" charset="0"/>
                <a:ea typeface="Calibri" pitchFamily="34" charset="-122"/>
                <a:cs typeface="Calibri" pitchFamily="34" charset="-120"/>
              </a:rPr>
              <a:t>→</a:t>
            </a:r>
            <a:endParaRPr lang="en-US" sz="2200" dirty="0"/>
          </a:p>
        </p:txBody>
      </p:sp>
      <p:sp>
        <p:nvSpPr>
          <p:cNvPr id="17" name="Shape 14"/>
          <p:cNvSpPr/>
          <p:nvPr/>
        </p:nvSpPr>
        <p:spPr>
          <a:xfrm>
            <a:off x="9006840" y="1508760"/>
            <a:ext cx="2514600" cy="1371600"/>
          </a:xfrm>
          <a:prstGeom prst="roundRect">
            <a:avLst>
              <a:gd name="adj" fmla="val 5333"/>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9144000" y="1645920"/>
            <a:ext cx="2240280" cy="10972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Exploration</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(eda_report.md)</a:t>
            </a:r>
            <a:endParaRPr lang="en-US" sz="1350" dirty="0"/>
          </a:p>
        </p:txBody>
      </p:sp>
      <p:sp>
        <p:nvSpPr>
          <p:cNvPr id="19" name="Text 16"/>
          <p:cNvSpPr/>
          <p:nvPr/>
        </p:nvSpPr>
        <p:spPr>
          <a:xfrm>
            <a:off x="502920" y="3291840"/>
            <a:ext cx="11201400" cy="1828800"/>
          </a:xfrm>
          <a:prstGeom prst="rect">
            <a:avLst/>
          </a:prstGeom>
          <a:noFill/>
          <a:ln/>
        </p:spPr>
        <p:txBody>
          <a:bodyPr wrap="square" lIns="0" tIns="0" rIns="0" bIns="0" rtlCol="0" anchor="t"/>
          <a:lstStyle/>
          <a:p>
            <a:pPr marL="228600" indent="-228600">
              <a:lnSpc>
                <a:spcPct val="108000"/>
              </a:lnSpc>
              <a:spcAft>
                <a:spcPts val="1300"/>
              </a:spcAft>
              <a:buSzPct val="100000"/>
              <a:buChar char="▪"/>
            </a:pPr>
            <a:r>
              <a:rPr lang="en-US" sz="1450" b="1" dirty="0">
                <a:solidFill>
                  <a:srgbClr val="1F2937"/>
                </a:solidFill>
                <a:latin typeface="Calibri" pitchFamily="34" charset="0"/>
                <a:ea typeface="Calibri" pitchFamily="34" charset="-122"/>
                <a:cs typeface="Calibri" pitchFamily="34" charset="-120"/>
              </a:rPr>
              <a:t>eda/exploration.py → eda_report.md + eda_results.json — reproducible, seeded, no manual numbers</a:t>
            </a:r>
            <a:endParaRPr lang="en-US" sz="1450" dirty="0"/>
          </a:p>
          <a:p>
            <a:pPr marL="228600" indent="-228600">
              <a:lnSpc>
                <a:spcPct val="108000"/>
              </a:lnSpc>
              <a:spcAft>
                <a:spcPts val="1300"/>
              </a:spcAft>
              <a:buSzPct val="100000"/>
              <a:buChar char="▪"/>
            </a:pPr>
            <a:r>
              <a:rPr lang="en-US" sz="1450" dirty="0">
                <a:solidFill>
                  <a:srgbClr val="1F2937"/>
                </a:solidFill>
                <a:latin typeface="Calibri" pitchFamily="34" charset="0"/>
                <a:ea typeface="Calibri" pitchFamily="34" charset="-122"/>
                <a:cs typeface="Calibri" pitchFamily="34" charset="-120"/>
              </a:rPr>
              <a:t>10 questions (E1–E10), two-sided tests at α = 0.05</a:t>
            </a:r>
            <a:endParaRPr lang="en-US" sz="1450" dirty="0"/>
          </a:p>
          <a:p>
            <a:pPr marL="228600" indent="-228600">
              <a:lnSpc>
                <a:spcPct val="108000"/>
              </a:lnSpc>
              <a:spcAft>
                <a:spcPts val="1300"/>
              </a:spcAft>
              <a:buSzPct val="100000"/>
              <a:buChar char="▪"/>
            </a:pPr>
            <a:r>
              <a:rPr lang="en-US" sz="1450" dirty="0">
                <a:solidFill>
                  <a:srgbClr val="1F2937"/>
                </a:solidFill>
                <a:latin typeface="Calibri" pitchFamily="34" charset="0"/>
                <a:ea typeface="Calibri" pitchFamily="34" charset="-122"/>
                <a:cs typeface="Calibri" pitchFamily="34" charset="-120"/>
              </a:rPr>
              <a:t>Wilson 95% confidence intervals on every reported proportion, not just the headline ones</a:t>
            </a:r>
            <a:endParaRPr lang="en-US" sz="1450" dirty="0"/>
          </a:p>
          <a:p>
            <a:pPr marL="228600" indent="-228600">
              <a:lnSpc>
                <a:spcPct val="108000"/>
              </a:lnSpc>
              <a:spcAft>
                <a:spcPts val="1300"/>
              </a:spcAft>
              <a:buSzPct val="100000"/>
              <a:buChar char="▪"/>
            </a:pPr>
            <a:r>
              <a:rPr lang="en-US" sz="1450" dirty="0">
                <a:solidFill>
                  <a:srgbClr val="1F2937"/>
                </a:solidFill>
                <a:latin typeface="Calibri" pitchFamily="34" charset="0"/>
                <a:ea typeface="Calibri" pitchFamily="34" charset="-122"/>
                <a:cs typeface="Calibri" pitchFamily="34" charset="-120"/>
              </a:rPr>
              <a:t>Each stage only reads its predecessor's output — never re-touches the network or re-guesses a value</a:t>
            </a:r>
            <a:endParaRPr lang="en-US" sz="1450" dirty="0"/>
          </a:p>
        </p:txBody>
      </p:sp>
      <p:sp>
        <p:nvSpPr>
          <p:cNvPr id="20" name="Shape 17"/>
          <p:cNvSpPr/>
          <p:nvPr/>
        </p:nvSpPr>
        <p:spPr>
          <a:xfrm>
            <a:off x="502920" y="5257800"/>
            <a:ext cx="11201400" cy="1051560"/>
          </a:xfrm>
          <a:prstGeom prst="roundRect">
            <a:avLst>
              <a:gd name="adj" fmla="val 6957"/>
            </a:avLst>
          </a:prstGeom>
          <a:solidFill>
            <a:srgbClr val="BAE6FD"/>
          </a:solidFill>
          <a:ln w="12700">
            <a:solidFill>
              <a:srgbClr val="CFD6DD"/>
            </a:solidFill>
            <a:prstDash val="solid"/>
          </a:ln>
        </p:spPr>
      </p:sp>
      <p:sp>
        <p:nvSpPr>
          <p:cNvPr id="21" name="Text 18"/>
          <p:cNvSpPr/>
          <p:nvPr/>
        </p:nvSpPr>
        <p:spPr>
          <a:xfrm>
            <a:off x="777240" y="5440680"/>
            <a:ext cx="10607040" cy="731520"/>
          </a:xfrm>
          <a:prstGeom prst="rect">
            <a:avLst/>
          </a:prstGeom>
          <a:noFill/>
          <a:ln/>
        </p:spPr>
        <p:txBody>
          <a:bodyPr wrap="square" lIns="0" tIns="0" rIns="0" bIns="0" rtlCol="0" anchor="ctr"/>
          <a:lstStyle/>
          <a:p>
            <a:pPr indent="0" marL="0">
              <a:buNone/>
            </a:pPr>
            <a:r>
              <a:rPr lang="en-US" sz="1300" i="1" dirty="0">
                <a:solidFill>
                  <a:srgbClr val="0369A1"/>
                </a:solidFill>
                <a:latin typeface="Calibri" pitchFamily="34" charset="0"/>
                <a:ea typeface="Calibri" pitchFamily="34" charset="-122"/>
                <a:cs typeface="Calibri" pitchFamily="34" charset="-120"/>
              </a:rPr>
              <a:t>Why separate scripts? Because this separation is exactly what let the score-parsing bug (previous slide) get fixed with one file and zero re-fetching.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§2.5 EXPLORATION — RESULTS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What we found: 7 findings, 3 honest nulls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12/32</a:t>
            </a:r>
            <a:endParaRPr lang="en-US" sz="900" dirty="0"/>
          </a:p>
        </p:txBody>
      </p:sp>
      <p:sp>
        <p:nvSpPr>
          <p:cNvPr id="8" name="Shape 5"/>
          <p:cNvSpPr/>
          <p:nvPr/>
        </p:nvSpPr>
        <p:spPr>
          <a:xfrm>
            <a:off x="502920" y="141732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85800" y="149047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E1 Momentum</a:t>
            </a:r>
            <a:endParaRPr lang="en-US" sz="1250" dirty="0"/>
          </a:p>
        </p:txBody>
      </p:sp>
      <p:sp>
        <p:nvSpPr>
          <p:cNvPr id="10" name="Text 7"/>
          <p:cNvSpPr/>
          <p:nvPr/>
        </p:nvSpPr>
        <p:spPr>
          <a:xfrm>
            <a:off x="685800" y="178308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86.2% → 49.3% once a match reaches a decider</a:t>
            </a:r>
            <a:endParaRPr lang="en-US" sz="1150" dirty="0"/>
          </a:p>
        </p:txBody>
      </p:sp>
      <p:sp>
        <p:nvSpPr>
          <p:cNvPr id="11" name="Shape 8"/>
          <p:cNvSpPr/>
          <p:nvPr/>
        </p:nvSpPr>
        <p:spPr>
          <a:xfrm>
            <a:off x="502920" y="228600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685800" y="235915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E2 Calibration</a:t>
            </a:r>
            <a:endParaRPr lang="en-US" sz="1250" dirty="0"/>
          </a:p>
        </p:txBody>
      </p:sp>
      <p:sp>
        <p:nvSpPr>
          <p:cNvPr id="13" name="Text 10"/>
          <p:cNvSpPr/>
          <p:nvPr/>
        </p:nvSpPr>
        <p:spPr>
          <a:xfrm>
            <a:off x="685800" y="265176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Favorite wins 78.5% (AUC 0.883)</a:t>
            </a:r>
            <a:endParaRPr lang="en-US" sz="1150" dirty="0"/>
          </a:p>
        </p:txBody>
      </p:sp>
      <p:sp>
        <p:nvSpPr>
          <p:cNvPr id="14" name="Shape 11"/>
          <p:cNvSpPr/>
          <p:nvPr/>
        </p:nvSpPr>
        <p:spPr>
          <a:xfrm>
            <a:off x="502920" y="315468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685800" y="322783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E3 Chemistry</a:t>
            </a:r>
            <a:endParaRPr lang="en-US" sz="1250" dirty="0"/>
          </a:p>
        </p:txBody>
      </p:sp>
      <p:sp>
        <p:nvSpPr>
          <p:cNvPr id="16" name="Text 13"/>
          <p:cNvSpPr/>
          <p:nvPr/>
        </p:nvSpPr>
        <p:spPr>
          <a:xfrm>
            <a:off x="685800" y="352044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39.8% → 68.2% win rate by reps together</a:t>
            </a:r>
            <a:endParaRPr lang="en-US" sz="1150" dirty="0"/>
          </a:p>
        </p:txBody>
      </p:sp>
      <p:sp>
        <p:nvSpPr>
          <p:cNvPr id="17" name="Shape 14"/>
          <p:cNvSpPr/>
          <p:nvPr/>
        </p:nvSpPr>
        <p:spPr>
          <a:xfrm>
            <a:off x="502920" y="402336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685800" y="409651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E4 Upsets</a:t>
            </a:r>
            <a:endParaRPr lang="en-US" sz="1250" dirty="0"/>
          </a:p>
        </p:txBody>
      </p:sp>
      <p:sp>
        <p:nvSpPr>
          <p:cNvPr id="19" name="Text 16"/>
          <p:cNvSpPr/>
          <p:nvPr/>
        </p:nvSpPr>
        <p:spPr>
          <a:xfrm>
            <a:off x="685800" y="438912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22.4% of seeded matches are upsets</a:t>
            </a:r>
            <a:endParaRPr lang="en-US" sz="1150" dirty="0"/>
          </a:p>
        </p:txBody>
      </p:sp>
      <p:sp>
        <p:nvSpPr>
          <p:cNvPr id="20" name="Shape 17"/>
          <p:cNvSpPr/>
          <p:nvPr/>
        </p:nvSpPr>
        <p:spPr>
          <a:xfrm>
            <a:off x="6172200" y="141732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6355080" y="149047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E7/E8 Efficiency</a:t>
            </a:r>
            <a:endParaRPr lang="en-US" sz="1250" dirty="0"/>
          </a:p>
        </p:txBody>
      </p:sp>
      <p:sp>
        <p:nvSpPr>
          <p:cNvPr id="22" name="Text 19"/>
          <p:cNvSpPr/>
          <p:nvPr/>
        </p:nvSpPr>
        <p:spPr>
          <a:xfrm>
            <a:off x="6355080" y="178308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Fewer games last round → 59.7% next-match win</a:t>
            </a:r>
            <a:endParaRPr lang="en-US" sz="1150" dirty="0"/>
          </a:p>
        </p:txBody>
      </p:sp>
      <p:sp>
        <p:nvSpPr>
          <p:cNvPr id="23" name="Shape 20"/>
          <p:cNvSpPr/>
          <p:nvPr/>
        </p:nvSpPr>
        <p:spPr>
          <a:xfrm>
            <a:off x="6172200" y="228600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4" name="Text 21"/>
          <p:cNvSpPr/>
          <p:nvPr/>
        </p:nvSpPr>
        <p:spPr>
          <a:xfrm>
            <a:off x="6355080" y="235915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Elo vs ranking</a:t>
            </a:r>
            <a:endParaRPr lang="en-US" sz="1250" dirty="0"/>
          </a:p>
        </p:txBody>
      </p:sp>
      <p:sp>
        <p:nvSpPr>
          <p:cNvPr id="25" name="Text 22"/>
          <p:cNvSpPr/>
          <p:nvPr/>
        </p:nvSpPr>
        <p:spPr>
          <a:xfrm>
            <a:off x="6355080" y="265176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Elo flags players the official points underrate</a:t>
            </a:r>
            <a:endParaRPr lang="en-US" sz="1150" dirty="0"/>
          </a:p>
        </p:txBody>
      </p:sp>
      <p:sp>
        <p:nvSpPr>
          <p:cNvPr id="26" name="Shape 23"/>
          <p:cNvSpPr/>
          <p:nvPr/>
        </p:nvSpPr>
        <p:spPr>
          <a:xfrm>
            <a:off x="6172200" y="3154680"/>
            <a:ext cx="5440680" cy="777240"/>
          </a:xfrm>
          <a:prstGeom prst="roundRect">
            <a:avLst>
              <a:gd name="adj" fmla="val 941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7" name="Text 24"/>
          <p:cNvSpPr/>
          <p:nvPr/>
        </p:nvSpPr>
        <p:spPr>
          <a:xfrm>
            <a:off x="6355080" y="3227832"/>
            <a:ext cx="5074920" cy="274320"/>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E10 Scoreline</a:t>
            </a:r>
            <a:endParaRPr lang="en-US" sz="1250" dirty="0"/>
          </a:p>
        </p:txBody>
      </p:sp>
      <p:sp>
        <p:nvSpPr>
          <p:cNvPr id="28" name="Text 25"/>
          <p:cNvSpPr/>
          <p:nvPr/>
        </p:nvSpPr>
        <p:spPr>
          <a:xfrm>
            <a:off x="6355080" y="3520440"/>
            <a:ext cx="507492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6-3 most common set; 10.6% include a 6-0 set</a:t>
            </a:r>
            <a:endParaRPr lang="en-US" sz="1150" dirty="0"/>
          </a:p>
        </p:txBody>
      </p:sp>
      <p:sp>
        <p:nvSpPr>
          <p:cNvPr id="29" name="Shape 26"/>
          <p:cNvSpPr/>
          <p:nvPr/>
        </p:nvSpPr>
        <p:spPr>
          <a:xfrm>
            <a:off x="6172200" y="4023360"/>
            <a:ext cx="5440680" cy="1051560"/>
          </a:xfrm>
          <a:prstGeom prst="roundRect">
            <a:avLst>
              <a:gd name="adj" fmla="val 6957"/>
            </a:avLst>
          </a:prstGeom>
          <a:solidFill>
            <a:srgbClr val="EDEFF2"/>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30" name="Text 27"/>
          <p:cNvSpPr/>
          <p:nvPr/>
        </p:nvSpPr>
        <p:spPr>
          <a:xfrm>
            <a:off x="6355080" y="4096512"/>
            <a:ext cx="5074920" cy="274320"/>
          </a:xfrm>
          <a:prstGeom prst="rect">
            <a:avLst/>
          </a:prstGeom>
          <a:noFill/>
          <a:ln/>
        </p:spPr>
        <p:txBody>
          <a:bodyPr wrap="square" lIns="0" tIns="0" rIns="0" bIns="0" rtlCol="0" anchor="ctr"/>
          <a:lstStyle/>
          <a:p>
            <a:pPr indent="0" marL="0">
              <a:buNone/>
            </a:pPr>
            <a:r>
              <a:rPr lang="en-US" sz="1250" b="1" dirty="0">
                <a:solidFill>
                  <a:srgbClr val="6B7280"/>
                </a:solidFill>
                <a:latin typeface="Calibri" pitchFamily="34" charset="0"/>
                <a:ea typeface="Calibri" pitchFamily="34" charset="-122"/>
                <a:cs typeface="Calibri" pitchFamily="34" charset="-120"/>
              </a:rPr>
              <a:t>3 honest nulls, reported anyway</a:t>
            </a:r>
            <a:endParaRPr lang="en-US" sz="1250" dirty="0"/>
          </a:p>
        </p:txBody>
      </p:sp>
      <p:sp>
        <p:nvSpPr>
          <p:cNvPr id="31" name="Text 28"/>
          <p:cNvSpPr/>
          <p:nvPr/>
        </p:nvSpPr>
        <p:spPr>
          <a:xfrm>
            <a:off x="6355080" y="4389120"/>
            <a:ext cx="507492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E5 handedness (6.4% coverage) · E6 height (33.8% coverage) · E9 home advantage overall (p=0.18)</a:t>
            </a:r>
            <a:endParaRPr lang="en-US" sz="1100" dirty="0"/>
          </a:p>
        </p:txBody>
      </p:sp>
      <p:sp>
        <p:nvSpPr>
          <p:cNvPr id="32" name="Text 29"/>
          <p:cNvSpPr/>
          <p:nvPr/>
        </p:nvSpPr>
        <p:spPr>
          <a:xfrm>
            <a:off x="502920" y="5989320"/>
            <a:ext cx="11201400" cy="457200"/>
          </a:xfrm>
          <a:prstGeom prst="rect">
            <a:avLst/>
          </a:prstGeom>
          <a:noFill/>
          <a:ln/>
        </p:spPr>
        <p:txBody>
          <a:bodyPr wrap="square" lIns="0" tIns="0" rIns="0" bIns="0" rtlCol="0" anchor="ctr"/>
          <a:lstStyle/>
          <a:p>
            <a:pPr indent="0" marL="0">
              <a:buNone/>
            </a:pPr>
            <a:r>
              <a:rPr lang="en-US" sz="1300" i="1" dirty="0">
                <a:solidFill>
                  <a:srgbClr val="0369A1"/>
                </a:solidFill>
                <a:latin typeface="Calibri" pitchFamily="34" charset="0"/>
                <a:ea typeface="Calibri" pitchFamily="34" charset="-122"/>
                <a:cs typeface="Calibri" pitchFamily="34" charset="-120"/>
              </a:rPr>
              <a:t>A project that only shows the findings that worked isn't exploratory analysis — it's marketing.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§2.6 LIMITATIONS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What the data honestly can't tell us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§2 Working with Data — slide 13/32</a:t>
            </a:r>
            <a:endParaRPr lang="en-US" sz="900" dirty="0"/>
          </a:p>
        </p:txBody>
      </p:sp>
      <p:sp>
        <p:nvSpPr>
          <p:cNvPr id="8" name="Shape 5"/>
          <p:cNvSpPr/>
          <p:nvPr/>
        </p:nvSpPr>
        <p:spPr>
          <a:xfrm>
            <a:off x="502920" y="1463040"/>
            <a:ext cx="11201400" cy="1508760"/>
          </a:xfrm>
          <a:prstGeom prst="roundRect">
            <a:avLst>
              <a:gd name="adj" fmla="val 484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31520" y="1664208"/>
            <a:ext cx="274320" cy="274320"/>
          </a:xfrm>
          <a:prstGeom prst="ellipse">
            <a:avLst/>
          </a:prstGeom>
          <a:solidFill>
            <a:srgbClr val="6B7280"/>
          </a:solidFill>
          <a:ln/>
        </p:spPr>
      </p:sp>
      <p:sp>
        <p:nvSpPr>
          <p:cNvPr id="10" name="Text 7"/>
          <p:cNvSpPr/>
          <p:nvPr/>
        </p:nvSpPr>
        <p:spPr>
          <a:xfrm>
            <a:off x="731520" y="166420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8"/>
          <p:cNvSpPr/>
          <p:nvPr/>
        </p:nvSpPr>
        <p:spPr>
          <a:xfrm>
            <a:off x="1188720" y="1600200"/>
            <a:ext cx="1033272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Single-season snapshot</a:t>
            </a:r>
            <a:endParaRPr lang="en-US" sz="1400" dirty="0"/>
          </a:p>
        </p:txBody>
      </p:sp>
      <p:sp>
        <p:nvSpPr>
          <p:cNvPr id="12" name="Text 9"/>
          <p:cNvSpPr/>
          <p:nvPr/>
        </p:nvSpPr>
        <p:spPr>
          <a:xfrm>
            <a:off x="1188720" y="1965960"/>
            <a:ext cx="10332720" cy="914400"/>
          </a:xfrm>
          <a:prstGeom prst="rect">
            <a:avLst/>
          </a:prstGeom>
          <a:noFill/>
          <a:ln/>
        </p:spPr>
        <p:txBody>
          <a:bodyPr wrap="square" lIns="0" tIns="0" rIns="0" bIns="0" rtlCol="0" anchor="t"/>
          <a:lstStyle/>
          <a:p>
            <a:pPr indent="0" marL="0">
              <a:lnSpc>
                <a:spcPct val="112000"/>
              </a:lnSpc>
              <a:buNone/>
            </a:pPr>
            <a:r>
              <a:rPr lang="en-US" sz="1200" dirty="0">
                <a:solidFill>
                  <a:srgbClr val="6B7280"/>
                </a:solidFill>
                <a:latin typeface="Calibri" pitchFamily="34" charset="0"/>
                <a:ea typeface="Calibri" pitchFamily="34" charset="-122"/>
                <a:cs typeface="Calibri" pitchFamily="34" charset="-120"/>
              </a:rPr>
              <a:t>Free-tier window = 2026 season only. 13 of 26 tournaments hadn't been played at fetch time — a season in progress, not a completed year.</a:t>
            </a:r>
            <a:endParaRPr lang="en-US" sz="1200" dirty="0"/>
          </a:p>
        </p:txBody>
      </p:sp>
      <p:sp>
        <p:nvSpPr>
          <p:cNvPr id="13" name="Shape 10"/>
          <p:cNvSpPr/>
          <p:nvPr/>
        </p:nvSpPr>
        <p:spPr>
          <a:xfrm>
            <a:off x="502920" y="3090672"/>
            <a:ext cx="11201400" cy="1508760"/>
          </a:xfrm>
          <a:prstGeom prst="roundRect">
            <a:avLst>
              <a:gd name="adj" fmla="val 484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731520" y="3291840"/>
            <a:ext cx="274320" cy="274320"/>
          </a:xfrm>
          <a:prstGeom prst="ellipse">
            <a:avLst/>
          </a:prstGeom>
          <a:solidFill>
            <a:srgbClr val="6B7280"/>
          </a:solidFill>
          <a:ln/>
        </p:spPr>
      </p:sp>
      <p:sp>
        <p:nvSpPr>
          <p:cNvPr id="15" name="Text 12"/>
          <p:cNvSpPr/>
          <p:nvPr/>
        </p:nvSpPr>
        <p:spPr>
          <a:xfrm>
            <a:off x="731520" y="329184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3"/>
          <p:cNvSpPr/>
          <p:nvPr/>
        </p:nvSpPr>
        <p:spPr>
          <a:xfrm>
            <a:off x="1188720" y="3227832"/>
            <a:ext cx="1033272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Ranking look-ahead bias (E2)</a:t>
            </a:r>
            <a:endParaRPr lang="en-US" sz="1400" dirty="0"/>
          </a:p>
        </p:txBody>
      </p:sp>
      <p:sp>
        <p:nvSpPr>
          <p:cNvPr id="17" name="Text 14"/>
          <p:cNvSpPr/>
          <p:nvPr/>
        </p:nvSpPr>
        <p:spPr>
          <a:xfrm>
            <a:off x="1188720" y="3593592"/>
            <a:ext cx="10332720" cy="914400"/>
          </a:xfrm>
          <a:prstGeom prst="rect">
            <a:avLst/>
          </a:prstGeom>
          <a:noFill/>
          <a:ln/>
        </p:spPr>
        <p:txBody>
          <a:bodyPr wrap="square" lIns="0" tIns="0" rIns="0" bIns="0" rtlCol="0" anchor="t"/>
          <a:lstStyle/>
          <a:p>
            <a:pPr indent="0" marL="0">
              <a:lnSpc>
                <a:spcPct val="112000"/>
              </a:lnSpc>
              <a:buNone/>
            </a:pPr>
            <a:r>
              <a:rPr lang="en-US" sz="1200" dirty="0">
                <a:solidFill>
                  <a:srgbClr val="6B7280"/>
                </a:solidFill>
                <a:latin typeface="Calibri" pitchFamily="34" charset="0"/>
                <a:ea typeface="Calibri" pitchFamily="34" charset="-122"/>
                <a:cs typeface="Calibri" pitchFamily="34" charset="-120"/>
              </a:rPr>
              <a:t>Points are today's snapshot, not each player's points on the match date. The 78.5% favorite-win-rate and 0.883 AUC are an optimistic upper bound, not a clean prospective test — this caveat carries into the §4 calibration case study.</a:t>
            </a:r>
            <a:endParaRPr lang="en-US" sz="1200" dirty="0"/>
          </a:p>
        </p:txBody>
      </p:sp>
      <p:sp>
        <p:nvSpPr>
          <p:cNvPr id="18" name="Shape 15"/>
          <p:cNvSpPr/>
          <p:nvPr/>
        </p:nvSpPr>
        <p:spPr>
          <a:xfrm>
            <a:off x="502920" y="4718304"/>
            <a:ext cx="11201400" cy="1508760"/>
          </a:xfrm>
          <a:prstGeom prst="roundRect">
            <a:avLst>
              <a:gd name="adj" fmla="val 484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731520" y="4919472"/>
            <a:ext cx="274320" cy="274320"/>
          </a:xfrm>
          <a:prstGeom prst="ellipse">
            <a:avLst/>
          </a:prstGeom>
          <a:solidFill>
            <a:srgbClr val="6B7280"/>
          </a:solidFill>
          <a:ln/>
        </p:spPr>
      </p:sp>
      <p:sp>
        <p:nvSpPr>
          <p:cNvPr id="20" name="Text 17"/>
          <p:cNvSpPr/>
          <p:nvPr/>
        </p:nvSpPr>
        <p:spPr>
          <a:xfrm>
            <a:off x="731520" y="49194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1188720" y="4855464"/>
            <a:ext cx="1033272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court_type unavailable</a:t>
            </a:r>
            <a:endParaRPr lang="en-US" sz="1400" dirty="0"/>
          </a:p>
        </p:txBody>
      </p:sp>
      <p:sp>
        <p:nvSpPr>
          <p:cNvPr id="22" name="Text 19"/>
          <p:cNvSpPr/>
          <p:nvPr/>
        </p:nvSpPr>
        <p:spPr>
          <a:xfrm>
            <a:off x="1188720" y="5221224"/>
            <a:ext cx="10332720" cy="914400"/>
          </a:xfrm>
          <a:prstGeom prst="rect">
            <a:avLst/>
          </a:prstGeom>
          <a:noFill/>
          <a:ln/>
        </p:spPr>
        <p:txBody>
          <a:bodyPr wrap="square" lIns="0" tIns="0" rIns="0" bIns="0" rtlCol="0" anchor="t"/>
          <a:lstStyle/>
          <a:p>
            <a:pPr indent="0" marL="0">
              <a:lnSpc>
                <a:spcPct val="112000"/>
              </a:lnSpc>
              <a:buNone/>
            </a:pPr>
            <a:r>
              <a:rPr lang="en-US" sz="1200" dirty="0">
                <a:solidFill>
                  <a:srgbClr val="6B7280"/>
                </a:solidFill>
                <a:latin typeface="Calibri" pitchFamily="34" charset="0"/>
                <a:ea typeface="Calibri" pitchFamily="34" charset="-122"/>
                <a:cs typeface="Calibri" pitchFamily="34" charset="-120"/>
              </a:rPr>
              <a:t>The column exists in the schema but is empty on this API tier — indoor/outdoor surface analysis (present in the synthetic v1 data) is dropped, not backfilled with a guess.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§3.1–3.2 INFORMATION ARCHITECTURE &amp; WIREFRAMES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Five pages, five tasks, one working app</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§3 UX Design &amp; Heuristic Evaluation — slide 14/32</a:t>
            </a:r>
            <a:endParaRPr lang="en-US" sz="900" dirty="0"/>
          </a:p>
        </p:txBody>
      </p:sp>
      <p:sp>
        <p:nvSpPr>
          <p:cNvPr id="8" name="Shape 5"/>
          <p:cNvSpPr/>
          <p:nvPr/>
        </p:nvSpPr>
        <p:spPr>
          <a:xfrm>
            <a:off x="502920" y="1417320"/>
            <a:ext cx="2157984" cy="1188720"/>
          </a:xfrm>
          <a:prstGeom prst="roundRect">
            <a:avLst>
              <a:gd name="adj" fmla="val 6154"/>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30936" y="1527048"/>
            <a:ext cx="1901952" cy="292608"/>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Home</a:t>
            </a:r>
            <a:endParaRPr lang="en-US" sz="1300" dirty="0"/>
          </a:p>
        </p:txBody>
      </p:sp>
      <p:sp>
        <p:nvSpPr>
          <p:cNvPr id="10" name="Text 7"/>
          <p:cNvSpPr/>
          <p:nvPr/>
        </p:nvSpPr>
        <p:spPr>
          <a:xfrm>
            <a:off x="630936" y="1837944"/>
            <a:ext cx="1901952" cy="73152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libri" pitchFamily="34" charset="0"/>
                <a:ea typeface="Calibri" pitchFamily="34" charset="-122"/>
                <a:cs typeface="Calibri" pitchFamily="34" charset="-120"/>
              </a:rPr>
              <a:t>"How am I doing right now?" — above the fold</a:t>
            </a:r>
            <a:endParaRPr lang="en-US" sz="1000" dirty="0"/>
          </a:p>
        </p:txBody>
      </p:sp>
      <p:sp>
        <p:nvSpPr>
          <p:cNvPr id="11" name="Shape 8"/>
          <p:cNvSpPr/>
          <p:nvPr/>
        </p:nvSpPr>
        <p:spPr>
          <a:xfrm>
            <a:off x="2779776" y="1417320"/>
            <a:ext cx="2157984" cy="1188720"/>
          </a:xfrm>
          <a:prstGeom prst="roundRect">
            <a:avLst>
              <a:gd name="adj" fmla="val 6154"/>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2907792" y="1527048"/>
            <a:ext cx="1901952" cy="292608"/>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Pro Tour</a:t>
            </a:r>
            <a:endParaRPr lang="en-US" sz="1300" dirty="0"/>
          </a:p>
        </p:txBody>
      </p:sp>
      <p:sp>
        <p:nvSpPr>
          <p:cNvPr id="13" name="Text 10"/>
          <p:cNvSpPr/>
          <p:nvPr/>
        </p:nvSpPr>
        <p:spPr>
          <a:xfrm>
            <a:off x="2907792" y="1837944"/>
            <a:ext cx="1901952" cy="73152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libri" pitchFamily="34" charset="0"/>
                <a:ea typeface="Calibri" pitchFamily="34" charset="-122"/>
                <a:cs typeface="Calibri" pitchFamily="34" charset="-120"/>
              </a:rPr>
              <a:t>Explore rankings, matches, surface effects</a:t>
            </a:r>
            <a:endParaRPr lang="en-US" sz="1000" dirty="0"/>
          </a:p>
        </p:txBody>
      </p:sp>
      <p:sp>
        <p:nvSpPr>
          <p:cNvPr id="14" name="Shape 11"/>
          <p:cNvSpPr/>
          <p:nvPr/>
        </p:nvSpPr>
        <p:spPr>
          <a:xfrm>
            <a:off x="5056632" y="1417320"/>
            <a:ext cx="2157984" cy="1188720"/>
          </a:xfrm>
          <a:prstGeom prst="roundRect">
            <a:avLst>
              <a:gd name="adj" fmla="val 6154"/>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5184648" y="1527048"/>
            <a:ext cx="1901952" cy="292608"/>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My Stats</a:t>
            </a:r>
            <a:endParaRPr lang="en-US" sz="1300" dirty="0"/>
          </a:p>
        </p:txBody>
      </p:sp>
      <p:sp>
        <p:nvSpPr>
          <p:cNvPr id="16" name="Text 13"/>
          <p:cNvSpPr/>
          <p:nvPr/>
        </p:nvSpPr>
        <p:spPr>
          <a:xfrm>
            <a:off x="5184648" y="1837944"/>
            <a:ext cx="1901952" cy="73152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libri" pitchFamily="34" charset="0"/>
                <a:ea typeface="Calibri" pitchFamily="34" charset="-122"/>
                <a:cs typeface="Calibri" pitchFamily="34" charset="-120"/>
              </a:rPr>
              <a:t>Deep-dive: partner, shots, fatigue</a:t>
            </a:r>
            <a:endParaRPr lang="en-US" sz="1000" dirty="0"/>
          </a:p>
        </p:txBody>
      </p:sp>
      <p:sp>
        <p:nvSpPr>
          <p:cNvPr id="17" name="Shape 14"/>
          <p:cNvSpPr/>
          <p:nvPr/>
        </p:nvSpPr>
        <p:spPr>
          <a:xfrm>
            <a:off x="7333488" y="1417320"/>
            <a:ext cx="2157984" cy="1188720"/>
          </a:xfrm>
          <a:prstGeom prst="roundRect">
            <a:avLst>
              <a:gd name="adj" fmla="val 6154"/>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7461504" y="1527048"/>
            <a:ext cx="1901952" cy="292608"/>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Log a Match</a:t>
            </a:r>
            <a:endParaRPr lang="en-US" sz="1300" dirty="0"/>
          </a:p>
        </p:txBody>
      </p:sp>
      <p:sp>
        <p:nvSpPr>
          <p:cNvPr id="19" name="Text 16"/>
          <p:cNvSpPr/>
          <p:nvPr/>
        </p:nvSpPr>
        <p:spPr>
          <a:xfrm>
            <a:off x="7461504" y="1837944"/>
            <a:ext cx="1901952" cy="73152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libri" pitchFamily="34" charset="0"/>
                <a:ea typeface="Calibri" pitchFamily="34" charset="-122"/>
                <a:cs typeface="Calibri" pitchFamily="34" charset="-120"/>
              </a:rPr>
              <a:t>Add a match in ≤ 90 seconds</a:t>
            </a:r>
            <a:endParaRPr lang="en-US" sz="1000" dirty="0"/>
          </a:p>
        </p:txBody>
      </p:sp>
      <p:sp>
        <p:nvSpPr>
          <p:cNvPr id="20" name="Shape 17"/>
          <p:cNvSpPr/>
          <p:nvPr/>
        </p:nvSpPr>
        <p:spPr>
          <a:xfrm>
            <a:off x="9610344" y="1417320"/>
            <a:ext cx="2157984" cy="1188720"/>
          </a:xfrm>
          <a:prstGeom prst="roundRect">
            <a:avLst>
              <a:gd name="adj" fmla="val 6154"/>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9738360" y="1527048"/>
            <a:ext cx="1901952" cy="292608"/>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Compare</a:t>
            </a:r>
            <a:endParaRPr lang="en-US" sz="1300" dirty="0"/>
          </a:p>
        </p:txBody>
      </p:sp>
      <p:sp>
        <p:nvSpPr>
          <p:cNvPr id="22" name="Text 19"/>
          <p:cNvSpPr/>
          <p:nvPr/>
        </p:nvSpPr>
        <p:spPr>
          <a:xfrm>
            <a:off x="9738360" y="1837944"/>
            <a:ext cx="1901952" cy="731520"/>
          </a:xfrm>
          <a:prstGeom prst="rect">
            <a:avLst/>
          </a:prstGeom>
          <a:noFill/>
          <a:ln/>
        </p:spPr>
        <p:txBody>
          <a:bodyPr wrap="square" lIns="0" tIns="0" rIns="0" bIns="0" rtlCol="0" anchor="t"/>
          <a:lstStyle/>
          <a:p>
            <a:pPr indent="0" marL="0">
              <a:lnSpc>
                <a:spcPct val="105000"/>
              </a:lnSpc>
              <a:buNone/>
            </a:pPr>
            <a:r>
              <a:rPr lang="en-US" sz="1000" dirty="0">
                <a:solidFill>
                  <a:srgbClr val="6B7280"/>
                </a:solidFill>
                <a:latin typeface="Calibri" pitchFamily="34" charset="0"/>
                <a:ea typeface="Calibri" pitchFamily="34" charset="-122"/>
                <a:cs typeface="Calibri" pitchFamily="34" charset="-120"/>
              </a:rPr>
              <a:t>Shot mix vs. pro reference</a:t>
            </a:r>
            <a:endParaRPr lang="en-US" sz="1000" dirty="0"/>
          </a:p>
        </p:txBody>
      </p:sp>
      <p:pic>
        <p:nvPicPr>
          <p:cNvPr id="23" name="Image 0" descr="/sessions/lucid-funny-davinci/mnt/Padel-Project/06_Presentation/assets/01_home.png">    </p:cNvPr>
          <p:cNvPicPr>
            <a:picLocks noChangeAspect="1"/>
          </p:cNvPicPr>
          <p:nvPr/>
        </p:nvPicPr>
        <p:blipFill>
          <a:blip r:embed="rId1"/>
          <a:stretch>
            <a:fillRect/>
          </a:stretch>
        </p:blipFill>
        <p:spPr>
          <a:xfrm>
            <a:off x="502920" y="2788920"/>
            <a:ext cx="2157984" cy="1348740"/>
          </a:xfrm>
          <a:prstGeom prst="rect">
            <a:avLst/>
          </a:prstGeom>
        </p:spPr>
      </p:pic>
      <p:sp>
        <p:nvSpPr>
          <p:cNvPr id="24" name="Shape 20"/>
          <p:cNvSpPr/>
          <p:nvPr/>
        </p:nvSpPr>
        <p:spPr>
          <a:xfrm>
            <a:off x="502920" y="2788920"/>
            <a:ext cx="2157984" cy="1348740"/>
          </a:xfrm>
          <a:prstGeom prst="rect">
            <a:avLst/>
          </a:prstGeom>
          <a:ln w="9525">
            <a:solidFill>
              <a:srgbClr val="CFD6DD"/>
            </a:solidFill>
            <a:prstDash val="solid"/>
          </a:ln>
        </p:spPr>
      </p:sp>
      <p:pic>
        <p:nvPicPr>
          <p:cNvPr id="25" name="Image 1" descr="/sessions/lucid-funny-davinci/mnt/Padel-Project/06_Presentation/assets/02_pro_tour.png">    </p:cNvPr>
          <p:cNvPicPr>
            <a:picLocks noChangeAspect="1"/>
          </p:cNvPicPr>
          <p:nvPr/>
        </p:nvPicPr>
        <p:blipFill>
          <a:blip r:embed="rId2"/>
          <a:stretch>
            <a:fillRect/>
          </a:stretch>
        </p:blipFill>
        <p:spPr>
          <a:xfrm>
            <a:off x="2779776" y="2788920"/>
            <a:ext cx="2157984" cy="1348740"/>
          </a:xfrm>
          <a:prstGeom prst="rect">
            <a:avLst/>
          </a:prstGeom>
        </p:spPr>
      </p:pic>
      <p:sp>
        <p:nvSpPr>
          <p:cNvPr id="26" name="Shape 21"/>
          <p:cNvSpPr/>
          <p:nvPr/>
        </p:nvSpPr>
        <p:spPr>
          <a:xfrm>
            <a:off x="2779776" y="2788920"/>
            <a:ext cx="2157984" cy="1348740"/>
          </a:xfrm>
          <a:prstGeom prst="rect">
            <a:avLst/>
          </a:prstGeom>
          <a:ln w="9525">
            <a:solidFill>
              <a:srgbClr val="CFD6DD"/>
            </a:solidFill>
            <a:prstDash val="solid"/>
          </a:ln>
        </p:spPr>
      </p:sp>
      <p:pic>
        <p:nvPicPr>
          <p:cNvPr id="27" name="Image 2" descr="/sessions/lucid-funny-davinci/mnt/Padel-Project/06_Presentation/assets/03_my_stats.png">    </p:cNvPr>
          <p:cNvPicPr>
            <a:picLocks noChangeAspect="1"/>
          </p:cNvPicPr>
          <p:nvPr/>
        </p:nvPicPr>
        <p:blipFill>
          <a:blip r:embed="rId3"/>
          <a:stretch>
            <a:fillRect/>
          </a:stretch>
        </p:blipFill>
        <p:spPr>
          <a:xfrm>
            <a:off x="5056632" y="2788920"/>
            <a:ext cx="2157984" cy="1348740"/>
          </a:xfrm>
          <a:prstGeom prst="rect">
            <a:avLst/>
          </a:prstGeom>
        </p:spPr>
      </p:pic>
      <p:sp>
        <p:nvSpPr>
          <p:cNvPr id="28" name="Shape 22"/>
          <p:cNvSpPr/>
          <p:nvPr/>
        </p:nvSpPr>
        <p:spPr>
          <a:xfrm>
            <a:off x="5056632" y="2788920"/>
            <a:ext cx="2157984" cy="1348740"/>
          </a:xfrm>
          <a:prstGeom prst="rect">
            <a:avLst/>
          </a:prstGeom>
          <a:ln w="9525">
            <a:solidFill>
              <a:srgbClr val="CFD6DD"/>
            </a:solidFill>
            <a:prstDash val="solid"/>
          </a:ln>
        </p:spPr>
      </p:sp>
      <p:pic>
        <p:nvPicPr>
          <p:cNvPr id="29" name="Image 3" descr="/sessions/lucid-funny-davinci/mnt/Padel-Project/06_Presentation/assets/04_log_match.png">    </p:cNvPr>
          <p:cNvPicPr>
            <a:picLocks noChangeAspect="1"/>
          </p:cNvPicPr>
          <p:nvPr/>
        </p:nvPicPr>
        <p:blipFill>
          <a:blip r:embed="rId4"/>
          <a:stretch>
            <a:fillRect/>
          </a:stretch>
        </p:blipFill>
        <p:spPr>
          <a:xfrm>
            <a:off x="7333488" y="2788920"/>
            <a:ext cx="2157984" cy="1348740"/>
          </a:xfrm>
          <a:prstGeom prst="rect">
            <a:avLst/>
          </a:prstGeom>
        </p:spPr>
      </p:pic>
      <p:sp>
        <p:nvSpPr>
          <p:cNvPr id="30" name="Shape 23"/>
          <p:cNvSpPr/>
          <p:nvPr/>
        </p:nvSpPr>
        <p:spPr>
          <a:xfrm>
            <a:off x="7333488" y="2788920"/>
            <a:ext cx="2157984" cy="1348740"/>
          </a:xfrm>
          <a:prstGeom prst="rect">
            <a:avLst/>
          </a:prstGeom>
          <a:ln w="9525">
            <a:solidFill>
              <a:srgbClr val="CFD6DD"/>
            </a:solidFill>
            <a:prstDash val="solid"/>
          </a:ln>
        </p:spPr>
      </p:sp>
      <p:pic>
        <p:nvPicPr>
          <p:cNvPr id="31" name="Image 4" descr="/sessions/lucid-funny-davinci/mnt/Padel-Project/06_Presentation/assets/05_compare.png">    </p:cNvPr>
          <p:cNvPicPr>
            <a:picLocks noChangeAspect="1"/>
          </p:cNvPicPr>
          <p:nvPr/>
        </p:nvPicPr>
        <p:blipFill>
          <a:blip r:embed="rId5"/>
          <a:stretch>
            <a:fillRect/>
          </a:stretch>
        </p:blipFill>
        <p:spPr>
          <a:xfrm>
            <a:off x="9610344" y="2788920"/>
            <a:ext cx="2157984" cy="1348740"/>
          </a:xfrm>
          <a:prstGeom prst="rect">
            <a:avLst/>
          </a:prstGeom>
        </p:spPr>
      </p:pic>
      <p:sp>
        <p:nvSpPr>
          <p:cNvPr id="32" name="Shape 24"/>
          <p:cNvSpPr/>
          <p:nvPr/>
        </p:nvSpPr>
        <p:spPr>
          <a:xfrm>
            <a:off x="9610344" y="2788920"/>
            <a:ext cx="2157984" cy="1348740"/>
          </a:xfrm>
          <a:prstGeom prst="rect">
            <a:avLst/>
          </a:prstGeom>
          <a:ln w="9525">
            <a:solidFill>
              <a:srgbClr val="CFD6DD"/>
            </a:solidFill>
            <a:prstDash val="solid"/>
          </a:ln>
        </p:spPr>
      </p:sp>
      <p:sp>
        <p:nvSpPr>
          <p:cNvPr id="33" name="Text 25"/>
          <p:cNvSpPr/>
          <p:nvPr/>
        </p:nvSpPr>
        <p:spPr>
          <a:xfrm>
            <a:off x="502920" y="4247388"/>
            <a:ext cx="11201400" cy="320040"/>
          </a:xfrm>
          <a:prstGeom prst="rect">
            <a:avLst/>
          </a:prstGeom>
          <a:noFill/>
          <a:ln/>
        </p:spPr>
        <p:txBody>
          <a:bodyPr wrap="square" lIns="0" tIns="0" rIns="0" bIns="0" rtlCol="0" anchor="ctr"/>
          <a:lstStyle/>
          <a:p>
            <a:pPr indent="0" marL="0">
              <a:buNone/>
            </a:pPr>
            <a:r>
              <a:rPr lang="en-US" sz="1100" i="1" dirty="0">
                <a:solidFill>
                  <a:srgbClr val="9AA3AD"/>
                </a:solidFill>
                <a:latin typeface="Calibri" pitchFamily="34" charset="0"/>
                <a:ea typeface="Calibri" pitchFamily="34" charset="-122"/>
                <a:cs typeface="Calibri" pitchFamily="34" charset="-120"/>
              </a:rPr>
              <a:t>Low-fidelity wireframes (03_UX/wireframes) — grayscale, layout-only, before any color or chart styling</a:t>
            </a:r>
            <a:endParaRPr lang="en-US" sz="1100" dirty="0"/>
          </a:p>
        </p:txBody>
      </p:sp>
      <p:sp>
        <p:nvSpPr>
          <p:cNvPr id="34" name="Text 26"/>
          <p:cNvSpPr/>
          <p:nvPr/>
        </p:nvSpPr>
        <p:spPr>
          <a:xfrm>
            <a:off x="502920" y="4640580"/>
            <a:ext cx="11201400" cy="91440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Process: paper sketch (~30 min) → low-fi Figma wireframes → mid-fi (chart shapes) → Streamlit build is the high-fi</a:t>
            </a:r>
            <a:endParaRPr lang="en-US" sz="1250" dirty="0"/>
          </a:p>
          <a:p>
            <a:pPr marL="228600" indent="-228600">
              <a:lnSpc>
                <a:spcPct val="108000"/>
              </a:lnSpc>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No full click-prototype: the deliverable is a working app — wireframe-to-Streamlit is a one-step jump, not prototyping theatre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§3.3 USABILITY PRINCIPLES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Six principles for sports analytics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§3 UX Design &amp; Heuristic Evaluation — slide 15/32</a:t>
            </a:r>
            <a:endParaRPr lang="en-US" sz="900" dirty="0"/>
          </a:p>
        </p:txBody>
      </p:sp>
      <p:sp>
        <p:nvSpPr>
          <p:cNvPr id="8" name="Shape 5"/>
          <p:cNvSpPr/>
          <p:nvPr/>
        </p:nvSpPr>
        <p:spPr>
          <a:xfrm>
            <a:off x="502920" y="1417320"/>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685800" y="1600200"/>
            <a:ext cx="365760" cy="365760"/>
          </a:xfrm>
          <a:prstGeom prst="ellipse">
            <a:avLst/>
          </a:prstGeom>
          <a:solidFill>
            <a:srgbClr val="0EA5E9"/>
          </a:solidFill>
          <a:ln/>
        </p:spPr>
      </p:sp>
      <p:sp>
        <p:nvSpPr>
          <p:cNvPr id="10" name="Text 7"/>
          <p:cNvSpPr/>
          <p:nvPr/>
        </p:nvSpPr>
        <p:spPr>
          <a:xfrm>
            <a:off x="685800" y="16002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188720" y="1554480"/>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One number above the fold</a:t>
            </a:r>
            <a:endParaRPr lang="en-US" sz="1350" dirty="0"/>
          </a:p>
        </p:txBody>
      </p:sp>
      <p:sp>
        <p:nvSpPr>
          <p:cNvPr id="12" name="Text 9"/>
          <p:cNvSpPr/>
          <p:nvPr/>
        </p:nvSpPr>
        <p:spPr>
          <a:xfrm>
            <a:off x="1188720" y="1892808"/>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A 42pt headline answers "how am I doing?" — everything else is one click away.</a:t>
            </a:r>
            <a:endParaRPr lang="en-US" sz="1130" dirty="0"/>
          </a:p>
        </p:txBody>
      </p:sp>
      <p:sp>
        <p:nvSpPr>
          <p:cNvPr id="13" name="Shape 10"/>
          <p:cNvSpPr/>
          <p:nvPr/>
        </p:nvSpPr>
        <p:spPr>
          <a:xfrm>
            <a:off x="6172200" y="1417320"/>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6355080" y="1600200"/>
            <a:ext cx="365760" cy="365760"/>
          </a:xfrm>
          <a:prstGeom prst="ellipse">
            <a:avLst/>
          </a:prstGeom>
          <a:solidFill>
            <a:srgbClr val="0EA5E9"/>
          </a:solidFill>
          <a:ln/>
        </p:spPr>
      </p:sp>
      <p:sp>
        <p:nvSpPr>
          <p:cNvPr id="15" name="Text 12"/>
          <p:cNvSpPr/>
          <p:nvPr/>
        </p:nvSpPr>
        <p:spPr>
          <a:xfrm>
            <a:off x="6355080" y="16002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6858000" y="1554480"/>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Recognition over recall</a:t>
            </a:r>
            <a:endParaRPr lang="en-US" sz="1350" dirty="0"/>
          </a:p>
        </p:txBody>
      </p:sp>
      <p:sp>
        <p:nvSpPr>
          <p:cNvPr id="17" name="Text 14"/>
          <p:cNvSpPr/>
          <p:nvPr/>
        </p:nvSpPr>
        <p:spPr>
          <a:xfrm>
            <a:off x="6858000" y="1892808"/>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Pro Tour filters are always visible in the sidebar, never hidden behind a button.</a:t>
            </a:r>
            <a:endParaRPr lang="en-US" sz="1130" dirty="0"/>
          </a:p>
        </p:txBody>
      </p:sp>
      <p:sp>
        <p:nvSpPr>
          <p:cNvPr id="18" name="Shape 15"/>
          <p:cNvSpPr/>
          <p:nvPr/>
        </p:nvSpPr>
        <p:spPr>
          <a:xfrm>
            <a:off x="502920" y="3026664"/>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685800" y="3209544"/>
            <a:ext cx="365760" cy="365760"/>
          </a:xfrm>
          <a:prstGeom prst="ellipse">
            <a:avLst/>
          </a:prstGeom>
          <a:solidFill>
            <a:srgbClr val="0EA5E9"/>
          </a:solidFill>
          <a:ln/>
        </p:spPr>
      </p:sp>
      <p:sp>
        <p:nvSpPr>
          <p:cNvPr id="20" name="Text 17"/>
          <p:cNvSpPr/>
          <p:nvPr/>
        </p:nvSpPr>
        <p:spPr>
          <a:xfrm>
            <a:off x="685800" y="32095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188720" y="3163824"/>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Default to action</a:t>
            </a:r>
            <a:endParaRPr lang="en-US" sz="1350" dirty="0"/>
          </a:p>
        </p:txBody>
      </p:sp>
      <p:sp>
        <p:nvSpPr>
          <p:cNvPr id="22" name="Text 19"/>
          <p:cNvSpPr/>
          <p:nvPr/>
        </p:nvSpPr>
        <p:spPr>
          <a:xfrm>
            <a:off x="1188720" y="3502152"/>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 Log a new match" is the single primary call-to-action on Home, in the accent color.</a:t>
            </a:r>
            <a:endParaRPr lang="en-US" sz="1130" dirty="0"/>
          </a:p>
        </p:txBody>
      </p:sp>
      <p:sp>
        <p:nvSpPr>
          <p:cNvPr id="23" name="Shape 20"/>
          <p:cNvSpPr/>
          <p:nvPr/>
        </p:nvSpPr>
        <p:spPr>
          <a:xfrm>
            <a:off x="6172200" y="3026664"/>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4" name="Shape 21"/>
          <p:cNvSpPr/>
          <p:nvPr/>
        </p:nvSpPr>
        <p:spPr>
          <a:xfrm>
            <a:off x="6355080" y="3209544"/>
            <a:ext cx="365760" cy="365760"/>
          </a:xfrm>
          <a:prstGeom prst="ellipse">
            <a:avLst/>
          </a:prstGeom>
          <a:solidFill>
            <a:srgbClr val="0EA5E9"/>
          </a:solidFill>
          <a:ln/>
        </p:spPr>
      </p:sp>
      <p:sp>
        <p:nvSpPr>
          <p:cNvPr id="25" name="Text 22"/>
          <p:cNvSpPr/>
          <p:nvPr/>
        </p:nvSpPr>
        <p:spPr>
          <a:xfrm>
            <a:off x="6355080" y="32095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3"/>
          <p:cNvSpPr/>
          <p:nvPr/>
        </p:nvSpPr>
        <p:spPr>
          <a:xfrm>
            <a:off x="6858000" y="3163824"/>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Reduce data-entry friction</a:t>
            </a:r>
            <a:endParaRPr lang="en-US" sz="1350" dirty="0"/>
          </a:p>
        </p:txBody>
      </p:sp>
      <p:sp>
        <p:nvSpPr>
          <p:cNvPr id="27" name="Text 24"/>
          <p:cNvSpPr/>
          <p:nvPr/>
        </p:nvSpPr>
        <p:spPr>
          <a:xfrm>
            <a:off x="6858000" y="3502152"/>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Required block (date, partner, score) saves in ~30s; shot tallies are optional.</a:t>
            </a:r>
            <a:endParaRPr lang="en-US" sz="1130" dirty="0"/>
          </a:p>
        </p:txBody>
      </p:sp>
      <p:sp>
        <p:nvSpPr>
          <p:cNvPr id="28" name="Shape 25"/>
          <p:cNvSpPr/>
          <p:nvPr/>
        </p:nvSpPr>
        <p:spPr>
          <a:xfrm>
            <a:off x="502920" y="4636008"/>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9" name="Shape 26"/>
          <p:cNvSpPr/>
          <p:nvPr/>
        </p:nvSpPr>
        <p:spPr>
          <a:xfrm>
            <a:off x="685800" y="4818888"/>
            <a:ext cx="365760" cy="365760"/>
          </a:xfrm>
          <a:prstGeom prst="ellipse">
            <a:avLst/>
          </a:prstGeom>
          <a:solidFill>
            <a:srgbClr val="0EA5E9"/>
          </a:solidFill>
          <a:ln/>
        </p:spPr>
      </p:sp>
      <p:sp>
        <p:nvSpPr>
          <p:cNvPr id="30" name="Text 27"/>
          <p:cNvSpPr/>
          <p:nvPr/>
        </p:nvSpPr>
        <p:spPr>
          <a:xfrm>
            <a:off x="685800" y="481888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8"/>
          <p:cNvSpPr/>
          <p:nvPr/>
        </p:nvSpPr>
        <p:spPr>
          <a:xfrm>
            <a:off x="1188720" y="4773168"/>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Honest visual hierarchy</a:t>
            </a:r>
            <a:endParaRPr lang="en-US" sz="1350" dirty="0"/>
          </a:p>
        </p:txBody>
      </p:sp>
      <p:sp>
        <p:nvSpPr>
          <p:cNvPr id="32" name="Text 29"/>
          <p:cNvSpPr/>
          <p:nvPr/>
        </p:nvSpPr>
        <p:spPr>
          <a:xfrm>
            <a:off x="1188720" y="5111496"/>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Red is reserved for negative signal only — a losing partner, a net-negative shot.</a:t>
            </a:r>
            <a:endParaRPr lang="en-US" sz="1130" dirty="0"/>
          </a:p>
        </p:txBody>
      </p:sp>
      <p:sp>
        <p:nvSpPr>
          <p:cNvPr id="33" name="Shape 30"/>
          <p:cNvSpPr/>
          <p:nvPr/>
        </p:nvSpPr>
        <p:spPr>
          <a:xfrm>
            <a:off x="6172200" y="4636008"/>
            <a:ext cx="5440680" cy="1481328"/>
          </a:xfrm>
          <a:prstGeom prst="roundRect">
            <a:avLst>
              <a:gd name="adj" fmla="val 493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34" name="Shape 31"/>
          <p:cNvSpPr/>
          <p:nvPr/>
        </p:nvSpPr>
        <p:spPr>
          <a:xfrm>
            <a:off x="6355080" y="4818888"/>
            <a:ext cx="365760" cy="365760"/>
          </a:xfrm>
          <a:prstGeom prst="ellipse">
            <a:avLst/>
          </a:prstGeom>
          <a:solidFill>
            <a:srgbClr val="0EA5E9"/>
          </a:solidFill>
          <a:ln/>
        </p:spPr>
      </p:sp>
      <p:sp>
        <p:nvSpPr>
          <p:cNvPr id="35" name="Text 32"/>
          <p:cNvSpPr/>
          <p:nvPr/>
        </p:nvSpPr>
        <p:spPr>
          <a:xfrm>
            <a:off x="6355080" y="481888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6" name="Text 33"/>
          <p:cNvSpPr/>
          <p:nvPr/>
        </p:nvSpPr>
        <p:spPr>
          <a:xfrm>
            <a:off x="6858000" y="4773168"/>
            <a:ext cx="4526280" cy="32004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Annotate, don't decorate</a:t>
            </a:r>
            <a:endParaRPr lang="en-US" sz="1350" dirty="0"/>
          </a:p>
        </p:txBody>
      </p:sp>
      <p:sp>
        <p:nvSpPr>
          <p:cNvPr id="37" name="Text 34"/>
          <p:cNvSpPr/>
          <p:nvPr/>
        </p:nvSpPr>
        <p:spPr>
          <a:xfrm>
            <a:off x="6858000" y="5111496"/>
            <a:ext cx="4526280" cy="886968"/>
          </a:xfrm>
          <a:prstGeom prst="rect">
            <a:avLst/>
          </a:prstGeom>
          <a:noFill/>
          <a:ln/>
        </p:spPr>
        <p:txBody>
          <a:bodyPr wrap="square" lIns="0" tIns="0" rIns="0" bIns="0" rtlCol="0" anchor="t"/>
          <a:lstStyle/>
          <a:p>
            <a:pPr indent="0" marL="0">
              <a:lnSpc>
                <a:spcPct val="110000"/>
              </a:lnSpc>
              <a:buNone/>
            </a:pPr>
            <a:r>
              <a:rPr lang="en-US" sz="1130" dirty="0">
                <a:solidFill>
                  <a:srgbClr val="6B7280"/>
                </a:solidFill>
                <a:latin typeface="Calibri" pitchFamily="34" charset="0"/>
                <a:ea typeface="Calibri" pitchFamily="34" charset="-122"/>
                <a:cs typeface="Calibri" pitchFamily="34" charset="-120"/>
              </a:rPr>
              <a:t>Every chart has at least one in-canvas annotation — Kirk's focus principle, applied.</a:t>
            </a:r>
            <a:endParaRPr lang="en-US" sz="11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§3.4 HEURISTIC EVALUATION — ROUND 1</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Nielsen's 10 against the first sketches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§3 UX Design &amp; Heuristic Evaluation — slide 16/32</a:t>
            </a:r>
            <a:endParaRPr lang="en-US" sz="900" dirty="0"/>
          </a:p>
        </p:txBody>
      </p:sp>
      <p:sp>
        <p:nvSpPr>
          <p:cNvPr id="8" name="Text 5"/>
          <p:cNvSpPr/>
          <p:nvPr/>
        </p:nvSpPr>
        <p:spPr>
          <a:xfrm>
            <a:off x="502920" y="1371600"/>
            <a:ext cx="112014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All 10 heuristics checked against low-fi wireframes — 8 passed as designed, 2 drove a concrete change</a:t>
            </a:r>
            <a:endParaRPr lang="en-US" sz="1300" dirty="0"/>
          </a:p>
        </p:txBody>
      </p:sp>
      <p:sp>
        <p:nvSpPr>
          <p:cNvPr id="9" name="Shape 6"/>
          <p:cNvSpPr/>
          <p:nvPr/>
        </p:nvSpPr>
        <p:spPr>
          <a:xfrm>
            <a:off x="502920" y="1920240"/>
            <a:ext cx="11201400" cy="1783080"/>
          </a:xfrm>
          <a:prstGeom prst="roundRect">
            <a:avLst>
              <a:gd name="adj" fmla="val 410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0" name="Shape 7"/>
          <p:cNvSpPr/>
          <p:nvPr/>
        </p:nvSpPr>
        <p:spPr>
          <a:xfrm>
            <a:off x="731520" y="2103120"/>
            <a:ext cx="3291840" cy="292608"/>
          </a:xfrm>
          <a:prstGeom prst="roundRect">
            <a:avLst>
              <a:gd name="adj" fmla="val 50000"/>
            </a:avLst>
          </a:prstGeom>
          <a:solidFill>
            <a:srgbClr val="BAE6FD"/>
          </a:solidFill>
          <a:ln/>
        </p:spPr>
      </p:sp>
      <p:sp>
        <p:nvSpPr>
          <p:cNvPr id="11" name="Text 8"/>
          <p:cNvSpPr/>
          <p:nvPr/>
        </p:nvSpPr>
        <p:spPr>
          <a:xfrm>
            <a:off x="731520" y="2103120"/>
            <a:ext cx="3291840" cy="292608"/>
          </a:xfrm>
          <a:prstGeom prst="rect">
            <a:avLst/>
          </a:prstGeom>
          <a:noFill/>
          <a:ln/>
        </p:spPr>
        <p:txBody>
          <a:bodyPr wrap="square" lIns="0" tIns="0" rIns="0" bIns="0"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#5 · Error prevention</a:t>
            </a:r>
            <a:endParaRPr lang="en-US" sz="1050" dirty="0"/>
          </a:p>
        </p:txBody>
      </p:sp>
      <p:sp>
        <p:nvSpPr>
          <p:cNvPr id="12" name="Shape 9"/>
          <p:cNvSpPr/>
          <p:nvPr/>
        </p:nvSpPr>
        <p:spPr>
          <a:xfrm>
            <a:off x="731520" y="2514600"/>
            <a:ext cx="5120640" cy="1005840"/>
          </a:xfrm>
          <a:prstGeom prst="roundRect">
            <a:avLst>
              <a:gd name="adj" fmla="val 7273"/>
            </a:avLst>
          </a:prstGeom>
          <a:solidFill>
            <a:srgbClr val="FECACA"/>
          </a:solidFill>
          <a:ln w="12700">
            <a:solidFill>
              <a:srgbClr val="CFD6DD"/>
            </a:solidFill>
            <a:prstDash val="solid"/>
          </a:ln>
        </p:spPr>
      </p:sp>
      <p:sp>
        <p:nvSpPr>
          <p:cNvPr id="13" name="Text 10"/>
          <p:cNvSpPr/>
          <p:nvPr/>
        </p:nvSpPr>
        <p:spPr>
          <a:xfrm>
            <a:off x="914400" y="2578608"/>
            <a:ext cx="4754880" cy="27432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Before</a:t>
            </a:r>
            <a:endParaRPr lang="en-US" sz="1150" dirty="0"/>
          </a:p>
        </p:txBody>
      </p:sp>
      <p:sp>
        <p:nvSpPr>
          <p:cNvPr id="14" name="Text 11"/>
          <p:cNvSpPr/>
          <p:nvPr/>
        </p:nvSpPr>
        <p:spPr>
          <a:xfrm>
            <a:off x="914400" y="2834640"/>
            <a:ext cx="4754880" cy="621792"/>
          </a:xfrm>
          <a:prstGeom prst="rect">
            <a:avLst/>
          </a:prstGeom>
          <a:noFill/>
          <a:ln/>
        </p:spPr>
        <p:txBody>
          <a:bodyPr wrap="square" lIns="0" tIns="0" rIns="0" bIns="0" rtlCol="0" anchor="t"/>
          <a:lstStyle/>
          <a:p>
            <a:pPr indent="0" marL="0">
              <a:lnSpc>
                <a:spcPct val="105000"/>
              </a:lnSpc>
              <a:buNone/>
            </a:pPr>
            <a:r>
              <a:rPr lang="en-US" sz="1100" dirty="0">
                <a:solidFill>
                  <a:srgbClr val="1F2937"/>
                </a:solidFill>
                <a:latin typeface="Calibri" pitchFamily="34" charset="0"/>
                <a:ea typeface="Calibri" pitchFamily="34" charset="-122"/>
                <a:cs typeface="Calibri" pitchFamily="34" charset="-120"/>
              </a:rPr>
              <a:t>The form let you enter a Set 3 score even with Sets 1–2 already decided 6-0, 6-0.</a:t>
            </a:r>
            <a:endParaRPr lang="en-US" sz="1100" dirty="0"/>
          </a:p>
        </p:txBody>
      </p:sp>
      <p:sp>
        <p:nvSpPr>
          <p:cNvPr id="15" name="Shape 12"/>
          <p:cNvSpPr/>
          <p:nvPr/>
        </p:nvSpPr>
        <p:spPr>
          <a:xfrm>
            <a:off x="6035040" y="2514600"/>
            <a:ext cx="5394960" cy="1005840"/>
          </a:xfrm>
          <a:prstGeom prst="roundRect">
            <a:avLst>
              <a:gd name="adj" fmla="val 7273"/>
            </a:avLst>
          </a:prstGeom>
          <a:solidFill>
            <a:srgbClr val="BAE6FD"/>
          </a:solidFill>
          <a:ln w="12700">
            <a:solidFill>
              <a:srgbClr val="CFD6DD"/>
            </a:solidFill>
            <a:prstDash val="solid"/>
          </a:ln>
        </p:spPr>
      </p:sp>
      <p:sp>
        <p:nvSpPr>
          <p:cNvPr id="16" name="Text 13"/>
          <p:cNvSpPr/>
          <p:nvPr/>
        </p:nvSpPr>
        <p:spPr>
          <a:xfrm>
            <a:off x="6217920" y="2578608"/>
            <a:ext cx="5029200" cy="27432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After</a:t>
            </a:r>
            <a:endParaRPr lang="en-US" sz="1150" dirty="0"/>
          </a:p>
        </p:txBody>
      </p:sp>
      <p:sp>
        <p:nvSpPr>
          <p:cNvPr id="17" name="Text 14"/>
          <p:cNvSpPr/>
          <p:nvPr/>
        </p:nvSpPr>
        <p:spPr>
          <a:xfrm>
            <a:off x="6217920" y="2834640"/>
            <a:ext cx="5029200" cy="621792"/>
          </a:xfrm>
          <a:prstGeom prst="rect">
            <a:avLst/>
          </a:prstGeom>
          <a:noFill/>
          <a:ln/>
        </p:spPr>
        <p:txBody>
          <a:bodyPr wrap="square" lIns="0" tIns="0" rIns="0" bIns="0" rtlCol="0" anchor="t"/>
          <a:lstStyle/>
          <a:p>
            <a:pPr indent="0" marL="0">
              <a:lnSpc>
                <a:spcPct val="105000"/>
              </a:lnSpc>
              <a:buNone/>
            </a:pPr>
            <a:r>
              <a:rPr lang="en-US" sz="1100" dirty="0">
                <a:solidFill>
                  <a:srgbClr val="1F2937"/>
                </a:solidFill>
                <a:latin typeface="Calibri" pitchFamily="34" charset="0"/>
                <a:ea typeface="Calibri" pitchFamily="34" charset="-122"/>
                <a:cs typeface="Calibri" pitchFamily="34" charset="-120"/>
              </a:rPr>
              <a:t>Set 3 inputs disabled until Sets 1–2 are split 1–1 — input gating.</a:t>
            </a:r>
            <a:endParaRPr lang="en-US" sz="1100" dirty="0"/>
          </a:p>
        </p:txBody>
      </p:sp>
      <p:sp>
        <p:nvSpPr>
          <p:cNvPr id="18" name="Shape 15"/>
          <p:cNvSpPr/>
          <p:nvPr/>
        </p:nvSpPr>
        <p:spPr>
          <a:xfrm>
            <a:off x="502920" y="3840480"/>
            <a:ext cx="11201400" cy="1783080"/>
          </a:xfrm>
          <a:prstGeom prst="roundRect">
            <a:avLst>
              <a:gd name="adj" fmla="val 410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731520" y="4023360"/>
            <a:ext cx="3291840" cy="292608"/>
          </a:xfrm>
          <a:prstGeom prst="roundRect">
            <a:avLst>
              <a:gd name="adj" fmla="val 50000"/>
            </a:avLst>
          </a:prstGeom>
          <a:solidFill>
            <a:srgbClr val="BAE6FD"/>
          </a:solidFill>
          <a:ln/>
        </p:spPr>
      </p:sp>
      <p:sp>
        <p:nvSpPr>
          <p:cNvPr id="20" name="Text 17"/>
          <p:cNvSpPr/>
          <p:nvPr/>
        </p:nvSpPr>
        <p:spPr>
          <a:xfrm>
            <a:off x="731520" y="4023360"/>
            <a:ext cx="3291840" cy="292608"/>
          </a:xfrm>
          <a:prstGeom prst="rect">
            <a:avLst/>
          </a:prstGeom>
          <a:noFill/>
          <a:ln/>
        </p:spPr>
        <p:txBody>
          <a:bodyPr wrap="square" lIns="0" tIns="0" rIns="0" bIns="0" rtlCol="0" anchor="ctr"/>
          <a:lstStyle/>
          <a:p>
            <a:pPr algn="ctr" indent="0" marL="0">
              <a:buNone/>
            </a:pPr>
            <a:r>
              <a:rPr lang="en-US" sz="1050" b="1" dirty="0">
                <a:solidFill>
                  <a:srgbClr val="0369A1"/>
                </a:solidFill>
                <a:latin typeface="Calibri" pitchFamily="34" charset="0"/>
                <a:ea typeface="Calibri" pitchFamily="34" charset="-122"/>
                <a:cs typeface="Calibri" pitchFamily="34" charset="-120"/>
              </a:rPr>
              <a:t>#6 · Recognition rather than recall</a:t>
            </a:r>
            <a:endParaRPr lang="en-US" sz="1050" dirty="0"/>
          </a:p>
        </p:txBody>
      </p:sp>
      <p:sp>
        <p:nvSpPr>
          <p:cNvPr id="21" name="Shape 18"/>
          <p:cNvSpPr/>
          <p:nvPr/>
        </p:nvSpPr>
        <p:spPr>
          <a:xfrm>
            <a:off x="731520" y="4434840"/>
            <a:ext cx="5120640" cy="1005840"/>
          </a:xfrm>
          <a:prstGeom prst="roundRect">
            <a:avLst>
              <a:gd name="adj" fmla="val 7273"/>
            </a:avLst>
          </a:prstGeom>
          <a:solidFill>
            <a:srgbClr val="FECACA"/>
          </a:solidFill>
          <a:ln w="12700">
            <a:solidFill>
              <a:srgbClr val="CFD6DD"/>
            </a:solidFill>
            <a:prstDash val="solid"/>
          </a:ln>
        </p:spPr>
      </p:sp>
      <p:sp>
        <p:nvSpPr>
          <p:cNvPr id="22" name="Text 19"/>
          <p:cNvSpPr/>
          <p:nvPr/>
        </p:nvSpPr>
        <p:spPr>
          <a:xfrm>
            <a:off x="914400" y="4498848"/>
            <a:ext cx="4754880" cy="27432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Before</a:t>
            </a:r>
            <a:endParaRPr lang="en-US" sz="1150" dirty="0"/>
          </a:p>
        </p:txBody>
      </p:sp>
      <p:sp>
        <p:nvSpPr>
          <p:cNvPr id="23" name="Text 20"/>
          <p:cNvSpPr/>
          <p:nvPr/>
        </p:nvSpPr>
        <p:spPr>
          <a:xfrm>
            <a:off x="914400" y="4754880"/>
            <a:ext cx="4754880" cy="621792"/>
          </a:xfrm>
          <a:prstGeom prst="rect">
            <a:avLst/>
          </a:prstGeom>
          <a:noFill/>
          <a:ln/>
        </p:spPr>
        <p:txBody>
          <a:bodyPr wrap="square" lIns="0" tIns="0" rIns="0" bIns="0" rtlCol="0" anchor="t"/>
          <a:lstStyle/>
          <a:p>
            <a:pPr indent="0" marL="0">
              <a:lnSpc>
                <a:spcPct val="105000"/>
              </a:lnSpc>
              <a:buNone/>
            </a:pPr>
            <a:r>
              <a:rPr lang="en-US" sz="1100" dirty="0">
                <a:solidFill>
                  <a:srgbClr val="1F2937"/>
                </a:solidFill>
                <a:latin typeface="Calibri" pitchFamily="34" charset="0"/>
                <a:ea typeface="Calibri" pitchFamily="34" charset="-122"/>
                <a:cs typeface="Calibri" pitchFamily="34" charset="-120"/>
              </a:rPr>
              <a:t>Pro Tour filters were hidden behind a "Filters" button.</a:t>
            </a:r>
            <a:endParaRPr lang="en-US" sz="1100" dirty="0"/>
          </a:p>
        </p:txBody>
      </p:sp>
      <p:sp>
        <p:nvSpPr>
          <p:cNvPr id="24" name="Shape 21"/>
          <p:cNvSpPr/>
          <p:nvPr/>
        </p:nvSpPr>
        <p:spPr>
          <a:xfrm>
            <a:off x="6035040" y="4434840"/>
            <a:ext cx="5394960" cy="1005840"/>
          </a:xfrm>
          <a:prstGeom prst="roundRect">
            <a:avLst>
              <a:gd name="adj" fmla="val 7273"/>
            </a:avLst>
          </a:prstGeom>
          <a:solidFill>
            <a:srgbClr val="BAE6FD"/>
          </a:solidFill>
          <a:ln w="12700">
            <a:solidFill>
              <a:srgbClr val="CFD6DD"/>
            </a:solidFill>
            <a:prstDash val="solid"/>
          </a:ln>
        </p:spPr>
      </p:sp>
      <p:sp>
        <p:nvSpPr>
          <p:cNvPr id="25" name="Text 22"/>
          <p:cNvSpPr/>
          <p:nvPr/>
        </p:nvSpPr>
        <p:spPr>
          <a:xfrm>
            <a:off x="6217920" y="4498848"/>
            <a:ext cx="5029200" cy="27432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After</a:t>
            </a:r>
            <a:endParaRPr lang="en-US" sz="1150" dirty="0"/>
          </a:p>
        </p:txBody>
      </p:sp>
      <p:sp>
        <p:nvSpPr>
          <p:cNvPr id="26" name="Text 23"/>
          <p:cNvSpPr/>
          <p:nvPr/>
        </p:nvSpPr>
        <p:spPr>
          <a:xfrm>
            <a:off x="6217920" y="4754880"/>
            <a:ext cx="5029200" cy="621792"/>
          </a:xfrm>
          <a:prstGeom prst="rect">
            <a:avLst/>
          </a:prstGeom>
          <a:noFill/>
          <a:ln/>
        </p:spPr>
        <p:txBody>
          <a:bodyPr wrap="square" lIns="0" tIns="0" rIns="0" bIns="0" rtlCol="0" anchor="t"/>
          <a:lstStyle/>
          <a:p>
            <a:pPr indent="0" marL="0">
              <a:lnSpc>
                <a:spcPct val="105000"/>
              </a:lnSpc>
              <a:buNone/>
            </a:pPr>
            <a:r>
              <a:rPr lang="en-US" sz="1100" dirty="0">
                <a:solidFill>
                  <a:srgbClr val="1F2937"/>
                </a:solidFill>
                <a:latin typeface="Calibri" pitchFamily="34" charset="0"/>
                <a:ea typeface="Calibri" pitchFamily="34" charset="-122"/>
                <a:cs typeface="Calibri" pitchFamily="34" charset="-120"/>
              </a:rPr>
              <a:t>Filters moved to an always-visible sidebar — no recall needed.</a:t>
            </a:r>
            <a:endParaRPr lang="en-US" sz="1100" dirty="0"/>
          </a:p>
        </p:txBody>
      </p:sp>
      <p:sp>
        <p:nvSpPr>
          <p:cNvPr id="27" name="Text 24"/>
          <p:cNvSpPr/>
          <p:nvPr/>
        </p:nvSpPr>
        <p:spPr>
          <a:xfrm>
            <a:off x="502920" y="5715000"/>
            <a:ext cx="11201400" cy="548640"/>
          </a:xfrm>
          <a:prstGeom prst="rect">
            <a:avLst/>
          </a:prstGeom>
          <a:noFill/>
          <a:ln/>
        </p:spPr>
        <p:txBody>
          <a:bodyPr wrap="square" lIns="0" tIns="0" rIns="0" bIns="0" rtlCol="0" anchor="ctr"/>
          <a:lstStyle/>
          <a:p>
            <a:pPr indent="0" marL="0">
              <a:buNone/>
            </a:pPr>
            <a:r>
              <a:rPr lang="en-US" sz="1200" i="1" dirty="0">
                <a:solidFill>
                  <a:srgbClr val="9AA3AD"/>
                </a:solidFill>
                <a:latin typeface="Calibri" pitchFamily="34" charset="0"/>
                <a:ea typeface="Calibri" pitchFamily="34" charset="-122"/>
                <a:cs typeface="Calibri" pitchFamily="34" charset="-120"/>
              </a:rPr>
              <a:t>Round 1 was a self-evaluation against static wireframes — Round 2 (next slide) brings in independent evaluators and the live app.</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§3.5 VALIDATION LOOP</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Instruments ready — sessions scheduled</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§3 UX Design &amp; Heuristic Evaluation — slide 17/32</a:t>
            </a:r>
            <a:endParaRPr lang="en-US" sz="900" dirty="0"/>
          </a:p>
        </p:txBody>
      </p:sp>
      <p:sp>
        <p:nvSpPr>
          <p:cNvPr id="8" name="Shape 5"/>
          <p:cNvSpPr/>
          <p:nvPr/>
        </p:nvSpPr>
        <p:spPr>
          <a:xfrm>
            <a:off x="502920" y="1463040"/>
            <a:ext cx="2514600" cy="1234440"/>
          </a:xfrm>
          <a:prstGeom prst="roundRect">
            <a:avLst>
              <a:gd name="adj" fmla="val 5926"/>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40080" y="1600200"/>
            <a:ext cx="2240280" cy="960120"/>
          </a:xfrm>
          <a:prstGeom prst="rect">
            <a:avLst/>
          </a:prstGeom>
          <a:noFill/>
          <a:ln/>
        </p:spPr>
        <p:txBody>
          <a:bodyPr wrap="square" lIns="0" tIns="0" rIns="0" bIns="0"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Persona survey</a:t>
            </a:r>
            <a:endParaRPr lang="en-US" sz="1250" dirty="0"/>
          </a:p>
          <a:p>
            <a:pPr algn="ctr" indent="0" marL="0">
              <a:buNone/>
            </a:pPr>
            <a:r>
              <a:rPr lang="en-US" sz="1250" b="1" dirty="0">
                <a:solidFill>
                  <a:srgbClr val="0369A1"/>
                </a:solidFill>
                <a:latin typeface="Calibri" pitchFamily="34" charset="0"/>
                <a:ea typeface="Calibri" pitchFamily="34" charset="-122"/>
                <a:cs typeface="Calibri" pitchFamily="34" charset="-120"/>
              </a:rPr>
              <a:t>(01)</a:t>
            </a:r>
            <a:endParaRPr lang="en-US" sz="1250" dirty="0"/>
          </a:p>
        </p:txBody>
      </p:sp>
      <p:sp>
        <p:nvSpPr>
          <p:cNvPr id="10" name="Text 7"/>
          <p:cNvSpPr/>
          <p:nvPr/>
        </p:nvSpPr>
        <p:spPr>
          <a:xfrm>
            <a:off x="3017520" y="1783080"/>
            <a:ext cx="320040" cy="548640"/>
          </a:xfrm>
          <a:prstGeom prst="rect">
            <a:avLst/>
          </a:prstGeom>
          <a:noFill/>
          <a:ln/>
        </p:spPr>
        <p:txBody>
          <a:bodyPr wrap="square" lIns="0" tIns="0" rIns="0" bIns="0" rtlCol="0" anchor="ctr"/>
          <a:lstStyle/>
          <a:p>
            <a:pPr algn="ctr" indent="0" marL="0">
              <a:buNone/>
            </a:pPr>
            <a:r>
              <a:rPr lang="en-US" sz="2000" dirty="0">
                <a:solidFill>
                  <a:srgbClr val="0EA5E9"/>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337560" y="1463040"/>
            <a:ext cx="2514600" cy="1234440"/>
          </a:xfrm>
          <a:prstGeom prst="roundRect">
            <a:avLst>
              <a:gd name="adj" fmla="val 5926"/>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3474720" y="1600200"/>
            <a:ext cx="2240280" cy="960120"/>
          </a:xfrm>
          <a:prstGeom prst="rect">
            <a:avLst/>
          </a:prstGeom>
          <a:noFill/>
          <a:ln/>
        </p:spPr>
        <p:txBody>
          <a:bodyPr wrap="square" lIns="0" tIns="0" rIns="0" bIns="0"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Interview guide</a:t>
            </a:r>
            <a:endParaRPr lang="en-US" sz="1250" dirty="0"/>
          </a:p>
          <a:p>
            <a:pPr algn="ctr" indent="0" marL="0">
              <a:buNone/>
            </a:pPr>
            <a:r>
              <a:rPr lang="en-US" sz="1250" b="1" dirty="0">
                <a:solidFill>
                  <a:srgbClr val="0369A1"/>
                </a:solidFill>
                <a:latin typeface="Calibri" pitchFamily="34" charset="0"/>
                <a:ea typeface="Calibri" pitchFamily="34" charset="-122"/>
                <a:cs typeface="Calibri" pitchFamily="34" charset="-120"/>
              </a:rPr>
              <a:t>(02)</a:t>
            </a:r>
            <a:endParaRPr lang="en-US" sz="1250" dirty="0"/>
          </a:p>
        </p:txBody>
      </p:sp>
      <p:sp>
        <p:nvSpPr>
          <p:cNvPr id="13" name="Text 10"/>
          <p:cNvSpPr/>
          <p:nvPr/>
        </p:nvSpPr>
        <p:spPr>
          <a:xfrm>
            <a:off x="5852160" y="1783080"/>
            <a:ext cx="320040" cy="548640"/>
          </a:xfrm>
          <a:prstGeom prst="rect">
            <a:avLst/>
          </a:prstGeom>
          <a:noFill/>
          <a:ln/>
        </p:spPr>
        <p:txBody>
          <a:bodyPr wrap="square" lIns="0" tIns="0" rIns="0" bIns="0" rtlCol="0" anchor="ctr"/>
          <a:lstStyle/>
          <a:p>
            <a:pPr algn="ctr" indent="0" marL="0">
              <a:buNone/>
            </a:pPr>
            <a:r>
              <a:rPr lang="en-US" sz="2000" dirty="0">
                <a:solidFill>
                  <a:srgbClr val="0EA5E9"/>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6172200" y="1463040"/>
            <a:ext cx="2514600" cy="1234440"/>
          </a:xfrm>
          <a:prstGeom prst="roundRect">
            <a:avLst>
              <a:gd name="adj" fmla="val 5926"/>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6309360" y="1600200"/>
            <a:ext cx="2240280" cy="960120"/>
          </a:xfrm>
          <a:prstGeom prst="rect">
            <a:avLst/>
          </a:prstGeom>
          <a:noFill/>
          <a:ln/>
        </p:spPr>
        <p:txBody>
          <a:bodyPr wrap="square" lIns="0" tIns="0" rIns="0" bIns="0"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Testing protocol</a:t>
            </a:r>
            <a:endParaRPr lang="en-US" sz="1250" dirty="0"/>
          </a:p>
          <a:p>
            <a:pPr algn="ctr" indent="0" marL="0">
              <a:buNone/>
            </a:pPr>
            <a:r>
              <a:rPr lang="en-US" sz="1250" b="1" dirty="0">
                <a:solidFill>
                  <a:srgbClr val="0369A1"/>
                </a:solidFill>
                <a:latin typeface="Calibri" pitchFamily="34" charset="0"/>
                <a:ea typeface="Calibri" pitchFamily="34" charset="-122"/>
                <a:cs typeface="Calibri" pitchFamily="34" charset="-120"/>
              </a:rPr>
              <a:t>+ SUS (03, 04)</a:t>
            </a:r>
            <a:endParaRPr lang="en-US" sz="1250" dirty="0"/>
          </a:p>
        </p:txBody>
      </p:sp>
      <p:sp>
        <p:nvSpPr>
          <p:cNvPr id="16" name="Text 13"/>
          <p:cNvSpPr/>
          <p:nvPr/>
        </p:nvSpPr>
        <p:spPr>
          <a:xfrm>
            <a:off x="8686800" y="1783080"/>
            <a:ext cx="320040" cy="548640"/>
          </a:xfrm>
          <a:prstGeom prst="rect">
            <a:avLst/>
          </a:prstGeom>
          <a:noFill/>
          <a:ln/>
        </p:spPr>
        <p:txBody>
          <a:bodyPr wrap="square" lIns="0" tIns="0" rIns="0" bIns="0" rtlCol="0" anchor="ctr"/>
          <a:lstStyle/>
          <a:p>
            <a:pPr algn="ctr" indent="0" marL="0">
              <a:buNone/>
            </a:pPr>
            <a:r>
              <a:rPr lang="en-US" sz="2000" dirty="0">
                <a:solidFill>
                  <a:srgbClr val="0EA5E9"/>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9006840" y="1463040"/>
            <a:ext cx="2514600" cy="1234440"/>
          </a:xfrm>
          <a:prstGeom prst="roundRect">
            <a:avLst>
              <a:gd name="adj" fmla="val 5926"/>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9144000" y="1600200"/>
            <a:ext cx="2240280" cy="960120"/>
          </a:xfrm>
          <a:prstGeom prst="rect">
            <a:avLst/>
          </a:prstGeom>
          <a:noFill/>
          <a:ln/>
        </p:spPr>
        <p:txBody>
          <a:bodyPr wrap="square" lIns="0" tIns="0" rIns="0" bIns="0" rtlCol="0" anchor="ctr"/>
          <a:lstStyle/>
          <a:p>
            <a:pPr algn="ctr" indent="0" marL="0">
              <a:buNone/>
            </a:pPr>
            <a:r>
              <a:rPr lang="en-US" sz="1250" b="1" dirty="0">
                <a:solidFill>
                  <a:srgbClr val="0369A1"/>
                </a:solidFill>
                <a:latin typeface="Calibri" pitchFamily="34" charset="0"/>
                <a:ea typeface="Calibri" pitchFamily="34" charset="-122"/>
                <a:cs typeface="Calibri" pitchFamily="34" charset="-120"/>
              </a:rPr>
              <a:t>Heuristic eval</a:t>
            </a:r>
            <a:endParaRPr lang="en-US" sz="1250" dirty="0"/>
          </a:p>
          <a:p>
            <a:pPr algn="ctr" indent="0" marL="0">
              <a:buNone/>
            </a:pPr>
            <a:r>
              <a:rPr lang="en-US" sz="1250" b="1" dirty="0">
                <a:solidFill>
                  <a:srgbClr val="0369A1"/>
                </a:solidFill>
                <a:latin typeface="Calibri" pitchFamily="34" charset="0"/>
                <a:ea typeface="Calibri" pitchFamily="34" charset="-122"/>
                <a:cs typeface="Calibri" pitchFamily="34" charset="-120"/>
              </a:rPr>
              <a:t>Round 2 (05)</a:t>
            </a:r>
            <a:endParaRPr lang="en-US" sz="1250" dirty="0"/>
          </a:p>
        </p:txBody>
      </p:sp>
      <p:sp>
        <p:nvSpPr>
          <p:cNvPr id="19" name="Shape 16"/>
          <p:cNvSpPr/>
          <p:nvPr/>
        </p:nvSpPr>
        <p:spPr>
          <a:xfrm>
            <a:off x="502920" y="2971800"/>
            <a:ext cx="11201400" cy="3337560"/>
          </a:xfrm>
          <a:prstGeom prst="roundRect">
            <a:avLst>
              <a:gd name="adj" fmla="val 2192"/>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0" name="Text 17"/>
          <p:cNvSpPr/>
          <p:nvPr/>
        </p:nvSpPr>
        <p:spPr>
          <a:xfrm>
            <a:off x="777240" y="3154680"/>
            <a:ext cx="10607040" cy="32004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Honest status: in progress, not fabricated</a:t>
            </a:r>
            <a:endParaRPr lang="en-US" sz="1450" dirty="0"/>
          </a:p>
        </p:txBody>
      </p:sp>
      <p:sp>
        <p:nvSpPr>
          <p:cNvPr id="21" name="Text 18"/>
          <p:cNvSpPr/>
          <p:nvPr/>
        </p:nvSpPr>
        <p:spPr>
          <a:xfrm>
            <a:off x="777240" y="3566160"/>
            <a:ext cx="10607040" cy="2606040"/>
          </a:xfrm>
          <a:prstGeom prst="rect">
            <a:avLst/>
          </a:prstGeom>
          <a:noFill/>
          <a:ln/>
        </p:spPr>
        <p:txBody>
          <a:bodyPr wrap="square" lIns="0" tIns="0" rIns="0" bIns="0" rtlCol="0" anchor="t"/>
          <a:lstStyle/>
          <a:p>
            <a:pPr marL="228600" indent="-228600">
              <a:lnSpc>
                <a:spcPct val="108000"/>
              </a:lnSpc>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Ready: 10–12 question persona survey (EN/IT), 15-min interview guide, standard 10-item SUS (EN/IT, scored 0–100), a 5-task think-aloud protocol mapped to all 5 app pages, and a Round-2 Nielsen evaluation pack for 2 independent classmate evaluators against the live app.</a:t>
            </a:r>
            <a:endParaRPr lang="en-US" sz="1300" dirty="0"/>
          </a:p>
          <a:p>
            <a:pPr marL="228600" indent="-228600">
              <a:lnSpc>
                <a:spcPct val="108000"/>
              </a:lnSpc>
              <a:spcAft>
                <a:spcPts val="1400"/>
              </a:spcAft>
              <a:buSzPct val="100000"/>
              <a:buChar char="▪"/>
            </a:pPr>
            <a:r>
              <a:rPr lang="en-US" sz="1300" dirty="0">
                <a:solidFill>
                  <a:srgbClr val="1F2937"/>
                </a:solidFill>
                <a:latin typeface="Calibri" pitchFamily="34" charset="0"/>
                <a:ea typeface="Calibri" pitchFamily="34" charset="-122"/>
                <a:cs typeface="Calibri" pitchFamily="34" charset="-120"/>
              </a:rPr>
              <a:t>Not yet run: sessions with 3–5 real club players + 1–2 external evaluators — recruiting is the scheduling bottleneck. Scheduled before the oral defense.</a:t>
            </a:r>
            <a:endParaRPr lang="en-US" sz="1300" dirty="0"/>
          </a:p>
          <a:p>
            <a:pPr marL="228600" indent="-228600">
              <a:lnSpc>
                <a:spcPct val="108000"/>
              </a:lnSpc>
              <a:spcAft>
                <a:spcPts val="1400"/>
              </a:spcAft>
              <a:buSzPct val="100000"/>
              <a:buChar char="▪"/>
            </a:pPr>
            <a:r>
              <a:rPr lang="en-US" sz="1300" b="1" dirty="0">
                <a:solidFill>
                  <a:srgbClr val="0369A1"/>
                </a:solidFill>
                <a:latin typeface="Calibri" pitchFamily="34" charset="0"/>
                <a:ea typeface="Calibri" pitchFamily="34" charset="-122"/>
                <a:cs typeface="Calibri" pitchFamily="34" charset="-120"/>
              </a:rPr>
              <a:t>This directly answers the prior evaluation's "validation is essentially absent — no user testing or SUS score." The instruments exist; the results genuinely don't yet, and this deck says so rather than inventing a number.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§4.1 CHART INVENTORY</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9 chart types, none of them decorative</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18/32</a:t>
            </a:r>
            <a:endParaRPr lang="en-US" sz="900" dirty="0"/>
          </a:p>
        </p:txBody>
      </p:sp>
      <p:sp>
        <p:nvSpPr>
          <p:cNvPr id="8" name="Shape 5"/>
          <p:cNvSpPr/>
          <p:nvPr/>
        </p:nvSpPr>
        <p:spPr>
          <a:xfrm>
            <a:off x="502920" y="1417320"/>
            <a:ext cx="11201400" cy="484632"/>
          </a:xfrm>
          <a:prstGeom prst="roundRect">
            <a:avLst>
              <a:gd name="adj" fmla="val 15094"/>
            </a:avLst>
          </a:prstGeom>
          <a:solidFill>
            <a:srgbClr val="1F2937"/>
          </a:solidFill>
          <a:ln w="12700">
            <a:solidFill>
              <a:srgbClr val="CFD6DD"/>
            </a:solidFill>
            <a:prstDash val="solid"/>
          </a:ln>
        </p:spPr>
      </p:sp>
      <p:sp>
        <p:nvSpPr>
          <p:cNvPr id="9" name="Text 6"/>
          <p:cNvSpPr/>
          <p:nvPr/>
        </p:nvSpPr>
        <p:spPr>
          <a:xfrm>
            <a:off x="685800" y="1508760"/>
            <a:ext cx="59436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7"/>
          <p:cNvSpPr/>
          <p:nvPr/>
        </p:nvSpPr>
        <p:spPr>
          <a:xfrm>
            <a:off x="1417320" y="1508760"/>
            <a:ext cx="13258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Page</a:t>
            </a:r>
            <a:endParaRPr lang="en-US" sz="1200" dirty="0"/>
          </a:p>
        </p:txBody>
      </p:sp>
      <p:sp>
        <p:nvSpPr>
          <p:cNvPr id="11" name="Text 8"/>
          <p:cNvSpPr/>
          <p:nvPr/>
        </p:nvSpPr>
        <p:spPr>
          <a:xfrm>
            <a:off x="2880360" y="1508760"/>
            <a:ext cx="29718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Chart</a:t>
            </a:r>
            <a:endParaRPr lang="en-US" sz="1200" dirty="0"/>
          </a:p>
        </p:txBody>
      </p:sp>
      <p:sp>
        <p:nvSpPr>
          <p:cNvPr id="12" name="Text 9"/>
          <p:cNvSpPr/>
          <p:nvPr/>
        </p:nvSpPr>
        <p:spPr>
          <a:xfrm>
            <a:off x="5989320" y="1508760"/>
            <a:ext cx="539496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 this chart</a:t>
            </a:r>
            <a:endParaRPr lang="en-US" sz="1200" dirty="0"/>
          </a:p>
        </p:txBody>
      </p:sp>
      <p:sp>
        <p:nvSpPr>
          <p:cNvPr id="13" name="Shape 10"/>
          <p:cNvSpPr/>
          <p:nvPr/>
        </p:nvSpPr>
        <p:spPr>
          <a:xfrm>
            <a:off x="502920" y="1901952"/>
            <a:ext cx="11201400" cy="484632"/>
          </a:xfrm>
          <a:prstGeom prst="roundRect">
            <a:avLst>
              <a:gd name="adj" fmla="val 15094"/>
            </a:avLst>
          </a:prstGeom>
          <a:solidFill>
            <a:srgbClr val="F6F8FA"/>
          </a:solidFill>
          <a:ln w="12700">
            <a:solidFill>
              <a:srgbClr val="CFD6DD"/>
            </a:solidFill>
            <a:prstDash val="solid"/>
          </a:ln>
        </p:spPr>
      </p:sp>
      <p:sp>
        <p:nvSpPr>
          <p:cNvPr id="14" name="Text 11"/>
          <p:cNvSpPr/>
          <p:nvPr/>
        </p:nvSpPr>
        <p:spPr>
          <a:xfrm>
            <a:off x="685800" y="1993392"/>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C1</a:t>
            </a:r>
            <a:endParaRPr lang="en-US" sz="1150" dirty="0"/>
          </a:p>
        </p:txBody>
      </p:sp>
      <p:sp>
        <p:nvSpPr>
          <p:cNvPr id="15" name="Text 12"/>
          <p:cNvSpPr/>
          <p:nvPr/>
        </p:nvSpPr>
        <p:spPr>
          <a:xfrm>
            <a:off x="1417320" y="1993392"/>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Home</a:t>
            </a:r>
            <a:endParaRPr lang="en-US" sz="1100" dirty="0"/>
          </a:p>
        </p:txBody>
      </p:sp>
      <p:sp>
        <p:nvSpPr>
          <p:cNvPr id="16" name="Text 13"/>
          <p:cNvSpPr/>
          <p:nvPr/>
        </p:nvSpPr>
        <p:spPr>
          <a:xfrm>
            <a:off x="2880360" y="1993392"/>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Big KPI + sparkline</a:t>
            </a:r>
            <a:endParaRPr lang="en-US" sz="1100" dirty="0"/>
          </a:p>
        </p:txBody>
      </p:sp>
      <p:sp>
        <p:nvSpPr>
          <p:cNvPr id="17" name="Text 14"/>
          <p:cNvSpPr/>
          <p:nvPr/>
        </p:nvSpPr>
        <p:spPr>
          <a:xfrm>
            <a:off x="5989320" y="1993392"/>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"How am I doing?" in 0.5s</a:t>
            </a:r>
            <a:endParaRPr lang="en-US" sz="1080" dirty="0"/>
          </a:p>
        </p:txBody>
      </p:sp>
      <p:sp>
        <p:nvSpPr>
          <p:cNvPr id="18" name="Shape 15"/>
          <p:cNvSpPr/>
          <p:nvPr/>
        </p:nvSpPr>
        <p:spPr>
          <a:xfrm>
            <a:off x="502920" y="2386584"/>
            <a:ext cx="11201400" cy="484632"/>
          </a:xfrm>
          <a:prstGeom prst="roundRect">
            <a:avLst>
              <a:gd name="adj" fmla="val 15094"/>
            </a:avLst>
          </a:prstGeom>
          <a:solidFill>
            <a:srgbClr val="FFFFFF"/>
          </a:solidFill>
          <a:ln w="12700">
            <a:solidFill>
              <a:srgbClr val="CFD6DD"/>
            </a:solidFill>
            <a:prstDash val="solid"/>
          </a:ln>
        </p:spPr>
      </p:sp>
      <p:sp>
        <p:nvSpPr>
          <p:cNvPr id="19" name="Text 16"/>
          <p:cNvSpPr/>
          <p:nvPr/>
        </p:nvSpPr>
        <p:spPr>
          <a:xfrm>
            <a:off x="685800" y="2478024"/>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C2</a:t>
            </a:r>
            <a:endParaRPr lang="en-US" sz="1150" dirty="0"/>
          </a:p>
        </p:txBody>
      </p:sp>
      <p:sp>
        <p:nvSpPr>
          <p:cNvPr id="20" name="Text 17"/>
          <p:cNvSpPr/>
          <p:nvPr/>
        </p:nvSpPr>
        <p:spPr>
          <a:xfrm>
            <a:off x="1417320" y="2478024"/>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Home</a:t>
            </a:r>
            <a:endParaRPr lang="en-US" sz="1100" dirty="0"/>
          </a:p>
        </p:txBody>
      </p:sp>
      <p:sp>
        <p:nvSpPr>
          <p:cNvPr id="21" name="Text 18"/>
          <p:cNvSpPr/>
          <p:nvPr/>
        </p:nvSpPr>
        <p:spPr>
          <a:xfrm>
            <a:off x="2880360" y="2478024"/>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Horiz. bar — partner win rate</a:t>
            </a:r>
            <a:endParaRPr lang="en-US" sz="1100" dirty="0"/>
          </a:p>
        </p:txBody>
      </p:sp>
      <p:sp>
        <p:nvSpPr>
          <p:cNvPr id="22" name="Text 19"/>
          <p:cNvSpPr/>
          <p:nvPr/>
        </p:nvSpPr>
        <p:spPr>
          <a:xfrm>
            <a:off x="5989320" y="2478024"/>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Length = best preattentive channel for comparison</a:t>
            </a:r>
            <a:endParaRPr lang="en-US" sz="1080" dirty="0"/>
          </a:p>
        </p:txBody>
      </p:sp>
      <p:sp>
        <p:nvSpPr>
          <p:cNvPr id="23" name="Shape 20"/>
          <p:cNvSpPr/>
          <p:nvPr/>
        </p:nvSpPr>
        <p:spPr>
          <a:xfrm>
            <a:off x="502920" y="2871216"/>
            <a:ext cx="11201400" cy="484632"/>
          </a:xfrm>
          <a:prstGeom prst="roundRect">
            <a:avLst>
              <a:gd name="adj" fmla="val 15094"/>
            </a:avLst>
          </a:prstGeom>
          <a:solidFill>
            <a:srgbClr val="F6F8FA"/>
          </a:solidFill>
          <a:ln w="12700">
            <a:solidFill>
              <a:srgbClr val="CFD6DD"/>
            </a:solidFill>
            <a:prstDash val="solid"/>
          </a:ln>
        </p:spPr>
      </p:sp>
      <p:sp>
        <p:nvSpPr>
          <p:cNvPr id="24" name="Text 21"/>
          <p:cNvSpPr/>
          <p:nvPr/>
        </p:nvSpPr>
        <p:spPr>
          <a:xfrm>
            <a:off x="685800" y="2962656"/>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C3</a:t>
            </a:r>
            <a:endParaRPr lang="en-US" sz="1150" dirty="0"/>
          </a:p>
        </p:txBody>
      </p:sp>
      <p:sp>
        <p:nvSpPr>
          <p:cNvPr id="25" name="Text 22"/>
          <p:cNvSpPr/>
          <p:nvPr/>
        </p:nvSpPr>
        <p:spPr>
          <a:xfrm>
            <a:off x="1417320" y="2962656"/>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Home</a:t>
            </a:r>
            <a:endParaRPr lang="en-US" sz="1100" dirty="0"/>
          </a:p>
        </p:txBody>
      </p:sp>
      <p:sp>
        <p:nvSpPr>
          <p:cNvPr id="26" name="Text 23"/>
          <p:cNvSpPr/>
          <p:nvPr/>
        </p:nvSpPr>
        <p:spPr>
          <a:xfrm>
            <a:off x="2880360" y="2962656"/>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Diverging bar — Shot DNA</a:t>
            </a:r>
            <a:endParaRPr lang="en-US" sz="1100" dirty="0"/>
          </a:p>
        </p:txBody>
      </p:sp>
      <p:sp>
        <p:nvSpPr>
          <p:cNvPr id="27" name="Text 24"/>
          <p:cNvSpPr/>
          <p:nvPr/>
        </p:nvSpPr>
        <p:spPr>
          <a:xfrm>
            <a:off x="5989320" y="2962656"/>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Signed magnitude: net-positive vs net-negative</a:t>
            </a:r>
            <a:endParaRPr lang="en-US" sz="1080" dirty="0"/>
          </a:p>
        </p:txBody>
      </p:sp>
      <p:sp>
        <p:nvSpPr>
          <p:cNvPr id="28" name="Shape 25"/>
          <p:cNvSpPr/>
          <p:nvPr/>
        </p:nvSpPr>
        <p:spPr>
          <a:xfrm>
            <a:off x="502920" y="3355848"/>
            <a:ext cx="11201400" cy="484632"/>
          </a:xfrm>
          <a:prstGeom prst="roundRect">
            <a:avLst>
              <a:gd name="adj" fmla="val 15094"/>
            </a:avLst>
          </a:prstGeom>
          <a:solidFill>
            <a:srgbClr val="FFFFFF"/>
          </a:solidFill>
          <a:ln w="12700">
            <a:solidFill>
              <a:srgbClr val="CFD6DD"/>
            </a:solidFill>
            <a:prstDash val="solid"/>
          </a:ln>
        </p:spPr>
      </p:sp>
      <p:sp>
        <p:nvSpPr>
          <p:cNvPr id="29" name="Text 26"/>
          <p:cNvSpPr/>
          <p:nvPr/>
        </p:nvSpPr>
        <p:spPr>
          <a:xfrm>
            <a:off x="685800" y="3447288"/>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C4</a:t>
            </a:r>
            <a:endParaRPr lang="en-US" sz="1150" dirty="0"/>
          </a:p>
        </p:txBody>
      </p:sp>
      <p:sp>
        <p:nvSpPr>
          <p:cNvPr id="30" name="Text 27"/>
          <p:cNvSpPr/>
          <p:nvPr/>
        </p:nvSpPr>
        <p:spPr>
          <a:xfrm>
            <a:off x="1417320" y="3447288"/>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Pro Tour</a:t>
            </a:r>
            <a:endParaRPr lang="en-US" sz="1100" dirty="0"/>
          </a:p>
        </p:txBody>
      </p:sp>
      <p:sp>
        <p:nvSpPr>
          <p:cNvPr id="31" name="Text 28"/>
          <p:cNvSpPr/>
          <p:nvPr/>
        </p:nvSpPr>
        <p:spPr>
          <a:xfrm>
            <a:off x="2880360" y="3447288"/>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Ranking table + row sparkline</a:t>
            </a:r>
            <a:endParaRPr lang="en-US" sz="1100" dirty="0"/>
          </a:p>
        </p:txBody>
      </p:sp>
      <p:sp>
        <p:nvSpPr>
          <p:cNvPr id="32" name="Text 29"/>
          <p:cNvSpPr/>
          <p:nvPr/>
        </p:nvSpPr>
        <p:spPr>
          <a:xfrm>
            <a:off x="5989320" y="3447288"/>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A ranking is fundamentally tabular</a:t>
            </a:r>
            <a:endParaRPr lang="en-US" sz="1080" dirty="0"/>
          </a:p>
        </p:txBody>
      </p:sp>
      <p:sp>
        <p:nvSpPr>
          <p:cNvPr id="33" name="Shape 30"/>
          <p:cNvSpPr/>
          <p:nvPr/>
        </p:nvSpPr>
        <p:spPr>
          <a:xfrm>
            <a:off x="502920" y="3840480"/>
            <a:ext cx="11201400" cy="484632"/>
          </a:xfrm>
          <a:prstGeom prst="roundRect">
            <a:avLst>
              <a:gd name="adj" fmla="val 15094"/>
            </a:avLst>
          </a:prstGeom>
          <a:solidFill>
            <a:srgbClr val="F6F8FA"/>
          </a:solidFill>
          <a:ln w="12700">
            <a:solidFill>
              <a:srgbClr val="CFD6DD"/>
            </a:solidFill>
            <a:prstDash val="solid"/>
          </a:ln>
        </p:spPr>
      </p:sp>
      <p:sp>
        <p:nvSpPr>
          <p:cNvPr id="34" name="Text 31"/>
          <p:cNvSpPr/>
          <p:nvPr/>
        </p:nvSpPr>
        <p:spPr>
          <a:xfrm>
            <a:off x="685800" y="3931920"/>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C5</a:t>
            </a:r>
            <a:endParaRPr lang="en-US" sz="1150" dirty="0"/>
          </a:p>
        </p:txBody>
      </p:sp>
      <p:sp>
        <p:nvSpPr>
          <p:cNvPr id="35" name="Text 32"/>
          <p:cNvSpPr/>
          <p:nvPr/>
        </p:nvSpPr>
        <p:spPr>
          <a:xfrm>
            <a:off x="1417320" y="3931920"/>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Pro Tour</a:t>
            </a:r>
            <a:endParaRPr lang="en-US" sz="1100" dirty="0"/>
          </a:p>
        </p:txBody>
      </p:sp>
      <p:sp>
        <p:nvSpPr>
          <p:cNvPr id="36" name="Text 33"/>
          <p:cNvSpPr/>
          <p:nvPr/>
        </p:nvSpPr>
        <p:spPr>
          <a:xfrm>
            <a:off x="2880360" y="3931920"/>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Small multiples — tier split</a:t>
            </a:r>
            <a:endParaRPr lang="en-US" sz="1100" dirty="0"/>
          </a:p>
        </p:txBody>
      </p:sp>
      <p:sp>
        <p:nvSpPr>
          <p:cNvPr id="37" name="Text 34"/>
          <p:cNvSpPr/>
          <p:nvPr/>
        </p:nvSpPr>
        <p:spPr>
          <a:xfrm>
            <a:off x="5989320" y="3931920"/>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Compares distributions without overlay</a:t>
            </a:r>
            <a:endParaRPr lang="en-US" sz="1080" dirty="0"/>
          </a:p>
        </p:txBody>
      </p:sp>
      <p:sp>
        <p:nvSpPr>
          <p:cNvPr id="38" name="Shape 35"/>
          <p:cNvSpPr/>
          <p:nvPr/>
        </p:nvSpPr>
        <p:spPr>
          <a:xfrm>
            <a:off x="502920" y="4325112"/>
            <a:ext cx="11201400" cy="484632"/>
          </a:xfrm>
          <a:prstGeom prst="roundRect">
            <a:avLst>
              <a:gd name="adj" fmla="val 15094"/>
            </a:avLst>
          </a:prstGeom>
          <a:solidFill>
            <a:srgbClr val="FFFFFF"/>
          </a:solidFill>
          <a:ln w="12700">
            <a:solidFill>
              <a:srgbClr val="CFD6DD"/>
            </a:solidFill>
            <a:prstDash val="solid"/>
          </a:ln>
        </p:spPr>
      </p:sp>
      <p:sp>
        <p:nvSpPr>
          <p:cNvPr id="39" name="Text 36"/>
          <p:cNvSpPr/>
          <p:nvPr/>
        </p:nvSpPr>
        <p:spPr>
          <a:xfrm>
            <a:off x="685800" y="4416552"/>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C6</a:t>
            </a:r>
            <a:endParaRPr lang="en-US" sz="1150" dirty="0"/>
          </a:p>
        </p:txBody>
      </p:sp>
      <p:sp>
        <p:nvSpPr>
          <p:cNvPr id="40" name="Text 37"/>
          <p:cNvSpPr/>
          <p:nvPr/>
        </p:nvSpPr>
        <p:spPr>
          <a:xfrm>
            <a:off x="1417320" y="4416552"/>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My Stats</a:t>
            </a:r>
            <a:endParaRPr lang="en-US" sz="1100" dirty="0"/>
          </a:p>
        </p:txBody>
      </p:sp>
      <p:sp>
        <p:nvSpPr>
          <p:cNvPr id="41" name="Text 38"/>
          <p:cNvSpPr/>
          <p:nvPr/>
        </p:nvSpPr>
        <p:spPr>
          <a:xfrm>
            <a:off x="2880360" y="4416552"/>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Rolling-mean line + ±1σ band</a:t>
            </a:r>
            <a:endParaRPr lang="en-US" sz="1100" dirty="0"/>
          </a:p>
        </p:txBody>
      </p:sp>
      <p:sp>
        <p:nvSpPr>
          <p:cNvPr id="42" name="Text 39"/>
          <p:cNvSpPr/>
          <p:nvPr/>
        </p:nvSpPr>
        <p:spPr>
          <a:xfrm>
            <a:off x="5989320" y="4416552"/>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Trend over time, noise-reduced</a:t>
            </a:r>
            <a:endParaRPr lang="en-US" sz="1080" dirty="0"/>
          </a:p>
        </p:txBody>
      </p:sp>
      <p:sp>
        <p:nvSpPr>
          <p:cNvPr id="43" name="Shape 40"/>
          <p:cNvSpPr/>
          <p:nvPr/>
        </p:nvSpPr>
        <p:spPr>
          <a:xfrm>
            <a:off x="502920" y="4809744"/>
            <a:ext cx="11201400" cy="484632"/>
          </a:xfrm>
          <a:prstGeom prst="roundRect">
            <a:avLst>
              <a:gd name="adj" fmla="val 15094"/>
            </a:avLst>
          </a:prstGeom>
          <a:solidFill>
            <a:srgbClr val="F6F8FA"/>
          </a:solidFill>
          <a:ln w="12700">
            <a:solidFill>
              <a:srgbClr val="CFD6DD"/>
            </a:solidFill>
            <a:prstDash val="solid"/>
          </a:ln>
        </p:spPr>
      </p:sp>
      <p:sp>
        <p:nvSpPr>
          <p:cNvPr id="44" name="Text 41"/>
          <p:cNvSpPr/>
          <p:nvPr/>
        </p:nvSpPr>
        <p:spPr>
          <a:xfrm>
            <a:off x="685800" y="4901184"/>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C7</a:t>
            </a:r>
            <a:endParaRPr lang="en-US" sz="1150" dirty="0"/>
          </a:p>
        </p:txBody>
      </p:sp>
      <p:sp>
        <p:nvSpPr>
          <p:cNvPr id="45" name="Text 42"/>
          <p:cNvSpPr/>
          <p:nvPr/>
        </p:nvSpPr>
        <p:spPr>
          <a:xfrm>
            <a:off x="1417320" y="4901184"/>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My Stats</a:t>
            </a:r>
            <a:endParaRPr lang="en-US" sz="1100" dirty="0"/>
          </a:p>
        </p:txBody>
      </p:sp>
      <p:sp>
        <p:nvSpPr>
          <p:cNvPr id="46" name="Text 43"/>
          <p:cNvSpPr/>
          <p:nvPr/>
        </p:nvSpPr>
        <p:spPr>
          <a:xfrm>
            <a:off x="2880360" y="4901184"/>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Set-by-set columns + delta</a:t>
            </a:r>
            <a:endParaRPr lang="en-US" sz="1100" dirty="0"/>
          </a:p>
        </p:txBody>
      </p:sp>
      <p:sp>
        <p:nvSpPr>
          <p:cNvPr id="47" name="Text 44"/>
          <p:cNvSpPr/>
          <p:nvPr/>
        </p:nvSpPr>
        <p:spPr>
          <a:xfrm>
            <a:off x="5989320" y="4901184"/>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The story is the gap, not the bars</a:t>
            </a:r>
            <a:endParaRPr lang="en-US" sz="1080" dirty="0"/>
          </a:p>
        </p:txBody>
      </p:sp>
      <p:sp>
        <p:nvSpPr>
          <p:cNvPr id="48" name="Shape 45"/>
          <p:cNvSpPr/>
          <p:nvPr/>
        </p:nvSpPr>
        <p:spPr>
          <a:xfrm>
            <a:off x="502920" y="5294376"/>
            <a:ext cx="11201400" cy="484632"/>
          </a:xfrm>
          <a:prstGeom prst="roundRect">
            <a:avLst>
              <a:gd name="adj" fmla="val 15094"/>
            </a:avLst>
          </a:prstGeom>
          <a:solidFill>
            <a:srgbClr val="FFFFFF"/>
          </a:solidFill>
          <a:ln w="12700">
            <a:solidFill>
              <a:srgbClr val="CFD6DD"/>
            </a:solidFill>
            <a:prstDash val="solid"/>
          </a:ln>
        </p:spPr>
      </p:sp>
      <p:sp>
        <p:nvSpPr>
          <p:cNvPr id="49" name="Text 46"/>
          <p:cNvSpPr/>
          <p:nvPr/>
        </p:nvSpPr>
        <p:spPr>
          <a:xfrm>
            <a:off x="685800" y="5385816"/>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C8</a:t>
            </a:r>
            <a:endParaRPr lang="en-US" sz="1150" dirty="0"/>
          </a:p>
        </p:txBody>
      </p:sp>
      <p:sp>
        <p:nvSpPr>
          <p:cNvPr id="50" name="Text 47"/>
          <p:cNvSpPr/>
          <p:nvPr/>
        </p:nvSpPr>
        <p:spPr>
          <a:xfrm>
            <a:off x="1417320" y="5385816"/>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Compare</a:t>
            </a:r>
            <a:endParaRPr lang="en-US" sz="1100" dirty="0"/>
          </a:p>
        </p:txBody>
      </p:sp>
      <p:sp>
        <p:nvSpPr>
          <p:cNvPr id="51" name="Text 48"/>
          <p:cNvSpPr/>
          <p:nvPr/>
        </p:nvSpPr>
        <p:spPr>
          <a:xfrm>
            <a:off x="2880360" y="5385816"/>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Radar — shot mix vs pro</a:t>
            </a:r>
            <a:endParaRPr lang="en-US" sz="1100" dirty="0"/>
          </a:p>
        </p:txBody>
      </p:sp>
      <p:sp>
        <p:nvSpPr>
          <p:cNvPr id="52" name="Text 49"/>
          <p:cNvSpPr/>
          <p:nvPr/>
        </p:nvSpPr>
        <p:spPr>
          <a:xfrm>
            <a:off x="5989320" y="5385816"/>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Small, fixed, parallel categories</a:t>
            </a:r>
            <a:endParaRPr lang="en-US" sz="1080" dirty="0"/>
          </a:p>
        </p:txBody>
      </p:sp>
      <p:sp>
        <p:nvSpPr>
          <p:cNvPr id="53" name="Shape 50"/>
          <p:cNvSpPr/>
          <p:nvPr/>
        </p:nvSpPr>
        <p:spPr>
          <a:xfrm>
            <a:off x="502920" y="5779008"/>
            <a:ext cx="11201400" cy="484632"/>
          </a:xfrm>
          <a:prstGeom prst="roundRect">
            <a:avLst>
              <a:gd name="adj" fmla="val 15094"/>
            </a:avLst>
          </a:prstGeom>
          <a:solidFill>
            <a:srgbClr val="F6F8FA"/>
          </a:solidFill>
          <a:ln w="12700">
            <a:solidFill>
              <a:srgbClr val="CFD6DD"/>
            </a:solidFill>
            <a:prstDash val="solid"/>
          </a:ln>
        </p:spPr>
      </p:sp>
      <p:sp>
        <p:nvSpPr>
          <p:cNvPr id="54" name="Text 51"/>
          <p:cNvSpPr/>
          <p:nvPr/>
        </p:nvSpPr>
        <p:spPr>
          <a:xfrm>
            <a:off x="685800" y="5870448"/>
            <a:ext cx="640080" cy="320040"/>
          </a:xfrm>
          <a:prstGeom prst="rect">
            <a:avLst/>
          </a:prstGeom>
          <a:noFill/>
          <a:ln/>
        </p:spPr>
        <p:txBody>
          <a:bodyPr wrap="square" lIns="0" tIns="0" rIns="0" bIns="0" rtlCol="0" anchor="ctr"/>
          <a:lstStyle/>
          <a:p>
            <a:pPr indent="0" marL="0">
              <a:buNone/>
            </a:pPr>
            <a:r>
              <a:rPr lang="en-US" sz="1150" b="1" dirty="0">
                <a:solidFill>
                  <a:srgbClr val="0369A1"/>
                </a:solidFill>
                <a:latin typeface="Calibri" pitchFamily="34" charset="0"/>
                <a:ea typeface="Calibri" pitchFamily="34" charset="-122"/>
                <a:cs typeface="Calibri" pitchFamily="34" charset="-120"/>
              </a:rPr>
              <a:t>C9</a:t>
            </a:r>
            <a:endParaRPr lang="en-US" sz="1150" dirty="0"/>
          </a:p>
        </p:txBody>
      </p:sp>
      <p:sp>
        <p:nvSpPr>
          <p:cNvPr id="55" name="Text 52"/>
          <p:cNvSpPr/>
          <p:nvPr/>
        </p:nvSpPr>
        <p:spPr>
          <a:xfrm>
            <a:off x="1417320" y="5870448"/>
            <a:ext cx="1371600" cy="3200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Multiple</a:t>
            </a:r>
            <a:endParaRPr lang="en-US" sz="1100" dirty="0"/>
          </a:p>
        </p:txBody>
      </p:sp>
      <p:sp>
        <p:nvSpPr>
          <p:cNvPr id="56" name="Text 53"/>
          <p:cNvSpPr/>
          <p:nvPr/>
        </p:nvSpPr>
        <p:spPr>
          <a:xfrm>
            <a:off x="2880360" y="5870448"/>
            <a:ext cx="3017520" cy="32004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In-canvas annotations</a:t>
            </a:r>
            <a:endParaRPr lang="en-US" sz="1100" dirty="0"/>
          </a:p>
        </p:txBody>
      </p:sp>
      <p:sp>
        <p:nvSpPr>
          <p:cNvPr id="57" name="Text 54"/>
          <p:cNvSpPr/>
          <p:nvPr/>
        </p:nvSpPr>
        <p:spPr>
          <a:xfrm>
            <a:off x="5989320" y="5870448"/>
            <a:ext cx="5394960" cy="320040"/>
          </a:xfrm>
          <a:prstGeom prst="rect">
            <a:avLst/>
          </a:prstGeom>
          <a:noFill/>
          <a:ln/>
        </p:spPr>
        <p:txBody>
          <a:bodyPr wrap="square" lIns="0" tIns="0" rIns="0" bIns="0" rtlCol="0" anchor="ctr"/>
          <a:lstStyle/>
          <a:p>
            <a:pPr indent="0" marL="0">
              <a:buNone/>
            </a:pPr>
            <a:r>
              <a:rPr lang="en-US" sz="1080" i="1" dirty="0">
                <a:solidFill>
                  <a:srgbClr val="6B7280"/>
                </a:solidFill>
                <a:latin typeface="Calibri" pitchFamily="34" charset="0"/>
                <a:ea typeface="Calibri" pitchFamily="34" charset="-122"/>
                <a:cs typeface="Calibri" pitchFamily="34" charset="-120"/>
              </a:rPr>
              <a:t>Kirk's focus principle, applied directly</a:t>
            </a:r>
            <a:endParaRPr lang="en-US" sz="1080" dirty="0"/>
          </a:p>
        </p:txBody>
      </p:sp>
      <p:sp>
        <p:nvSpPr>
          <p:cNvPr id="58" name="Text 55"/>
          <p:cNvSpPr/>
          <p:nvPr/>
        </p:nvSpPr>
        <p:spPr>
          <a:xfrm>
            <a:off x="502920" y="6373368"/>
            <a:ext cx="11201400" cy="457200"/>
          </a:xfrm>
          <a:prstGeom prst="rect">
            <a:avLst/>
          </a:prstGeom>
          <a:noFill/>
          <a:ln/>
        </p:spPr>
        <p:txBody>
          <a:bodyPr wrap="square" lIns="0" tIns="0" rIns="0" bIns="0" rtlCol="0" anchor="ctr"/>
          <a:lstStyle/>
          <a:p>
            <a:pPr indent="0" marL="0">
              <a:buNone/>
            </a:pPr>
            <a:r>
              <a:rPr lang="en-US" sz="1130" i="1" dirty="0">
                <a:solidFill>
                  <a:srgbClr val="9AA3AD"/>
                </a:solidFill>
                <a:latin typeface="Calibri" pitchFamily="34" charset="0"/>
                <a:ea typeface="Calibri" pitchFamily="34" charset="-122"/>
                <a:cs typeface="Calibri" pitchFamily="34" charset="-120"/>
              </a:rPr>
              <a:t>Considered and rejected: pie chart of shot share, court heatmap, Sankey (points → match wins), animated ranking time-lapse, 3D bar charts — always rejected.</a:t>
            </a:r>
            <a:endParaRPr lang="en-US" sz="11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§4.1 CASE STUDY RECAP</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Shot DNA — the diverging bar</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19/32</a:t>
            </a:r>
            <a:endParaRPr lang="en-US" sz="900" dirty="0"/>
          </a:p>
        </p:txBody>
      </p:sp>
      <p:graphicFrame>
        <p:nvGraphicFramePr>
          <p:cNvPr id="8" name="Chart 0" descr=""/>
          <p:cNvGraphicFramePr/>
          <p:nvPr/>
        </p:nvGraphicFramePr>
        <p:xfrm>
          <a:off x="502920" y="1417320"/>
          <a:ext cx="6492240" cy="41148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269480" y="1417320"/>
            <a:ext cx="4434840" cy="4114800"/>
          </a:xfrm>
          <a:prstGeom prst="roundRect">
            <a:avLst>
              <a:gd name="adj" fmla="val 177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0" name="Text 6"/>
          <p:cNvSpPr/>
          <p:nvPr/>
        </p:nvSpPr>
        <p:spPr>
          <a:xfrm>
            <a:off x="7498080" y="1645920"/>
            <a:ext cx="4023360" cy="365760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30" b="1" dirty="0">
                <a:solidFill>
                  <a:srgbClr val="1F2937"/>
                </a:solidFill>
                <a:latin typeface="Calibri" pitchFamily="34" charset="0"/>
                <a:ea typeface="Calibri" pitchFamily="34" charset="-122"/>
                <a:cs typeface="Calibri" pitchFamily="34" charset="-120"/>
              </a:rPr>
              <a:t>Question is signed</a:t>
            </a:r>
            <a:endParaRPr lang="en-US" sz="1230" dirty="0"/>
          </a:p>
          <a:p>
            <a:pPr marL="228600" indent="-228600">
              <a:lnSpc>
                <a:spcPct val="108000"/>
              </a:lnSpc>
              <a:spcAft>
                <a:spcPts val="900"/>
              </a:spcAft>
              <a:buSzPct val="100000"/>
              <a:buChar char="▪"/>
            </a:pPr>
            <a:r>
              <a:rPr lang="en-US" sz="1230" dirty="0">
                <a:solidFill>
                  <a:srgbClr val="1F2937"/>
                </a:solidFill>
                <a:latin typeface="Calibri" pitchFamily="34" charset="0"/>
                <a:ea typeface="Calibri" pitchFamily="34" charset="-122"/>
                <a:cs typeface="Calibri" pitchFamily="34" charset="-120"/>
              </a:rPr>
              <a:t>bandeja is net-positive, smash is net-negative — the sign is the point</a:t>
            </a:r>
            <a:endParaRPr lang="en-US" sz="1230" dirty="0"/>
          </a:p>
          <a:p>
            <a:pPr marL="228600" indent="-228600">
              <a:lnSpc>
                <a:spcPct val="108000"/>
              </a:lnSpc>
              <a:spcAft>
                <a:spcPts val="900"/>
              </a:spcAft>
              <a:buSzPct val="100000"/>
              <a:buChar char="▪"/>
            </a:pPr>
            <a:r>
              <a:rPr lang="en-US" sz="1230" b="1" dirty="0">
                <a:solidFill>
                  <a:srgbClr val="1F2937"/>
                </a:solidFill>
                <a:latin typeface="Calibri" pitchFamily="34" charset="0"/>
                <a:ea typeface="Calibri" pitchFamily="34" charset="-122"/>
                <a:cs typeface="Calibri" pitchFamily="34" charset="-120"/>
              </a:rPr>
              <a:t>Rejected: pie chart</a:t>
            </a:r>
            <a:endParaRPr lang="en-US" sz="1230" dirty="0"/>
          </a:p>
          <a:p>
            <a:pPr marL="228600" indent="-228600">
              <a:lnSpc>
                <a:spcPct val="108000"/>
              </a:lnSpc>
              <a:spcAft>
                <a:spcPts val="900"/>
              </a:spcAft>
              <a:buSzPct val="100000"/>
              <a:buChar char="▪"/>
            </a:pPr>
            <a:r>
              <a:rPr lang="en-US" sz="1230" dirty="0">
                <a:solidFill>
                  <a:srgbClr val="1F2937"/>
                </a:solidFill>
                <a:latin typeface="Calibri" pitchFamily="34" charset="0"/>
                <a:ea typeface="Calibri" pitchFamily="34" charset="-122"/>
                <a:cs typeface="Calibri" pitchFamily="34" charset="-120"/>
              </a:rPr>
              <a:t>shows proportions of use, not net sign</a:t>
            </a:r>
            <a:endParaRPr lang="en-US" sz="1230" dirty="0"/>
          </a:p>
          <a:p>
            <a:pPr marL="228600" indent="-228600">
              <a:lnSpc>
                <a:spcPct val="108000"/>
              </a:lnSpc>
              <a:spcAft>
                <a:spcPts val="900"/>
              </a:spcAft>
              <a:buSzPct val="100000"/>
              <a:buChar char="▪"/>
            </a:pPr>
            <a:r>
              <a:rPr lang="en-US" sz="1230" b="1" dirty="0">
                <a:solidFill>
                  <a:srgbClr val="1F2937"/>
                </a:solidFill>
                <a:latin typeface="Calibri" pitchFamily="34" charset="0"/>
                <a:ea typeface="Calibri" pitchFamily="34" charset="-122"/>
                <a:cs typeface="Calibri" pitchFamily="34" charset="-120"/>
              </a:rPr>
              <a:t>Rejected: stacked bars</a:t>
            </a:r>
            <a:endParaRPr lang="en-US" sz="1230" dirty="0"/>
          </a:p>
          <a:p>
            <a:pPr marL="228600" indent="-228600">
              <a:lnSpc>
                <a:spcPct val="108000"/>
              </a:lnSpc>
              <a:spcAft>
                <a:spcPts val="900"/>
              </a:spcAft>
              <a:buSzPct val="100000"/>
              <a:buChar char="▪"/>
            </a:pPr>
            <a:r>
              <a:rPr lang="en-US" sz="1230" dirty="0">
                <a:solidFill>
                  <a:srgbClr val="1F2937"/>
                </a:solidFill>
                <a:latin typeface="Calibri" pitchFamily="34" charset="0"/>
                <a:ea typeface="Calibri" pitchFamily="34" charset="-122"/>
                <a:cs typeface="Calibri" pitchFamily="34" charset="-120"/>
              </a:rPr>
              <a:t>hide the zero line the whole story depends on</a:t>
            </a:r>
            <a:endParaRPr lang="en-US" sz="1230" dirty="0"/>
          </a:p>
          <a:p>
            <a:pPr marL="228600" indent="-228600">
              <a:lnSpc>
                <a:spcPct val="108000"/>
              </a:lnSpc>
              <a:spcAft>
                <a:spcPts val="900"/>
              </a:spcAft>
              <a:buSzPct val="100000"/>
              <a:buChar char="▪"/>
            </a:pPr>
            <a:r>
              <a:rPr lang="en-US" sz="1230" b="1" dirty="0">
                <a:solidFill>
                  <a:srgbClr val="0369A1"/>
                </a:solidFill>
                <a:latin typeface="Calibri" pitchFamily="34" charset="0"/>
                <a:ea typeface="Calibri" pitchFamily="34" charset="-122"/>
                <a:cs typeface="Calibri" pitchFamily="34" charset="-120"/>
              </a:rPr>
              <a:t>Diverging bars</a:t>
            </a:r>
            <a:endParaRPr lang="en-US" sz="1230" dirty="0"/>
          </a:p>
          <a:p>
            <a:pPr marL="228600" indent="-228600">
              <a:lnSpc>
                <a:spcPct val="108000"/>
              </a:lnSpc>
              <a:spcAft>
                <a:spcPts val="900"/>
              </a:spcAft>
              <a:buSzPct val="100000"/>
              <a:buChar char="▪"/>
            </a:pPr>
            <a:r>
              <a:rPr lang="en-US" sz="1230" dirty="0">
                <a:solidFill>
                  <a:srgbClr val="1F2937"/>
                </a:solidFill>
                <a:latin typeface="Calibri" pitchFamily="34" charset="0"/>
                <a:ea typeface="Calibri" pitchFamily="34" charset="-122"/>
                <a:cs typeface="Calibri" pitchFamily="34" charset="-120"/>
              </a:rPr>
              <a:t>put zero dead-center — sign readable at a glance</a:t>
            </a:r>
            <a:endParaRPr lang="en-US" sz="12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§4.5 NEW CASE STUDY</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Momentum: does winning set 1 mean anything?</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20/32</a:t>
            </a:r>
            <a:endParaRPr lang="en-US" sz="900" dirty="0"/>
          </a:p>
        </p:txBody>
      </p:sp>
      <p:graphicFrame>
        <p:nvGraphicFramePr>
          <p:cNvPr id="8" name="Chart 0" descr=""/>
          <p:cNvGraphicFramePr/>
          <p:nvPr/>
        </p:nvGraphicFramePr>
        <p:xfrm>
          <a:off x="502920" y="1417320"/>
          <a:ext cx="6675120" cy="416052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685800" y="5623560"/>
            <a:ext cx="6309360" cy="457200"/>
          </a:xfrm>
          <a:prstGeom prst="rect">
            <a:avLst/>
          </a:prstGeom>
          <a:noFill/>
          <a:ln/>
        </p:spPr>
        <p:txBody>
          <a:bodyPr wrap="square" lIns="0" tIns="0" rIns="0" bIns="0" rtlCol="0" anchor="ctr"/>
          <a:lstStyle/>
          <a:p>
            <a:pPr indent="0" marL="0">
              <a:buNone/>
            </a:pPr>
            <a:r>
              <a:rPr lang="en-US" sz="1300" b="1" i="1" dirty="0">
                <a:solidFill>
                  <a:srgbClr val="0369A1"/>
                </a:solidFill>
                <a:latin typeface="Calibri" pitchFamily="34" charset="0"/>
                <a:ea typeface="Calibri" pitchFamily="34" charset="-122"/>
                <a:cs typeface="Calibri" pitchFamily="34" charset="-120"/>
              </a:rPr>
              <a:t>86% → 49%: the set-1 lead evaporates once it's a decider.</a:t>
            </a:r>
            <a:endParaRPr lang="en-US" sz="1300" dirty="0"/>
          </a:p>
        </p:txBody>
      </p:sp>
      <p:sp>
        <p:nvSpPr>
          <p:cNvPr id="10" name="Shape 6"/>
          <p:cNvSpPr/>
          <p:nvPr/>
        </p:nvSpPr>
        <p:spPr>
          <a:xfrm>
            <a:off x="7360920" y="1417320"/>
            <a:ext cx="4343400" cy="4114800"/>
          </a:xfrm>
          <a:prstGeom prst="roundRect">
            <a:avLst>
              <a:gd name="adj" fmla="val 177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1" name="Text 7"/>
          <p:cNvSpPr/>
          <p:nvPr/>
        </p:nvSpPr>
        <p:spPr>
          <a:xfrm>
            <a:off x="7589520" y="1645920"/>
            <a:ext cx="3931920" cy="374904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Encoding: position + slope</a:t>
            </a:r>
            <a:endParaRPr lang="en-US" sz="1200" dirty="0"/>
          </a:p>
          <a:p>
            <a:pPr marL="228600" indent="-228600">
              <a:lnSpc>
                <a:spcPct val="108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the collapse lives in the geometry, not a caption</a:t>
            </a:r>
            <a:endParaRPr lang="en-US" sz="1200" dirty="0"/>
          </a:p>
          <a:p>
            <a:pPr marL="228600" indent="-228600">
              <a:lnSpc>
                <a:spcPct val="108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Rejected: grouped bars</a:t>
            </a:r>
            <a:endParaRPr lang="en-US" sz="1200" dirty="0"/>
          </a:p>
          <a:p>
            <a:pPr marL="228600" indent="-228600">
              <a:lnSpc>
                <a:spcPct val="108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reads two facts, not one collapse</a:t>
            </a:r>
            <a:endParaRPr lang="en-US" sz="1200" dirty="0"/>
          </a:p>
          <a:p>
            <a:pPr marL="228600" indent="-228600">
              <a:lnSpc>
                <a:spcPct val="108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Rejected: waterfall</a:t>
            </a:r>
            <a:endParaRPr lang="en-US" sz="1200" dirty="0"/>
          </a:p>
          <a:p>
            <a:pPr marL="228600" indent="-228600">
              <a:lnSpc>
                <a:spcPct val="108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falsely implies an additive decomposition</a:t>
            </a:r>
            <a:endParaRPr lang="en-US" sz="1200" dirty="0"/>
          </a:p>
          <a:p>
            <a:pPr marL="228600" indent="-228600">
              <a:lnSpc>
                <a:spcPct val="108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Rejected: Sankey</a:t>
            </a:r>
            <a:endParaRPr lang="en-US" sz="1200" dirty="0"/>
          </a:p>
          <a:p>
            <a:pPr marL="228600" indent="-228600">
              <a:lnSpc>
                <a:spcPct val="108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the 49% group isn't a flow-subset of the 86% group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§4.6 NEW CASE STUDY</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Pair chemistry: reps, or survivorship?</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21/32</a:t>
            </a:r>
            <a:endParaRPr lang="en-US" sz="900" dirty="0"/>
          </a:p>
        </p:txBody>
      </p:sp>
      <p:sp>
        <p:nvSpPr>
          <p:cNvPr id="8" name="Shape 5"/>
          <p:cNvSpPr/>
          <p:nvPr/>
        </p:nvSpPr>
        <p:spPr>
          <a:xfrm rot="16200000">
            <a:off x="2560320" y="731520"/>
            <a:ext cx="2926080" cy="5669280"/>
          </a:xfrm>
          <a:prstGeom prst="trapezoid">
            <a:avLst/>
          </a:prstGeom>
          <a:solidFill>
            <a:srgbClr val="D9DEE3">
              <a:alpha val="70000"/>
            </a:srgbClr>
          </a:solidFill>
          <a:ln/>
        </p:spPr>
      </p:sp>
      <p:graphicFrame>
        <p:nvGraphicFramePr>
          <p:cNvPr id="9" name="Chart 0" descr=""/>
          <p:cNvGraphicFramePr/>
          <p:nvPr/>
        </p:nvGraphicFramePr>
        <p:xfrm>
          <a:off x="502920" y="141732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685800" y="5577840"/>
            <a:ext cx="6309360" cy="548640"/>
          </a:xfrm>
          <a:prstGeom prst="rect">
            <a:avLst/>
          </a:prstGeom>
          <a:noFill/>
          <a:ln/>
        </p:spPr>
        <p:txBody>
          <a:bodyPr wrap="square" lIns="0" tIns="0" rIns="0" bIns="0" rtlCol="0" anchor="ctr"/>
          <a:lstStyle/>
          <a:p>
            <a:pPr indent="0" marL="0">
              <a:buNone/>
            </a:pPr>
            <a:r>
              <a:rPr lang="en-US" sz="1200" b="1" i="1" dirty="0">
                <a:solidFill>
                  <a:srgbClr val="0369A1"/>
                </a:solidFill>
                <a:latin typeface="Calibri" pitchFamily="34" charset="0"/>
                <a:ea typeface="Calibri" pitchFamily="34" charset="-122"/>
                <a:cs typeface="Calibri" pitchFamily="34" charset="-120"/>
              </a:rPr>
              <a:t>Only 39% of pairs (89 of 230) ever reach 5+ matches together — the narrowing band is the shrinking population, not just decoration.</a:t>
            </a:r>
            <a:endParaRPr lang="en-US" sz="1200" dirty="0"/>
          </a:p>
        </p:txBody>
      </p:sp>
      <p:sp>
        <p:nvSpPr>
          <p:cNvPr id="11" name="Shape 7"/>
          <p:cNvSpPr/>
          <p:nvPr/>
        </p:nvSpPr>
        <p:spPr>
          <a:xfrm>
            <a:off x="7360920" y="1417320"/>
            <a:ext cx="4343400" cy="4114800"/>
          </a:xfrm>
          <a:prstGeom prst="roundRect">
            <a:avLst>
              <a:gd name="adj" fmla="val 177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8"/>
          <p:cNvSpPr/>
          <p:nvPr/>
        </p:nvSpPr>
        <p:spPr>
          <a:xfrm>
            <a:off x="7589520" y="1645920"/>
            <a:ext cx="3931920" cy="374904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Encoding: line + ordinal x + gray wedge</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wedge stands in for the shrinking pair population</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bar per bucket</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no room left to layer in "how many pairs survive"</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scatter per pair</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noisy fan at low x overwhelms the real signal</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small multiples</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solves a shape-comparison problem this finding doesn't have</a:t>
            </a:r>
            <a:endParaRPr lang="en-US" sz="11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§4.7 NEW CASE STUDY</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Ranking calibration: predicts, doesn't decide</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22/32</a:t>
            </a:r>
            <a:endParaRPr lang="en-US" sz="900" dirty="0"/>
          </a:p>
        </p:txBody>
      </p:sp>
      <p:graphicFrame>
        <p:nvGraphicFramePr>
          <p:cNvPr id="8" name="Chart 0" descr=""/>
          <p:cNvGraphicFramePr/>
          <p:nvPr/>
        </p:nvGraphicFramePr>
        <p:xfrm>
          <a:off x="502920" y="1417320"/>
          <a:ext cx="6675120" cy="416052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685800" y="5715000"/>
            <a:ext cx="6309360" cy="41148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Coin-flip baseline is 50%, not 0% — everything shown is distance above "no information."</a:t>
            </a:r>
            <a:endParaRPr lang="en-US" sz="1150" dirty="0"/>
          </a:p>
        </p:txBody>
      </p:sp>
      <p:sp>
        <p:nvSpPr>
          <p:cNvPr id="10" name="Shape 6"/>
          <p:cNvSpPr/>
          <p:nvPr/>
        </p:nvSpPr>
        <p:spPr>
          <a:xfrm>
            <a:off x="7360920" y="1417320"/>
            <a:ext cx="4343400" cy="4114800"/>
          </a:xfrm>
          <a:prstGeom prst="roundRect">
            <a:avLst>
              <a:gd name="adj" fmla="val 177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1" name="Text 7"/>
          <p:cNvSpPr/>
          <p:nvPr/>
        </p:nvSpPr>
        <p:spPr>
          <a:xfrm>
            <a:off x="7589520" y="1645920"/>
            <a:ext cx="3931920" cy="3749040"/>
          </a:xfrm>
          <a:prstGeom prst="rect">
            <a:avLst/>
          </a:prstGeom>
          <a:noFill/>
          <a:ln/>
        </p:spPr>
        <p:txBody>
          <a:bodyPr wrap="square" lIns="0" tIns="0" rIns="0" bIns="0" rtlCol="0" anchor="t"/>
          <a:lstStyle/>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Logistic model: AUC = 0.883</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checked internally, never shown to Marco/Luca directly</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ROC curve</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answers "is the model honest", not "does the gap matter"</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calibration-vs-diagonal</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same objection — analyst tool, not audience chart</a:t>
            </a:r>
            <a:endParaRPr lang="en-US" sz="1180" dirty="0"/>
          </a:p>
          <a:p>
            <a:pPr marL="228600" indent="-228600">
              <a:lnSpc>
                <a:spcPct val="108000"/>
              </a:lnSpc>
              <a:spcAft>
                <a:spcPts val="800"/>
              </a:spcAft>
              <a:buSzPct val="100000"/>
              <a:buChar char="▪"/>
            </a:pPr>
            <a:r>
              <a:rPr lang="en-US" sz="1180" b="1" dirty="0">
                <a:solidFill>
                  <a:srgbClr val="1F2937"/>
                </a:solidFill>
                <a:latin typeface="Calibri" pitchFamily="34" charset="0"/>
                <a:ea typeface="Calibri" pitchFamily="34" charset="-122"/>
                <a:cs typeface="Calibri" pitchFamily="34" charset="-120"/>
              </a:rPr>
              <a:t>Rejected: single KPI (78.5%)</a:t>
            </a:r>
            <a:endParaRPr lang="en-US" sz="1180" dirty="0"/>
          </a:p>
          <a:p>
            <a:pPr marL="228600" indent="-228600">
              <a:lnSpc>
                <a:spcPct val="108000"/>
              </a:lnSpc>
              <a:spcAft>
                <a:spcPts val="800"/>
              </a:spcAft>
              <a:buSzPct val="100000"/>
              <a:buChar char="▪"/>
            </a:pPr>
            <a:r>
              <a:rPr lang="en-US" sz="1180" dirty="0">
                <a:solidFill>
                  <a:srgbClr val="1F2937"/>
                </a:solidFill>
                <a:latin typeface="Calibri" pitchFamily="34" charset="0"/>
                <a:ea typeface="Calibri" pitchFamily="34" charset="-122"/>
                <a:cs typeface="Calibri" pitchFamily="34" charset="-120"/>
              </a:rPr>
              <a:t>hides that the gap size changes everything</a:t>
            </a:r>
            <a:endParaRPr lang="en-US" sz="11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§4.3 COLOR &amp; ACCESSIBILITY</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Color does editorial work, not decoration</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23/32</a:t>
            </a:r>
            <a:endParaRPr lang="en-US" sz="900" dirty="0"/>
          </a:p>
        </p:txBody>
      </p:sp>
      <p:sp>
        <p:nvSpPr>
          <p:cNvPr id="8" name="Shape 5"/>
          <p:cNvSpPr/>
          <p:nvPr/>
        </p:nvSpPr>
        <p:spPr>
          <a:xfrm>
            <a:off x="502920" y="1417320"/>
            <a:ext cx="2670048" cy="2103120"/>
          </a:xfrm>
          <a:prstGeom prst="roundRect">
            <a:avLst>
              <a:gd name="adj" fmla="val 3478"/>
            </a:avLst>
          </a:prstGeom>
          <a:solidFill>
            <a:srgbClr val="FFFFFF"/>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685800" y="1600200"/>
            <a:ext cx="2304288" cy="777240"/>
          </a:xfrm>
          <a:prstGeom prst="roundRect">
            <a:avLst>
              <a:gd name="adj" fmla="val 7059"/>
            </a:avLst>
          </a:prstGeom>
          <a:solidFill>
            <a:srgbClr val="0EA5E9"/>
          </a:solidFill>
          <a:ln/>
        </p:spPr>
      </p:sp>
      <p:sp>
        <p:nvSpPr>
          <p:cNvPr id="10" name="Text 7"/>
          <p:cNvSpPr/>
          <p:nvPr/>
        </p:nvSpPr>
        <p:spPr>
          <a:xfrm>
            <a:off x="685800" y="2487168"/>
            <a:ext cx="2304288" cy="32004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Sky blue #0EA5E9</a:t>
            </a:r>
            <a:endParaRPr lang="en-US" sz="1150" dirty="0"/>
          </a:p>
        </p:txBody>
      </p:sp>
      <p:sp>
        <p:nvSpPr>
          <p:cNvPr id="11" name="Text 8"/>
          <p:cNvSpPr/>
          <p:nvPr/>
        </p:nvSpPr>
        <p:spPr>
          <a:xfrm>
            <a:off x="685800" y="2816352"/>
            <a:ext cx="2304288" cy="640080"/>
          </a:xfrm>
          <a:prstGeom prst="rect">
            <a:avLst/>
          </a:prstGeom>
          <a:noFill/>
          <a:ln/>
        </p:spPr>
        <p:txBody>
          <a:bodyPr wrap="square" lIns="0" tIns="0" rIns="0" bIns="0" rtlCol="0" anchor="t"/>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Neutral / positive / interactive — the default for all charts</a:t>
            </a:r>
            <a:endParaRPr lang="en-US" sz="1000" dirty="0"/>
          </a:p>
        </p:txBody>
      </p:sp>
      <p:sp>
        <p:nvSpPr>
          <p:cNvPr id="12" name="Shape 9"/>
          <p:cNvSpPr/>
          <p:nvPr/>
        </p:nvSpPr>
        <p:spPr>
          <a:xfrm>
            <a:off x="3227832" y="1417320"/>
            <a:ext cx="2670048" cy="2103120"/>
          </a:xfrm>
          <a:prstGeom prst="roundRect">
            <a:avLst>
              <a:gd name="adj" fmla="val 3478"/>
            </a:avLst>
          </a:prstGeom>
          <a:solidFill>
            <a:srgbClr val="FFFFFF"/>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3" name="Shape 10"/>
          <p:cNvSpPr/>
          <p:nvPr/>
        </p:nvSpPr>
        <p:spPr>
          <a:xfrm>
            <a:off x="3410712" y="1600200"/>
            <a:ext cx="2304288" cy="777240"/>
          </a:xfrm>
          <a:prstGeom prst="roundRect">
            <a:avLst>
              <a:gd name="adj" fmla="val 7059"/>
            </a:avLst>
          </a:prstGeom>
          <a:solidFill>
            <a:srgbClr val="EF4444"/>
          </a:solidFill>
          <a:ln/>
        </p:spPr>
      </p:sp>
      <p:sp>
        <p:nvSpPr>
          <p:cNvPr id="14" name="Text 11"/>
          <p:cNvSpPr/>
          <p:nvPr/>
        </p:nvSpPr>
        <p:spPr>
          <a:xfrm>
            <a:off x="3410712" y="2487168"/>
            <a:ext cx="2304288" cy="32004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Red #EF4444</a:t>
            </a:r>
            <a:endParaRPr lang="en-US" sz="1150" dirty="0"/>
          </a:p>
        </p:txBody>
      </p:sp>
      <p:sp>
        <p:nvSpPr>
          <p:cNvPr id="15" name="Text 12"/>
          <p:cNvSpPr/>
          <p:nvPr/>
        </p:nvSpPr>
        <p:spPr>
          <a:xfrm>
            <a:off x="3410712" y="2816352"/>
            <a:ext cx="2304288" cy="640080"/>
          </a:xfrm>
          <a:prstGeom prst="rect">
            <a:avLst/>
          </a:prstGeom>
          <a:noFill/>
          <a:ln/>
        </p:spPr>
        <p:txBody>
          <a:bodyPr wrap="square" lIns="0" tIns="0" rIns="0" bIns="0" rtlCol="0" anchor="t"/>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Negative signal that requires action, only — never decorative</a:t>
            </a:r>
            <a:endParaRPr lang="en-US" sz="1000" dirty="0"/>
          </a:p>
        </p:txBody>
      </p:sp>
      <p:sp>
        <p:nvSpPr>
          <p:cNvPr id="16" name="Shape 13"/>
          <p:cNvSpPr/>
          <p:nvPr/>
        </p:nvSpPr>
        <p:spPr>
          <a:xfrm>
            <a:off x="5952744" y="1417320"/>
            <a:ext cx="2670048" cy="2103120"/>
          </a:xfrm>
          <a:prstGeom prst="roundRect">
            <a:avLst>
              <a:gd name="adj" fmla="val 3478"/>
            </a:avLst>
          </a:prstGeom>
          <a:solidFill>
            <a:srgbClr val="FFFFFF"/>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7" name="Shape 14"/>
          <p:cNvSpPr/>
          <p:nvPr/>
        </p:nvSpPr>
        <p:spPr>
          <a:xfrm>
            <a:off x="6135624" y="1600200"/>
            <a:ext cx="2304288" cy="777240"/>
          </a:xfrm>
          <a:prstGeom prst="roundRect">
            <a:avLst>
              <a:gd name="adj" fmla="val 7059"/>
            </a:avLst>
          </a:prstGeom>
          <a:solidFill>
            <a:srgbClr val="6B7280"/>
          </a:solidFill>
          <a:ln/>
        </p:spPr>
      </p:sp>
      <p:sp>
        <p:nvSpPr>
          <p:cNvPr id="18" name="Text 15"/>
          <p:cNvSpPr/>
          <p:nvPr/>
        </p:nvSpPr>
        <p:spPr>
          <a:xfrm>
            <a:off x="6135624" y="2487168"/>
            <a:ext cx="2304288" cy="32004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Gray #6B7280 / #9AA3AD</a:t>
            </a:r>
            <a:endParaRPr lang="en-US" sz="1150" dirty="0"/>
          </a:p>
        </p:txBody>
      </p:sp>
      <p:sp>
        <p:nvSpPr>
          <p:cNvPr id="19" name="Text 16"/>
          <p:cNvSpPr/>
          <p:nvPr/>
        </p:nvSpPr>
        <p:spPr>
          <a:xfrm>
            <a:off x="6135624" y="2816352"/>
            <a:ext cx="2304288" cy="640080"/>
          </a:xfrm>
          <a:prstGeom prst="rect">
            <a:avLst/>
          </a:prstGeom>
          <a:noFill/>
          <a:ln/>
        </p:spPr>
        <p:txBody>
          <a:bodyPr wrap="square" lIns="0" tIns="0" rIns="0" bIns="0" rtlCol="0" anchor="t"/>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Pro reference frame — the comparison point, not a competing color</a:t>
            </a:r>
            <a:endParaRPr lang="en-US" sz="1000" dirty="0"/>
          </a:p>
        </p:txBody>
      </p:sp>
      <p:sp>
        <p:nvSpPr>
          <p:cNvPr id="20" name="Shape 17"/>
          <p:cNvSpPr/>
          <p:nvPr/>
        </p:nvSpPr>
        <p:spPr>
          <a:xfrm>
            <a:off x="8677656" y="1417320"/>
            <a:ext cx="2670048" cy="2103120"/>
          </a:xfrm>
          <a:prstGeom prst="roundRect">
            <a:avLst>
              <a:gd name="adj" fmla="val 3478"/>
            </a:avLst>
          </a:prstGeom>
          <a:solidFill>
            <a:srgbClr val="FFFFFF"/>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Shape 18"/>
          <p:cNvSpPr/>
          <p:nvPr/>
        </p:nvSpPr>
        <p:spPr>
          <a:xfrm>
            <a:off x="8860536" y="1600200"/>
            <a:ext cx="2304288" cy="777240"/>
          </a:xfrm>
          <a:prstGeom prst="roundRect">
            <a:avLst>
              <a:gd name="adj" fmla="val 7059"/>
            </a:avLst>
          </a:prstGeom>
          <a:solidFill>
            <a:srgbClr val="1F2937"/>
          </a:solidFill>
          <a:ln/>
        </p:spPr>
      </p:sp>
      <p:sp>
        <p:nvSpPr>
          <p:cNvPr id="22" name="Text 19"/>
          <p:cNvSpPr/>
          <p:nvPr/>
        </p:nvSpPr>
        <p:spPr>
          <a:xfrm>
            <a:off x="8860536" y="2487168"/>
            <a:ext cx="2304288" cy="32004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Ink #1F2937</a:t>
            </a:r>
            <a:endParaRPr lang="en-US" sz="1150" dirty="0"/>
          </a:p>
        </p:txBody>
      </p:sp>
      <p:sp>
        <p:nvSpPr>
          <p:cNvPr id="23" name="Text 20"/>
          <p:cNvSpPr/>
          <p:nvPr/>
        </p:nvSpPr>
        <p:spPr>
          <a:xfrm>
            <a:off x="8860536" y="2816352"/>
            <a:ext cx="2304288" cy="640080"/>
          </a:xfrm>
          <a:prstGeom prst="rect">
            <a:avLst/>
          </a:prstGeom>
          <a:noFill/>
          <a:ln/>
        </p:spPr>
        <p:txBody>
          <a:bodyPr wrap="square" lIns="0" tIns="0" rIns="0" bIns="0" rtlCol="0" anchor="t"/>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Body text — 12.6:1 contrast on white (WCAG AAA)</a:t>
            </a:r>
            <a:endParaRPr lang="en-US" sz="1000" dirty="0"/>
          </a:p>
        </p:txBody>
      </p:sp>
      <p:sp>
        <p:nvSpPr>
          <p:cNvPr id="24" name="Shape 21"/>
          <p:cNvSpPr/>
          <p:nvPr/>
        </p:nvSpPr>
        <p:spPr>
          <a:xfrm>
            <a:off x="502920" y="3749040"/>
            <a:ext cx="11201400" cy="2423160"/>
          </a:xfrm>
          <a:prstGeom prst="roundRect">
            <a:avLst>
              <a:gd name="adj" fmla="val 3019"/>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5" name="Text 22"/>
          <p:cNvSpPr/>
          <p:nvPr/>
        </p:nvSpPr>
        <p:spPr>
          <a:xfrm>
            <a:off x="731520" y="3913632"/>
            <a:ext cx="1069848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Accessibility checks</a:t>
            </a:r>
            <a:endParaRPr lang="en-US" sz="1400" dirty="0"/>
          </a:p>
        </p:txBody>
      </p:sp>
      <p:sp>
        <p:nvSpPr>
          <p:cNvPr id="26" name="Text 23"/>
          <p:cNvSpPr/>
          <p:nvPr/>
        </p:nvSpPr>
        <p:spPr>
          <a:xfrm>
            <a:off x="731520" y="4297680"/>
            <a:ext cx="10698480" cy="173736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WCAG AA contrast: body text on white = 12.6:1 ✓ (annotation gray = 2.8:1, used only for italic captions, never actionable text)</a:t>
            </a:r>
            <a:endParaRPr lang="en-US" sz="1250" dirty="0"/>
          </a:p>
          <a:p>
            <a:pPr marL="228600" indent="-228600">
              <a:lnSpc>
                <a:spcPct val="108000"/>
              </a:lnSpc>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Color-blind safety: blue/red tested in the Coblis simulator for deuteranopia and protanopia — both distinguish clearly. No green anywhere: red-green is the worst pairing for color blindness.</a:t>
            </a:r>
            <a:endParaRPr lang="en-US" sz="1250" dirty="0"/>
          </a:p>
          <a:p>
            <a:pPr marL="228600" indent="-228600">
              <a:lnSpc>
                <a:spcPct val="108000"/>
              </a:lnSpc>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No color-only encoding: every red bar/value also carries a minus sign or a downward arrow — the signal survives a black-and-white printout.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§4.4 INTERACTIVITY &amp; ANNOTATION</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Static callouts carry the headline; hover carries detail</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§4 Data Representation &amp; Visual Encoding — slide 24/32</a:t>
            </a:r>
            <a:endParaRPr lang="en-US" sz="900" dirty="0"/>
          </a:p>
        </p:txBody>
      </p:sp>
      <p:sp>
        <p:nvSpPr>
          <p:cNvPr id="8" name="Shape 5"/>
          <p:cNvSpPr/>
          <p:nvPr/>
        </p:nvSpPr>
        <p:spPr>
          <a:xfrm>
            <a:off x="502920" y="1417320"/>
            <a:ext cx="11201400" cy="384048"/>
          </a:xfrm>
          <a:prstGeom prst="roundRect">
            <a:avLst>
              <a:gd name="adj" fmla="val 19048"/>
            </a:avLst>
          </a:prstGeom>
          <a:solidFill>
            <a:srgbClr val="1F2937"/>
          </a:solidFill>
          <a:ln w="12700">
            <a:solidFill>
              <a:srgbClr val="CFD6DD"/>
            </a:solidFill>
            <a:prstDash val="solid"/>
          </a:ln>
        </p:spPr>
      </p:sp>
      <p:sp>
        <p:nvSpPr>
          <p:cNvPr id="9" name="Text 6"/>
          <p:cNvSpPr/>
          <p:nvPr/>
        </p:nvSpPr>
        <p:spPr>
          <a:xfrm>
            <a:off x="685800" y="1472184"/>
            <a:ext cx="24231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p>
        </p:txBody>
      </p:sp>
      <p:sp>
        <p:nvSpPr>
          <p:cNvPr id="10" name="Text 7"/>
          <p:cNvSpPr/>
          <p:nvPr/>
        </p:nvSpPr>
        <p:spPr>
          <a:xfrm>
            <a:off x="3246120" y="1472184"/>
            <a:ext cx="39776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a:t>
            </a:r>
            <a:endParaRPr lang="en-US" sz="1200" dirty="0"/>
          </a:p>
        </p:txBody>
      </p:sp>
      <p:sp>
        <p:nvSpPr>
          <p:cNvPr id="11" name="Text 8"/>
          <p:cNvSpPr/>
          <p:nvPr/>
        </p:nvSpPr>
        <p:spPr>
          <a:xfrm>
            <a:off x="7360920" y="1472184"/>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Editorial purpose</a:t>
            </a:r>
            <a:endParaRPr lang="en-US" sz="1200" dirty="0"/>
          </a:p>
        </p:txBody>
      </p:sp>
      <p:sp>
        <p:nvSpPr>
          <p:cNvPr id="12" name="Shape 9"/>
          <p:cNvSpPr/>
          <p:nvPr/>
        </p:nvSpPr>
        <p:spPr>
          <a:xfrm>
            <a:off x="502920" y="1801368"/>
            <a:ext cx="11201400" cy="566928"/>
          </a:xfrm>
          <a:prstGeom prst="roundRect">
            <a:avLst>
              <a:gd name="adj" fmla="val 12903"/>
            </a:avLst>
          </a:prstGeom>
          <a:solidFill>
            <a:srgbClr val="F6F8FA"/>
          </a:solidFill>
          <a:ln w="12700">
            <a:solidFill>
              <a:srgbClr val="CFD6DD"/>
            </a:solidFill>
            <a:prstDash val="solid"/>
          </a:ln>
        </p:spPr>
      </p:sp>
      <p:sp>
        <p:nvSpPr>
          <p:cNvPr id="13" name="Text 10"/>
          <p:cNvSpPr/>
          <p:nvPr/>
        </p:nvSpPr>
        <p:spPr>
          <a:xfrm>
            <a:off x="685800" y="1892808"/>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Pro Tour sidebar</a:t>
            </a:r>
            <a:endParaRPr lang="en-US" sz="1100" dirty="0"/>
          </a:p>
        </p:txBody>
      </p:sp>
      <p:sp>
        <p:nvSpPr>
          <p:cNvPr id="14" name="Text 11"/>
          <p:cNvSpPr/>
          <p:nvPr/>
        </p:nvSpPr>
        <p:spPr>
          <a:xfrm>
            <a:off x="3246120" y="1892808"/>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Filter by country, surface, tier, date range</a:t>
            </a:r>
            <a:endParaRPr lang="en-US" sz="1080" dirty="0"/>
          </a:p>
        </p:txBody>
      </p:sp>
      <p:sp>
        <p:nvSpPr>
          <p:cNvPr id="15" name="Text 12"/>
          <p:cNvSpPr/>
          <p:nvPr/>
        </p:nvSpPr>
        <p:spPr>
          <a:xfrm>
            <a:off x="7360920" y="1892808"/>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Lets the user choose the frame (Kirk: framing)</a:t>
            </a:r>
            <a:endParaRPr lang="en-US" sz="1050" dirty="0"/>
          </a:p>
        </p:txBody>
      </p:sp>
      <p:sp>
        <p:nvSpPr>
          <p:cNvPr id="16" name="Shape 13"/>
          <p:cNvSpPr/>
          <p:nvPr/>
        </p:nvSpPr>
        <p:spPr>
          <a:xfrm>
            <a:off x="502920" y="2368296"/>
            <a:ext cx="11201400" cy="566928"/>
          </a:xfrm>
          <a:prstGeom prst="roundRect">
            <a:avLst>
              <a:gd name="adj" fmla="val 12903"/>
            </a:avLst>
          </a:prstGeom>
          <a:solidFill>
            <a:srgbClr val="FFFFFF"/>
          </a:solidFill>
          <a:ln w="12700">
            <a:solidFill>
              <a:srgbClr val="CFD6DD"/>
            </a:solidFill>
            <a:prstDash val="solid"/>
          </a:ln>
        </p:spPr>
      </p:sp>
      <p:sp>
        <p:nvSpPr>
          <p:cNvPr id="17" name="Text 14"/>
          <p:cNvSpPr/>
          <p:nvPr/>
        </p:nvSpPr>
        <p:spPr>
          <a:xfrm>
            <a:off x="685800" y="2459736"/>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Pro Tour table</a:t>
            </a:r>
            <a:endParaRPr lang="en-US" sz="1100" dirty="0"/>
          </a:p>
        </p:txBody>
      </p:sp>
      <p:sp>
        <p:nvSpPr>
          <p:cNvPr id="18" name="Text 15"/>
          <p:cNvSpPr/>
          <p:nvPr/>
        </p:nvSpPr>
        <p:spPr>
          <a:xfrm>
            <a:off x="3246120" y="2459736"/>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Click a row → drill to player detail</a:t>
            </a:r>
            <a:endParaRPr lang="en-US" sz="1080" dirty="0"/>
          </a:p>
        </p:txBody>
      </p:sp>
      <p:sp>
        <p:nvSpPr>
          <p:cNvPr id="19" name="Text 16"/>
          <p:cNvSpPr/>
          <p:nvPr/>
        </p:nvSpPr>
        <p:spPr>
          <a:xfrm>
            <a:off x="7360920" y="2459736"/>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Progressive disclosure</a:t>
            </a:r>
            <a:endParaRPr lang="en-US" sz="1050" dirty="0"/>
          </a:p>
        </p:txBody>
      </p:sp>
      <p:sp>
        <p:nvSpPr>
          <p:cNvPr id="20" name="Shape 17"/>
          <p:cNvSpPr/>
          <p:nvPr/>
        </p:nvSpPr>
        <p:spPr>
          <a:xfrm>
            <a:off x="502920" y="2935224"/>
            <a:ext cx="11201400" cy="566928"/>
          </a:xfrm>
          <a:prstGeom prst="roundRect">
            <a:avLst>
              <a:gd name="adj" fmla="val 12903"/>
            </a:avLst>
          </a:prstGeom>
          <a:solidFill>
            <a:srgbClr val="F6F8FA"/>
          </a:solidFill>
          <a:ln w="12700">
            <a:solidFill>
              <a:srgbClr val="CFD6DD"/>
            </a:solidFill>
            <a:prstDash val="solid"/>
          </a:ln>
        </p:spPr>
      </p:sp>
      <p:sp>
        <p:nvSpPr>
          <p:cNvPr id="21" name="Text 18"/>
          <p:cNvSpPr/>
          <p:nvPr/>
        </p:nvSpPr>
        <p:spPr>
          <a:xfrm>
            <a:off x="685800" y="3026664"/>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My Stats</a:t>
            </a:r>
            <a:endParaRPr lang="en-US" sz="1100" dirty="0"/>
          </a:p>
        </p:txBody>
      </p:sp>
      <p:sp>
        <p:nvSpPr>
          <p:cNvPr id="22" name="Text 19"/>
          <p:cNvSpPr/>
          <p:nvPr/>
        </p:nvSpPr>
        <p:spPr>
          <a:xfrm>
            <a:off x="3246120" y="3026664"/>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Toggle 30 / 60 / 90 / all matches</a:t>
            </a:r>
            <a:endParaRPr lang="en-US" sz="1080" dirty="0"/>
          </a:p>
        </p:txBody>
      </p:sp>
      <p:sp>
        <p:nvSpPr>
          <p:cNvPr id="23" name="Text 20"/>
          <p:cNvSpPr/>
          <p:nvPr/>
        </p:nvSpPr>
        <p:spPr>
          <a:xfrm>
            <a:off x="7360920" y="3026664"/>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A/B compare periods (Task T6)</a:t>
            </a:r>
            <a:endParaRPr lang="en-US" sz="1050" dirty="0"/>
          </a:p>
        </p:txBody>
      </p:sp>
      <p:sp>
        <p:nvSpPr>
          <p:cNvPr id="24" name="Shape 21"/>
          <p:cNvSpPr/>
          <p:nvPr/>
        </p:nvSpPr>
        <p:spPr>
          <a:xfrm>
            <a:off x="502920" y="3502152"/>
            <a:ext cx="11201400" cy="566928"/>
          </a:xfrm>
          <a:prstGeom prst="roundRect">
            <a:avLst>
              <a:gd name="adj" fmla="val 12903"/>
            </a:avLst>
          </a:prstGeom>
          <a:solidFill>
            <a:srgbClr val="FFFFFF"/>
          </a:solidFill>
          <a:ln w="12700">
            <a:solidFill>
              <a:srgbClr val="CFD6DD"/>
            </a:solidFill>
            <a:prstDash val="solid"/>
          </a:ln>
        </p:spPr>
      </p:sp>
      <p:sp>
        <p:nvSpPr>
          <p:cNvPr id="25" name="Text 22"/>
          <p:cNvSpPr/>
          <p:nvPr/>
        </p:nvSpPr>
        <p:spPr>
          <a:xfrm>
            <a:off x="685800" y="3593592"/>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Any chart</a:t>
            </a:r>
            <a:endParaRPr lang="en-US" sz="1100" dirty="0"/>
          </a:p>
        </p:txBody>
      </p:sp>
      <p:sp>
        <p:nvSpPr>
          <p:cNvPr id="26" name="Text 23"/>
          <p:cNvSpPr/>
          <p:nvPr/>
        </p:nvSpPr>
        <p:spPr>
          <a:xfrm>
            <a:off x="3246120" y="3593592"/>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Hover tooltip: value + date + opponent</a:t>
            </a:r>
            <a:endParaRPr lang="en-US" sz="1080" dirty="0"/>
          </a:p>
        </p:txBody>
      </p:sp>
      <p:sp>
        <p:nvSpPr>
          <p:cNvPr id="27" name="Text 24"/>
          <p:cNvSpPr/>
          <p:nvPr/>
        </p:nvSpPr>
        <p:spPr>
          <a:xfrm>
            <a:off x="7360920" y="3593592"/>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Precision on demand, no clutter</a:t>
            </a:r>
            <a:endParaRPr lang="en-US" sz="1050" dirty="0"/>
          </a:p>
        </p:txBody>
      </p:sp>
      <p:sp>
        <p:nvSpPr>
          <p:cNvPr id="28" name="Shape 25"/>
          <p:cNvSpPr/>
          <p:nvPr/>
        </p:nvSpPr>
        <p:spPr>
          <a:xfrm>
            <a:off x="502920" y="4069080"/>
            <a:ext cx="11201400" cy="566928"/>
          </a:xfrm>
          <a:prstGeom prst="roundRect">
            <a:avLst>
              <a:gd name="adj" fmla="val 12903"/>
            </a:avLst>
          </a:prstGeom>
          <a:solidFill>
            <a:srgbClr val="F6F8FA"/>
          </a:solidFill>
          <a:ln w="12700">
            <a:solidFill>
              <a:srgbClr val="CFD6DD"/>
            </a:solidFill>
            <a:prstDash val="solid"/>
          </a:ln>
        </p:spPr>
      </p:sp>
      <p:sp>
        <p:nvSpPr>
          <p:cNvPr id="29" name="Text 26"/>
          <p:cNvSpPr/>
          <p:nvPr/>
        </p:nvSpPr>
        <p:spPr>
          <a:xfrm>
            <a:off x="685800" y="4160520"/>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Log form</a:t>
            </a:r>
            <a:endParaRPr lang="en-US" sz="1100" dirty="0"/>
          </a:p>
        </p:txBody>
      </p:sp>
      <p:sp>
        <p:nvSpPr>
          <p:cNvPr id="30" name="Text 27"/>
          <p:cNvSpPr/>
          <p:nvPr/>
        </p:nvSpPr>
        <p:spPr>
          <a:xfrm>
            <a:off x="3246120" y="4160520"/>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Live "auto-result" preview while typing</a:t>
            </a:r>
            <a:endParaRPr lang="en-US" sz="1080" dirty="0"/>
          </a:p>
        </p:txBody>
      </p:sp>
      <p:sp>
        <p:nvSpPr>
          <p:cNvPr id="31" name="Text 28"/>
          <p:cNvSpPr/>
          <p:nvPr/>
        </p:nvSpPr>
        <p:spPr>
          <a:xfrm>
            <a:off x="7360920" y="4160520"/>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Visibility of system status</a:t>
            </a:r>
            <a:endParaRPr lang="en-US" sz="1050" dirty="0"/>
          </a:p>
        </p:txBody>
      </p:sp>
      <p:sp>
        <p:nvSpPr>
          <p:cNvPr id="32" name="Shape 29"/>
          <p:cNvSpPr/>
          <p:nvPr/>
        </p:nvSpPr>
        <p:spPr>
          <a:xfrm>
            <a:off x="502920" y="4636008"/>
            <a:ext cx="11201400" cy="566928"/>
          </a:xfrm>
          <a:prstGeom prst="roundRect">
            <a:avLst>
              <a:gd name="adj" fmla="val 12903"/>
            </a:avLst>
          </a:prstGeom>
          <a:solidFill>
            <a:srgbClr val="FFFFFF"/>
          </a:solidFill>
          <a:ln w="12700">
            <a:solidFill>
              <a:srgbClr val="CFD6DD"/>
            </a:solidFill>
            <a:prstDash val="solid"/>
          </a:ln>
        </p:spPr>
      </p:sp>
      <p:sp>
        <p:nvSpPr>
          <p:cNvPr id="33" name="Text 30"/>
          <p:cNvSpPr/>
          <p:nvPr/>
        </p:nvSpPr>
        <p:spPr>
          <a:xfrm>
            <a:off x="685800" y="4727448"/>
            <a:ext cx="2377440" cy="411480"/>
          </a:xfrm>
          <a:prstGeom prst="rect">
            <a:avLst/>
          </a:prstGeom>
          <a:noFill/>
          <a:ln/>
        </p:spPr>
        <p:txBody>
          <a:bodyPr wrap="square" lIns="0" tIns="0" rIns="0" bIns="0" rtlCol="0" anchor="t"/>
          <a:lstStyle/>
          <a:p>
            <a:pPr indent="0" marL="0">
              <a:buNone/>
            </a:pPr>
            <a:r>
              <a:rPr lang="en-US" sz="1100" b="1" dirty="0">
                <a:solidFill>
                  <a:srgbClr val="0369A1"/>
                </a:solidFill>
                <a:latin typeface="Calibri" pitchFamily="34" charset="0"/>
                <a:ea typeface="Calibri" pitchFamily="34" charset="-122"/>
                <a:cs typeface="Calibri" pitchFamily="34" charset="-120"/>
              </a:rPr>
              <a:t>Compare</a:t>
            </a:r>
            <a:endParaRPr lang="en-US" sz="1100" dirty="0"/>
          </a:p>
        </p:txBody>
      </p:sp>
      <p:sp>
        <p:nvSpPr>
          <p:cNvPr id="34" name="Text 31"/>
          <p:cNvSpPr/>
          <p:nvPr/>
        </p:nvSpPr>
        <p:spPr>
          <a:xfrm>
            <a:off x="3246120" y="4727448"/>
            <a:ext cx="3931920" cy="411480"/>
          </a:xfrm>
          <a:prstGeom prst="rect">
            <a:avLst/>
          </a:prstGeom>
          <a:noFill/>
          <a:ln/>
        </p:spPr>
        <p:txBody>
          <a:bodyPr wrap="square" lIns="0" tIns="0" rIns="0" bIns="0" rtlCol="0" anchor="t"/>
          <a:lstStyle/>
          <a:p>
            <a:pPr indent="0" marL="0">
              <a:buNone/>
            </a:pPr>
            <a:r>
              <a:rPr lang="en-US" sz="1080" dirty="0">
                <a:solidFill>
                  <a:srgbClr val="1F2937"/>
                </a:solidFill>
                <a:latin typeface="Calibri" pitchFamily="34" charset="0"/>
                <a:ea typeface="Calibri" pitchFamily="34" charset="-122"/>
                <a:cs typeface="Calibri" pitchFamily="34" charset="-120"/>
              </a:rPr>
              <a:t>Toggle vs pro average / vs a named player</a:t>
            </a:r>
            <a:endParaRPr lang="en-US" sz="1080" dirty="0"/>
          </a:p>
        </p:txBody>
      </p:sp>
      <p:sp>
        <p:nvSpPr>
          <p:cNvPr id="35" name="Text 32"/>
          <p:cNvSpPr/>
          <p:nvPr/>
        </p:nvSpPr>
        <p:spPr>
          <a:xfrm>
            <a:off x="7360920" y="4727448"/>
            <a:ext cx="429768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Two intents, one chart</a:t>
            </a:r>
            <a:endParaRPr lang="en-US" sz="1050" dirty="0"/>
          </a:p>
        </p:txBody>
      </p:sp>
      <p:sp>
        <p:nvSpPr>
          <p:cNvPr id="36" name="Text 33"/>
          <p:cNvSpPr/>
          <p:nvPr/>
        </p:nvSpPr>
        <p:spPr>
          <a:xfrm>
            <a:off x="502920" y="5312664"/>
            <a:ext cx="11201400" cy="411480"/>
          </a:xfrm>
          <a:prstGeom prst="rect">
            <a:avLst/>
          </a:prstGeom>
          <a:noFill/>
          <a:ln/>
        </p:spPr>
        <p:txBody>
          <a:bodyPr wrap="square" lIns="0" tIns="0" rIns="0" bIns="0" rtlCol="0" anchor="ctr"/>
          <a:lstStyle/>
          <a:p>
            <a:pPr indent="0" marL="0">
              <a:buNone/>
            </a:pPr>
            <a:r>
              <a:rPr lang="en-US" sz="1130" i="1" dirty="0">
                <a:solidFill>
                  <a:srgbClr val="9AA3AD"/>
                </a:solidFill>
                <a:latin typeface="Calibri" pitchFamily="34" charset="0"/>
                <a:ea typeface="Calibri" pitchFamily="34" charset="-122"/>
                <a:cs typeface="Calibri" pitchFamily="34" charset="-120"/>
              </a:rPr>
              <a:t>Annotation strategy: static in-canvas callouts carry the headline · hover tooltips carry precise detail · captions outside the chart explain what it is.</a:t>
            </a:r>
            <a:endParaRPr lang="en-US" sz="11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§5.1 STACK &amp; ARCHITECTURE</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From raw JSON to a Streamlit app, in one straight line</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§5 Technical Implementation — slide 25/32</a:t>
            </a:r>
            <a:endParaRPr lang="en-US" sz="900" dirty="0"/>
          </a:p>
        </p:txBody>
      </p:sp>
      <p:sp>
        <p:nvSpPr>
          <p:cNvPr id="8" name="Shape 5"/>
          <p:cNvSpPr/>
          <p:nvPr/>
        </p:nvSpPr>
        <p:spPr>
          <a:xfrm>
            <a:off x="502920" y="1508760"/>
            <a:ext cx="2057400" cy="1417320"/>
          </a:xfrm>
          <a:prstGeom prst="roundRect">
            <a:avLst>
              <a:gd name="adj" fmla="val 516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612648" y="1645920"/>
            <a:ext cx="1837944" cy="114300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Raw JSON</a:t>
            </a:r>
            <a:endParaRPr lang="en-US" sz="1150" dirty="0"/>
          </a:p>
          <a:p>
            <a:pPr algn="ctr" indent="0" marL="0">
              <a:buNone/>
            </a:pPr>
            <a:r>
              <a:rPr lang="en-US" sz="1150" b="1" dirty="0">
                <a:solidFill>
                  <a:srgbClr val="1F2937"/>
                </a:solidFill>
                <a:latin typeface="Calibri" pitchFamily="34" charset="0"/>
                <a:ea typeface="Calibri" pitchFamily="34" charset="-122"/>
                <a:cs typeface="Calibri" pitchFamily="34" charset="-120"/>
              </a:rPr>
              <a:t>(real/raw/*.jsonl)</a:t>
            </a:r>
            <a:endParaRPr lang="en-US" sz="1150" dirty="0"/>
          </a:p>
        </p:txBody>
      </p:sp>
      <p:sp>
        <p:nvSpPr>
          <p:cNvPr id="10" name="Text 7"/>
          <p:cNvSpPr/>
          <p:nvPr/>
        </p:nvSpPr>
        <p:spPr>
          <a:xfrm>
            <a:off x="2560320" y="1920240"/>
            <a:ext cx="219456" cy="548640"/>
          </a:xfrm>
          <a:prstGeom prst="rect">
            <a:avLst/>
          </a:prstGeom>
          <a:noFill/>
          <a:ln/>
        </p:spPr>
        <p:txBody>
          <a:bodyPr wrap="square" lIns="0" tIns="0" rIns="0" bIns="0" rtlCol="0" anchor="ctr"/>
          <a:lstStyle/>
          <a:p>
            <a:pPr algn="ct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2779776" y="1508760"/>
            <a:ext cx="2057400" cy="1417320"/>
          </a:xfrm>
          <a:prstGeom prst="roundRect">
            <a:avLst>
              <a:gd name="adj" fmla="val 516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2889504" y="1645920"/>
            <a:ext cx="1837944" cy="114300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build_real_csv.py</a:t>
            </a:r>
            <a:endParaRPr lang="en-US" sz="1150" dirty="0"/>
          </a:p>
          <a:p>
            <a:pPr algn="ctr" indent="0" marL="0">
              <a:buNone/>
            </a:pPr>
            <a:r>
              <a:rPr lang="en-US" sz="1150" b="1" dirty="0">
                <a:solidFill>
                  <a:srgbClr val="1F2937"/>
                </a:solidFill>
                <a:latin typeface="Calibri" pitchFamily="34" charset="0"/>
                <a:ea typeface="Calibri" pitchFamily="34" charset="-122"/>
                <a:cs typeface="Calibri" pitchFamily="34" charset="-120"/>
              </a:rPr>
              <a:t>→ 2 CSVs</a:t>
            </a:r>
            <a:endParaRPr lang="en-US" sz="1150" dirty="0"/>
          </a:p>
        </p:txBody>
      </p:sp>
      <p:sp>
        <p:nvSpPr>
          <p:cNvPr id="13" name="Text 10"/>
          <p:cNvSpPr/>
          <p:nvPr/>
        </p:nvSpPr>
        <p:spPr>
          <a:xfrm>
            <a:off x="4837176" y="1920240"/>
            <a:ext cx="219456" cy="548640"/>
          </a:xfrm>
          <a:prstGeom prst="rect">
            <a:avLst/>
          </a:prstGeom>
          <a:noFill/>
          <a:ln/>
        </p:spPr>
        <p:txBody>
          <a:bodyPr wrap="square" lIns="0" tIns="0" rIns="0" bIns="0" rtlCol="0" anchor="ctr"/>
          <a:lstStyle/>
          <a:p>
            <a:pPr algn="ct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5056632" y="1508760"/>
            <a:ext cx="2057400" cy="1417320"/>
          </a:xfrm>
          <a:prstGeom prst="roundRect">
            <a:avLst>
              <a:gd name="adj" fmla="val 516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5" name="Text 12"/>
          <p:cNvSpPr/>
          <p:nvPr/>
        </p:nvSpPr>
        <p:spPr>
          <a:xfrm>
            <a:off x="5166360" y="1645920"/>
            <a:ext cx="1837944" cy="114300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build_db.py</a:t>
            </a:r>
            <a:endParaRPr lang="en-US" sz="1150" dirty="0"/>
          </a:p>
          <a:p>
            <a:pPr algn="ctr" indent="0" marL="0">
              <a:buNone/>
            </a:pPr>
            <a:r>
              <a:rPr lang="en-US" sz="1150" b="1" dirty="0">
                <a:solidFill>
                  <a:srgbClr val="1F2937"/>
                </a:solidFill>
                <a:latin typeface="Calibri" pitchFamily="34" charset="0"/>
                <a:ea typeface="Calibri" pitchFamily="34" charset="-122"/>
                <a:cs typeface="Calibri" pitchFamily="34" charset="-120"/>
              </a:rPr>
              <a:t>→ padellens.db</a:t>
            </a:r>
            <a:endParaRPr lang="en-US" sz="1150" dirty="0"/>
          </a:p>
        </p:txBody>
      </p:sp>
      <p:sp>
        <p:nvSpPr>
          <p:cNvPr id="16" name="Text 13"/>
          <p:cNvSpPr/>
          <p:nvPr/>
        </p:nvSpPr>
        <p:spPr>
          <a:xfrm>
            <a:off x="7114032" y="1920240"/>
            <a:ext cx="219456" cy="548640"/>
          </a:xfrm>
          <a:prstGeom prst="rect">
            <a:avLst/>
          </a:prstGeom>
          <a:noFill/>
          <a:ln/>
        </p:spPr>
        <p:txBody>
          <a:bodyPr wrap="square" lIns="0" tIns="0" rIns="0" bIns="0" rtlCol="0" anchor="ctr"/>
          <a:lstStyle/>
          <a:p>
            <a:pPr algn="ct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7333488" y="1508760"/>
            <a:ext cx="2057400" cy="1417320"/>
          </a:xfrm>
          <a:prstGeom prst="roundRect">
            <a:avLst>
              <a:gd name="adj" fmla="val 5161"/>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8" name="Text 15"/>
          <p:cNvSpPr/>
          <p:nvPr/>
        </p:nvSpPr>
        <p:spPr>
          <a:xfrm>
            <a:off x="7443216" y="1645920"/>
            <a:ext cx="1837944" cy="114300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analytics.py</a:t>
            </a:r>
            <a:endParaRPr lang="en-US" sz="1150" dirty="0"/>
          </a:p>
          <a:p>
            <a:pPr algn="ctr" indent="0" marL="0">
              <a:buNone/>
            </a:pPr>
            <a:r>
              <a:rPr lang="en-US" sz="1150" b="1" dirty="0">
                <a:solidFill>
                  <a:srgbClr val="1F2937"/>
                </a:solidFill>
                <a:latin typeface="Calibri" pitchFamily="34" charset="0"/>
                <a:ea typeface="Calibri" pitchFamily="34" charset="-122"/>
                <a:cs typeface="Calibri" pitchFamily="34" charset="-120"/>
              </a:rPr>
              <a:t>(Elo, model, CI)</a:t>
            </a:r>
            <a:endParaRPr lang="en-US" sz="1150" dirty="0"/>
          </a:p>
        </p:txBody>
      </p:sp>
      <p:sp>
        <p:nvSpPr>
          <p:cNvPr id="19" name="Text 16"/>
          <p:cNvSpPr/>
          <p:nvPr/>
        </p:nvSpPr>
        <p:spPr>
          <a:xfrm>
            <a:off x="9390888" y="1920240"/>
            <a:ext cx="219456" cy="548640"/>
          </a:xfrm>
          <a:prstGeom prst="rect">
            <a:avLst/>
          </a:prstGeom>
          <a:noFill/>
          <a:ln/>
        </p:spPr>
        <p:txBody>
          <a:bodyPr wrap="square" lIns="0" tIns="0" rIns="0" bIns="0" rtlCol="0" anchor="ctr"/>
          <a:lstStyle/>
          <a:p>
            <a:pPr algn="ctr" indent="0" marL="0">
              <a:buNone/>
            </a:pPr>
            <a:r>
              <a:rPr lang="en-US" sz="1800" dirty="0">
                <a:solidFill>
                  <a:srgbClr val="0EA5E9"/>
                </a:solidFill>
                <a:latin typeface="Calibri" pitchFamily="34" charset="0"/>
                <a:ea typeface="Calibri" pitchFamily="34" charset="-122"/>
                <a:cs typeface="Calibri" pitchFamily="34" charset="-120"/>
              </a:rPr>
              <a:t>→</a:t>
            </a:r>
            <a:endParaRPr lang="en-US" sz="1800" dirty="0"/>
          </a:p>
        </p:txBody>
      </p:sp>
      <p:sp>
        <p:nvSpPr>
          <p:cNvPr id="20" name="Shape 17"/>
          <p:cNvSpPr/>
          <p:nvPr/>
        </p:nvSpPr>
        <p:spPr>
          <a:xfrm>
            <a:off x="9610344" y="1508760"/>
            <a:ext cx="2057400" cy="1417320"/>
          </a:xfrm>
          <a:prstGeom prst="roundRect">
            <a:avLst>
              <a:gd name="adj" fmla="val 5161"/>
            </a:avLst>
          </a:prstGeom>
          <a:solidFill>
            <a:srgbClr val="0EA5E9"/>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9720072" y="1645920"/>
            <a:ext cx="1837944" cy="11430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Streamlit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6 pages</a:t>
            </a:r>
            <a:endParaRPr lang="en-US" sz="1150" dirty="0"/>
          </a:p>
        </p:txBody>
      </p:sp>
      <p:sp>
        <p:nvSpPr>
          <p:cNvPr id="22" name="Shape 19"/>
          <p:cNvSpPr/>
          <p:nvPr/>
        </p:nvSpPr>
        <p:spPr>
          <a:xfrm>
            <a:off x="502920" y="3246120"/>
            <a:ext cx="11201400" cy="3063240"/>
          </a:xfrm>
          <a:prstGeom prst="roundRect">
            <a:avLst>
              <a:gd name="adj" fmla="val 2388"/>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3" name="Text 20"/>
          <p:cNvSpPr/>
          <p:nvPr/>
        </p:nvSpPr>
        <p:spPr>
          <a:xfrm>
            <a:off x="777240" y="3429000"/>
            <a:ext cx="10607040" cy="3200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Tech stack — deliberately boring</a:t>
            </a:r>
            <a:endParaRPr lang="en-US" sz="1400" dirty="0"/>
          </a:p>
        </p:txBody>
      </p:sp>
      <p:sp>
        <p:nvSpPr>
          <p:cNvPr id="24" name="Text 21"/>
          <p:cNvSpPr/>
          <p:nvPr/>
        </p:nvSpPr>
        <p:spPr>
          <a:xfrm>
            <a:off x="777240" y="388620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Streamlit ≥1.32</a:t>
            </a:r>
            <a:endParaRPr lang="en-US" sz="1250" dirty="0"/>
          </a:p>
        </p:txBody>
      </p:sp>
      <p:sp>
        <p:nvSpPr>
          <p:cNvPr id="25" name="Text 22"/>
          <p:cNvSpPr/>
          <p:nvPr/>
        </p:nvSpPr>
        <p:spPr>
          <a:xfrm>
            <a:off x="777240" y="420624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Multi-page framework, sidebar, forms, caching</a:t>
            </a:r>
            <a:endParaRPr lang="en-US" sz="1100" dirty="0"/>
          </a:p>
        </p:txBody>
      </p:sp>
      <p:sp>
        <p:nvSpPr>
          <p:cNvPr id="26" name="Text 23"/>
          <p:cNvSpPr/>
          <p:nvPr/>
        </p:nvSpPr>
        <p:spPr>
          <a:xfrm>
            <a:off x="4480560" y="388620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Pandas ≥2.0</a:t>
            </a:r>
            <a:endParaRPr lang="en-US" sz="1250" dirty="0"/>
          </a:p>
        </p:txBody>
      </p:sp>
      <p:sp>
        <p:nvSpPr>
          <p:cNvPr id="27" name="Text 24"/>
          <p:cNvSpPr/>
          <p:nvPr/>
        </p:nvSpPr>
        <p:spPr>
          <a:xfrm>
            <a:off x="4480560" y="420624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Data wrangling, groupby, rolling windows</a:t>
            </a:r>
            <a:endParaRPr lang="en-US" sz="1100" dirty="0"/>
          </a:p>
        </p:txBody>
      </p:sp>
      <p:sp>
        <p:nvSpPr>
          <p:cNvPr id="28" name="Text 25"/>
          <p:cNvSpPr/>
          <p:nvPr/>
        </p:nvSpPr>
        <p:spPr>
          <a:xfrm>
            <a:off x="8183880" y="388620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Plotly ≥5.18</a:t>
            </a:r>
            <a:endParaRPr lang="en-US" sz="1250" dirty="0"/>
          </a:p>
        </p:txBody>
      </p:sp>
      <p:sp>
        <p:nvSpPr>
          <p:cNvPr id="29" name="Text 26"/>
          <p:cNvSpPr/>
          <p:nvPr/>
        </p:nvSpPr>
        <p:spPr>
          <a:xfrm>
            <a:off x="8183880" y="420624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Interactive line, bar, box, radar charts</a:t>
            </a:r>
            <a:endParaRPr lang="en-US" sz="1100" dirty="0"/>
          </a:p>
        </p:txBody>
      </p:sp>
      <p:sp>
        <p:nvSpPr>
          <p:cNvPr id="30" name="Text 27"/>
          <p:cNvSpPr/>
          <p:nvPr/>
        </p:nvSpPr>
        <p:spPr>
          <a:xfrm>
            <a:off x="777240" y="493776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scikit-learn ≥1.3</a:t>
            </a:r>
            <a:endParaRPr lang="en-US" sz="1250" dirty="0"/>
          </a:p>
        </p:txBody>
      </p:sp>
      <p:sp>
        <p:nvSpPr>
          <p:cNvPr id="31" name="Text 28"/>
          <p:cNvSpPr/>
          <p:nvPr/>
        </p:nvSpPr>
        <p:spPr>
          <a:xfrm>
            <a:off x="777240" y="525780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Logistic win model, k-means archetypes</a:t>
            </a:r>
            <a:endParaRPr lang="en-US" sz="1100" dirty="0"/>
          </a:p>
        </p:txBody>
      </p:sp>
      <p:sp>
        <p:nvSpPr>
          <p:cNvPr id="32" name="Text 29"/>
          <p:cNvSpPr/>
          <p:nvPr/>
        </p:nvSpPr>
        <p:spPr>
          <a:xfrm>
            <a:off x="4480560" y="493776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SciPy ≥1.11</a:t>
            </a:r>
            <a:endParaRPr lang="en-US" sz="1250" dirty="0"/>
          </a:p>
        </p:txBody>
      </p:sp>
      <p:sp>
        <p:nvSpPr>
          <p:cNvPr id="33" name="Text 30"/>
          <p:cNvSpPr/>
          <p:nvPr/>
        </p:nvSpPr>
        <p:spPr>
          <a:xfrm>
            <a:off x="4480560" y="525780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Statistical tests, Wilson intervals</a:t>
            </a:r>
            <a:endParaRPr lang="en-US" sz="1100" dirty="0"/>
          </a:p>
        </p:txBody>
      </p:sp>
      <p:sp>
        <p:nvSpPr>
          <p:cNvPr id="34" name="Text 31"/>
          <p:cNvSpPr/>
          <p:nvPr/>
        </p:nvSpPr>
        <p:spPr>
          <a:xfrm>
            <a:off x="8183880" y="4937760"/>
            <a:ext cx="3611880" cy="29260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sqlite3 (stdlib)</a:t>
            </a:r>
            <a:endParaRPr lang="en-US" sz="1250" dirty="0"/>
          </a:p>
        </p:txBody>
      </p:sp>
      <p:sp>
        <p:nvSpPr>
          <p:cNvPr id="35" name="Text 32"/>
          <p:cNvSpPr/>
          <p:nvPr/>
        </p:nvSpPr>
        <p:spPr>
          <a:xfrm>
            <a:off x="8183880" y="5257800"/>
            <a:ext cx="3611880" cy="5486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db.py persistence, no ORM</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§5.2 ANALYTICS MODULE</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analytics.py — Elo, win model, clustering, CIs</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§5 Technical Implementation — slide 26/32</a:t>
            </a:r>
            <a:endParaRPr lang="en-US" sz="900" dirty="0"/>
          </a:p>
        </p:txBody>
      </p:sp>
      <p:sp>
        <p:nvSpPr>
          <p:cNvPr id="8" name="Shape 5"/>
          <p:cNvSpPr/>
          <p:nvPr/>
        </p:nvSpPr>
        <p:spPr>
          <a:xfrm>
            <a:off x="502920" y="1417320"/>
            <a:ext cx="11201400" cy="914400"/>
          </a:xfrm>
          <a:prstGeom prst="roundRect">
            <a:avLst>
              <a:gd name="adj" fmla="val 80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731520" y="1527048"/>
            <a:ext cx="4023360" cy="320040"/>
          </a:xfrm>
          <a:prstGeom prst="rect">
            <a:avLst/>
          </a:prstGeom>
          <a:noFill/>
          <a:ln/>
        </p:spPr>
        <p:txBody>
          <a:bodyPr wrap="square" lIns="0" tIns="0" rIns="0" bIns="0" rtlCol="0" anchor="ctr"/>
          <a:lstStyle/>
          <a:p>
            <a:pPr indent="0" marL="0">
              <a:buNone/>
            </a:pPr>
            <a:r>
              <a:rPr lang="en-US" sz="1200" b="1" dirty="0">
                <a:solidFill>
                  <a:srgbClr val="0369A1"/>
                </a:solidFill>
                <a:latin typeface="Courier New" pitchFamily="34" charset="0"/>
                <a:ea typeface="Courier New" pitchFamily="34" charset="-122"/>
                <a:cs typeface="Courier New" pitchFamily="34" charset="-120"/>
              </a:rPr>
              <a:t>compute_elo(K=32, base=1500)</a:t>
            </a:r>
            <a:endParaRPr lang="en-US" sz="1200" dirty="0"/>
          </a:p>
        </p:txBody>
      </p:sp>
      <p:sp>
        <p:nvSpPr>
          <p:cNvPr id="10" name="Text 7"/>
          <p:cNvSpPr/>
          <p:nvPr/>
        </p:nvSpPr>
        <p:spPr>
          <a:xfrm>
            <a:off x="4892040" y="1527048"/>
            <a:ext cx="3657600" cy="685800"/>
          </a:xfrm>
          <a:prstGeom prst="rect">
            <a:avLst/>
          </a:prstGeom>
          <a:noFill/>
          <a:ln/>
        </p:spPr>
        <p:txBody>
          <a:bodyPr wrap="square" lIns="0" tIns="0" rIns="0" bIns="0" rtlCol="0" anchor="t"/>
          <a:lstStyle/>
          <a:p>
            <a:pPr indent="0" marL="0">
              <a:lnSpc>
                <a:spcPct val="110000"/>
              </a:lnSpc>
              <a:buNone/>
            </a:pPr>
            <a:r>
              <a:rPr lang="en-US" sz="1100" dirty="0">
                <a:solidFill>
                  <a:srgbClr val="1F2937"/>
                </a:solidFill>
                <a:latin typeface="Calibri" pitchFamily="34" charset="0"/>
                <a:ea typeface="Calibri" pitchFamily="34" charset="-122"/>
                <a:cs typeface="Calibri" pitchFamily="34" charset="-120"/>
              </a:rPr>
              <a:t>Chronological Elo rating over all 776 real matches</a:t>
            </a:r>
            <a:endParaRPr lang="en-US" sz="1100" dirty="0"/>
          </a:p>
        </p:txBody>
      </p:sp>
      <p:sp>
        <p:nvSpPr>
          <p:cNvPr id="11" name="Text 8"/>
          <p:cNvSpPr/>
          <p:nvPr/>
        </p:nvSpPr>
        <p:spPr>
          <a:xfrm>
            <a:off x="8686800" y="1527048"/>
            <a:ext cx="2834640" cy="685800"/>
          </a:xfrm>
          <a:prstGeom prst="rect">
            <a:avLst/>
          </a:prstGeom>
          <a:noFill/>
          <a:ln/>
        </p:spPr>
        <p:txBody>
          <a:bodyPr wrap="square" lIns="0" tIns="0" rIns="0" bIns="0" rtlCol="0" anchor="t"/>
          <a:lstStyle/>
          <a:p>
            <a:pPr indent="0" marL="0">
              <a:lnSpc>
                <a:spcPct val="110000"/>
              </a:lnSpc>
              <a:buNone/>
            </a:pPr>
            <a:r>
              <a:rPr lang="en-US" sz="1000" i="1" dirty="0">
                <a:solidFill>
                  <a:srgbClr val="6B7280"/>
                </a:solidFill>
                <a:latin typeface="Calibri" pitchFamily="34" charset="0"/>
                <a:ea typeface="Calibri" pitchFamily="34" charset="-122"/>
                <a:cs typeface="Calibri" pitchFamily="34" charset="-120"/>
              </a:rPr>
              <a:t>Powers the "what Elo sees that the ranking doesn't" discovery card</a:t>
            </a:r>
            <a:endParaRPr lang="en-US" sz="1000" dirty="0"/>
          </a:p>
        </p:txBody>
      </p:sp>
      <p:sp>
        <p:nvSpPr>
          <p:cNvPr id="12" name="Shape 9"/>
          <p:cNvSpPr/>
          <p:nvPr/>
        </p:nvSpPr>
        <p:spPr>
          <a:xfrm>
            <a:off x="502920" y="2423160"/>
            <a:ext cx="11201400" cy="914400"/>
          </a:xfrm>
          <a:prstGeom prst="roundRect">
            <a:avLst>
              <a:gd name="adj" fmla="val 80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3" name="Text 10"/>
          <p:cNvSpPr/>
          <p:nvPr/>
        </p:nvSpPr>
        <p:spPr>
          <a:xfrm>
            <a:off x="731520" y="2532888"/>
            <a:ext cx="4023360" cy="320040"/>
          </a:xfrm>
          <a:prstGeom prst="rect">
            <a:avLst/>
          </a:prstGeom>
          <a:noFill/>
          <a:ln/>
        </p:spPr>
        <p:txBody>
          <a:bodyPr wrap="square" lIns="0" tIns="0" rIns="0" bIns="0" rtlCol="0" anchor="ctr"/>
          <a:lstStyle/>
          <a:p>
            <a:pPr indent="0" marL="0">
              <a:buNone/>
            </a:pPr>
            <a:r>
              <a:rPr lang="en-US" sz="1200" b="1" dirty="0">
                <a:solidFill>
                  <a:srgbClr val="0369A1"/>
                </a:solidFill>
                <a:latin typeface="Courier New" pitchFamily="34" charset="0"/>
                <a:ea typeface="Courier New" pitchFamily="34" charset="-122"/>
                <a:cs typeface="Courier New" pitchFamily="34" charset="-120"/>
              </a:rPr>
              <a:t>fit_win_model(...)</a:t>
            </a:r>
            <a:endParaRPr lang="en-US" sz="1200" dirty="0"/>
          </a:p>
        </p:txBody>
      </p:sp>
      <p:sp>
        <p:nvSpPr>
          <p:cNvPr id="14" name="Text 11"/>
          <p:cNvSpPr/>
          <p:nvPr/>
        </p:nvSpPr>
        <p:spPr>
          <a:xfrm>
            <a:off x="4892040" y="2532888"/>
            <a:ext cx="3657600" cy="685800"/>
          </a:xfrm>
          <a:prstGeom prst="rect">
            <a:avLst/>
          </a:prstGeom>
          <a:noFill/>
          <a:ln/>
        </p:spPr>
        <p:txBody>
          <a:bodyPr wrap="square" lIns="0" tIns="0" rIns="0" bIns="0" rtlCol="0" anchor="t"/>
          <a:lstStyle/>
          <a:p>
            <a:pPr indent="0" marL="0">
              <a:lnSpc>
                <a:spcPct val="110000"/>
              </a:lnSpc>
              <a:buNone/>
            </a:pPr>
            <a:r>
              <a:rPr lang="en-US" sz="1100" dirty="0">
                <a:solidFill>
                  <a:srgbClr val="1F2937"/>
                </a:solidFill>
                <a:latin typeface="Calibri" pitchFamily="34" charset="0"/>
                <a:ea typeface="Calibri" pitchFamily="34" charset="-122"/>
                <a:cs typeface="Calibri" pitchFamily="34" charset="-120"/>
              </a:rPr>
              <a:t>Logistic regression on log(points ratio); AUC = 0.883</a:t>
            </a:r>
            <a:endParaRPr lang="en-US" sz="1100" dirty="0"/>
          </a:p>
        </p:txBody>
      </p:sp>
      <p:sp>
        <p:nvSpPr>
          <p:cNvPr id="15" name="Text 12"/>
          <p:cNvSpPr/>
          <p:nvPr/>
        </p:nvSpPr>
        <p:spPr>
          <a:xfrm>
            <a:off x="8686800" y="2532888"/>
            <a:ext cx="2834640" cy="685800"/>
          </a:xfrm>
          <a:prstGeom prst="rect">
            <a:avLst/>
          </a:prstGeom>
          <a:noFill/>
          <a:ln/>
        </p:spPr>
        <p:txBody>
          <a:bodyPr wrap="square" lIns="0" tIns="0" rIns="0" bIns="0" rtlCol="0" anchor="t"/>
          <a:lstStyle/>
          <a:p>
            <a:pPr indent="0" marL="0">
              <a:lnSpc>
                <a:spcPct val="110000"/>
              </a:lnSpc>
              <a:buNone/>
            </a:pPr>
            <a:r>
              <a:rPr lang="en-US" sz="1000" i="1" dirty="0">
                <a:solidFill>
                  <a:srgbClr val="6B7280"/>
                </a:solidFill>
                <a:latin typeface="Calibri" pitchFamily="34" charset="0"/>
                <a:ea typeface="Calibri" pitchFamily="34" charset="-122"/>
                <a:cs typeface="Calibri" pitchFamily="34" charset="-120"/>
              </a:rPr>
              <a:t>Powers the calibration lollipop and decile calibration table</a:t>
            </a:r>
            <a:endParaRPr lang="en-US" sz="1000" dirty="0"/>
          </a:p>
        </p:txBody>
      </p:sp>
      <p:sp>
        <p:nvSpPr>
          <p:cNvPr id="16" name="Shape 13"/>
          <p:cNvSpPr/>
          <p:nvPr/>
        </p:nvSpPr>
        <p:spPr>
          <a:xfrm>
            <a:off x="502920" y="3429000"/>
            <a:ext cx="11201400" cy="914400"/>
          </a:xfrm>
          <a:prstGeom prst="roundRect">
            <a:avLst>
              <a:gd name="adj" fmla="val 80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7" name="Text 14"/>
          <p:cNvSpPr/>
          <p:nvPr/>
        </p:nvSpPr>
        <p:spPr>
          <a:xfrm>
            <a:off x="731520" y="3538728"/>
            <a:ext cx="4023360" cy="320040"/>
          </a:xfrm>
          <a:prstGeom prst="rect">
            <a:avLst/>
          </a:prstGeom>
          <a:noFill/>
          <a:ln/>
        </p:spPr>
        <p:txBody>
          <a:bodyPr wrap="square" lIns="0" tIns="0" rIns="0" bIns="0" rtlCol="0" anchor="ctr"/>
          <a:lstStyle/>
          <a:p>
            <a:pPr indent="0" marL="0">
              <a:buNone/>
            </a:pPr>
            <a:r>
              <a:rPr lang="en-US" sz="1200" b="1" dirty="0">
                <a:solidFill>
                  <a:srgbClr val="0369A1"/>
                </a:solidFill>
                <a:latin typeface="Courier New" pitchFamily="34" charset="0"/>
                <a:ea typeface="Courier New" pitchFamily="34" charset="-122"/>
                <a:cs typeface="Courier New" pitchFamily="34" charset="-120"/>
              </a:rPr>
              <a:t>momentum_table(...)</a:t>
            </a:r>
            <a:endParaRPr lang="en-US" sz="1200" dirty="0"/>
          </a:p>
        </p:txBody>
      </p:sp>
      <p:sp>
        <p:nvSpPr>
          <p:cNvPr id="18" name="Text 15"/>
          <p:cNvSpPr/>
          <p:nvPr/>
        </p:nvSpPr>
        <p:spPr>
          <a:xfrm>
            <a:off x="4892040" y="3538728"/>
            <a:ext cx="3657600" cy="685800"/>
          </a:xfrm>
          <a:prstGeom prst="rect">
            <a:avLst/>
          </a:prstGeom>
          <a:noFill/>
          <a:ln/>
        </p:spPr>
        <p:txBody>
          <a:bodyPr wrap="square" lIns="0" tIns="0" rIns="0" bIns="0" rtlCol="0" anchor="t"/>
          <a:lstStyle/>
          <a:p>
            <a:pPr indent="0" marL="0">
              <a:lnSpc>
                <a:spcPct val="110000"/>
              </a:lnSpc>
              <a:buNone/>
            </a:pPr>
            <a:r>
              <a:rPr lang="en-US" sz="1100" dirty="0">
                <a:solidFill>
                  <a:srgbClr val="1F2937"/>
                </a:solidFill>
                <a:latin typeface="Calibri" pitchFamily="34" charset="0"/>
                <a:ea typeface="Calibri" pitchFamily="34" charset="-122"/>
                <a:cs typeface="Calibri" pitchFamily="34" charset="-120"/>
              </a:rPr>
              <a:t>P(win | won set 1) with Wilson 95% CI, overall + by tier</a:t>
            </a:r>
            <a:endParaRPr lang="en-US" sz="1100" dirty="0"/>
          </a:p>
        </p:txBody>
      </p:sp>
      <p:sp>
        <p:nvSpPr>
          <p:cNvPr id="19" name="Text 16"/>
          <p:cNvSpPr/>
          <p:nvPr/>
        </p:nvSpPr>
        <p:spPr>
          <a:xfrm>
            <a:off x="8686800" y="3538728"/>
            <a:ext cx="2834640" cy="685800"/>
          </a:xfrm>
          <a:prstGeom prst="rect">
            <a:avLst/>
          </a:prstGeom>
          <a:noFill/>
          <a:ln/>
        </p:spPr>
        <p:txBody>
          <a:bodyPr wrap="square" lIns="0" tIns="0" rIns="0" bIns="0" rtlCol="0" anchor="t"/>
          <a:lstStyle/>
          <a:p>
            <a:pPr indent="0" marL="0">
              <a:lnSpc>
                <a:spcPct val="110000"/>
              </a:lnSpc>
              <a:buNone/>
            </a:pPr>
            <a:r>
              <a:rPr lang="en-US" sz="1000" i="1" dirty="0">
                <a:solidFill>
                  <a:srgbClr val="6B7280"/>
                </a:solidFill>
                <a:latin typeface="Calibri" pitchFamily="34" charset="0"/>
                <a:ea typeface="Calibri" pitchFamily="34" charset="-122"/>
                <a:cs typeface="Calibri" pitchFamily="34" charset="-120"/>
              </a:rPr>
              <a:t>Powers the momentum slope chart</a:t>
            </a:r>
            <a:endParaRPr lang="en-US" sz="1000" dirty="0"/>
          </a:p>
        </p:txBody>
      </p:sp>
      <p:sp>
        <p:nvSpPr>
          <p:cNvPr id="20" name="Shape 17"/>
          <p:cNvSpPr/>
          <p:nvPr/>
        </p:nvSpPr>
        <p:spPr>
          <a:xfrm>
            <a:off x="502920" y="4434840"/>
            <a:ext cx="11201400" cy="914400"/>
          </a:xfrm>
          <a:prstGeom prst="roundRect">
            <a:avLst>
              <a:gd name="adj" fmla="val 80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1" name="Text 18"/>
          <p:cNvSpPr/>
          <p:nvPr/>
        </p:nvSpPr>
        <p:spPr>
          <a:xfrm>
            <a:off x="731520" y="4544568"/>
            <a:ext cx="4023360" cy="320040"/>
          </a:xfrm>
          <a:prstGeom prst="rect">
            <a:avLst/>
          </a:prstGeom>
          <a:noFill/>
          <a:ln/>
        </p:spPr>
        <p:txBody>
          <a:bodyPr wrap="square" lIns="0" tIns="0" rIns="0" bIns="0" rtlCol="0" anchor="ctr"/>
          <a:lstStyle/>
          <a:p>
            <a:pPr indent="0" marL="0">
              <a:buNone/>
            </a:pPr>
            <a:r>
              <a:rPr lang="en-US" sz="1200" b="1" dirty="0">
                <a:solidFill>
                  <a:srgbClr val="0369A1"/>
                </a:solidFill>
                <a:latin typeface="Courier New" pitchFamily="34" charset="0"/>
                <a:ea typeface="Courier New" pitchFamily="34" charset="-122"/>
                <a:cs typeface="Courier New" pitchFamily="34" charset="-120"/>
              </a:rPr>
              <a:t>pair_chemistry(...)</a:t>
            </a:r>
            <a:endParaRPr lang="en-US" sz="1200" dirty="0"/>
          </a:p>
        </p:txBody>
      </p:sp>
      <p:sp>
        <p:nvSpPr>
          <p:cNvPr id="22" name="Text 19"/>
          <p:cNvSpPr/>
          <p:nvPr/>
        </p:nvSpPr>
        <p:spPr>
          <a:xfrm>
            <a:off x="4892040" y="4544568"/>
            <a:ext cx="3657600" cy="685800"/>
          </a:xfrm>
          <a:prstGeom prst="rect">
            <a:avLst/>
          </a:prstGeom>
          <a:noFill/>
          <a:ln/>
        </p:spPr>
        <p:txBody>
          <a:bodyPr wrap="square" lIns="0" tIns="0" rIns="0" bIns="0" rtlCol="0" anchor="t"/>
          <a:lstStyle/>
          <a:p>
            <a:pPr indent="0" marL="0">
              <a:lnSpc>
                <a:spcPct val="110000"/>
              </a:lnSpc>
              <a:buNone/>
            </a:pPr>
            <a:r>
              <a:rPr lang="en-US" sz="1100" dirty="0">
                <a:solidFill>
                  <a:srgbClr val="1F2937"/>
                </a:solidFill>
                <a:latin typeface="Calibri" pitchFamily="34" charset="0"/>
                <a:ea typeface="Calibri" pitchFamily="34" charset="-122"/>
                <a:cs typeface="Calibri" pitchFamily="34" charset="-120"/>
              </a:rPr>
              <a:t>Win rate by matches-together bucket, chi-square test</a:t>
            </a:r>
            <a:endParaRPr lang="en-US" sz="1100" dirty="0"/>
          </a:p>
        </p:txBody>
      </p:sp>
      <p:sp>
        <p:nvSpPr>
          <p:cNvPr id="23" name="Text 20"/>
          <p:cNvSpPr/>
          <p:nvPr/>
        </p:nvSpPr>
        <p:spPr>
          <a:xfrm>
            <a:off x="8686800" y="4544568"/>
            <a:ext cx="2834640" cy="685800"/>
          </a:xfrm>
          <a:prstGeom prst="rect">
            <a:avLst/>
          </a:prstGeom>
          <a:noFill/>
          <a:ln/>
        </p:spPr>
        <p:txBody>
          <a:bodyPr wrap="square" lIns="0" tIns="0" rIns="0" bIns="0" rtlCol="0" anchor="t"/>
          <a:lstStyle/>
          <a:p>
            <a:pPr indent="0" marL="0">
              <a:lnSpc>
                <a:spcPct val="110000"/>
              </a:lnSpc>
              <a:buNone/>
            </a:pPr>
            <a:r>
              <a:rPr lang="en-US" sz="1000" i="1" dirty="0">
                <a:solidFill>
                  <a:srgbClr val="6B7280"/>
                </a:solidFill>
                <a:latin typeface="Calibri" pitchFamily="34" charset="0"/>
                <a:ea typeface="Calibri" pitchFamily="34" charset="-122"/>
                <a:cs typeface="Calibri" pitchFamily="34" charset="-120"/>
              </a:rPr>
              <a:t>Powers the chemistry line + survivorship wedge</a:t>
            </a:r>
            <a:endParaRPr lang="en-US" sz="1000" dirty="0"/>
          </a:p>
        </p:txBody>
      </p:sp>
      <p:sp>
        <p:nvSpPr>
          <p:cNvPr id="24" name="Shape 21"/>
          <p:cNvSpPr/>
          <p:nvPr/>
        </p:nvSpPr>
        <p:spPr>
          <a:xfrm>
            <a:off x="502920" y="5440680"/>
            <a:ext cx="11201400" cy="914400"/>
          </a:xfrm>
          <a:prstGeom prst="roundRect">
            <a:avLst>
              <a:gd name="adj" fmla="val 80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5" name="Text 22"/>
          <p:cNvSpPr/>
          <p:nvPr/>
        </p:nvSpPr>
        <p:spPr>
          <a:xfrm>
            <a:off x="731520" y="5550408"/>
            <a:ext cx="4023360" cy="320040"/>
          </a:xfrm>
          <a:prstGeom prst="rect">
            <a:avLst/>
          </a:prstGeom>
          <a:noFill/>
          <a:ln/>
        </p:spPr>
        <p:txBody>
          <a:bodyPr wrap="square" lIns="0" tIns="0" rIns="0" bIns="0" rtlCol="0" anchor="ctr"/>
          <a:lstStyle/>
          <a:p>
            <a:pPr indent="0" marL="0">
              <a:buNone/>
            </a:pPr>
            <a:r>
              <a:rPr lang="en-US" sz="1200" b="1" dirty="0">
                <a:solidFill>
                  <a:srgbClr val="0369A1"/>
                </a:solidFill>
                <a:latin typeface="Courier New" pitchFamily="34" charset="0"/>
                <a:ea typeface="Courier New" pitchFamily="34" charset="-122"/>
                <a:cs typeface="Courier New" pitchFamily="34" charset="-120"/>
              </a:rPr>
              <a:t>k-means player clustering</a:t>
            </a:r>
            <a:endParaRPr lang="en-US" sz="1200" dirty="0"/>
          </a:p>
        </p:txBody>
      </p:sp>
      <p:sp>
        <p:nvSpPr>
          <p:cNvPr id="26" name="Text 23"/>
          <p:cNvSpPr/>
          <p:nvPr/>
        </p:nvSpPr>
        <p:spPr>
          <a:xfrm>
            <a:off x="4892040" y="5550408"/>
            <a:ext cx="3657600" cy="685800"/>
          </a:xfrm>
          <a:prstGeom prst="rect">
            <a:avLst/>
          </a:prstGeom>
          <a:noFill/>
          <a:ln/>
        </p:spPr>
        <p:txBody>
          <a:bodyPr wrap="square" lIns="0" tIns="0" rIns="0" bIns="0" rtlCol="0" anchor="t"/>
          <a:lstStyle/>
          <a:p>
            <a:pPr indent="0" marL="0">
              <a:lnSpc>
                <a:spcPct val="110000"/>
              </a:lnSpc>
              <a:buNone/>
            </a:pPr>
            <a:r>
              <a:rPr lang="en-US" sz="1100" dirty="0">
                <a:solidFill>
                  <a:srgbClr val="1F2937"/>
                </a:solidFill>
                <a:latin typeface="Calibri" pitchFamily="34" charset="0"/>
                <a:ea typeface="Calibri" pitchFamily="34" charset="-122"/>
                <a:cs typeface="Calibri" pitchFamily="34" charset="-120"/>
              </a:rPr>
              <a:t>Player archetypes from match-derived features</a:t>
            </a:r>
            <a:endParaRPr lang="en-US" sz="1100" dirty="0"/>
          </a:p>
        </p:txBody>
      </p:sp>
      <p:sp>
        <p:nvSpPr>
          <p:cNvPr id="27" name="Text 24"/>
          <p:cNvSpPr/>
          <p:nvPr/>
        </p:nvSpPr>
        <p:spPr>
          <a:xfrm>
            <a:off x="8686800" y="5550408"/>
            <a:ext cx="2834640" cy="685800"/>
          </a:xfrm>
          <a:prstGeom prst="rect">
            <a:avLst/>
          </a:prstGeom>
          <a:noFill/>
          <a:ln/>
        </p:spPr>
        <p:txBody>
          <a:bodyPr wrap="square" lIns="0" tIns="0" rIns="0" bIns="0" rtlCol="0" anchor="t"/>
          <a:lstStyle/>
          <a:p>
            <a:pPr indent="0" marL="0">
              <a:lnSpc>
                <a:spcPct val="110000"/>
              </a:lnSpc>
              <a:buNone/>
            </a:pPr>
            <a:r>
              <a:rPr lang="en-US" sz="1000" i="1" dirty="0">
                <a:solidFill>
                  <a:srgbClr val="6B7280"/>
                </a:solidFill>
                <a:latin typeface="Calibri" pitchFamily="34" charset="0"/>
                <a:ea typeface="Calibri" pitchFamily="34" charset="-122"/>
                <a:cs typeface="Calibri" pitchFamily="34" charset="-120"/>
              </a:rPr>
              <a:t>Supporting analysis for the Insights page</a:t>
            </a:r>
            <a:endParaRPr lang="en-US" sz="1000" dirty="0"/>
          </a:p>
        </p:txBody>
      </p:sp>
      <p:sp>
        <p:nvSpPr>
          <p:cNvPr id="28" name="Text 25"/>
          <p:cNvSpPr/>
          <p:nvPr/>
        </p:nvSpPr>
        <p:spPr>
          <a:xfrm>
            <a:off x="502920" y="6492240"/>
            <a:ext cx="11201400" cy="365760"/>
          </a:xfrm>
          <a:prstGeom prst="rect">
            <a:avLst/>
          </a:prstGeom>
          <a:noFill/>
          <a:ln/>
        </p:spPr>
        <p:txBody>
          <a:bodyPr wrap="square" lIns="0" tIns="0" rIns="0" bIns="0" rtlCol="0" anchor="ctr"/>
          <a:lstStyle/>
          <a:p>
            <a:pPr indent="0" marL="0">
              <a:buNone/>
            </a:pPr>
            <a:r>
              <a:rPr lang="en-US" sz="1200" i="1" dirty="0">
                <a:solidFill>
                  <a:srgbClr val="9AA3AD"/>
                </a:solidFill>
                <a:latin typeface="Calibri" pitchFamily="34" charset="0"/>
                <a:ea typeface="Calibri" pitchFamily="34" charset="-122"/>
                <a:cs typeface="Calibri" pitchFamily="34" charset="-120"/>
              </a:rPr>
              <a:t>Pure pandas / scikit-learn / SciPy — zero Streamlit dependency, so the whole module is testable standalone.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§5.3 MULTI-USER &amp; DEPLOYMENT</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Multi-user-ready today, cloud-ready next</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§5 Technical Implementation — slide 27/32</a:t>
            </a:r>
            <a:endParaRPr lang="en-US" sz="900" dirty="0"/>
          </a:p>
        </p:txBody>
      </p:sp>
      <p:sp>
        <p:nvSpPr>
          <p:cNvPr id="8" name="Shape 5"/>
          <p:cNvSpPr/>
          <p:nvPr/>
        </p:nvSpPr>
        <p:spPr>
          <a:xfrm>
            <a:off x="502920" y="1417320"/>
            <a:ext cx="5440680" cy="2651760"/>
          </a:xfrm>
          <a:prstGeom prst="roundRect">
            <a:avLst>
              <a:gd name="adj" fmla="val 2759"/>
            </a:avLst>
          </a:prstGeom>
          <a:solidFill>
            <a:srgbClr val="BAE6FD"/>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Text 6"/>
          <p:cNvSpPr/>
          <p:nvPr/>
        </p:nvSpPr>
        <p:spPr>
          <a:xfrm>
            <a:off x="731520" y="1600200"/>
            <a:ext cx="4983480" cy="365760"/>
          </a:xfrm>
          <a:prstGeom prst="rect">
            <a:avLst/>
          </a:prstGeom>
          <a:noFill/>
          <a:ln/>
        </p:spPr>
        <p:txBody>
          <a:bodyPr wrap="square" lIns="0" tIns="0" rIns="0" bIns="0" rtlCol="0" anchor="ctr"/>
          <a:lstStyle/>
          <a:p>
            <a:pPr indent="0" marL="0">
              <a:buNone/>
            </a:pPr>
            <a:r>
              <a:rPr lang="en-US" sz="1450" b="1" dirty="0">
                <a:solidFill>
                  <a:srgbClr val="0369A1"/>
                </a:solidFill>
                <a:latin typeface="Calibri" pitchFamily="34" charset="0"/>
                <a:ea typeface="Calibri" pitchFamily="34" charset="-122"/>
                <a:cs typeface="Calibri" pitchFamily="34" charset="-120"/>
              </a:rPr>
              <a:t>Already there</a:t>
            </a:r>
            <a:endParaRPr lang="en-US" sz="1450" dirty="0"/>
          </a:p>
        </p:txBody>
      </p:sp>
      <p:sp>
        <p:nvSpPr>
          <p:cNvPr id="10" name="Text 7"/>
          <p:cNvSpPr/>
          <p:nvPr/>
        </p:nvSpPr>
        <p:spPr>
          <a:xfrm>
            <a:off x="731520" y="2103120"/>
            <a:ext cx="4983480" cy="178308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my_matches carries a user_id column — multi-user-ready schema</a:t>
            </a:r>
            <a:endParaRPr lang="en-US" sz="1200" dirty="0"/>
          </a:p>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users table seeded with a Demo User</a:t>
            </a:r>
            <a:endParaRPr lang="en-US" sz="1200" dirty="0"/>
          </a:p>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db.py falls back to CSVs transparently if padellens.db isn't built yet</a:t>
            </a:r>
            <a:endParaRPr lang="en-US" sz="1200" dirty="0"/>
          </a:p>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source column on pro_matches distinguishes 'real' vs 'demo' data</a:t>
            </a:r>
            <a:endParaRPr lang="en-US" sz="1200" dirty="0"/>
          </a:p>
        </p:txBody>
      </p:sp>
      <p:sp>
        <p:nvSpPr>
          <p:cNvPr id="11" name="Shape 8"/>
          <p:cNvSpPr/>
          <p:nvPr/>
        </p:nvSpPr>
        <p:spPr>
          <a:xfrm>
            <a:off x="6172200" y="1417320"/>
            <a:ext cx="5440680" cy="2651760"/>
          </a:xfrm>
          <a:prstGeom prst="roundRect">
            <a:avLst>
              <a:gd name="adj" fmla="val 2759"/>
            </a:avLst>
          </a:prstGeom>
          <a:solidFill>
            <a:srgbClr val="F3F4F6"/>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2" name="Text 9"/>
          <p:cNvSpPr/>
          <p:nvPr/>
        </p:nvSpPr>
        <p:spPr>
          <a:xfrm>
            <a:off x="6400800" y="1600200"/>
            <a:ext cx="4983480" cy="365760"/>
          </a:xfrm>
          <a:prstGeom prst="rect">
            <a:avLst/>
          </a:prstGeom>
          <a:noFill/>
          <a:ln/>
        </p:spPr>
        <p:txBody>
          <a:bodyPr wrap="square" lIns="0" tIns="0" rIns="0" bIns="0" rtlCol="0" anchor="ctr"/>
          <a:lstStyle/>
          <a:p>
            <a:pPr indent="0" marL="0">
              <a:buNone/>
            </a:pPr>
            <a:r>
              <a:rPr lang="en-US" sz="1450" b="1" dirty="0">
                <a:solidFill>
                  <a:srgbClr val="6B7280"/>
                </a:solidFill>
                <a:latin typeface="Calibri" pitchFamily="34" charset="0"/>
                <a:ea typeface="Calibri" pitchFamily="34" charset="-122"/>
                <a:cs typeface="Calibri" pitchFamily="34" charset="-120"/>
              </a:rPr>
              <a:t>Honestly still missing</a:t>
            </a:r>
            <a:endParaRPr lang="en-US" sz="1450" dirty="0"/>
          </a:p>
        </p:txBody>
      </p:sp>
      <p:sp>
        <p:nvSpPr>
          <p:cNvPr id="13" name="Text 10"/>
          <p:cNvSpPr/>
          <p:nvPr/>
        </p:nvSpPr>
        <p:spPr>
          <a:xfrm>
            <a:off x="6400800" y="2103120"/>
            <a:ext cx="4983480" cy="178308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No login layer — the app always operates as user_id=1</a:t>
            </a:r>
            <a:endParaRPr lang="en-US" sz="1200" dirty="0"/>
          </a:p>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Local SQLite file, no cloud sync</a:t>
            </a:r>
            <a:endParaRPr lang="en-US" sz="1200" dirty="0"/>
          </a:p>
          <a:p>
            <a:pPr marL="228600" indent="-228600">
              <a:lnSpc>
                <a:spcPct val="108000"/>
              </a:lnSpc>
              <a:spcAft>
                <a:spcPts val="1000"/>
              </a:spcAft>
              <a:buSzPct val="100000"/>
              <a:buChar char="▪"/>
            </a:pPr>
            <a:r>
              <a:rPr lang="en-US" sz="1200" dirty="0">
                <a:solidFill>
                  <a:srgbClr val="1F2937"/>
                </a:solidFill>
                <a:latin typeface="Calibri" pitchFamily="34" charset="0"/>
                <a:ea typeface="Calibri" pitchFamily="34" charset="-122"/>
                <a:cs typeface="Calibri" pitchFamily="34" charset="-120"/>
              </a:rPr>
              <a:t>No concurrent-write handling for more than one player</a:t>
            </a:r>
            <a:endParaRPr lang="en-US" sz="1200" dirty="0"/>
          </a:p>
        </p:txBody>
      </p:sp>
      <p:sp>
        <p:nvSpPr>
          <p:cNvPr id="14" name="Shape 11"/>
          <p:cNvSpPr/>
          <p:nvPr/>
        </p:nvSpPr>
        <p:spPr>
          <a:xfrm>
            <a:off x="502920" y="4251960"/>
            <a:ext cx="11201400" cy="2057400"/>
          </a:xfrm>
          <a:prstGeom prst="roundRect">
            <a:avLst>
              <a:gd name="adj" fmla="val 3556"/>
            </a:avLst>
          </a:prstGeom>
          <a:solidFill>
            <a:srgbClr val="1F2937"/>
          </a:solidFill>
          <a:ln w="12700">
            <a:solidFill>
              <a:srgbClr val="CFD6DD"/>
            </a:solidFill>
            <a:prstDash val="solid"/>
          </a:ln>
        </p:spPr>
      </p:sp>
      <p:sp>
        <p:nvSpPr>
          <p:cNvPr id="15" name="Text 12"/>
          <p:cNvSpPr/>
          <p:nvPr/>
        </p:nvSpPr>
        <p:spPr>
          <a:xfrm>
            <a:off x="777240" y="4434840"/>
            <a:ext cx="10607040" cy="320040"/>
          </a:xfrm>
          <a:prstGeom prst="rect">
            <a:avLst/>
          </a:prstGeom>
          <a:noFill/>
          <a:ln/>
        </p:spPr>
        <p:txBody>
          <a:bodyPr wrap="square" lIns="0" tIns="0" rIns="0" bIns="0" rtlCol="0" anchor="ctr"/>
          <a:lstStyle/>
          <a:p>
            <a:pPr indent="0" marL="0">
              <a:buNone/>
            </a:pPr>
            <a:r>
              <a:rPr lang="en-US" sz="1400" b="1" dirty="0">
                <a:solidFill>
                  <a:srgbClr val="BAE6FD"/>
                </a:solidFill>
                <a:latin typeface="Calibri" pitchFamily="34" charset="0"/>
                <a:ea typeface="Calibri" pitchFamily="34" charset="-122"/>
                <a:cs typeface="Calibri" pitchFamily="34" charset="-120"/>
              </a:rPr>
              <a:t>Deployment plan</a:t>
            </a:r>
            <a:endParaRPr lang="en-US" sz="1400" dirty="0"/>
          </a:p>
        </p:txBody>
      </p:sp>
      <p:sp>
        <p:nvSpPr>
          <p:cNvPr id="16" name="Text 13"/>
          <p:cNvSpPr/>
          <p:nvPr/>
        </p:nvSpPr>
        <p:spPr>
          <a:xfrm>
            <a:off x="777240" y="4800600"/>
            <a:ext cx="10607040" cy="1417320"/>
          </a:xfrm>
          <a:prstGeom prst="rect">
            <a:avLst/>
          </a:prstGeom>
          <a:noFill/>
          <a:ln/>
        </p:spPr>
        <p:txBody>
          <a:bodyPr wrap="square" lIns="0" tIns="0" rIns="0" bIns="0" rtlCol="0" anchor="t"/>
          <a:lstStyle/>
          <a:p>
            <a:pPr marL="228600" indent="-228600">
              <a:lnSpc>
                <a:spcPct val="108000"/>
              </a:lnSpc>
              <a:spcAft>
                <a:spcPts val="900"/>
              </a:spcAft>
              <a:buSzPct val="100000"/>
              <a:buChar char="▪"/>
            </a:pPr>
            <a:r>
              <a:rPr lang="en-US" sz="1250" dirty="0">
                <a:solidFill>
                  <a:srgbClr val="E5E7EB"/>
                </a:solidFill>
                <a:latin typeface="Calibri" pitchFamily="34" charset="0"/>
                <a:ea typeface="Calibri" pitchFamily="34" charset="-122"/>
                <a:cs typeface="Calibri" pitchFamily="34" charset="-120"/>
              </a:rPr>
              <a:t>Add a simple authentication layer (Streamlit login component) so user_id stops being hardcoded to 1</a:t>
            </a:r>
            <a:endParaRPr lang="en-US" sz="1250" dirty="0"/>
          </a:p>
          <a:p>
            <a:pPr marL="228600" indent="-228600">
              <a:lnSpc>
                <a:spcPct val="108000"/>
              </a:lnSpc>
              <a:spcAft>
                <a:spcPts val="900"/>
              </a:spcAft>
              <a:buSzPct val="100000"/>
              <a:buChar char="▪"/>
            </a:pPr>
            <a:r>
              <a:rPr lang="en-US" sz="1250" dirty="0">
                <a:solidFill>
                  <a:srgbClr val="E5E7EB"/>
                </a:solidFill>
                <a:latin typeface="Calibri" pitchFamily="34" charset="0"/>
                <a:ea typeface="Calibri" pitchFamily="34" charset="-122"/>
                <a:cs typeface="Calibri" pitchFamily="34" charset="-120"/>
              </a:rPr>
              <a:t>Host on Streamlit Community Cloud for a shareable public demo link</a:t>
            </a:r>
            <a:endParaRPr lang="en-US" sz="1250" dirty="0"/>
          </a:p>
          <a:p>
            <a:pPr marL="228600" indent="-228600">
              <a:lnSpc>
                <a:spcPct val="108000"/>
              </a:lnSpc>
              <a:spcAft>
                <a:spcPts val="900"/>
              </a:spcAft>
              <a:buSzPct val="100000"/>
              <a:buChar char="▪"/>
            </a:pPr>
            <a:r>
              <a:rPr lang="en-US" sz="1250" dirty="0">
                <a:solidFill>
                  <a:srgbClr val="E5E7EB"/>
                </a:solidFill>
                <a:latin typeface="Calibri" pitchFamily="34" charset="0"/>
                <a:ea typeface="Calibri" pitchFamily="34" charset="-122"/>
                <a:cs typeface="Calibri" pitchFamily="34" charset="-120"/>
              </a:rPr>
              <a:t>Migrate local SQLite → a hosted Postgres instance once there's more than one concurrent writer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§6.1 LIVE DEMO SCRIPT</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What I'll show live: Marco logs a match</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§6 Demo &amp; Conclusions — slide 28/32</a:t>
            </a:r>
            <a:endParaRPr lang="en-US" sz="900" dirty="0"/>
          </a:p>
        </p:txBody>
      </p:sp>
      <p:sp>
        <p:nvSpPr>
          <p:cNvPr id="8" name="Shape 5"/>
          <p:cNvSpPr/>
          <p:nvPr/>
        </p:nvSpPr>
        <p:spPr>
          <a:xfrm>
            <a:off x="502920" y="1417320"/>
            <a:ext cx="11201400" cy="896112"/>
          </a:xfrm>
          <a:prstGeom prst="roundRect">
            <a:avLst>
              <a:gd name="adj" fmla="val 816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13232" y="1563624"/>
            <a:ext cx="457200" cy="457200"/>
          </a:xfrm>
          <a:prstGeom prst="ellipse">
            <a:avLst/>
          </a:prstGeom>
          <a:solidFill>
            <a:srgbClr val="0EA5E9"/>
          </a:solidFill>
          <a:ln/>
        </p:spPr>
      </p:sp>
      <p:sp>
        <p:nvSpPr>
          <p:cNvPr id="10" name="Text 7"/>
          <p:cNvSpPr/>
          <p:nvPr/>
        </p:nvSpPr>
        <p:spPr>
          <a:xfrm>
            <a:off x="713232" y="15636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p:nvPr/>
        </p:nvSpPr>
        <p:spPr>
          <a:xfrm>
            <a:off x="1371600" y="1508760"/>
            <a:ext cx="1737360" cy="713232"/>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Home</a:t>
            </a:r>
            <a:endParaRPr lang="en-US" sz="1300" dirty="0"/>
          </a:p>
        </p:txBody>
      </p:sp>
      <p:sp>
        <p:nvSpPr>
          <p:cNvPr id="12" name="Text 9"/>
          <p:cNvSpPr/>
          <p:nvPr/>
        </p:nvSpPr>
        <p:spPr>
          <a:xfrm>
            <a:off x="3200400" y="1508760"/>
            <a:ext cx="8321040" cy="713232"/>
          </a:xfrm>
          <a:prstGeom prst="rect">
            <a:avLst/>
          </a:prstGeom>
          <a:noFill/>
          <a:ln/>
        </p:spPr>
        <p:txBody>
          <a:bodyPr wrap="square" lIns="0" tIns="0" rIns="0" bIns="0" rtlCol="0" anchor="ctr"/>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Point at the KPI block and the weekly drill recommendation — "how am I doing" in under 10 seconds.</a:t>
            </a:r>
            <a:endParaRPr lang="en-US" sz="1150" dirty="0"/>
          </a:p>
        </p:txBody>
      </p:sp>
      <p:sp>
        <p:nvSpPr>
          <p:cNvPr id="13" name="Shape 10"/>
          <p:cNvSpPr/>
          <p:nvPr/>
        </p:nvSpPr>
        <p:spPr>
          <a:xfrm>
            <a:off x="502920" y="2404872"/>
            <a:ext cx="11201400" cy="896112"/>
          </a:xfrm>
          <a:prstGeom prst="roundRect">
            <a:avLst>
              <a:gd name="adj" fmla="val 816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713232" y="2551176"/>
            <a:ext cx="457200" cy="457200"/>
          </a:xfrm>
          <a:prstGeom prst="ellipse">
            <a:avLst/>
          </a:prstGeom>
          <a:solidFill>
            <a:srgbClr val="0EA5E9"/>
          </a:solidFill>
          <a:ln/>
        </p:spPr>
      </p:sp>
      <p:sp>
        <p:nvSpPr>
          <p:cNvPr id="15" name="Text 12"/>
          <p:cNvSpPr/>
          <p:nvPr/>
        </p:nvSpPr>
        <p:spPr>
          <a:xfrm>
            <a:off x="713232" y="25511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p:nvPr/>
        </p:nvSpPr>
        <p:spPr>
          <a:xfrm>
            <a:off x="1371600" y="2496312"/>
            <a:ext cx="1737360" cy="713232"/>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Log a Match</a:t>
            </a:r>
            <a:endParaRPr lang="en-US" sz="1300" dirty="0"/>
          </a:p>
        </p:txBody>
      </p:sp>
      <p:sp>
        <p:nvSpPr>
          <p:cNvPr id="17" name="Text 14"/>
          <p:cNvSpPr/>
          <p:nvPr/>
        </p:nvSpPr>
        <p:spPr>
          <a:xfrm>
            <a:off x="3200400" y="2496312"/>
            <a:ext cx="8321040" cy="713232"/>
          </a:xfrm>
          <a:prstGeom prst="rect">
            <a:avLst/>
          </a:prstGeom>
          <a:noFill/>
          <a:ln/>
        </p:spPr>
        <p:txBody>
          <a:bodyPr wrap="square" lIns="0" tIns="0" rIns="0" bIns="0" rtlCol="0" anchor="ctr"/>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Enter a 6-4, 3-6, 6-2 win live: partner and opponents of my choice, watching the auto-result preview update as I type. Under 90 seconds, start to submit.</a:t>
            </a:r>
            <a:endParaRPr lang="en-US" sz="1150" dirty="0"/>
          </a:p>
        </p:txBody>
      </p:sp>
      <p:sp>
        <p:nvSpPr>
          <p:cNvPr id="18" name="Shape 15"/>
          <p:cNvSpPr/>
          <p:nvPr/>
        </p:nvSpPr>
        <p:spPr>
          <a:xfrm>
            <a:off x="502920" y="3392424"/>
            <a:ext cx="11201400" cy="896112"/>
          </a:xfrm>
          <a:prstGeom prst="roundRect">
            <a:avLst>
              <a:gd name="adj" fmla="val 816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713232" y="3538728"/>
            <a:ext cx="457200" cy="457200"/>
          </a:xfrm>
          <a:prstGeom prst="ellipse">
            <a:avLst/>
          </a:prstGeom>
          <a:solidFill>
            <a:srgbClr val="0EA5E9"/>
          </a:solidFill>
          <a:ln/>
        </p:spPr>
      </p:sp>
      <p:sp>
        <p:nvSpPr>
          <p:cNvPr id="20" name="Text 17"/>
          <p:cNvSpPr/>
          <p:nvPr/>
        </p:nvSpPr>
        <p:spPr>
          <a:xfrm>
            <a:off x="713232" y="35387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p:nvPr/>
        </p:nvSpPr>
        <p:spPr>
          <a:xfrm>
            <a:off x="1371600" y="3483864"/>
            <a:ext cx="1737360" cy="713232"/>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Home (refresh)</a:t>
            </a:r>
            <a:endParaRPr lang="en-US" sz="1300" dirty="0"/>
          </a:p>
        </p:txBody>
      </p:sp>
      <p:sp>
        <p:nvSpPr>
          <p:cNvPr id="22" name="Text 19"/>
          <p:cNvSpPr/>
          <p:nvPr/>
        </p:nvSpPr>
        <p:spPr>
          <a:xfrm>
            <a:off x="3200400" y="3483864"/>
            <a:ext cx="8321040" cy="713232"/>
          </a:xfrm>
          <a:prstGeom prst="rect">
            <a:avLst/>
          </a:prstGeom>
          <a:noFill/>
          <a:ln/>
        </p:spPr>
        <p:txBody>
          <a:bodyPr wrap="square" lIns="0" tIns="0" rIns="0" bIns="0" rtlCol="0" anchor="ctr"/>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Show the KPI and recent-matches table updating instantly — the cache clears automatically on submit.</a:t>
            </a:r>
            <a:endParaRPr lang="en-US" sz="1150" dirty="0"/>
          </a:p>
        </p:txBody>
      </p:sp>
      <p:sp>
        <p:nvSpPr>
          <p:cNvPr id="23" name="Shape 20"/>
          <p:cNvSpPr/>
          <p:nvPr/>
        </p:nvSpPr>
        <p:spPr>
          <a:xfrm>
            <a:off x="502920" y="4379976"/>
            <a:ext cx="11201400" cy="896112"/>
          </a:xfrm>
          <a:prstGeom prst="roundRect">
            <a:avLst>
              <a:gd name="adj" fmla="val 816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4" name="Shape 21"/>
          <p:cNvSpPr/>
          <p:nvPr/>
        </p:nvSpPr>
        <p:spPr>
          <a:xfrm>
            <a:off x="713232" y="4526280"/>
            <a:ext cx="457200" cy="457200"/>
          </a:xfrm>
          <a:prstGeom prst="ellipse">
            <a:avLst/>
          </a:prstGeom>
          <a:solidFill>
            <a:srgbClr val="0EA5E9"/>
          </a:solidFill>
          <a:ln/>
        </p:spPr>
      </p:sp>
      <p:sp>
        <p:nvSpPr>
          <p:cNvPr id="25" name="Text 22"/>
          <p:cNvSpPr/>
          <p:nvPr/>
        </p:nvSpPr>
        <p:spPr>
          <a:xfrm>
            <a:off x="713232"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p:nvPr/>
        </p:nvSpPr>
        <p:spPr>
          <a:xfrm>
            <a:off x="1371600" y="4471416"/>
            <a:ext cx="1737360" cy="713232"/>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My Stats</a:t>
            </a:r>
            <a:endParaRPr lang="en-US" sz="1300" dirty="0"/>
          </a:p>
        </p:txBody>
      </p:sp>
      <p:sp>
        <p:nvSpPr>
          <p:cNvPr id="27" name="Text 24"/>
          <p:cNvSpPr/>
          <p:nvPr/>
        </p:nvSpPr>
        <p:spPr>
          <a:xfrm>
            <a:off x="3200400" y="4471416"/>
            <a:ext cx="8321040" cy="713232"/>
          </a:xfrm>
          <a:prstGeom prst="rect">
            <a:avLst/>
          </a:prstGeom>
          <a:noFill/>
          <a:ln/>
        </p:spPr>
        <p:txBody>
          <a:bodyPr wrap="square" lIns="0" tIns="0" rIns="0" bIns="0" rtlCol="0" anchor="ctr"/>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Point out that every win rate carries a Wilson CI suffix, e.g. "62% (CI 45–77, n=24)" — never a bare, overconfident percentage.</a:t>
            </a:r>
            <a:endParaRPr lang="en-US" sz="1150" dirty="0"/>
          </a:p>
        </p:txBody>
      </p:sp>
      <p:sp>
        <p:nvSpPr>
          <p:cNvPr id="28" name="Shape 25"/>
          <p:cNvSpPr/>
          <p:nvPr/>
        </p:nvSpPr>
        <p:spPr>
          <a:xfrm>
            <a:off x="502920" y="5367528"/>
            <a:ext cx="11201400" cy="896112"/>
          </a:xfrm>
          <a:prstGeom prst="roundRect">
            <a:avLst>
              <a:gd name="adj" fmla="val 8163"/>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9" name="Shape 26"/>
          <p:cNvSpPr/>
          <p:nvPr/>
        </p:nvSpPr>
        <p:spPr>
          <a:xfrm>
            <a:off x="713232" y="5513832"/>
            <a:ext cx="457200" cy="457200"/>
          </a:xfrm>
          <a:prstGeom prst="ellipse">
            <a:avLst/>
          </a:prstGeom>
          <a:solidFill>
            <a:srgbClr val="0EA5E9"/>
          </a:solidFill>
          <a:ln/>
        </p:spPr>
      </p:sp>
      <p:sp>
        <p:nvSpPr>
          <p:cNvPr id="30" name="Text 27"/>
          <p:cNvSpPr/>
          <p:nvPr/>
        </p:nvSpPr>
        <p:spPr>
          <a:xfrm>
            <a:off x="713232" y="55138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8"/>
          <p:cNvSpPr/>
          <p:nvPr/>
        </p:nvSpPr>
        <p:spPr>
          <a:xfrm>
            <a:off x="1371600" y="5458968"/>
            <a:ext cx="1737360" cy="713232"/>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Insights</a:t>
            </a:r>
            <a:endParaRPr lang="en-US" sz="1300" dirty="0"/>
          </a:p>
        </p:txBody>
      </p:sp>
      <p:sp>
        <p:nvSpPr>
          <p:cNvPr id="32" name="Text 29"/>
          <p:cNvSpPr/>
          <p:nvPr/>
        </p:nvSpPr>
        <p:spPr>
          <a:xfrm>
            <a:off x="3200400" y="5458968"/>
            <a:ext cx="8321040" cy="713232"/>
          </a:xfrm>
          <a:prstGeom prst="rect">
            <a:avLst/>
          </a:prstGeom>
          <a:noFill/>
          <a:ln/>
        </p:spPr>
        <p:txBody>
          <a:bodyPr wrap="square" lIns="0" tIns="0" rIns="0" bIns="0" rtlCol="0" anchor="ctr"/>
          <a:lstStyle/>
          <a:p>
            <a:pPr indent="0" marL="0">
              <a:lnSpc>
                <a:spcPct val="110000"/>
              </a:lnSpc>
              <a:buNone/>
            </a:pPr>
            <a:r>
              <a:rPr lang="en-US" sz="1150" dirty="0">
                <a:solidFill>
                  <a:srgbClr val="1F2937"/>
                </a:solidFill>
                <a:latin typeface="Calibri" pitchFamily="34" charset="0"/>
                <a:ea typeface="Calibri" pitchFamily="34" charset="-122"/>
                <a:cs typeface="Calibri" pitchFamily="34" charset="-120"/>
              </a:rPr>
              <a:t>Walk through the four live discovery cards — momentum, Elo vs. ranking, pair chemistry, model calibration — computed on the real 2026 feed.</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§6.2 TAKEAWAY TABLE</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The seven findings, side by side</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§6 Demo &amp; Conclusions — slide 29/32</a:t>
            </a:r>
            <a:endParaRPr lang="en-US" sz="900" dirty="0"/>
          </a:p>
        </p:txBody>
      </p:sp>
      <p:sp>
        <p:nvSpPr>
          <p:cNvPr id="8" name="Shape 5"/>
          <p:cNvSpPr/>
          <p:nvPr/>
        </p:nvSpPr>
        <p:spPr>
          <a:xfrm>
            <a:off x="502920" y="1417320"/>
            <a:ext cx="11201400" cy="384048"/>
          </a:xfrm>
          <a:prstGeom prst="roundRect">
            <a:avLst>
              <a:gd name="adj" fmla="val 19048"/>
            </a:avLst>
          </a:prstGeom>
          <a:solidFill>
            <a:srgbClr val="1F2937"/>
          </a:solidFill>
          <a:ln w="12700">
            <a:solidFill>
              <a:srgbClr val="CFD6DD"/>
            </a:solidFill>
            <a:prstDash val="solid"/>
          </a:ln>
        </p:spPr>
      </p:sp>
      <p:sp>
        <p:nvSpPr>
          <p:cNvPr id="9" name="Text 6"/>
          <p:cNvSpPr/>
          <p:nvPr/>
        </p:nvSpPr>
        <p:spPr>
          <a:xfrm>
            <a:off x="731520" y="1472184"/>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Finding</a:t>
            </a:r>
            <a:endParaRPr lang="en-US" sz="1250" dirty="0"/>
          </a:p>
        </p:txBody>
      </p:sp>
      <p:sp>
        <p:nvSpPr>
          <p:cNvPr id="10" name="Text 7"/>
          <p:cNvSpPr/>
          <p:nvPr/>
        </p:nvSpPr>
        <p:spPr>
          <a:xfrm>
            <a:off x="3200400" y="1472184"/>
            <a:ext cx="73152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Takeaway</a:t>
            </a:r>
            <a:endParaRPr lang="en-US" sz="1250" dirty="0"/>
          </a:p>
        </p:txBody>
      </p:sp>
      <p:sp>
        <p:nvSpPr>
          <p:cNvPr id="11" name="Shape 8"/>
          <p:cNvSpPr/>
          <p:nvPr/>
        </p:nvSpPr>
        <p:spPr>
          <a:xfrm>
            <a:off x="502920" y="1801368"/>
            <a:ext cx="11201400" cy="621792"/>
          </a:xfrm>
          <a:prstGeom prst="roundRect">
            <a:avLst>
              <a:gd name="adj" fmla="val 11765"/>
            </a:avLst>
          </a:prstGeom>
          <a:solidFill>
            <a:srgbClr val="F6F8FA"/>
          </a:solidFill>
          <a:ln w="12700">
            <a:solidFill>
              <a:srgbClr val="CFD6DD"/>
            </a:solidFill>
            <a:prstDash val="solid"/>
          </a:ln>
        </p:spPr>
      </p:sp>
      <p:sp>
        <p:nvSpPr>
          <p:cNvPr id="12" name="Text 9"/>
          <p:cNvSpPr/>
          <p:nvPr/>
        </p:nvSpPr>
        <p:spPr>
          <a:xfrm>
            <a:off x="731520" y="1874520"/>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Momentum</a:t>
            </a:r>
            <a:endParaRPr lang="en-US" sz="1250" dirty="0"/>
          </a:p>
        </p:txBody>
      </p:sp>
      <p:sp>
        <p:nvSpPr>
          <p:cNvPr id="13" name="Text 10"/>
          <p:cNvSpPr/>
          <p:nvPr/>
        </p:nvSpPr>
        <p:spPr>
          <a:xfrm>
            <a:off x="3200400" y="1874520"/>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86.2% → 49.3% once it's a decider — momentum resets</a:t>
            </a:r>
            <a:endParaRPr lang="en-US" sz="1180" dirty="0"/>
          </a:p>
        </p:txBody>
      </p:sp>
      <p:sp>
        <p:nvSpPr>
          <p:cNvPr id="14" name="Shape 11"/>
          <p:cNvSpPr/>
          <p:nvPr/>
        </p:nvSpPr>
        <p:spPr>
          <a:xfrm>
            <a:off x="502920" y="2423160"/>
            <a:ext cx="11201400" cy="621792"/>
          </a:xfrm>
          <a:prstGeom prst="roundRect">
            <a:avLst>
              <a:gd name="adj" fmla="val 11765"/>
            </a:avLst>
          </a:prstGeom>
          <a:solidFill>
            <a:srgbClr val="F6F8FA"/>
          </a:solidFill>
          <a:ln w="12700">
            <a:solidFill>
              <a:srgbClr val="CFD6DD"/>
            </a:solidFill>
            <a:prstDash val="solid"/>
          </a:ln>
        </p:spPr>
      </p:sp>
      <p:sp>
        <p:nvSpPr>
          <p:cNvPr id="15" name="Text 12"/>
          <p:cNvSpPr/>
          <p:nvPr/>
        </p:nvSpPr>
        <p:spPr>
          <a:xfrm>
            <a:off x="731520" y="2496312"/>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Chemistry</a:t>
            </a:r>
            <a:endParaRPr lang="en-US" sz="1250" dirty="0"/>
          </a:p>
        </p:txBody>
      </p:sp>
      <p:sp>
        <p:nvSpPr>
          <p:cNvPr id="16" name="Text 13"/>
          <p:cNvSpPr/>
          <p:nvPr/>
        </p:nvSpPr>
        <p:spPr>
          <a:xfrm>
            <a:off x="3200400" y="2496312"/>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39.8% → 68.2% by reps together (survivorship caveat)</a:t>
            </a:r>
            <a:endParaRPr lang="en-US" sz="1180" dirty="0"/>
          </a:p>
        </p:txBody>
      </p:sp>
      <p:sp>
        <p:nvSpPr>
          <p:cNvPr id="17" name="Shape 14"/>
          <p:cNvSpPr/>
          <p:nvPr/>
        </p:nvSpPr>
        <p:spPr>
          <a:xfrm>
            <a:off x="502920" y="3044952"/>
            <a:ext cx="11201400" cy="621792"/>
          </a:xfrm>
          <a:prstGeom prst="roundRect">
            <a:avLst>
              <a:gd name="adj" fmla="val 11765"/>
            </a:avLst>
          </a:prstGeom>
          <a:solidFill>
            <a:srgbClr val="F6F8FA"/>
          </a:solidFill>
          <a:ln w="12700">
            <a:solidFill>
              <a:srgbClr val="CFD6DD"/>
            </a:solidFill>
            <a:prstDash val="solid"/>
          </a:ln>
        </p:spPr>
      </p:sp>
      <p:sp>
        <p:nvSpPr>
          <p:cNvPr id="18" name="Text 15"/>
          <p:cNvSpPr/>
          <p:nvPr/>
        </p:nvSpPr>
        <p:spPr>
          <a:xfrm>
            <a:off x="731520" y="3118104"/>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Calibration</a:t>
            </a:r>
            <a:endParaRPr lang="en-US" sz="1250" dirty="0"/>
          </a:p>
        </p:txBody>
      </p:sp>
      <p:sp>
        <p:nvSpPr>
          <p:cNvPr id="19" name="Text 16"/>
          <p:cNvSpPr/>
          <p:nvPr/>
        </p:nvSpPr>
        <p:spPr>
          <a:xfrm>
            <a:off x="3200400" y="3118104"/>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Favorites win 78.5% (AUC 0.883) — predicts, doesn't decide</a:t>
            </a:r>
            <a:endParaRPr lang="en-US" sz="1180" dirty="0"/>
          </a:p>
        </p:txBody>
      </p:sp>
      <p:sp>
        <p:nvSpPr>
          <p:cNvPr id="20" name="Shape 17"/>
          <p:cNvSpPr/>
          <p:nvPr/>
        </p:nvSpPr>
        <p:spPr>
          <a:xfrm>
            <a:off x="502920" y="3666744"/>
            <a:ext cx="11201400" cy="621792"/>
          </a:xfrm>
          <a:prstGeom prst="roundRect">
            <a:avLst>
              <a:gd name="adj" fmla="val 11765"/>
            </a:avLst>
          </a:prstGeom>
          <a:solidFill>
            <a:srgbClr val="F6F8FA"/>
          </a:solidFill>
          <a:ln w="12700">
            <a:solidFill>
              <a:srgbClr val="CFD6DD"/>
            </a:solidFill>
            <a:prstDash val="solid"/>
          </a:ln>
        </p:spPr>
      </p:sp>
      <p:sp>
        <p:nvSpPr>
          <p:cNvPr id="21" name="Text 18"/>
          <p:cNvSpPr/>
          <p:nvPr/>
        </p:nvSpPr>
        <p:spPr>
          <a:xfrm>
            <a:off x="731520" y="3739896"/>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Elo vs. ranking</a:t>
            </a:r>
            <a:endParaRPr lang="en-US" sz="1250" dirty="0"/>
          </a:p>
        </p:txBody>
      </p:sp>
      <p:sp>
        <p:nvSpPr>
          <p:cNvPr id="22" name="Text 19"/>
          <p:cNvSpPr/>
          <p:nvPr/>
        </p:nvSpPr>
        <p:spPr>
          <a:xfrm>
            <a:off x="3200400" y="3739896"/>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Flags specific players the official points under-rate</a:t>
            </a:r>
            <a:endParaRPr lang="en-US" sz="1180" dirty="0"/>
          </a:p>
        </p:txBody>
      </p:sp>
      <p:sp>
        <p:nvSpPr>
          <p:cNvPr id="23" name="Shape 20"/>
          <p:cNvSpPr/>
          <p:nvPr/>
        </p:nvSpPr>
        <p:spPr>
          <a:xfrm>
            <a:off x="502920" y="4288536"/>
            <a:ext cx="11201400" cy="621792"/>
          </a:xfrm>
          <a:prstGeom prst="roundRect">
            <a:avLst>
              <a:gd name="adj" fmla="val 11765"/>
            </a:avLst>
          </a:prstGeom>
          <a:solidFill>
            <a:srgbClr val="F6F8FA"/>
          </a:solidFill>
          <a:ln w="12700">
            <a:solidFill>
              <a:srgbClr val="CFD6DD"/>
            </a:solidFill>
            <a:prstDash val="solid"/>
          </a:ln>
        </p:spPr>
      </p:sp>
      <p:sp>
        <p:nvSpPr>
          <p:cNvPr id="24" name="Text 21"/>
          <p:cNvSpPr/>
          <p:nvPr/>
        </p:nvSpPr>
        <p:spPr>
          <a:xfrm>
            <a:off x="731520" y="4361688"/>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Upsets</a:t>
            </a:r>
            <a:endParaRPr lang="en-US" sz="1250" dirty="0"/>
          </a:p>
        </p:txBody>
      </p:sp>
      <p:sp>
        <p:nvSpPr>
          <p:cNvPr id="25" name="Text 22"/>
          <p:cNvSpPr/>
          <p:nvPr/>
        </p:nvSpPr>
        <p:spPr>
          <a:xfrm>
            <a:off x="3200400" y="4361688"/>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Only 22.4% of seeded matches are upsets</a:t>
            </a:r>
            <a:endParaRPr lang="en-US" sz="1180" dirty="0"/>
          </a:p>
        </p:txBody>
      </p:sp>
      <p:sp>
        <p:nvSpPr>
          <p:cNvPr id="26" name="Shape 23"/>
          <p:cNvSpPr/>
          <p:nvPr/>
        </p:nvSpPr>
        <p:spPr>
          <a:xfrm>
            <a:off x="502920" y="4910328"/>
            <a:ext cx="11201400" cy="621792"/>
          </a:xfrm>
          <a:prstGeom prst="roundRect">
            <a:avLst>
              <a:gd name="adj" fmla="val 11765"/>
            </a:avLst>
          </a:prstGeom>
          <a:solidFill>
            <a:srgbClr val="F6F8FA"/>
          </a:solidFill>
          <a:ln w="12700">
            <a:solidFill>
              <a:srgbClr val="CFD6DD"/>
            </a:solidFill>
            <a:prstDash val="solid"/>
          </a:ln>
        </p:spPr>
      </p:sp>
      <p:sp>
        <p:nvSpPr>
          <p:cNvPr id="27" name="Text 24"/>
          <p:cNvSpPr/>
          <p:nvPr/>
        </p:nvSpPr>
        <p:spPr>
          <a:xfrm>
            <a:off x="731520" y="4983480"/>
            <a:ext cx="2377440" cy="475488"/>
          </a:xfrm>
          <a:prstGeom prst="rect">
            <a:avLst/>
          </a:prstGeom>
          <a:noFill/>
          <a:ln/>
        </p:spPr>
        <p:txBody>
          <a:bodyPr wrap="square" lIns="0" tIns="0" rIns="0" bIns="0" rtlCol="0" anchor="ctr"/>
          <a:lstStyle/>
          <a:p>
            <a:pPr indent="0" marL="0">
              <a:buNone/>
            </a:pPr>
            <a:r>
              <a:rPr lang="en-US" sz="1250" b="1" dirty="0">
                <a:solidFill>
                  <a:srgbClr val="0369A1"/>
                </a:solidFill>
                <a:latin typeface="Calibri" pitchFamily="34" charset="0"/>
                <a:ea typeface="Calibri" pitchFamily="34" charset="-122"/>
                <a:cs typeface="Calibri" pitchFamily="34" charset="-120"/>
              </a:rPr>
              <a:t>Efficiency</a:t>
            </a:r>
            <a:endParaRPr lang="en-US" sz="1250" dirty="0"/>
          </a:p>
        </p:txBody>
      </p:sp>
      <p:sp>
        <p:nvSpPr>
          <p:cNvPr id="28" name="Text 25"/>
          <p:cNvSpPr/>
          <p:nvPr/>
        </p:nvSpPr>
        <p:spPr>
          <a:xfrm>
            <a:off x="3200400" y="4983480"/>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Fewer games last round → 59.7% win rate next match</a:t>
            </a:r>
            <a:endParaRPr lang="en-US" sz="1180" dirty="0"/>
          </a:p>
        </p:txBody>
      </p:sp>
      <p:sp>
        <p:nvSpPr>
          <p:cNvPr id="29" name="Shape 26"/>
          <p:cNvSpPr/>
          <p:nvPr/>
        </p:nvSpPr>
        <p:spPr>
          <a:xfrm>
            <a:off x="502920" y="5532120"/>
            <a:ext cx="11201400" cy="621792"/>
          </a:xfrm>
          <a:prstGeom prst="roundRect">
            <a:avLst>
              <a:gd name="adj" fmla="val 11765"/>
            </a:avLst>
          </a:prstGeom>
          <a:solidFill>
            <a:srgbClr val="EDEFF2"/>
          </a:solidFill>
          <a:ln w="12700">
            <a:solidFill>
              <a:srgbClr val="CFD6DD"/>
            </a:solidFill>
            <a:prstDash val="solid"/>
          </a:ln>
        </p:spPr>
      </p:sp>
      <p:sp>
        <p:nvSpPr>
          <p:cNvPr id="30" name="Text 27"/>
          <p:cNvSpPr/>
          <p:nvPr/>
        </p:nvSpPr>
        <p:spPr>
          <a:xfrm>
            <a:off x="731520" y="5605272"/>
            <a:ext cx="2377440" cy="475488"/>
          </a:xfrm>
          <a:prstGeom prst="rect">
            <a:avLst/>
          </a:prstGeom>
          <a:noFill/>
          <a:ln/>
        </p:spPr>
        <p:txBody>
          <a:bodyPr wrap="square" lIns="0" tIns="0" rIns="0" bIns="0" rtlCol="0" anchor="ctr"/>
          <a:lstStyle/>
          <a:p>
            <a:pPr indent="0" marL="0">
              <a:buNone/>
            </a:pPr>
            <a:r>
              <a:rPr lang="en-US" sz="1250" b="1" dirty="0">
                <a:solidFill>
                  <a:srgbClr val="6B7280"/>
                </a:solidFill>
                <a:latin typeface="Calibri" pitchFamily="34" charset="0"/>
                <a:ea typeface="Calibri" pitchFamily="34" charset="-122"/>
                <a:cs typeface="Calibri" pitchFamily="34" charset="-120"/>
              </a:rPr>
              <a:t>Home advantage</a:t>
            </a:r>
            <a:endParaRPr lang="en-US" sz="1250" dirty="0"/>
          </a:p>
        </p:txBody>
      </p:sp>
      <p:sp>
        <p:nvSpPr>
          <p:cNvPr id="31" name="Text 28"/>
          <p:cNvSpPr/>
          <p:nvPr/>
        </p:nvSpPr>
        <p:spPr>
          <a:xfrm>
            <a:off x="3200400" y="5605272"/>
            <a:ext cx="6858000" cy="475488"/>
          </a:xfrm>
          <a:prstGeom prst="rect">
            <a:avLst/>
          </a:prstGeom>
          <a:noFill/>
          <a:ln/>
        </p:spPr>
        <p:txBody>
          <a:bodyPr wrap="square" lIns="0" tIns="0" rIns="0" bIns="0" rtlCol="0" anchor="ctr"/>
          <a:lstStyle/>
          <a:p>
            <a:pPr indent="0" marL="0">
              <a:buNone/>
            </a:pPr>
            <a:r>
              <a:rPr lang="en-US" sz="1180" dirty="0">
                <a:solidFill>
                  <a:srgbClr val="1F2937"/>
                </a:solidFill>
                <a:latin typeface="Calibri" pitchFamily="34" charset="0"/>
                <a:ea typeface="Calibri" pitchFamily="34" charset="-122"/>
                <a:cs typeface="Calibri" pitchFamily="34" charset="-120"/>
              </a:rPr>
              <a:t>43% win rate at home, n=109, p=0.18 — a genuine null</a:t>
            </a:r>
            <a:endParaRPr lang="en-US" sz="1180" dirty="0"/>
          </a:p>
        </p:txBody>
      </p:sp>
      <p:sp>
        <p:nvSpPr>
          <p:cNvPr id="32" name="Shape 29"/>
          <p:cNvSpPr/>
          <p:nvPr/>
        </p:nvSpPr>
        <p:spPr>
          <a:xfrm>
            <a:off x="10195560" y="5696712"/>
            <a:ext cx="1417320" cy="292608"/>
          </a:xfrm>
          <a:prstGeom prst="roundRect">
            <a:avLst>
              <a:gd name="adj" fmla="val 50000"/>
            </a:avLst>
          </a:prstGeom>
          <a:solidFill>
            <a:srgbClr val="E5E7EB"/>
          </a:solidFill>
          <a:ln/>
        </p:spPr>
      </p:sp>
      <p:sp>
        <p:nvSpPr>
          <p:cNvPr id="33" name="Text 30"/>
          <p:cNvSpPr/>
          <p:nvPr/>
        </p:nvSpPr>
        <p:spPr>
          <a:xfrm>
            <a:off x="10195560" y="5696712"/>
            <a:ext cx="1417320" cy="292608"/>
          </a:xfrm>
          <a:prstGeom prst="rect">
            <a:avLst/>
          </a:prstGeom>
          <a:noFill/>
          <a:ln/>
        </p:spPr>
        <p:txBody>
          <a:bodyPr wrap="square" lIns="0" tIns="0" rIns="0" bIns="0" rtlCol="0" anchor="ctr"/>
          <a:lstStyle/>
          <a:p>
            <a:pPr algn="ctr" indent="0" marL="0">
              <a:buNone/>
            </a:pPr>
            <a:r>
              <a:rPr lang="en-US" sz="1050" b="1" dirty="0">
                <a:solidFill>
                  <a:srgbClr val="6B7280"/>
                </a:solidFill>
                <a:latin typeface="Calibri" pitchFamily="34" charset="0"/>
                <a:ea typeface="Calibri" pitchFamily="34" charset="-122"/>
                <a:cs typeface="Calibri" pitchFamily="34" charset="-120"/>
              </a:rPr>
              <a:t>HONEST NULL</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§6.3 LIMITATIONS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Stated honestly, not buried in an appendix</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§6 Demo &amp; Conclusions — slide 30/32</a:t>
            </a:r>
            <a:endParaRPr lang="en-US" sz="900" dirty="0"/>
          </a:p>
        </p:txBody>
      </p:sp>
      <p:sp>
        <p:nvSpPr>
          <p:cNvPr id="8" name="Shape 5"/>
          <p:cNvSpPr/>
          <p:nvPr/>
        </p:nvSpPr>
        <p:spPr>
          <a:xfrm>
            <a:off x="502920" y="1417320"/>
            <a:ext cx="54406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04088" y="1618488"/>
            <a:ext cx="310896" cy="310896"/>
          </a:xfrm>
          <a:prstGeom prst="ellipse">
            <a:avLst/>
          </a:prstGeom>
          <a:solidFill>
            <a:srgbClr val="6B7280"/>
          </a:solidFill>
          <a:ln/>
        </p:spPr>
      </p:sp>
      <p:sp>
        <p:nvSpPr>
          <p:cNvPr id="10" name="Text 7"/>
          <p:cNvSpPr/>
          <p:nvPr/>
        </p:nvSpPr>
        <p:spPr>
          <a:xfrm>
            <a:off x="704088" y="16184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8"/>
          <p:cNvSpPr/>
          <p:nvPr/>
        </p:nvSpPr>
        <p:spPr>
          <a:xfrm>
            <a:off x="1143000" y="1600200"/>
            <a:ext cx="457200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Single-season, free-tier window</a:t>
            </a:r>
            <a:endParaRPr lang="en-US" sz="1350" dirty="0"/>
          </a:p>
        </p:txBody>
      </p:sp>
      <p:sp>
        <p:nvSpPr>
          <p:cNvPr id="12" name="Text 9"/>
          <p:cNvSpPr/>
          <p:nvPr/>
        </p:nvSpPr>
        <p:spPr>
          <a:xfrm>
            <a:off x="704088" y="2103120"/>
            <a:ext cx="5029200" cy="1463040"/>
          </a:xfrm>
          <a:prstGeom prst="rect">
            <a:avLst/>
          </a:prstGeom>
          <a:noFill/>
          <a:ln/>
        </p:spPr>
        <p:txBody>
          <a:bodyPr wrap="square" lIns="0" tIns="0" rIns="0" bIns="0" rtlCol="0" anchor="t"/>
          <a:lstStyle/>
          <a:p>
            <a:pPr indent="0" marL="0">
              <a:lnSpc>
                <a:spcPct val="115000"/>
              </a:lnSpc>
              <a:buNone/>
            </a:pPr>
            <a:r>
              <a:rPr lang="en-US" sz="1180" dirty="0">
                <a:solidFill>
                  <a:srgbClr val="6B7280"/>
                </a:solidFill>
                <a:latin typeface="Calibri" pitchFamily="34" charset="0"/>
                <a:ea typeface="Calibri" pitchFamily="34" charset="-122"/>
                <a:cs typeface="Calibri" pitchFamily="34" charset="-120"/>
              </a:rPr>
              <a:t>2026 season only; rolling ~6-month API window; no multi-year comparison possible.</a:t>
            </a:r>
            <a:endParaRPr lang="en-US" sz="1180" dirty="0"/>
          </a:p>
        </p:txBody>
      </p:sp>
      <p:sp>
        <p:nvSpPr>
          <p:cNvPr id="13" name="Shape 10"/>
          <p:cNvSpPr/>
          <p:nvPr/>
        </p:nvSpPr>
        <p:spPr>
          <a:xfrm>
            <a:off x="6172200" y="1417320"/>
            <a:ext cx="54406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6373368" y="1618488"/>
            <a:ext cx="310896" cy="310896"/>
          </a:xfrm>
          <a:prstGeom prst="ellipse">
            <a:avLst/>
          </a:prstGeom>
          <a:solidFill>
            <a:srgbClr val="6B7280"/>
          </a:solidFill>
          <a:ln/>
        </p:spPr>
      </p:sp>
      <p:sp>
        <p:nvSpPr>
          <p:cNvPr id="15" name="Text 12"/>
          <p:cNvSpPr/>
          <p:nvPr/>
        </p:nvSpPr>
        <p:spPr>
          <a:xfrm>
            <a:off x="6373368" y="16184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3"/>
          <p:cNvSpPr/>
          <p:nvPr/>
        </p:nvSpPr>
        <p:spPr>
          <a:xfrm>
            <a:off x="6812280" y="1600200"/>
            <a:ext cx="457200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Ranking-points snapshot caveat</a:t>
            </a:r>
            <a:endParaRPr lang="en-US" sz="1350" dirty="0"/>
          </a:p>
        </p:txBody>
      </p:sp>
      <p:sp>
        <p:nvSpPr>
          <p:cNvPr id="17" name="Text 14"/>
          <p:cNvSpPr/>
          <p:nvPr/>
        </p:nvSpPr>
        <p:spPr>
          <a:xfrm>
            <a:off x="6373368" y="2103120"/>
            <a:ext cx="5029200" cy="1463040"/>
          </a:xfrm>
          <a:prstGeom prst="rect">
            <a:avLst/>
          </a:prstGeom>
          <a:noFill/>
          <a:ln/>
        </p:spPr>
        <p:txBody>
          <a:bodyPr wrap="square" lIns="0" tIns="0" rIns="0" bIns="0" rtlCol="0" anchor="t"/>
          <a:lstStyle/>
          <a:p>
            <a:pPr indent="0" marL="0">
              <a:lnSpc>
                <a:spcPct val="115000"/>
              </a:lnSpc>
              <a:buNone/>
            </a:pPr>
            <a:r>
              <a:rPr lang="en-US" sz="1180" dirty="0">
                <a:solidFill>
                  <a:srgbClr val="6B7280"/>
                </a:solidFill>
                <a:latin typeface="Calibri" pitchFamily="34" charset="0"/>
                <a:ea typeface="Calibri" pitchFamily="34" charset="-122"/>
                <a:cs typeface="Calibri" pitchFamily="34" charset="-120"/>
              </a:rPr>
              <a:t>78.5% favorite-win-rate and 0.883 AUC use current points, not match-date points — an optimistic upper bound, carried into the §4 calibration case study.</a:t>
            </a:r>
            <a:endParaRPr lang="en-US" sz="1180" dirty="0"/>
          </a:p>
        </p:txBody>
      </p:sp>
      <p:sp>
        <p:nvSpPr>
          <p:cNvPr id="18" name="Shape 15"/>
          <p:cNvSpPr/>
          <p:nvPr/>
        </p:nvSpPr>
        <p:spPr>
          <a:xfrm>
            <a:off x="502920" y="3931920"/>
            <a:ext cx="54406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704088" y="4133088"/>
            <a:ext cx="310896" cy="310896"/>
          </a:xfrm>
          <a:prstGeom prst="ellipse">
            <a:avLst/>
          </a:prstGeom>
          <a:solidFill>
            <a:srgbClr val="6B7280"/>
          </a:solidFill>
          <a:ln/>
        </p:spPr>
      </p:sp>
      <p:sp>
        <p:nvSpPr>
          <p:cNvPr id="20" name="Text 17"/>
          <p:cNvSpPr/>
          <p:nvPr/>
        </p:nvSpPr>
        <p:spPr>
          <a:xfrm>
            <a:off x="704088" y="4133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1143000" y="4114800"/>
            <a:ext cx="457200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No court surface</a:t>
            </a:r>
            <a:endParaRPr lang="en-US" sz="1350" dirty="0"/>
          </a:p>
        </p:txBody>
      </p:sp>
      <p:sp>
        <p:nvSpPr>
          <p:cNvPr id="22" name="Text 19"/>
          <p:cNvSpPr/>
          <p:nvPr/>
        </p:nvSpPr>
        <p:spPr>
          <a:xfrm>
            <a:off x="704088" y="4617720"/>
            <a:ext cx="5029200" cy="1463040"/>
          </a:xfrm>
          <a:prstGeom prst="rect">
            <a:avLst/>
          </a:prstGeom>
          <a:noFill/>
          <a:ln/>
        </p:spPr>
        <p:txBody>
          <a:bodyPr wrap="square" lIns="0" tIns="0" rIns="0" bIns="0" rtlCol="0" anchor="t"/>
          <a:lstStyle/>
          <a:p>
            <a:pPr indent="0" marL="0">
              <a:lnSpc>
                <a:spcPct val="115000"/>
              </a:lnSpc>
              <a:buNone/>
            </a:pPr>
            <a:r>
              <a:rPr lang="en-US" sz="1180" dirty="0">
                <a:solidFill>
                  <a:srgbClr val="6B7280"/>
                </a:solidFill>
                <a:latin typeface="Calibri" pitchFamily="34" charset="0"/>
                <a:ea typeface="Calibri" pitchFamily="34" charset="-122"/>
                <a:cs typeface="Calibri" pitchFamily="34" charset="-120"/>
              </a:rPr>
              <a:t>court_type is empty on this API tier — indoor/outdoor analysis (present in the synthetic v1 data) is dropped, not guessed.</a:t>
            </a:r>
            <a:endParaRPr lang="en-US" sz="1180" dirty="0"/>
          </a:p>
        </p:txBody>
      </p:sp>
      <p:sp>
        <p:nvSpPr>
          <p:cNvPr id="23" name="Shape 20"/>
          <p:cNvSpPr/>
          <p:nvPr/>
        </p:nvSpPr>
        <p:spPr>
          <a:xfrm>
            <a:off x="6172200" y="3931920"/>
            <a:ext cx="5440680" cy="2331720"/>
          </a:xfrm>
          <a:prstGeom prst="roundRect">
            <a:avLst>
              <a:gd name="adj" fmla="val 3137"/>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4" name="Shape 21"/>
          <p:cNvSpPr/>
          <p:nvPr/>
        </p:nvSpPr>
        <p:spPr>
          <a:xfrm>
            <a:off x="6373368" y="4133088"/>
            <a:ext cx="310896" cy="310896"/>
          </a:xfrm>
          <a:prstGeom prst="ellipse">
            <a:avLst/>
          </a:prstGeom>
          <a:solidFill>
            <a:srgbClr val="6B7280"/>
          </a:solidFill>
          <a:ln/>
        </p:spPr>
      </p:sp>
      <p:sp>
        <p:nvSpPr>
          <p:cNvPr id="25" name="Text 22"/>
          <p:cNvSpPr/>
          <p:nvPr/>
        </p:nvSpPr>
        <p:spPr>
          <a:xfrm>
            <a:off x="6373368" y="4133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3"/>
          <p:cNvSpPr/>
          <p:nvPr/>
        </p:nvSpPr>
        <p:spPr>
          <a:xfrm>
            <a:off x="6812280" y="4114800"/>
            <a:ext cx="4572000" cy="36576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Validation in progress</a:t>
            </a:r>
            <a:endParaRPr lang="en-US" sz="1350" dirty="0"/>
          </a:p>
        </p:txBody>
      </p:sp>
      <p:sp>
        <p:nvSpPr>
          <p:cNvPr id="27" name="Text 24"/>
          <p:cNvSpPr/>
          <p:nvPr/>
        </p:nvSpPr>
        <p:spPr>
          <a:xfrm>
            <a:off x="6373368" y="4617720"/>
            <a:ext cx="5029200" cy="1463040"/>
          </a:xfrm>
          <a:prstGeom prst="rect">
            <a:avLst/>
          </a:prstGeom>
          <a:noFill/>
          <a:ln/>
        </p:spPr>
        <p:txBody>
          <a:bodyPr wrap="square" lIns="0" tIns="0" rIns="0" bIns="0" rtlCol="0" anchor="t"/>
          <a:lstStyle/>
          <a:p>
            <a:pPr indent="0" marL="0">
              <a:lnSpc>
                <a:spcPct val="115000"/>
              </a:lnSpc>
              <a:buNone/>
            </a:pPr>
            <a:r>
              <a:rPr lang="en-US" sz="1180" dirty="0">
                <a:solidFill>
                  <a:srgbClr val="6B7280"/>
                </a:solidFill>
                <a:latin typeface="Calibri" pitchFamily="34" charset="0"/>
                <a:ea typeface="Calibri" pitchFamily="34" charset="-122"/>
                <a:cs typeface="Calibri" pitchFamily="34" charset="-120"/>
              </a:rPr>
              <a:t>Instruments (survey, interview, SUS, testing protocol, heuristic round 2) are built and ready; sessions with real club players + external evaluators are scheduled, not yet run — no SUS score or findings table exists yet.</a:t>
            </a:r>
            <a:endParaRPr lang="en-US" sz="11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84280" y="384048"/>
            <a:ext cx="457200" cy="457200"/>
          </a:xfrm>
          <a:prstGeom prst="ellipse">
            <a:avLst/>
          </a:prstGeom>
          <a:solidFill>
            <a:srgbClr val="0EA5E9"/>
          </a:solidFill>
          <a:ln/>
        </p:spPr>
      </p:sp>
      <p:sp>
        <p:nvSpPr>
          <p:cNvPr id="3" name="Text 1"/>
          <p:cNvSpPr/>
          <p:nvPr/>
        </p:nvSpPr>
        <p:spPr>
          <a:xfrm>
            <a:off x="1138428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 name="Text 2"/>
          <p:cNvSpPr/>
          <p:nvPr/>
        </p:nvSpPr>
        <p:spPr>
          <a:xfrm>
            <a:off x="502920" y="310896"/>
            <a:ext cx="10515600" cy="274320"/>
          </a:xfrm>
          <a:prstGeom prst="rect">
            <a:avLst/>
          </a:prstGeom>
          <a:noFill/>
          <a:ln/>
        </p:spPr>
        <p:txBody>
          <a:bodyPr wrap="square" lIns="0" tIns="0" rIns="0" bIns="0" rtlCol="0" anchor="ctr"/>
          <a:lstStyle/>
          <a:p>
            <a:pPr algn="l" indent="0" marL="0">
              <a:buNone/>
            </a:pPr>
            <a:r>
              <a:rPr lang="en-US" sz="1250" b="1" spc="100" kern="0" dirty="0">
                <a:solidFill>
                  <a:srgbClr val="0EA5E9"/>
                </a:solidFill>
                <a:latin typeface="Calibri" pitchFamily="34" charset="0"/>
                <a:ea typeface="Calibri" pitchFamily="34" charset="-122"/>
                <a:cs typeface="Calibri" pitchFamily="34" charset="-120"/>
              </a:rPr>
              <a:t>§6.4 FUTURE DEVELOPMENTS</a:t>
            </a:r>
            <a:endParaRPr lang="en-US" sz="1250" dirty="0"/>
          </a:p>
        </p:txBody>
      </p:sp>
      <p:sp>
        <p:nvSpPr>
          <p:cNvPr id="5" name="Text 3"/>
          <p:cNvSpPr/>
          <p:nvPr/>
        </p:nvSpPr>
        <p:spPr>
          <a:xfrm>
            <a:off x="502920" y="566928"/>
            <a:ext cx="10607040" cy="658368"/>
          </a:xfrm>
          <a:prstGeom prst="rect">
            <a:avLst/>
          </a:prstGeom>
          <a:noFill/>
          <a:ln/>
        </p:spPr>
        <p:txBody>
          <a:bodyPr wrap="square" lIns="0" tIns="0" rIns="0" bIns="0" rtlCol="0" anchor="t"/>
          <a:lstStyle/>
          <a:p>
            <a:pPr algn="l" indent="0" marL="0">
              <a:buNone/>
            </a:pPr>
            <a:r>
              <a:rPr lang="en-US" sz="3000" b="1" dirty="0">
                <a:solidFill>
                  <a:srgbClr val="1F2937"/>
                </a:solidFill>
                <a:latin typeface="Cambria" pitchFamily="34" charset="0"/>
                <a:ea typeface="Cambria" pitchFamily="34" charset="-122"/>
                <a:cs typeface="Cambria" pitchFamily="34" charset="-120"/>
              </a:rPr>
              <a:t>What comes after the exam</a:t>
            </a:r>
            <a:endParaRPr lang="en-US" sz="3000" dirty="0"/>
          </a:p>
        </p:txBody>
      </p:sp>
      <p:sp>
        <p:nvSpPr>
          <p:cNvPr id="6" name="Text 4"/>
          <p:cNvSpPr/>
          <p:nvPr/>
        </p:nvSpPr>
        <p:spPr>
          <a:xfrm>
            <a:off x="457200" y="6547104"/>
            <a:ext cx="11274552" cy="256032"/>
          </a:xfrm>
          <a:prstGeom prst="rect">
            <a:avLst/>
          </a:prstGeom>
          <a:noFill/>
          <a:ln/>
        </p:spPr>
        <p:txBody>
          <a:bodyPr wrap="square" lIns="0" tIns="0" rIns="0" bIns="0" rtlCol="0" anchor="ctr"/>
          <a:lstStyle/>
          <a:p>
            <a:pPr algn="l" indent="0" marL="0">
              <a:buNone/>
            </a:pPr>
            <a:r>
              <a:rPr lang="en-US" sz="900" dirty="0">
                <a:solidFill>
                  <a:srgbClr val="9AA3AD"/>
                </a:solidFill>
                <a:latin typeface="Calibri" pitchFamily="34" charset="0"/>
                <a:ea typeface="Calibri" pitchFamily="34" charset="-122"/>
                <a:cs typeface="Calibri" pitchFamily="34" charset="-120"/>
              </a:rPr>
              <a:t>PadelLens — DV4S 2025/26 — §6 Demo &amp; Conclusions — slide 31/32</a:t>
            </a:r>
            <a:endParaRPr lang="en-US" sz="900" dirty="0"/>
          </a:p>
        </p:txBody>
      </p:sp>
      <p:sp>
        <p:nvSpPr>
          <p:cNvPr id="8" name="Shape 5"/>
          <p:cNvSpPr/>
          <p:nvPr/>
        </p:nvSpPr>
        <p:spPr>
          <a:xfrm>
            <a:off x="502920" y="1463040"/>
            <a:ext cx="5440680" cy="2286000"/>
          </a:xfrm>
          <a:prstGeom prst="roundRect">
            <a:avLst>
              <a:gd name="adj" fmla="val 32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9" name="Shape 6"/>
          <p:cNvSpPr/>
          <p:nvPr/>
        </p:nvSpPr>
        <p:spPr>
          <a:xfrm>
            <a:off x="731520" y="1691640"/>
            <a:ext cx="411480" cy="411480"/>
          </a:xfrm>
          <a:prstGeom prst="ellipse">
            <a:avLst/>
          </a:prstGeom>
          <a:solidFill>
            <a:srgbClr val="0EA5E9"/>
          </a:solidFill>
          <a:ln/>
        </p:spPr>
      </p:sp>
      <p:sp>
        <p:nvSpPr>
          <p:cNvPr id="10" name="Text 7"/>
          <p:cNvSpPr/>
          <p:nvPr/>
        </p:nvSpPr>
        <p:spPr>
          <a:xfrm>
            <a:off x="731520" y="1691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p:nvPr/>
        </p:nvSpPr>
        <p:spPr>
          <a:xfrm>
            <a:off x="1280160" y="1719072"/>
            <a:ext cx="4434840" cy="36576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Close the validation loop</a:t>
            </a:r>
            <a:endParaRPr lang="en-US" sz="1450" dirty="0"/>
          </a:p>
        </p:txBody>
      </p:sp>
      <p:sp>
        <p:nvSpPr>
          <p:cNvPr id="12" name="Text 9"/>
          <p:cNvSpPr/>
          <p:nvPr/>
        </p:nvSpPr>
        <p:spPr>
          <a:xfrm>
            <a:off x="758952" y="2331720"/>
            <a:ext cx="4937760" cy="1234440"/>
          </a:xfrm>
          <a:prstGeom prst="rect">
            <a:avLst/>
          </a:prstGeom>
          <a:noFill/>
          <a:ln/>
        </p:spPr>
        <p:txBody>
          <a:bodyPr wrap="square" lIns="0" tIns="0" rIns="0" bIns="0" rtlCol="0" anchor="t"/>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Run the scheduled sessions, compile the SUS score and heuristic round-2 findings, feed changes back into the app before the defense.</a:t>
            </a:r>
            <a:endParaRPr lang="en-US" sz="1200" dirty="0"/>
          </a:p>
        </p:txBody>
      </p:sp>
      <p:sp>
        <p:nvSpPr>
          <p:cNvPr id="13" name="Shape 10"/>
          <p:cNvSpPr/>
          <p:nvPr/>
        </p:nvSpPr>
        <p:spPr>
          <a:xfrm>
            <a:off x="6172200" y="1463040"/>
            <a:ext cx="5440680" cy="2286000"/>
          </a:xfrm>
          <a:prstGeom prst="roundRect">
            <a:avLst>
              <a:gd name="adj" fmla="val 32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4" name="Shape 11"/>
          <p:cNvSpPr/>
          <p:nvPr/>
        </p:nvSpPr>
        <p:spPr>
          <a:xfrm>
            <a:off x="6400800" y="1691640"/>
            <a:ext cx="411480" cy="411480"/>
          </a:xfrm>
          <a:prstGeom prst="ellipse">
            <a:avLst/>
          </a:prstGeom>
          <a:solidFill>
            <a:srgbClr val="0EA5E9"/>
          </a:solidFill>
          <a:ln/>
        </p:spPr>
      </p:sp>
      <p:sp>
        <p:nvSpPr>
          <p:cNvPr id="15" name="Text 12"/>
          <p:cNvSpPr/>
          <p:nvPr/>
        </p:nvSpPr>
        <p:spPr>
          <a:xfrm>
            <a:off x="6400800" y="1691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p:nvPr/>
        </p:nvSpPr>
        <p:spPr>
          <a:xfrm>
            <a:off x="6949440" y="1719072"/>
            <a:ext cx="4434840" cy="36576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Real multi-user auth</a:t>
            </a:r>
            <a:endParaRPr lang="en-US" sz="1450" dirty="0"/>
          </a:p>
        </p:txBody>
      </p:sp>
      <p:sp>
        <p:nvSpPr>
          <p:cNvPr id="17" name="Text 14"/>
          <p:cNvSpPr/>
          <p:nvPr/>
        </p:nvSpPr>
        <p:spPr>
          <a:xfrm>
            <a:off x="6428232" y="2331720"/>
            <a:ext cx="4937760" cy="1234440"/>
          </a:xfrm>
          <a:prstGeom prst="rect">
            <a:avLst/>
          </a:prstGeom>
          <a:noFill/>
          <a:ln/>
        </p:spPr>
        <p:txBody>
          <a:bodyPr wrap="square" lIns="0" tIns="0" rIns="0" bIns="0" rtlCol="0" anchor="t"/>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Add authentication and a hosted Postgres instance so more than one player can genuinely use PadelLens.</a:t>
            </a:r>
            <a:endParaRPr lang="en-US" sz="1200" dirty="0"/>
          </a:p>
        </p:txBody>
      </p:sp>
      <p:sp>
        <p:nvSpPr>
          <p:cNvPr id="18" name="Shape 15"/>
          <p:cNvSpPr/>
          <p:nvPr/>
        </p:nvSpPr>
        <p:spPr>
          <a:xfrm>
            <a:off x="502920" y="3931920"/>
            <a:ext cx="5440680" cy="2286000"/>
          </a:xfrm>
          <a:prstGeom prst="roundRect">
            <a:avLst>
              <a:gd name="adj" fmla="val 32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19" name="Shape 16"/>
          <p:cNvSpPr/>
          <p:nvPr/>
        </p:nvSpPr>
        <p:spPr>
          <a:xfrm>
            <a:off x="731520" y="4160520"/>
            <a:ext cx="411480" cy="411480"/>
          </a:xfrm>
          <a:prstGeom prst="ellipse">
            <a:avLst/>
          </a:prstGeom>
          <a:solidFill>
            <a:srgbClr val="0EA5E9"/>
          </a:solidFill>
          <a:ln/>
        </p:spPr>
      </p:sp>
      <p:sp>
        <p:nvSpPr>
          <p:cNvPr id="20" name="Text 17"/>
          <p:cNvSpPr/>
          <p:nvPr/>
        </p:nvSpPr>
        <p:spPr>
          <a:xfrm>
            <a:off x="731520" y="4160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p:nvPr/>
        </p:nvSpPr>
        <p:spPr>
          <a:xfrm>
            <a:off x="1280160" y="4187952"/>
            <a:ext cx="4434840" cy="36576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Point-in-time rankings</a:t>
            </a:r>
            <a:endParaRPr lang="en-US" sz="1450" dirty="0"/>
          </a:p>
        </p:txBody>
      </p:sp>
      <p:sp>
        <p:nvSpPr>
          <p:cNvPr id="22" name="Text 19"/>
          <p:cNvSpPr/>
          <p:nvPr/>
        </p:nvSpPr>
        <p:spPr>
          <a:xfrm>
            <a:off x="758952" y="4800600"/>
            <a:ext cx="4937760" cy="1234440"/>
          </a:xfrm>
          <a:prstGeom prst="rect">
            <a:avLst/>
          </a:prstGeom>
          <a:noFill/>
          <a:ln/>
        </p:spPr>
        <p:txBody>
          <a:bodyPr wrap="square" lIns="0" tIns="0" rIns="0" bIns="0" rtlCol="0" anchor="t"/>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A historical ranking endpoint (paid API tier) would let the calibration analysis drop the look-ahead-bias caveat entirely.</a:t>
            </a:r>
            <a:endParaRPr lang="en-US" sz="1200" dirty="0"/>
          </a:p>
        </p:txBody>
      </p:sp>
      <p:sp>
        <p:nvSpPr>
          <p:cNvPr id="23" name="Shape 20"/>
          <p:cNvSpPr/>
          <p:nvPr/>
        </p:nvSpPr>
        <p:spPr>
          <a:xfrm>
            <a:off x="6172200" y="3931920"/>
            <a:ext cx="5440680" cy="2286000"/>
          </a:xfrm>
          <a:prstGeom prst="roundRect">
            <a:avLst>
              <a:gd name="adj" fmla="val 3200"/>
            </a:avLst>
          </a:prstGeom>
          <a:solidFill>
            <a:srgbClr val="F6F8FA"/>
          </a:solidFill>
          <a:ln w="12700">
            <a:solidFill>
              <a:srgbClr val="CFD6DD"/>
            </a:solidFill>
            <a:prstDash val="solid"/>
          </a:ln>
          <a:effectLst>
            <a:outerShdw sx="100000" sy="100000" kx="0" ky="0" algn="bl" rotWithShape="0" blurRad="76200" dist="25400" dir="5400000">
              <a:srgbClr val="9AA3AD">
                <a:alpha val="18000"/>
              </a:srgbClr>
            </a:outerShdw>
          </a:effectLst>
        </p:spPr>
      </p:sp>
      <p:sp>
        <p:nvSpPr>
          <p:cNvPr id="24" name="Shape 21"/>
          <p:cNvSpPr/>
          <p:nvPr/>
        </p:nvSpPr>
        <p:spPr>
          <a:xfrm>
            <a:off x="6400800" y="4160520"/>
            <a:ext cx="411480" cy="411480"/>
          </a:xfrm>
          <a:prstGeom prst="ellipse">
            <a:avLst/>
          </a:prstGeom>
          <a:solidFill>
            <a:srgbClr val="0EA5E9"/>
          </a:solidFill>
          <a:ln/>
        </p:spPr>
      </p:sp>
      <p:sp>
        <p:nvSpPr>
          <p:cNvPr id="25" name="Text 22"/>
          <p:cNvSpPr/>
          <p:nvPr/>
        </p:nvSpPr>
        <p:spPr>
          <a:xfrm>
            <a:off x="6400800" y="4160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p:nvPr/>
        </p:nvSpPr>
        <p:spPr>
          <a:xfrm>
            <a:off x="6949440" y="4187952"/>
            <a:ext cx="4434840" cy="36576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Richer shot tagging</a:t>
            </a:r>
            <a:endParaRPr lang="en-US" sz="1450" dirty="0"/>
          </a:p>
        </p:txBody>
      </p:sp>
      <p:sp>
        <p:nvSpPr>
          <p:cNvPr id="27" name="Text 24"/>
          <p:cNvSpPr/>
          <p:nvPr/>
        </p:nvSpPr>
        <p:spPr>
          <a:xfrm>
            <a:off x="6428232" y="4800600"/>
            <a:ext cx="4937760" cy="1234440"/>
          </a:xfrm>
          <a:prstGeom prst="rect">
            <a:avLst/>
          </a:prstGeom>
          <a:noFill/>
          <a:ln/>
        </p:spPr>
        <p:txBody>
          <a:bodyPr wrap="square" lIns="0" tIns="0" rIns="0" bIns="0" rtlCol="0" anchor="t"/>
          <a:lstStyle/>
          <a:p>
            <a:pPr indent="0" marL="0">
              <a:lnSpc>
                <a:spcPct val="115000"/>
              </a:lnSpc>
              <a:buNone/>
            </a:pPr>
            <a:r>
              <a:rPr lang="en-US" sz="1200" dirty="0">
                <a:solidFill>
                  <a:srgbClr val="6B7280"/>
                </a:solidFill>
                <a:latin typeface="Calibri" pitchFamily="34" charset="0"/>
                <a:ea typeface="Calibri" pitchFamily="34" charset="-122"/>
                <a:cs typeface="Calibri" pitchFamily="34" charset="-120"/>
              </a:rPr>
              <a:t>Shot-by-shot tagging within a rally, once the 90-second logging habit is established — sufficiency was a v1 trade-off, not a ceiling.</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0369A1"/>
          </a:solidFill>
          <a:ln/>
        </p:spPr>
      </p:sp>
      <p:sp>
        <p:nvSpPr>
          <p:cNvPr id="3" name="Shape 1"/>
          <p:cNvSpPr/>
          <p:nvPr/>
        </p:nvSpPr>
        <p:spPr>
          <a:xfrm>
            <a:off x="9966960" y="4206240"/>
            <a:ext cx="4206240" cy="4206240"/>
          </a:xfrm>
          <a:prstGeom prst="ellipse">
            <a:avLst/>
          </a:prstGeom>
          <a:solidFill>
            <a:srgbClr val="111827"/>
          </a:solidFill>
          <a:ln/>
        </p:spPr>
      </p:sp>
      <p:sp>
        <p:nvSpPr>
          <p:cNvPr id="4" name="Text 2"/>
          <p:cNvSpPr/>
          <p:nvPr/>
        </p:nvSpPr>
        <p:spPr>
          <a:xfrm>
            <a:off x="640080" y="2148840"/>
            <a:ext cx="1088136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658368" y="3246120"/>
            <a:ext cx="9601200" cy="640080"/>
          </a:xfrm>
          <a:prstGeom prst="rect">
            <a:avLst/>
          </a:prstGeom>
          <a:noFill/>
          <a:ln/>
        </p:spPr>
        <p:txBody>
          <a:bodyPr wrap="square" lIns="0" tIns="0" rIns="0" bIns="0" rtlCol="0" anchor="ctr"/>
          <a:lstStyle/>
          <a:p>
            <a:pPr indent="0" marL="0">
              <a:buNone/>
            </a:pPr>
            <a:r>
              <a:rPr lang="en-US" sz="2000" i="1" dirty="0">
                <a:solidFill>
                  <a:srgbClr val="BAE6FD"/>
                </a:solidFill>
                <a:latin typeface="Calibri" pitchFamily="34" charset="0"/>
                <a:ea typeface="Calibri" pitchFamily="34" charset="-122"/>
                <a:cs typeface="Calibri" pitchFamily="34" charset="-120"/>
              </a:rPr>
              <a:t>“You don’t have to feel your game — you can see it.”</a:t>
            </a:r>
            <a:endParaRPr lang="en-US" sz="2000" dirty="0"/>
          </a:p>
        </p:txBody>
      </p:sp>
      <p:sp>
        <p:nvSpPr>
          <p:cNvPr id="6" name="Text 4"/>
          <p:cNvSpPr/>
          <p:nvPr/>
        </p:nvSpPr>
        <p:spPr>
          <a:xfrm>
            <a:off x="658368" y="3977640"/>
            <a:ext cx="9144000" cy="365760"/>
          </a:xfrm>
          <a:prstGeom prst="rect">
            <a:avLst/>
          </a:prstGeom>
          <a:noFill/>
          <a:ln/>
        </p:spPr>
        <p:txBody>
          <a:bodyPr wrap="square" lIns="0" tIns="0" rIns="0" bIns="0" rtlCol="0" anchor="ctr"/>
          <a:lstStyle/>
          <a:p>
            <a:pPr indent="0" marL="0">
              <a:buNone/>
            </a:pPr>
            <a:r>
              <a:rPr lang="en-US" sz="1400" dirty="0">
                <a:solidFill>
                  <a:srgbClr val="D1D5DB"/>
                </a:solidFill>
                <a:latin typeface="Calibri" pitchFamily="34" charset="0"/>
                <a:ea typeface="Calibri" pitchFamily="34" charset="-122"/>
                <a:cs typeface="Calibri" pitchFamily="34" charset="-120"/>
              </a:rPr>
              <a:t>PadelLens — Pro Tour Insights + My Match Log</a:t>
            </a:r>
            <a:endParaRPr lang="en-US" sz="1400" dirty="0"/>
          </a:p>
        </p:txBody>
      </p:sp>
      <p:sp>
        <p:nvSpPr>
          <p:cNvPr id="7" name="Text 5"/>
          <p:cNvSpPr/>
          <p:nvPr/>
        </p:nvSpPr>
        <p:spPr>
          <a:xfrm>
            <a:off x="658368" y="5852160"/>
            <a:ext cx="1051560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Abdullah Saeed Aly Elhusseiny  ·  Data Visualization for Sport  ·  Politecnico di Milano, AY 2025/2026</a:t>
            </a:r>
            <a:endParaRPr lang="en-US" sz="1300" dirty="0"/>
          </a:p>
        </p:txBody>
      </p:sp>
      <p:sp>
        <p:nvSpPr>
          <p:cNvPr id="8" name="Text 6"/>
          <p:cNvSpPr/>
          <p:nvPr/>
        </p:nvSpPr>
        <p:spPr>
          <a:xfrm>
            <a:off x="640080" y="6547104"/>
            <a:ext cx="1088136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PadelLens — DV4S 2025/26 — Closing — slide 32/32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2025/26</dc:title>
  <dc:subject>PptxGenJS Presentation</dc:subject>
  <dc:creator>Abdullah Saeed Aly Elhusseiny</dc:creator>
  <cp:lastModifiedBy>Abdullah Saeed Aly Elhusseiny</cp:lastModifiedBy>
  <cp:revision>1</cp:revision>
  <dcterms:created xsi:type="dcterms:W3CDTF">2026-07-15T21:27:58Z</dcterms:created>
  <dcterms:modified xsi:type="dcterms:W3CDTF">2026-07-15T21:27:58Z</dcterms:modified>
</cp:coreProperties>
</file>